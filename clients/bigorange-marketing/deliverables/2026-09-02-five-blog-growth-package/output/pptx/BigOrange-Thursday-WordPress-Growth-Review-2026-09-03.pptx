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23e45263374c1a" /><Relationship Type="http://schemas.openxmlformats.org/officeDocument/2006/relationships/extended-properties" Target="/docProps/app.xml" Id="R78d952023c0e4fda" /><Relationship Type="http://schemas.openxmlformats.org/officeDocument/2006/relationships/officeDocument" Target="/ppt/presentation.xml" Id="R52f79acba9a445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82e0ed80f34989"/>
  </p:sldMasterIdLst>
  <p:notesMasterIdLst>
    <p:notesMasterId xmlns:r="http://schemas.openxmlformats.org/officeDocument/2006/relationships" r:id="Red96f65119114a37"/>
  </p:notesMasterIdLst>
  <p:sldIdLst>
    <p:sldId xmlns:r="http://schemas.openxmlformats.org/officeDocument/2006/relationships" id="256" r:id="R7737ed73b9de4916"/>
    <p:sldId xmlns:r="http://schemas.openxmlformats.org/officeDocument/2006/relationships" id="257" r:id="R55767215d7c54d32"/>
    <p:sldId xmlns:r="http://schemas.openxmlformats.org/officeDocument/2006/relationships" id="258" r:id="R0c4b3113b8f94239"/>
    <p:sldId xmlns:r="http://schemas.openxmlformats.org/officeDocument/2006/relationships" id="259" r:id="Re2bf55fce5ec4973"/>
    <p:sldId xmlns:r="http://schemas.openxmlformats.org/officeDocument/2006/relationships" id="260" r:id="R922a512b8a8e4060"/>
    <p:sldId xmlns:r="http://schemas.openxmlformats.org/officeDocument/2006/relationships" id="261" r:id="R149db8ae919b43ec"/>
    <p:sldId xmlns:r="http://schemas.openxmlformats.org/officeDocument/2006/relationships" id="262" r:id="Rfb8ead8c006b451b"/>
    <p:sldId xmlns:r="http://schemas.openxmlformats.org/officeDocument/2006/relationships" id="263" r:id="Rfbeaf26d5c2f4c50"/>
    <p:sldId xmlns:r="http://schemas.openxmlformats.org/officeDocument/2006/relationships" id="264" r:id="R1653dd5a08c7473c"/>
    <p:sldId xmlns:r="http://schemas.openxmlformats.org/officeDocument/2006/relationships" id="265" r:id="R7009e38ff8124f37"/>
    <p:sldId xmlns:r="http://schemas.openxmlformats.org/officeDocument/2006/relationships" id="266" r:id="R7b365bc62541499d"/>
    <p:sldId xmlns:r="http://schemas.openxmlformats.org/officeDocument/2006/relationships" id="267" r:id="R2009f2c6f6dd4855"/>
    <p:sldId xmlns:r="http://schemas.openxmlformats.org/officeDocument/2006/relationships" id="268" r:id="Ra3b54556dc004742"/>
    <p:sldId xmlns:r="http://schemas.openxmlformats.org/officeDocument/2006/relationships" id="269" r:id="Re77ba3afedb14fbc"/>
    <p:sldId xmlns:r="http://schemas.openxmlformats.org/officeDocument/2006/relationships" id="270" r:id="Rea8b076f9c7749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87650fbaa412b" /><Relationship Type="http://schemas.openxmlformats.org/officeDocument/2006/relationships/slideMaster" Target="/ppt/slideMasters/slideMaster1.xml" Id="Ra182e0ed80f34989" /><Relationship Type="http://schemas.openxmlformats.org/officeDocument/2006/relationships/notesMaster" Target="/ppt/notesMasters/notesMaster1.xml" Id="Red96f65119114a37" /><Relationship Type="http://schemas.openxmlformats.org/officeDocument/2006/relationships/presProps" Target="/ppt/presProps.xml" Id="Rdc0556cd7d4c4a35" /><Relationship Type="http://schemas.openxmlformats.org/officeDocument/2006/relationships/tableStyles" Target="/ppt/tableStyles.xml" Id="R89d03f97349c476f" /><Relationship Type="http://schemas.openxmlformats.org/officeDocument/2006/relationships/slide" Target="/ppt/slides/slide1.xml" Id="R7737ed73b9de4916" /><Relationship Type="http://schemas.openxmlformats.org/officeDocument/2006/relationships/slide" Target="/ppt/slides/slide2.xml" Id="R55767215d7c54d32" /><Relationship Type="http://schemas.openxmlformats.org/officeDocument/2006/relationships/slide" Target="/ppt/slides/slide3.xml" Id="R0c4b3113b8f94239" /><Relationship Type="http://schemas.openxmlformats.org/officeDocument/2006/relationships/slide" Target="/ppt/slides/slide4.xml" Id="Re2bf55fce5ec4973" /><Relationship Type="http://schemas.openxmlformats.org/officeDocument/2006/relationships/slide" Target="/ppt/slides/slide5.xml" Id="R922a512b8a8e4060" /><Relationship Type="http://schemas.openxmlformats.org/officeDocument/2006/relationships/slide" Target="/ppt/slides/slide6.xml" Id="R149db8ae919b43ec" /><Relationship Type="http://schemas.openxmlformats.org/officeDocument/2006/relationships/slide" Target="/ppt/slides/slide7.xml" Id="Rfb8ead8c006b451b" /><Relationship Type="http://schemas.openxmlformats.org/officeDocument/2006/relationships/slide" Target="/ppt/slides/slide8.xml" Id="Rfbeaf26d5c2f4c50" /><Relationship Type="http://schemas.openxmlformats.org/officeDocument/2006/relationships/slide" Target="/ppt/slides/slide9.xml" Id="R1653dd5a08c7473c" /><Relationship Type="http://schemas.openxmlformats.org/officeDocument/2006/relationships/slide" Target="/ppt/slides/slide10.xml" Id="R7009e38ff8124f37" /><Relationship Type="http://schemas.openxmlformats.org/officeDocument/2006/relationships/slide" Target="/ppt/slides/slide11.xml" Id="R7b365bc62541499d" /><Relationship Type="http://schemas.openxmlformats.org/officeDocument/2006/relationships/slide" Target="/ppt/slides/slide12.xml" Id="R2009f2c6f6dd4855" /><Relationship Type="http://schemas.openxmlformats.org/officeDocument/2006/relationships/slide" Target="/ppt/slides/slide13.xml" Id="Ra3b54556dc004742" /><Relationship Type="http://schemas.openxmlformats.org/officeDocument/2006/relationships/slide" Target="/ppt/slides/slide14.xml" Id="Re77ba3afedb14fbc" /><Relationship Type="http://schemas.openxmlformats.org/officeDocument/2006/relationships/slide" Target="/ppt/slides/slide15.xml" Id="Rea8b076f9c77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78f15f20a841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b1e15a582842e2" /><Relationship Type="http://schemas.openxmlformats.org/officeDocument/2006/relationships/notesMaster" Target="/ppt/notesMasters/notesMaster1.xml" Id="Rfed10c49226548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9262eafc154803" /><Relationship Type="http://schemas.openxmlformats.org/officeDocument/2006/relationships/notesMaster" Target="/ppt/notesMasters/notesMaster1.xml" Id="R9f7db9dd7ef945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7ec5a35f641f1" /><Relationship Type="http://schemas.openxmlformats.org/officeDocument/2006/relationships/notesMaster" Target="/ppt/notesMasters/notesMaster1.xml" Id="R867f6972b50a4c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1e34953b724355" /><Relationship Type="http://schemas.openxmlformats.org/officeDocument/2006/relationships/notesMaster" Target="/ppt/notesMasters/notesMaster1.xml" Id="Rbbe9104d5ede4f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08bfb8146e4632" /><Relationship Type="http://schemas.openxmlformats.org/officeDocument/2006/relationships/notesMaster" Target="/ppt/notesMasters/notesMaster1.xml" Id="R1192ee09946749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01ed4171484300" /><Relationship Type="http://schemas.openxmlformats.org/officeDocument/2006/relationships/notesMaster" Target="/ppt/notesMasters/notesMaster1.xml" Id="R2cf19347d23142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a057714e934521" /><Relationship Type="http://schemas.openxmlformats.org/officeDocument/2006/relationships/notesMaster" Target="/ppt/notesMasters/notesMaster1.xml" Id="R1a0c11d254b142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47a5fe320d4be1" /><Relationship Type="http://schemas.openxmlformats.org/officeDocument/2006/relationships/notesMaster" Target="/ppt/notesMasters/notesMaster1.xml" Id="R99c3adce156d49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49c81316534840" /><Relationship Type="http://schemas.openxmlformats.org/officeDocument/2006/relationships/notesMaster" Target="/ppt/notesMasters/notesMaster1.xml" Id="R46ebd7b5882441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be81180a694f9c" /><Relationship Type="http://schemas.openxmlformats.org/officeDocument/2006/relationships/notesMaster" Target="/ppt/notesMasters/notesMaster1.xml" Id="R0c5513d399934f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259212776842c2" /><Relationship Type="http://schemas.openxmlformats.org/officeDocument/2006/relationships/notesMaster" Target="/ppt/notesMasters/notesMaster1.xml" Id="R7dc557f83ff54d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7efc162b934846" /><Relationship Type="http://schemas.openxmlformats.org/officeDocument/2006/relationships/notesMaster" Target="/ppt/notesMasters/notesMaster1.xml" Id="R62451855444145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5e89e07cbf44be" /><Relationship Type="http://schemas.openxmlformats.org/officeDocument/2006/relationships/notesMaster" Target="/ppt/notesMasters/notesMaster1.xml" Id="Rc63bc5d9a6b84a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438425a3984dbd" /><Relationship Type="http://schemas.openxmlformats.org/officeDocument/2006/relationships/notesMaster" Target="/ppt/notesMasters/notesMaster1.xml" Id="R694a891d2bc245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5bde172ad34379" /><Relationship Type="http://schemas.openxmlformats.org/officeDocument/2006/relationships/notesMaster" Target="/ppt/notesMasters/notesMaster1.xml" Id="R5b565e24643044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decision: this is a controlled growth system, not a publish-everything content dump.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BigOrange working package; September 2,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Re-anchor the room in the signed scope before discussing the additional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BigOrange proposal and working packet.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no-charge language exactly as a statement of investment, not as an unlimited ongoing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BigOrange working package; September 2,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governance boundary explicit. Current public hub remains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September 1, 2026 public crawl and WordPress inventory.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leverage fixes because they affect interpretation, discovery, rendering or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September 1, 2026 public crawl.</a:t>
            </a:r>
          </a:p>
          <a:p xmlns:a="http://schemas.openxmlformats.org/drawingml/2006/main">
            <a:r>
              <a:t>August 20, 2026 builder hub mobile performance sample.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language disciplined: sample, then remeasure.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August 20, 2026 builder hub mobile performance sample.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Moz is a dated snapshot, not a live ranking guarantee.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Moz snapshot dated August 14,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universal release contract. The wording and proof pattern still vary by template.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Search Central: creating helpful, reliable, people-first content.</a:t>
            </a:r>
          </a:p>
          <a:p xmlns:a="http://schemas.openxmlformats.org/drawingml/2006/main">
            <a:r>
              <a:t>Google Search Central: Article structured data.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service page remains the commercial destination while articles answer narrower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BigOrange authority package inventory and internal-link map.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five are complete standalone articles, not sections of one article.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Five-blog package manifest dated September 2,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Visible usefulness comes first. Schema supports interpretation; it does not manufacture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Search Central: creating helpful, reliable, people-first content.</a:t>
            </a:r>
          </a:p>
          <a:p xmlns:a="http://schemas.openxmlformats.org/drawingml/2006/main">
            <a:r>
              <a:t>Google Search Central: Article structured data.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private WordPress staging gate. Emphasize reversible drafts and explicit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BigOrange working package; September 2,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equate a rank or a view with revenue. Preserve the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BigOrange working package; September 2,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cadence is deliberately controlled so the team can learn and protect existing rankings.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BigOrange working package; September 2,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assigning owners and the first release dates. Keep Phase 2 as a separate commercial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BigOrange working package; September 2,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aaceb48cc43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5dd332d75b4a5d" /><Relationship Type="http://schemas.openxmlformats.org/officeDocument/2006/relationships/slideLayout" Target="/ppt/slideLayouts/slideLayout1.xml" Id="Rae7aa3a5e21b4e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7aa3a5e21b4e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2c61c4ed64486" /><Relationship Type="http://schemas.openxmlformats.org/officeDocument/2006/relationships/image" Target="/ppt/media/image.png" Id="R876d12a6fdfa4c4a" /><Relationship Type="http://schemas.openxmlformats.org/officeDocument/2006/relationships/image" Target="/ppt/media/image.jpeg" Id="R8cd1ae9f53ba40bd" /><Relationship Type="http://schemas.openxmlformats.org/officeDocument/2006/relationships/notesSlide" Target="/ppt/notesSlides/notesSlide1.xml" Id="Rd971a3f8222a4e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b4e61df244950" /><Relationship Type="http://schemas.openxmlformats.org/officeDocument/2006/relationships/image" Target="/ppt/media/image2.png" Id="R2a3a76ce566a44f5" /><Relationship Type="http://schemas.openxmlformats.org/officeDocument/2006/relationships/notesSlide" Target="/ppt/notesSlides/notesSlide2.xml" Id="R4375a1bc013841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04732607a4308" /><Relationship Type="http://schemas.openxmlformats.org/officeDocument/2006/relationships/image" Target="/ppt/media/image3.png" Id="Rab842bea68434578" /><Relationship Type="http://schemas.openxmlformats.org/officeDocument/2006/relationships/notesSlide" Target="/ppt/notesSlides/notesSlide3.xml" Id="R8e02804fefda45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0e287228d4ed5" /><Relationship Type="http://schemas.openxmlformats.org/officeDocument/2006/relationships/image" Target="/ppt/media/image4.png" Id="R05102caf42d94c3d" /><Relationship Type="http://schemas.openxmlformats.org/officeDocument/2006/relationships/notesSlide" Target="/ppt/notesSlides/notesSlide4.xml" Id="R1dd8f63aa283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fcf9a3ed44614" /><Relationship Type="http://schemas.openxmlformats.org/officeDocument/2006/relationships/image" Target="/ppt/media/image5.png" Id="R73bec095f4534cd9" /><Relationship Type="http://schemas.openxmlformats.org/officeDocument/2006/relationships/notesSlide" Target="/ppt/notesSlides/notesSlide5.xml" Id="Rb1db2027928149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196723ce34ddb" /><Relationship Type="http://schemas.openxmlformats.org/officeDocument/2006/relationships/image" Target="/ppt/media/image6.png" Id="R6f7911c162054741" /><Relationship Type="http://schemas.openxmlformats.org/officeDocument/2006/relationships/image" Target="/ppt/media/image2.jpeg" Id="R83d46345f6804bc3" /><Relationship Type="http://schemas.openxmlformats.org/officeDocument/2006/relationships/notesSlide" Target="/ppt/notesSlides/notesSlide6.xml" Id="R16daaaaa7b3449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0461b1bef4cd5" /><Relationship Type="http://schemas.openxmlformats.org/officeDocument/2006/relationships/image" Target="/ppt/media/image7.png" Id="R4d3b2e6ac1604f4f" /><Relationship Type="http://schemas.openxmlformats.org/officeDocument/2006/relationships/notesSlide" Target="/ppt/notesSlides/notesSlide7.xml" Id="Rbf7afe6110914b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c034eb84549a6" /><Relationship Type="http://schemas.openxmlformats.org/officeDocument/2006/relationships/image" Target="/ppt/media/image8.png" Id="Re26713529e7e4ec3" /><Relationship Type="http://schemas.openxmlformats.org/officeDocument/2006/relationships/notesSlide" Target="/ppt/notesSlides/notesSlide8.xml" Id="R9bad0578d7c049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afa4545ed4f59" /><Relationship Type="http://schemas.openxmlformats.org/officeDocument/2006/relationships/image" Target="/ppt/media/image9.png" Id="Rc1a745e16bbb464b" /><Relationship Type="http://schemas.openxmlformats.org/officeDocument/2006/relationships/notesSlide" Target="/ppt/notesSlides/notesSlide9.xml" Id="R615a198aff8c4d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7976ce2374512" /><Relationship Type="http://schemas.openxmlformats.org/officeDocument/2006/relationships/image" Target="/ppt/media/image10.png" Id="Rff9669df855d4c89" /><Relationship Type="http://schemas.openxmlformats.org/officeDocument/2006/relationships/notesSlide" Target="/ppt/notesSlides/notesSlide10.xml" Id="Rc0718e615ba444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c77ed08d84170" /><Relationship Type="http://schemas.openxmlformats.org/officeDocument/2006/relationships/image" Target="/ppt/media/image11.png" Id="R303ac0d462ec46c6" /><Relationship Type="http://schemas.openxmlformats.org/officeDocument/2006/relationships/image" Target="/ppt/media/image3.jpeg" Id="R68340ca4bd8840ef" /><Relationship Type="http://schemas.openxmlformats.org/officeDocument/2006/relationships/notesSlide" Target="/ppt/notesSlides/notesSlide11.xml" Id="R2fa58338219948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c7e779b16424b" /><Relationship Type="http://schemas.openxmlformats.org/officeDocument/2006/relationships/image" Target="/ppt/media/image12.png" Id="Ra3014f6ee72845ec" /><Relationship Type="http://schemas.openxmlformats.org/officeDocument/2006/relationships/notesSlide" Target="/ppt/notesSlides/notesSlide12.xml" Id="Rf6c52ba487174a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65193b15a4aad" /><Relationship Type="http://schemas.openxmlformats.org/officeDocument/2006/relationships/image" Target="/ppt/media/image13.png" Id="Re7828a81cb4544de" /><Relationship Type="http://schemas.openxmlformats.org/officeDocument/2006/relationships/notesSlide" Target="/ppt/notesSlides/notesSlide13.xml" Id="Rd0b1f2daaa6b49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d519b76804788" /><Relationship Type="http://schemas.openxmlformats.org/officeDocument/2006/relationships/image" Target="/ppt/media/image14.png" Id="R85292e406e5e4e7f" /><Relationship Type="http://schemas.openxmlformats.org/officeDocument/2006/relationships/notesSlide" Target="/ppt/notesSlides/notesSlide14.xml" Id="R0b6b2bffceeb49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c89e0d6654ea8" /><Relationship Type="http://schemas.openxmlformats.org/officeDocument/2006/relationships/image" Target="/ppt/media/image15.png" Id="Rfc19dc4c2c854ace" /><Relationship Type="http://schemas.openxmlformats.org/officeDocument/2006/relationships/notesSlide" Target="/ppt/notesSlides/notesSlide15.xml" Id="R4b641d3f837c4e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A1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d12a6fdfa4c4a"/>
          <a:stretch xmlns:a="http://schemas.openxmlformats.org/drawingml/2006/main"/>
        </p:blipFill>
        <p:spPr>
          <a:xfrm xmlns:a="http://schemas.openxmlformats.org/drawingml/2006/main">
            <a:off x="784544" y="523875"/>
            <a:ext cx="1859911" cy="6286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3D204-034D-4E5E-B392-029C6C0E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2286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826B1-5388-4ED4-A1F9-2778C941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THURSDAY LEADERSHIP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AB1B0-08F4-4710-B210-0F0852D6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WordPress growth,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made operational.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97BA8-1ED6-4F4D-B542-531064AB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E8DC"/>
                </a:solidFill>
              </a:defRPr>
            </a:pPr>
            <a:r>
              <a:rPr sz="1500" b="0">
                <a:solidFill>
                  <a:srgbClr val="F4E8DC"/>
                </a:solidFill>
              </a:rPr>
              <a:t>A 370 URL technical plan, a 24 asset authority system, five new builder blogs, and the release controls that turn content into qualified demand.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1ae9f53ba40bd"/>
          <a:srcRect xmlns:a="http://schemas.openxmlformats.org/drawingml/2006/main" l="0" t="2222" r="0" b="2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14300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D27D5-8172-4C9C-9C07-114454B2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E8DC"/>
                </a:solidFill>
              </a:defRPr>
            </a:pPr>
            <a:r>
              <a:rPr sz="1050" b="1">
                <a:solidFill>
                  <a:srgbClr val="F4E8DC"/>
                </a:solidFill>
              </a:rPr>
              <a:t>September 3, 2026</a:t>
            </a:r>
          </a:p>
        </p:txBody>
      </p:sp>
    </p:spTree>
    <p:extLst>
      <p:ext uri="{BB962C8B-B14F-4D97-AF65-F5344CB8AC3E}">
        <p14:creationId xmlns:p14="http://schemas.microsoft.com/office/powerpoint/2010/main" val="838242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a76ce566a44f5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9242A-A8D7-43B5-917D-F0F3256C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ORIGINAL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90B7A-A21E-4B5E-BBD6-B7CD040C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What the paid pilot actually asked for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BA5BD-A39E-469A-8485-2CA4CD4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0E55D-91AE-4460-885F-BCF24681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92CDB-F2D7-4855-8766-A52FD2A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FB3EE-D6F5-42AE-8919-AE63EA60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CBF33-2150-4697-9217-D1E47695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MILESTONE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B7B11-E151-467A-BAC7-3F893973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15 hours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6FF6B-5A3B-4843-B402-47CB09BE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781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Discovery, audit, keyword and content strategy, architecture, priorities and implementation planning.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FF577-ABD6-470B-850A-009F32C0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3238500" cy="34290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8ECA2-7E77-4B1C-845E-2EDB4B8B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45BD7-5C75-42AF-83EC-F55981AE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MILESTONE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70582-CCA6-4E0A-8F24-BA495C2F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20 hours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535F27-8E78-4DD8-8A2C-27260039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67050"/>
            <a:ext cx="2781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One pillar page, two supporting articles, technical SEO and WordPress implementation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73646-31FB-4773-949D-948DD29C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400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212FF-74FA-4883-BAE7-B4BF5508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762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B249D-3E24-4EA1-B2AC-78A8DD95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COMMERCIAL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78D76-7239-47A3-912F-6616291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76500"/>
            <a:ext cx="3543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$1,050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DFE91-663B-4E43-A6BF-89D50F41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35433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35 hours at $30 per hour. Phase 2 social, downloadable and webinar production remained a future scope, not part of the paid pilot.</a:t>
            </a:r>
          </a:p>
        </p:txBody>
      </p:sp>
    </p:spTree>
    <p:extLst>
      <p:ext uri="{BB962C8B-B14F-4D97-AF65-F5344CB8AC3E}">
        <p14:creationId xmlns:p14="http://schemas.microsoft.com/office/powerpoint/2010/main" val="468522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42bea68434578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60E38-BBE7-4C2A-96C1-823B1DE3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EXPANDED INVESTMENT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14E00-F395-477D-B70C-BEF64181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What is now ready for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11480-2C5A-4F71-9BAF-4FE3384E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EBF1D-74C1-489B-BF20-2E2D66A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FE32C-B468-4C84-BAB3-7919E279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A2EB1-4F78-41A3-8427-13FD1333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37745-7477-4FF9-B5C7-D2FC9406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existing authority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56371-DE6E-44B6-A1C1-A20805EA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95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F0E80-D0B4-42FA-94E6-D840E95D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383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58EE7-40E0-4780-8831-997750A8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813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separate new blogs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C18A4-320F-4124-B95A-5FE1A941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95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E9F5C-0B26-47F2-9D62-6F359F30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383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98E00-D10A-43A5-AD62-12DF95F7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total authority 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E4E90-CB75-42E2-AEAE-9313652D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095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05665-16FF-4D3F-BC16-067BE7F2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383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6,093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7EE58-7F7B-4221-B052-0EA6CF7F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813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new blog words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1EE91-0A2F-4E6A-835B-9622AED3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9906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A1308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163D7-A60D-4599-A43D-2535B70C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D914F-36E9-4ADB-98C4-7B3F5EFD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944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NO-CHARGE PROOF OF COMMITMENT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E64E9-021D-4D66-A81E-F912893E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9448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More than the paid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6D2B6-8190-455E-BD45-5BD5EAFC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944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The five new blogs, deeper page-level optimization framework, six branded PDFs, implementation packaging and this leadership deck are included as additional proof of how invested I am in BigOrange and the work you deliver for clients.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8ED21-3962-4457-BCE8-BB99AFDE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Public release, imagery and factual claims still require BigOrange approval.</a:t>
            </a:r>
          </a:p>
        </p:txBody>
      </p:sp>
    </p:spTree>
    <p:extLst>
      <p:ext uri="{BB962C8B-B14F-4D97-AF65-F5344CB8AC3E}">
        <p14:creationId xmlns:p14="http://schemas.microsoft.com/office/powerpoint/2010/main" val="1226737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02caf42d94c3d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1C052-B9AC-45D7-A583-61BCD1B4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CURRENT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3D028-72A8-4AF2-B562-367FF0BC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One system: crawlability, answers, proof and conversion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BF1A5-9EE0-4531-8ABA-9C46BDFA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732BD-952E-43D4-B43B-83AA84EB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8E42F-01C9-4CA7-89A1-2C7EC8DC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D43C7-30DB-47E1-A46C-95354A05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370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374D3-ECF8-43DE-8B93-3A8B537B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published URLs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1C9A3-8FBA-4FFD-9B1B-A4FA866C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47875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1568C-AF58-41B0-9C35-53046F95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90750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299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003CD-9AAF-4401-80CF-2328C57C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3367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posts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DF1D5-72F3-4834-85E5-C2D94DC1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47875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76597-2400-4B83-820E-5C92D4C7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90750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71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AD210-58BA-4D97-A64C-50C5D587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3367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BC258-A350-47DE-8D22-502725AA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047875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F5A0C-184E-4F21-9B31-A45BF0C8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90750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349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3F0BB-C3E3-4AA6-BD21-BB504FE7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3367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URLs in sitemap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23C92-6675-4519-BAB4-23A31BF7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66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4AB9E-EA0C-45F4-B432-6C5C8BFF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87716-B60C-46C7-BE60-694CDBCD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PRIVATE REVIEW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75323-135F-46C6-976F-F60825CE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21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Nothing new is public yet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F37C2-AD86-46B3-BC5E-7FEB0F58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1021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The new blogs and collateral are staged for private review. Existing public content stays untouched until a named owner approves facts, images, metadata, links, schema and release timing.</a:t>
            </a:r>
          </a:p>
        </p:txBody>
      </p:sp>
    </p:spTree>
    <p:extLst>
      <p:ext uri="{BB962C8B-B14F-4D97-AF65-F5344CB8AC3E}">
        <p14:creationId xmlns:p14="http://schemas.microsoft.com/office/powerpoint/2010/main" val="2085471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ec095f4534cd9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B7C11-4B74-486A-9206-AE08D8E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EVIDENCE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AE094-6F52-44D9-8A2B-C3737DD0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Where site health is leaking authority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8A7BB-39CA-4675-811F-D2299FD1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D08D4-308F-4359-8310-C861A52C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6A80C-8A88-4B11-9645-CC93F7C1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4ED32-99B9-452C-89FD-D1B591F8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A83824"/>
                </a:solidFill>
              </a:defRPr>
            </a:pPr>
            <a:r>
              <a:rPr sz="2925" b="1">
                <a:solidFill>
                  <a:srgbClr val="A83824"/>
                </a:solidFill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B92C3-7C98-4EA9-860A-DF4FF1E4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P0 priorities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432C9-A902-4D3A-BD45-9B79D391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095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4764A-B048-4667-93F5-766DBFEB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383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93C2B-B013-40EB-B489-06D8612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813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P1 priorities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40666-DDA1-4DD6-BC0B-B17E240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95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89072-D6DF-4A1C-8FA9-17A84BDC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383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A83824"/>
                </a:solidFill>
              </a:defRPr>
            </a:pPr>
            <a:r>
              <a:rPr sz="2925" b="1">
                <a:solidFill>
                  <a:srgbClr val="A83824"/>
                </a:solidFill>
              </a:rPr>
              <a:t>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C01AD-2A16-418D-B82D-9136618F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pages missing from sitemap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AE18A-4580-440E-A550-20F87EF3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095500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7B760-BFD2-41B9-A4AA-3B6F74CA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383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A83824"/>
                </a:solidFill>
              </a:defRPr>
            </a:pPr>
            <a:r>
              <a:rPr sz="2925" b="1">
                <a:solidFill>
                  <a:srgbClr val="A83824"/>
                </a:solidFill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67CCA-F7BE-443D-A1AB-4610776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813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published nofollow pages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EE93B-5A63-4A6F-8D68-B4B7618F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6680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1AD32-84AE-4A80-A160-DE54A57F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307B2-D642-4F07-B961-31E4AF69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HIGHEST-IMPACT FIXES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914CC-B778-4F9E-85FC-C018E23F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21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Correct signals before scaling content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1F41D-D74B-4CD6-9358-A3F19FA8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1021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Fix the homepage “Stategic” typo across meta, Open Graph and schema. Reduce the AI services page from four H1s to one. Review nofollow page by page. Repair sitemap eligibility. Re-test the builder hub mobile critical path after media and script work.</a:t>
            </a:r>
          </a:p>
        </p:txBody>
      </p:sp>
    </p:spTree>
    <p:extLst>
      <p:ext uri="{BB962C8B-B14F-4D97-AF65-F5344CB8AC3E}">
        <p14:creationId xmlns:p14="http://schemas.microsoft.com/office/powerpoint/2010/main" val="3706419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A1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911c162054741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F3BB2-EC5E-4A8B-929A-E58DFD0B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TECHNICAL PRIORITY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D86D7-12B4-45EE-ADB4-7ADA20B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The builder hub has a performance problem, not a cosmetic 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A02EC-9F1C-43D5-A25C-F53F51ED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C2F9D-104C-4F96-8879-15591774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E8DC"/>
                </a:solidFill>
              </a:defRPr>
            </a:pPr>
            <a:r>
              <a:rPr sz="900" b="1">
                <a:solidFill>
                  <a:srgbClr val="F4E8DC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3875D-526B-465E-8849-948128C4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36F21"/>
                </a:solidFill>
              </a:defRPr>
            </a:pPr>
            <a:r>
              <a:rPr sz="6900" b="1">
                <a:solidFill>
                  <a:srgbClr val="F36F21"/>
                </a:solidFill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DA641-50F8-4844-A435-4BBD581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mobile performance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6AC22-CBF2-4CE2-9B87-60D614D0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36F21"/>
                </a:solidFill>
              </a:defRPr>
            </a:pPr>
            <a:r>
              <a:rPr sz="6900" b="1">
                <a:solidFill>
                  <a:srgbClr val="F36F21"/>
                </a:solidFill>
              </a:rPr>
              <a:t>~36s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BB4EC-3028-4EBC-A990-61F80F2E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sample largest contentful paint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46345f6804bc3"/>
          <a:srcRect xmlns:a="http://schemas.openxmlformats.org/drawingml/2006/main" l="0" t="10000" r="0" b="1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2047875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8D874-4B68-4DB6-B29D-B2CA6D6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E8DC"/>
                </a:solidFill>
              </a:defRPr>
            </a:pPr>
            <a:r>
              <a:rPr sz="1500" b="0">
                <a:solidFill>
                  <a:srgbClr val="F4E8DC"/>
                </a:solidFill>
              </a:rPr>
              <a:t>Re-measure after image sizing, format, preload, font, third-party script and critical CSS work. A single sample is a diagnostic baseline, not a permanent score.</a:t>
            </a:r>
          </a:p>
        </p:txBody>
      </p:sp>
    </p:spTree>
    <p:extLst>
      <p:ext uri="{BB962C8B-B14F-4D97-AF65-F5344CB8AC3E}">
        <p14:creationId xmlns:p14="http://schemas.microsoft.com/office/powerpoint/2010/main" val="255577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b2e6ac1604f4f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BCFE8-6124-45F1-9ED9-17E85C4C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KEYWORD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CEE05-CDEC-44CA-BD3E-FC6753BC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Protect what ranks. Build where the gaps are real.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B731C-4E2E-47A6-8065-27286C36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534A8-CC31-40E3-B324-7D4EDCA8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4278D-F34D-4579-985A-B2AB784C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34B91-1861-4DC5-A86C-4C332DD4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36F21"/>
                </a:solidFill>
              </a:defRPr>
            </a:pPr>
            <a:r>
              <a:rPr sz="2925" b="1">
                <a:solidFill>
                  <a:srgbClr val="F36F21"/>
                </a:solidFill>
              </a:rPr>
              <a:t>171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1648F-C204-45B3-AB59-FCA93A3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unique tracked keywords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EB4CE-C519-43E8-9EF5-4C1CBB64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952625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0A939-B649-4961-A7EB-636CB519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95500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A4A"/>
                </a:solidFill>
              </a:defRPr>
            </a:pPr>
            <a:r>
              <a:rPr sz="2925" b="1">
                <a:solidFill>
                  <a:srgbClr val="197A4A"/>
                </a:solidFill>
              </a:rPr>
              <a:t>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357AD-EF71-465D-BA8A-B12A62B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384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positions 1–3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AB94F-05BB-471E-B12D-C8F9EF12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52625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76DC2-E692-4D5C-B253-36E3986E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95500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97A4A"/>
                </a:solidFill>
              </a:defRPr>
            </a:pPr>
            <a:r>
              <a:rPr sz="2925" b="1">
                <a:solidFill>
                  <a:srgbClr val="197A4A"/>
                </a:solidFill>
              </a:rPr>
              <a:t>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BC76C-40BB-4132-9FFA-9B1CA3A6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384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positions 4–10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8152E-437A-4B76-AC24-9937B223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52625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12F1D-E1A6-4920-ABC6-B5F3217B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95500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A83824"/>
                </a:solidFill>
              </a:defRPr>
            </a:pPr>
            <a:r>
              <a:rPr sz="2925" b="1">
                <a:solidFill>
                  <a:srgbClr val="A83824"/>
                </a:solidFill>
              </a:rPr>
              <a:t>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7B8EF-E6DA-459C-93DD-31AA80BB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38425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15B55"/>
                </a:solidFill>
              </a:defRPr>
            </a:pPr>
            <a:r>
              <a:rPr sz="1050" b="1">
                <a:solidFill>
                  <a:srgbClr val="615B55"/>
                </a:solidFill>
              </a:rPr>
              <a:t>unranked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30357-7ABC-4DA9-8009-29F3147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191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1E6ED-B419-4833-A264-00166ABC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83567-2814-430F-A737-D60CC86A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733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BUILDER LANE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6E3E0-BA1B-4E53-8423-8832240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733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17 of 21 terms rank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0D5A9-6E7D-4F7D-A4B0-E1F6FE30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4733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Thirteen builder terms are already in positions 1–3, all pointing to the builder hub. That page remains the commercial owner.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ABE8E-7009-4077-9C37-1A1936F7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24250"/>
            <a:ext cx="52292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3854D-6CC2-44F1-960C-0BF9EE27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24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674D4-59FB-467B-8147-E90F0BA4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95700"/>
            <a:ext cx="477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OPPORTUNITY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1B185F-0498-42FE-A3C9-15FDC14F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00500"/>
            <a:ext cx="47720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Four exact gaps + one page-two term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E68390-34B6-471A-ADD0-2869C555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591050"/>
            <a:ext cx="4772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Advertising for builders, home builder marketing solutions, home builder marketing automation, marketing ideas for homebuilders, and custom home builder marketing agency.</a:t>
            </a:r>
          </a:p>
        </p:txBody>
      </p:sp>
    </p:spTree>
    <p:extLst>
      <p:ext uri="{BB962C8B-B14F-4D97-AF65-F5344CB8AC3E}">
        <p14:creationId xmlns:p14="http://schemas.microsoft.com/office/powerpoint/2010/main" val="1409382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713529e7e4ec3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5D9FB-C6C9-4482-83A1-F113DBC3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EVERY INDEXABLE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F24C1-6DDC-4319-8988-D994179F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The page contract: ten layers, one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EBF1-DE67-4F59-97D5-4401B6D3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5CE22-3598-45CB-BA76-5B5F1B6F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A1372-4810-4B2D-BF78-ACB48A0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86F31-030C-4F5B-9E32-5195052E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CF340-A448-427B-9EBC-1485C2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1CAE2-11B8-4655-9D5B-38D4D9A9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C00FB-0D6B-4990-91E9-A747BCD9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query family + 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796E7-2D24-4B73-B741-7F3139B7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2B7DD-4435-493F-8192-BFFAF4BA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6D229-2D16-4B53-AF1D-E1131E1B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2F88D-C4D6-4B6F-AB94-3093EDCA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288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11C76-4874-486B-A34A-BC4F6DC7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19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one H1 + direct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82A3A-6D0B-427F-9B34-44C1746E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52625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4C115-6F3B-4486-8465-2926026A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526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8AB3C-B90C-4A92-92C7-F8DDF79C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24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38F01-ED9A-48D0-8590-A78FD7BF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E0EA3-5706-4D23-A2D8-033555CB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19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author + approved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302EA-64C4-4312-8FFA-121678A3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99C46-67D0-427C-AE54-6D8EDEAE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A70D5-49AB-4E58-9FF8-F92AF834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24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AC46B4-4234-4E37-83FF-FFC907AA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288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32850-DE63-4E73-BF85-1CC7AFCC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19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title + canonical + robots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3696D6-3474-48BC-8FAE-F18C973F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52625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BC6936-DFF6-4781-900E-5B08D054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526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0BD360-E151-45DA-8889-8187B5CE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24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447DF-3F1E-4E9D-80D5-F5B9116D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AEO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BA1E15-2DDC-468F-A547-69951603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19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definitions + concise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B9ACC-4B43-4749-BD29-F423AC22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4D64B7-7DE9-4146-BD1B-619907CA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4A061-AFEC-4D24-945D-7884F1B9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4E7024-1028-42FC-BC35-3367028B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GEO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9C5452-E608-403D-B28B-3BA526E6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entities + sources + context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E34B5C-4AB1-47C1-A853-41D572CD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2FB638-4BA7-47D6-A5A5-41014D10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DFB5EB-BD46-4403-B16F-523372C9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86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4000AC-3B6E-40F9-80E9-C2ADE71B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910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Schema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66D20E-B377-4808-995F-72D7F300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81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only what content supports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FB4AB7-B8CF-4586-A249-F7F8E311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14750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207A00-623A-4F85-9CA8-677DC91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14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CD225B-4102-42A9-8C49-1C15CBFA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86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D37CD8-3E80-49D3-A447-B10682ED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910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Media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9CF4D8-2899-46C1-B68A-F7BAA507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81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size + alt + permissions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F371EE-6EC9-4E02-A667-2E8B884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14750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14DD2D-1C60-46EA-9B17-04920F17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14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55B381-A3E5-42BF-8323-14CDD60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09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37B33C-8042-46A0-8EA5-5FF1E029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910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Links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DBC08B-9159-4C0D-9D20-F625D7CB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81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parent + siblings + action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D57526-C067-4A52-AD69-FBB2D892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050C64-92AE-4D76-A338-C898461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7B4150-4C82-4967-8329-9176B0A6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86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94F49F-E519-45B4-BD9C-28D20365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910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Measurement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AACE17-2109-4907-BBE5-F524C5A7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81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search to sales truth</a:t>
            </a:r>
          </a:p>
        </p:txBody>
      </p:sp>
    </p:spTree>
    <p:extLst>
      <p:ext uri="{BB962C8B-B14F-4D97-AF65-F5344CB8AC3E}">
        <p14:creationId xmlns:p14="http://schemas.microsoft.com/office/powerpoint/2010/main" val="419980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A1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745e16bbb464b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8065C-F77F-4B14-B359-6208969E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AUTHORITY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CADCB-B1B7-4E77-B7D9-0258074C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24 assets should behave like one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9D8AF-9D96-4839-97E1-15D6F771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33293-F2E4-4BEF-9DB2-AD368925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E8DC"/>
                </a:solidFill>
              </a:defRPr>
            </a:pPr>
            <a:r>
              <a:rPr sz="900" b="1">
                <a:solidFill>
                  <a:srgbClr val="F4E8DC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367EA-1C83-4209-B48B-F6C0996F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14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36F21"/>
                </a:solidFill>
              </a:defRPr>
            </a:pPr>
            <a:r>
              <a:rPr sz="5250" b="1">
                <a:solidFill>
                  <a:srgbClr val="F36F2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793EE-1FF9-41AC-ABED-BE8F7A6C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commercial builder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1A61C-9B54-4E69-802B-17EBB12E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193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368E5-8513-4133-8E22-50D0A4EB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114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36F21"/>
                </a:solidFill>
              </a:defRPr>
            </a:pPr>
            <a:r>
              <a:rPr sz="5250" b="1">
                <a:solidFill>
                  <a:srgbClr val="F36F21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9AAA8-B5C4-4C0C-AAC9-F4D30012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956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new gap-led blogs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F0C6B-8344-4559-BCAB-911A9E99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38A8B-CF0D-4CB8-A34F-C383A15B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36F21"/>
                </a:solidFill>
              </a:defRPr>
            </a:pPr>
            <a:r>
              <a:rPr sz="5250" b="1">
                <a:solidFill>
                  <a:srgbClr val="F36F21"/>
                </a:solidFill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65B0D-D7FD-49F5-9CB3-4D4F75BB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existing authority assets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A65CB-0656-4431-9EF8-C46F1DB9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AD00F-F4BF-4F72-ADF2-F6C5E64B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36F21"/>
                </a:solidFill>
              </a:defRPr>
            </a:pPr>
            <a:r>
              <a:rPr sz="2850" b="1">
                <a:solidFill>
                  <a:srgbClr val="F36F21"/>
                </a:solidFill>
              </a:rPr>
              <a:t>CRM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080DE-E6D4-44A4-9D40-FAEAA171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0956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qualified outcome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92003-B48F-42EE-BE5C-79966E5D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E8DC"/>
                </a:solidFill>
              </a:defRPr>
            </a:pPr>
            <a:r>
              <a:rPr sz="1725" b="1">
                <a:solidFill>
                  <a:srgbClr val="F4E8DC"/>
                </a:solidFill>
              </a:rPr>
              <a:t>Parent ownership prevents cannibalization. Contextual links move readers toward the right answer and the right next step.</a:t>
            </a:r>
          </a:p>
        </p:txBody>
      </p:sp>
    </p:spTree>
    <p:extLst>
      <p:ext uri="{BB962C8B-B14F-4D97-AF65-F5344CB8AC3E}">
        <p14:creationId xmlns:p14="http://schemas.microsoft.com/office/powerpoint/2010/main" val="12239319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669df855d4c89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0A6BC-6710-471F-80ED-4B2DB689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FIVE SEPARATE BLOGS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5AA36-AFE0-4525-B88D-42BBFD4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Each owns one verified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85024-404F-4824-885C-376C877A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A66F9-7CFC-4650-87ED-FBC40DFF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61976-DF84-48CD-9A7F-620932B0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88977-5249-433D-AD8A-286B6E81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BLOG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1B4FC-B6FF-4B9F-A388-9361C2DE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308"/>
                </a:solidFill>
              </a:defRPr>
            </a:pPr>
            <a:r>
              <a:rPr sz="1200" b="1">
                <a:solidFill>
                  <a:srgbClr val="2A1308"/>
                </a:solidFill>
              </a:rPr>
              <a:t>marketing ideas for homebuilders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E6166-8577-4730-A854-A78B2EE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B19"/>
                </a:solidFill>
              </a:defRPr>
            </a:pPr>
            <a:r>
              <a:rPr sz="1500" b="1">
                <a:solidFill>
                  <a:srgbClr val="1D1B19"/>
                </a:solidFill>
              </a:rPr>
              <a:t>11 ideas that build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0D0D5-DD1A-496C-971A-4E4C694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431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5404D-E8A0-4D2A-A023-F3F6E72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F88A9-EC2E-47C7-8CD3-F7F9392E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BLOG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D8866-DA60-4D17-B84A-DD0204CD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955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308"/>
                </a:solidFill>
              </a:defRPr>
            </a:pPr>
            <a:r>
              <a:rPr sz="1200" b="1">
                <a:solidFill>
                  <a:srgbClr val="2A1308"/>
                </a:solidFill>
              </a:rPr>
              <a:t>advertising for builders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885AA-34F8-4BBD-B743-8F070013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9557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B19"/>
                </a:solidFill>
              </a:defRPr>
            </a:pPr>
            <a:r>
              <a:rPr sz="1500" b="1">
                <a:solidFill>
                  <a:srgbClr val="1D1B19"/>
                </a:solidFill>
              </a:rPr>
              <a:t>where to spend + measure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66547-20C6-4023-92E4-C0C540D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813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8B0E3-4DCE-4419-9A54-9FE0F70B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1A0C07-62E9-41F4-8627-6FC1D737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BLOG 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AE7D3-514D-4BB3-A795-C58DE182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337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308"/>
                </a:solidFill>
              </a:defRPr>
            </a:pPr>
            <a:r>
              <a:rPr sz="1200" b="1">
                <a:solidFill>
                  <a:srgbClr val="2A1308"/>
                </a:solidFill>
              </a:rPr>
              <a:t>home builder marketing automation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5F598-F164-4B20-BF25-E960E84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3377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B19"/>
                </a:solidFill>
              </a:defRPr>
            </a:pPr>
            <a:r>
              <a:rPr sz="1500" b="1">
                <a:solidFill>
                  <a:srgbClr val="1D1B19"/>
                </a:solidFill>
              </a:rPr>
              <a:t>7 follow-ups worth automating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23E37-0138-4A9E-9EFC-F8EABB6C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195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FB2D3-AC0F-4A3E-ADCE-2EFD5C41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854F5-4847-4A7E-AE90-8468A3D6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910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BLOG 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A5464-7CEE-4C50-B1E4-32D10DD9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719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308"/>
                </a:solidFill>
              </a:defRPr>
            </a:pPr>
            <a:r>
              <a:rPr sz="1200" b="1">
                <a:solidFill>
                  <a:srgbClr val="2A1308"/>
                </a:solidFill>
              </a:rPr>
              <a:t>home builder marketing solutions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6CC4E-CCF9-4DC6-95A1-C2C3102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7197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B19"/>
                </a:solidFill>
              </a:defRPr>
            </a:pPr>
            <a:r>
              <a:rPr sz="1500" b="1">
                <a:solidFill>
                  <a:srgbClr val="1D1B19"/>
                </a:solidFill>
              </a:rPr>
              <a:t>choose a system, not tactics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19EFB4-AF06-4365-ADEC-4D640D3D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5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589A7E-CB9F-4C98-B85C-B2EA67D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00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8533E9-5599-4231-8A0F-E33B3A8F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BLOG 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C95FE-E224-441D-A5A8-109B544A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01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1308"/>
                </a:solidFill>
              </a:defRPr>
            </a:pPr>
            <a:r>
              <a:rPr sz="1200" b="1">
                <a:solidFill>
                  <a:srgbClr val="2A1308"/>
                </a:solidFill>
              </a:rPr>
              <a:t>custom home builder marketing agency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B40D5-2152-4544-8ED1-5F145535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1017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B19"/>
                </a:solidFill>
              </a:defRPr>
            </a:pPr>
            <a:r>
              <a:rPr sz="1500" b="1">
                <a:solidFill>
                  <a:srgbClr val="1D1B19"/>
                </a:solidFill>
              </a:rPr>
              <a:t>when to hire + how to judge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58E943-808F-429F-B2FF-546DFF4E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5C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54884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ac0d462ec46c6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7391F-9D81-4080-8FCC-925F3212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ANSWER-ENGINE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D5C73-A6E2-45B4-8089-002537C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What is baked into every blog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8E329-EE99-4082-B8A9-6EB420CB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0A9B8-E9BB-4EEB-AD25-39A24317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11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40ca4bd8840ef"/>
          <a:srcRect xmlns:a="http://schemas.openxmlformats.org/drawingml/2006/main" l="0" t="21833" r="0" b="21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52625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9A0E1-B2A0-45C0-90C4-100F2F3A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BB9BB-0C19-4970-8173-F20CDABC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72E21-C259-4E89-A962-EFD9265A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24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ANSWER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8535A-F1BD-40C1-A073-A4023A7C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28875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Fast comprehension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3ABE6-A34A-447B-BD5C-3727E1F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194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A direct answer, definition and descriptive headings make the page easy for people and machines to parse.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5A848-E8C4-48AC-B039-8AF5C3AC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8D62C-459C-4828-82D9-2590A31F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CD503-CB1F-43C1-9280-3F4DE9F2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24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DECISION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A4E0F-0B34-4C7C-9922-37459D5F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28875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Information gain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9C1EB-9A10-48E9-8646-134085CA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194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Tables, steps, tradeoffs and specific review questions create usefulness beyond generic summaries.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06477-DAF1-4293-8CA8-4AAF0A04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6B373-7C1D-40C4-8BDA-15B289E2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100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5ECEE-990F-447C-AF86-524EBEFC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814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F1C09-DDC3-403D-AEE2-922F2D2F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86250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Proof boundaries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3E6DE-02BE-4071-ADAE-462029F2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8768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Current sources, explicit caveats, named review gates and no invented results or guarantees.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05070-3FC5-4BC2-AAD6-E360B91C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41B6C-4A33-4E9E-AEC4-E23980A0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0FFFA-D7DE-4420-8091-9043626C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6F21"/>
                </a:solidFill>
              </a:defRPr>
            </a:pPr>
            <a:r>
              <a:rPr sz="900" b="1">
                <a:solidFill>
                  <a:srgbClr val="F36F21"/>
                </a:solidFill>
              </a:rPr>
              <a:t>MACHINE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A52ED-B452-478B-B469-106D15D2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B19"/>
                </a:solidFill>
              </a:defRPr>
            </a:pPr>
            <a:r>
              <a:rPr sz="1875" b="1">
                <a:solidFill>
                  <a:srgbClr val="1D1B19"/>
                </a:solidFill>
              </a:rPr>
              <a:t>Structured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C7379-ABAB-40F4-AECA-F288EB1A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5B55"/>
                </a:solidFill>
              </a:defRPr>
            </a:pPr>
            <a:r>
              <a:rPr sz="1125" b="0">
                <a:solidFill>
                  <a:srgbClr val="615B55"/>
                </a:solidFill>
              </a:rPr>
              <a:t>BlogPosting and Breadcrumb candidates mirror visible content. FAQs stay reader-first without a rich-result promise.</a:t>
            </a:r>
          </a:p>
        </p:txBody>
      </p:sp>
    </p:spTree>
    <p:extLst>
      <p:ext uri="{BB962C8B-B14F-4D97-AF65-F5344CB8AC3E}">
        <p14:creationId xmlns:p14="http://schemas.microsoft.com/office/powerpoint/2010/main" val="3284151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14f6ee72845ec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F1985-6846-490A-88AF-A3A2E22A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WORDPRESS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4CF40-B13F-46AC-814F-D976F348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Draft → review → release → verify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A7320-3BAD-4A1D-AFF1-4A3050D2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23F76-8A51-4D93-B3C9-E585D4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845D4-1E04-4BD3-9770-281CD115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581150" cy="18097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CC7AF-401E-4D42-9700-E40C2F6B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6F21"/>
                </a:solidFill>
              </a:defRPr>
            </a:pPr>
            <a:r>
              <a:rPr sz="2100" b="1">
                <a:solidFill>
                  <a:srgbClr val="F36F2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ADBE3-3896-4E22-B8B5-9E835C5B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1308"/>
                </a:solidFill>
              </a:defRPr>
            </a:pPr>
            <a:r>
              <a:rPr sz="1125" b="1">
                <a:solidFill>
                  <a:srgbClr val="2A1308"/>
                </a:solidFill>
              </a:rPr>
              <a:t>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DCEDB-DE82-4C10-ACAB-661052E2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5B55"/>
                </a:solidFill>
              </a:defRPr>
            </a:pPr>
            <a:r>
              <a:rPr sz="975" b="0">
                <a:solidFill>
                  <a:srgbClr val="615B55"/>
                </a:solidFill>
              </a:rPr>
              <a:t>post, slug, author, category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E4DC5-9255-493E-BAEC-FC770937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718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6F21"/>
                </a:solidFill>
              </a:defRPr>
            </a:pPr>
            <a:r>
              <a:rPr sz="1875" b="1">
                <a:solidFill>
                  <a:srgbClr val="F36F2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4A3E4-4EE9-420B-A7F1-616C25BD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1250"/>
            <a:ext cx="1581150" cy="18097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E6D4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D62AF-481F-43DC-9152-C3BEEED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6F21"/>
                </a:solidFill>
              </a:defRPr>
            </a:pPr>
            <a:r>
              <a:rPr sz="2100" b="1">
                <a:solidFill>
                  <a:srgbClr val="F36F21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E7983-D2D6-422A-BFED-72C91717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1308"/>
                </a:solidFill>
              </a:defRPr>
            </a:pPr>
            <a:r>
              <a:rPr sz="1125" b="1">
                <a:solidFill>
                  <a:srgbClr val="2A1308"/>
                </a:solidFill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92DB7-1282-4174-A2C5-B1184DA4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480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5B55"/>
                </a:solidFill>
              </a:defRPr>
            </a:pPr>
            <a:r>
              <a:rPr sz="975" b="0">
                <a:solidFill>
                  <a:srgbClr val="615B55"/>
                </a:solidFill>
              </a:rPr>
              <a:t>facts, links, images, permissions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0FFE4-6E94-40C4-894A-34A9E174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9718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6F21"/>
                </a:solidFill>
              </a:defRPr>
            </a:pPr>
            <a:r>
              <a:rPr sz="1875" b="1">
                <a:solidFill>
                  <a:srgbClr val="F36F2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ADC26-8B0B-4688-953F-36ACB8BF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81250"/>
            <a:ext cx="1581150" cy="18097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0569E-CC63-4496-A00E-221AFBE3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6F21"/>
                </a:solidFill>
              </a:defRPr>
            </a:pPr>
            <a:r>
              <a:rPr sz="2100" b="1">
                <a:solidFill>
                  <a:srgbClr val="F36F21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39226-198E-4191-8BA8-9E38558B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1308"/>
                </a:solidFill>
              </a:defRPr>
            </a:pPr>
            <a:r>
              <a:rPr sz="1125" b="1">
                <a:solidFill>
                  <a:srgbClr val="2A1308"/>
                </a:solidFill>
              </a:rPr>
              <a:t>SEO 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90DA6-CF60-47EA-9B5F-811A9207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5B55"/>
                </a:solidFill>
              </a:defRPr>
            </a:pPr>
            <a:r>
              <a:rPr sz="975" b="0">
                <a:solidFill>
                  <a:srgbClr val="615B55"/>
                </a:solidFill>
              </a:rPr>
              <a:t>meta, canonical, robots, one H1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A8554-B14C-4422-9384-FFC9FDA3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718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6F21"/>
                </a:solidFill>
              </a:defRPr>
            </a:pPr>
            <a:r>
              <a:rPr sz="1875" b="1">
                <a:solidFill>
                  <a:srgbClr val="F36F21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BD04E-5A59-4E74-9F44-2F285F07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1581150" cy="18097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7C8DD-EAA5-47D3-950B-7F74B773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6F21"/>
                </a:solidFill>
              </a:defRPr>
            </a:pPr>
            <a:r>
              <a:rPr sz="2100" b="1">
                <a:solidFill>
                  <a:srgbClr val="F36F21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F93A3-1407-4867-8935-1FACE4C4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1308"/>
                </a:solidFill>
              </a:defRPr>
            </a:pPr>
            <a:r>
              <a:rPr sz="1125" b="1">
                <a:solidFill>
                  <a:srgbClr val="2A1308"/>
                </a:solidFill>
              </a:rPr>
              <a:t>RENDER QA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FC551-A531-4849-9F77-B27DE9F8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5B55"/>
                </a:solidFill>
              </a:defRPr>
            </a:pPr>
            <a:r>
              <a:rPr sz="975" b="0">
                <a:solidFill>
                  <a:srgbClr val="615B55"/>
                </a:solidFill>
              </a:rPr>
              <a:t>mobile, keyboard, forms, speed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C996B-A8D4-49CA-B22A-8D2D292D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718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6F21"/>
                </a:solidFill>
              </a:defRPr>
            </a:pPr>
            <a:r>
              <a:rPr sz="1875" b="1">
                <a:solidFill>
                  <a:srgbClr val="F36F21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D9995-FA6B-4666-9B11-A3AEDB15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81250"/>
            <a:ext cx="1581150" cy="18097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E9C927-C692-4132-84FB-D1F9A172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52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6F21"/>
                </a:solidFill>
              </a:defRPr>
            </a:pPr>
            <a:r>
              <a:rPr sz="2100" b="1">
                <a:solidFill>
                  <a:srgbClr val="F36F21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0C957A-EF90-4D74-9934-DB781C72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1308"/>
                </a:solidFill>
              </a:defRPr>
            </a:pPr>
            <a:r>
              <a:rPr sz="1125" b="1">
                <a:solidFill>
                  <a:srgbClr val="2A1308"/>
                </a:solidFill>
              </a:rPr>
              <a:t>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696E4-C72F-4D49-9F32-C99F8EA3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480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5B55"/>
                </a:solidFill>
              </a:defRPr>
            </a:pPr>
            <a:r>
              <a:rPr sz="975" b="0">
                <a:solidFill>
                  <a:srgbClr val="615B55"/>
                </a:solidFill>
              </a:rPr>
              <a:t>approved timing + 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E38D11-444A-4532-8305-6F9361B5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7180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6F21"/>
                </a:solidFill>
              </a:defRPr>
            </a:pPr>
            <a:r>
              <a:rPr sz="1875" b="1">
                <a:solidFill>
                  <a:srgbClr val="F36F21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6A90BE-988D-4585-8367-92EBB872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581150" cy="18097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D44358-0F8C-4A77-9CD4-4019D510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52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6F21"/>
                </a:solidFill>
              </a:defRPr>
            </a:pPr>
            <a:r>
              <a:rPr sz="2100" b="1">
                <a:solidFill>
                  <a:srgbClr val="F36F21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83EB3-ABA4-4919-B9F1-205A5D1E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670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1308"/>
                </a:solidFill>
              </a:defRPr>
            </a:pPr>
            <a:r>
              <a:rPr sz="1125" b="1">
                <a:solidFill>
                  <a:srgbClr val="2A1308"/>
                </a:solidFill>
              </a:rPr>
              <a:t>VERIFY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123CF3-316D-47BB-95DF-A7E6756A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480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15B55"/>
                </a:solidFill>
              </a:defRPr>
            </a:pPr>
            <a:r>
              <a:rPr sz="975" b="0">
                <a:solidFill>
                  <a:srgbClr val="615B55"/>
                </a:solidFill>
              </a:rPr>
              <a:t>schema, sitemap, URL inspection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7C4023-3231-4227-B987-35B2692B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A1308"/>
                </a:solidFill>
              </a:defRPr>
            </a:pPr>
            <a:r>
              <a:rPr sz="1800" b="1">
                <a:solidFill>
                  <a:srgbClr val="2A1308"/>
                </a:solidFill>
              </a:rPr>
              <a:t>No draft enters the sitemap. No public publish occurs without a named release owner.</a:t>
            </a:r>
          </a:p>
        </p:txBody>
      </p:sp>
    </p:spTree>
    <p:extLst>
      <p:ext uri="{BB962C8B-B14F-4D97-AF65-F5344CB8AC3E}">
        <p14:creationId xmlns:p14="http://schemas.microsoft.com/office/powerpoint/2010/main" val="12602541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A1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28a81cb4544de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E3579-03B4-47BB-ADD5-1581AD3A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CE2C0-197A-42AB-82CB-CB6A144E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Rankings become useful when they connect to sales truth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60F39-9643-46BB-BEE9-FFD7379C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DAFC4-7C4A-4A38-B626-9B59FD08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E8DC"/>
                </a:solidFill>
              </a:defRPr>
            </a:pPr>
            <a:r>
              <a:rPr sz="900" b="1">
                <a:solidFill>
                  <a:srgbClr val="F4E8DC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EA7BF-0057-4017-9E5A-381A5EE7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A2A19"/>
          </a:solidFill>
          <a:ln xmlns:a="http://schemas.openxmlformats.org/drawingml/2006/main" w="9525">
            <a:solidFill>
              <a:srgbClr val="6B402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77879-C86F-4BF3-AF9F-E5FDFBAE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6F21"/>
                </a:solidFill>
              </a:defRPr>
            </a:pPr>
            <a:r>
              <a:rPr sz="1950" b="1">
                <a:solidFill>
                  <a:srgbClr val="F36F2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41DAA-599A-43DE-B066-5687529F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654D7-D487-46D8-85BE-26C3D603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E8DC"/>
                </a:solidFill>
              </a:defRPr>
            </a:pPr>
            <a:r>
              <a:rPr sz="1050" b="0">
                <a:solidFill>
                  <a:srgbClr val="F4E8DC"/>
                </a:solidFill>
              </a:rPr>
              <a:t>query + landing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944D6-809F-4E17-B583-48FBD017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52750"/>
            <a:ext cx="295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6F21"/>
                </a:solidFill>
              </a:defRPr>
            </a:pPr>
            <a:r>
              <a:rPr sz="1875" b="1">
                <a:solidFill>
                  <a:srgbClr val="F36F2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35226-DC45-449D-A148-FE11E5FD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33625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A2A19"/>
          </a:solidFill>
          <a:ln xmlns:a="http://schemas.openxmlformats.org/drawingml/2006/main" w="9525">
            <a:solidFill>
              <a:srgbClr val="6B40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DF544-9BBC-4A2E-9FF7-42E0541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6F21"/>
                </a:solidFill>
              </a:defRPr>
            </a:pPr>
            <a:r>
              <a:rPr sz="1950" b="1">
                <a:solidFill>
                  <a:srgbClr val="F36F21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0DDD2-7526-4FDE-BE2B-96A67F3D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003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ENGAGEMENT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A88F3-31EC-4A7E-AC0F-544508EC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42900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E8DC"/>
                </a:solidFill>
              </a:defRPr>
            </a:pPr>
            <a:r>
              <a:rPr sz="1050" b="0">
                <a:solidFill>
                  <a:srgbClr val="F4E8DC"/>
                </a:solidFill>
              </a:rPr>
              <a:t>useful next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A5FA0-CE21-42C3-BC67-ACF50E89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52750"/>
            <a:ext cx="295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6F21"/>
                </a:solidFill>
              </a:defRPr>
            </a:pPr>
            <a:r>
              <a:rPr sz="1875" b="1">
                <a:solidFill>
                  <a:srgbClr val="F36F2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276F0-E2DF-41E8-BBCD-F5FD2DF4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33625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A2A19"/>
          </a:solidFill>
          <a:ln xmlns:a="http://schemas.openxmlformats.org/drawingml/2006/main" w="9525">
            <a:solidFill>
              <a:srgbClr val="6B402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76E02-96AA-4829-A54C-28352BC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765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6F21"/>
                </a:solidFill>
              </a:defRPr>
            </a:pPr>
            <a:r>
              <a:rPr sz="1950" b="1">
                <a:solidFill>
                  <a:srgbClr val="F36F21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3C01A-083E-4572-8A9A-FC37CC3E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03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E119E-118D-490E-93D2-B0606EA9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2900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E8DC"/>
                </a:solidFill>
              </a:defRPr>
            </a:pPr>
            <a:r>
              <a:rPr sz="1050" b="0">
                <a:solidFill>
                  <a:srgbClr val="F4E8DC"/>
                </a:solidFill>
              </a:rPr>
              <a:t>verified hand raise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959B7-7732-4E17-83A6-5186B938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295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6F21"/>
                </a:solidFill>
              </a:defRPr>
            </a:pPr>
            <a:r>
              <a:rPr sz="1875" b="1">
                <a:solidFill>
                  <a:srgbClr val="F36F21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6038F-084F-4808-9408-F0EF7E98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33625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A2A19"/>
          </a:solidFill>
          <a:ln xmlns:a="http://schemas.openxmlformats.org/drawingml/2006/main" w="9525">
            <a:solidFill>
              <a:srgbClr val="6B402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E7C02-6EE3-49E8-9114-AAE2DEF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765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6F21"/>
                </a:solidFill>
              </a:defRPr>
            </a:pPr>
            <a:r>
              <a:rPr sz="1950" b="1">
                <a:solidFill>
                  <a:srgbClr val="F36F21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2D100-64A4-4E38-A4DC-8189C3F9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003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QUALIFICATION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A7BC3-2EE6-4F79-9A8D-F330309C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42900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E8DC"/>
                </a:solidFill>
              </a:defRPr>
            </a:pPr>
            <a:r>
              <a:rPr sz="1050" b="0">
                <a:solidFill>
                  <a:srgbClr val="F4E8DC"/>
                </a:solidFill>
              </a:rPr>
              <a:t>sales acceptance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A627A-1859-466C-98C4-12290BE2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52750"/>
            <a:ext cx="295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6F21"/>
                </a:solidFill>
              </a:defRPr>
            </a:pPr>
            <a:r>
              <a:rPr sz="1875" b="1">
                <a:solidFill>
                  <a:srgbClr val="F36F21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EB02B-CD60-41F3-B494-BBA0849B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33625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9525">
            <a:solidFill>
              <a:srgbClr val="F36F2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BF556-956E-4787-B853-22832B00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EDE13-A6A2-4F8C-A983-AD350A89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003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75B68-7475-480A-BBEF-41EBBD11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4E8DC"/>
                </a:solidFill>
              </a:defRPr>
            </a:pPr>
            <a:r>
              <a:rPr sz="1050" b="0">
                <a:solidFill>
                  <a:srgbClr val="F4E8DC"/>
                </a:solidFill>
              </a:rPr>
              <a:t>opportunity + revenue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D1BB44-644E-46BE-9FBC-91CD2CB6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E8DC"/>
                </a:solidFill>
              </a:defRPr>
            </a:pPr>
            <a:r>
              <a:rPr sz="1650" b="1">
                <a:solidFill>
                  <a:srgbClr val="F4E8DC"/>
                </a:solidFill>
              </a:rPr>
              <a:t>Search Console + analytics + verified events + CRM source + sales feedback</a:t>
            </a:r>
          </a:p>
        </p:txBody>
      </p:sp>
    </p:spTree>
    <p:extLst>
      <p:ext uri="{BB962C8B-B14F-4D97-AF65-F5344CB8AC3E}">
        <p14:creationId xmlns:p14="http://schemas.microsoft.com/office/powerpoint/2010/main" val="243016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92e406e5e4e7f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45558-2B23-4339-A5D6-E77A9BD8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90-DAY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D6C26-D316-4170-9E86-E995958B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B19"/>
                </a:solidFill>
              </a:defRPr>
            </a:pPr>
            <a:r>
              <a:rPr sz="2550" b="1">
                <a:solidFill>
                  <a:srgbClr val="1D1B19"/>
                </a:solidFill>
              </a:rPr>
              <a:t>Repair first. Release in waves. Learn before scaling.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6B32C-1E81-45C7-9138-09744488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D8882-91A8-44A1-9202-7836F832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5B55"/>
                </a:solidFill>
              </a:defRPr>
            </a:pPr>
            <a:r>
              <a:rPr sz="900" b="1">
                <a:solidFill>
                  <a:srgbClr val="615B5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9FC12-3840-4A97-8DA8-53514023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05503-4D7D-4A32-AC84-722C9ECF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381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38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23B3B-665B-40F6-B7B3-C15E8EE5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83824"/>
                </a:solidFill>
              </a:defRPr>
            </a:pPr>
            <a:r>
              <a:rPr sz="1200" b="1">
                <a:solidFill>
                  <a:srgbClr val="A83824"/>
                </a:solidFill>
              </a:rPr>
              <a:t>DAYS 1–14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BB706-B024-41F8-B422-8418E57A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B19"/>
                </a:solidFill>
              </a:defRPr>
            </a:pPr>
            <a:r>
              <a:rPr sz="1575" b="1">
                <a:solidFill>
                  <a:srgbClr val="1D1B19"/>
                </a:solidFill>
              </a:rPr>
              <a:t>Fix P0/P1 + approve facts and imagery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B613A-C1F5-4C40-8CA7-E7CCA43F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15B55"/>
                </a:solidFill>
              </a:defRPr>
            </a:pPr>
            <a:r>
              <a:rPr sz="2100" b="1">
                <a:solidFill>
                  <a:srgbClr val="615B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D22DF-5D48-40B1-84B9-2F49427E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43125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79F9F-D594-4BFC-A968-9957FE28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43125"/>
            <a:ext cx="2381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75B93-5A8B-4F63-A3E7-C1FDCD0D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6F21"/>
                </a:solidFill>
              </a:defRPr>
            </a:pPr>
            <a:r>
              <a:rPr sz="1200" b="1">
                <a:solidFill>
                  <a:srgbClr val="F36F21"/>
                </a:solidFill>
              </a:rPr>
              <a:t>DAYS 15–30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6203D-622B-4A28-A4F9-0A562971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B19"/>
                </a:solidFill>
              </a:defRPr>
            </a:pPr>
            <a:r>
              <a:rPr sz="1575" b="1">
                <a:solidFill>
                  <a:srgbClr val="1D1B19"/>
                </a:solidFill>
              </a:rPr>
              <a:t>Release first two + verify events and indexing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3ADD9-D486-4EA1-8332-F224BD2F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9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15B55"/>
                </a:solidFill>
              </a:defRPr>
            </a:pPr>
            <a:r>
              <a:rPr sz="2100" b="1">
                <a:solidFill>
                  <a:srgbClr val="615B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0A9FE-A264-41D0-BCB3-0B6F699C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43125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9234C-1905-43D6-96BD-DF79FEA0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43125"/>
            <a:ext cx="2381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3EEF6-A532-4499-9E64-F404DFC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7A4A"/>
                </a:solidFill>
              </a:defRPr>
            </a:pPr>
            <a:r>
              <a:rPr sz="1200" b="1">
                <a:solidFill>
                  <a:srgbClr val="197A4A"/>
                </a:solidFill>
              </a:rPr>
              <a:t>DAYS 31–60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A6C29-0963-4F63-8AF5-F645BCC6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B19"/>
                </a:solidFill>
              </a:defRPr>
            </a:pPr>
            <a:r>
              <a:rPr sz="1575" b="1">
                <a:solidFill>
                  <a:srgbClr val="1D1B19"/>
                </a:solidFill>
              </a:rPr>
              <a:t>Release remaining three + strengthen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33CBC-84F1-4C35-9447-0DEE9ABE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9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15B55"/>
                </a:solidFill>
              </a:defRPr>
            </a:pPr>
            <a:r>
              <a:rPr sz="2100" b="1">
                <a:solidFill>
                  <a:srgbClr val="615B55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99E0B-7041-4CDD-8D74-14A2A4ED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43125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5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5BC6F-5FA9-4D5C-8879-61E5AA4D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43125"/>
            <a:ext cx="2381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13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FFED3-A467-4A35-AD53-9DFD8C31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1308"/>
                </a:solidFill>
              </a:defRPr>
            </a:pPr>
            <a:r>
              <a:rPr sz="1200" b="1">
                <a:solidFill>
                  <a:srgbClr val="2A1308"/>
                </a:solidFill>
              </a:rPr>
              <a:t>DAYS 61–90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7F178-54F4-4B80-ADD3-4422A748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D1B19"/>
                </a:solidFill>
              </a:defRPr>
            </a:pPr>
            <a:r>
              <a:rPr sz="1575" b="1">
                <a:solidFill>
                  <a:srgbClr val="1D1B19"/>
                </a:solidFill>
              </a:rPr>
              <a:t>Review query ownership + qualified demand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AF105-865A-4ABD-A510-09DC6D73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91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15B55"/>
                </a:solidFill>
              </a:defRPr>
            </a:pPr>
            <a:r>
              <a:rPr sz="2100" b="1">
                <a:solidFill>
                  <a:srgbClr val="615B55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22BB8-C392-42F7-B032-1BE9286D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1308"/>
                </a:solidFill>
              </a:defRPr>
            </a:pPr>
            <a:r>
              <a:rPr sz="1500" b="1">
                <a:solidFill>
                  <a:srgbClr val="2A1308"/>
                </a:solidFill>
              </a:rPr>
              <a:t>12-month scale: expand only where Search Console, client questions and sales feedback justify the next asset.</a:t>
            </a:r>
          </a:p>
        </p:txBody>
      </p:sp>
    </p:spTree>
    <p:extLst>
      <p:ext uri="{BB962C8B-B14F-4D97-AF65-F5344CB8AC3E}">
        <p14:creationId xmlns:p14="http://schemas.microsoft.com/office/powerpoint/2010/main" val="16215242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A13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9dc4c2c854ace"/>
          <a:stretch xmlns:a="http://schemas.openxmlformats.org/drawingml/2006/main"/>
        </p:blipFill>
        <p:spPr>
          <a:xfrm xmlns:a="http://schemas.openxmlformats.org/drawingml/2006/main">
            <a:off x="9935308" y="323850"/>
            <a:ext cx="1465385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CE8BE-F569-4D45-B727-1178DA0A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57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6F21"/>
                </a:solidFill>
              </a:defRPr>
            </a:pPr>
            <a:r>
              <a:rPr sz="975" b="1">
                <a:solidFill>
                  <a:srgbClr val="F36F21"/>
                </a:solidFill>
              </a:rPr>
              <a:t>THURSDAY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FD9EF-468C-46D0-8368-7ED03173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Seven decisions that unlock the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CDAE4-0711-427F-A1CF-DADCD627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7A34A-F3C8-4946-A447-31696E8B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E8DC"/>
                </a:solidFill>
              </a:defRPr>
            </a:pPr>
            <a:r>
              <a:rPr sz="900" b="1">
                <a:solidFill>
                  <a:srgbClr val="F4E8DC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8EF15-A5F3-4967-B041-81DDC7C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46C2C-A3EF-46B6-9B66-CA8EBAB7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873E9-117C-4975-BDBB-5936C046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Approve the five topics and keyword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1814A-5DE5-469D-A204-7F35E44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D4931-810E-4AC9-BD9B-2DF25274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ADA87-0DF6-466D-9BC6-1B501B3E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717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Name the factual 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2D549-3E98-453A-9454-563AFB2B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61394-A78E-48FA-86FD-FED70DDA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1916B-C0BD-4BB5-B370-F986016C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909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Approve or replace image briefs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1A53F-145C-4F53-8789-87CAD5A7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7A564-5D90-44BF-8A2B-B6D22FEC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85B3D-D6EB-4EE4-9037-A9ED62F5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100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Assign the technical repair sprint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9F626-B7C2-4DC2-8E73-CBAFEF13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101569-F26F-4A8F-8B36-7DF6A5D7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C44A3-4D74-4D0B-8CD5-7C0399B2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526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Choose the first two releases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F117B-7E7D-4F06-A422-98E6118A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7177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8B0FB-99D7-4454-B92B-96BAA8CD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90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46E5F-A305-4223-B74A-749C8735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717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Confirm web-to-CRM measurement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E53ED-DBD4-4590-A789-B9300F69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90925"/>
            <a:ext cx="533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0882D-E5C0-4DDB-AAD2-5EB6DD1C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FFCA0-8DA6-4C26-861E-2F8BD656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909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Decide whether to scope Phase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1597A7-4E84-459C-8CA0-5CC8CCED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E8DC"/>
                </a:solidFill>
              </a:defRPr>
            </a:pPr>
            <a:r>
              <a:rPr sz="1725" b="1">
                <a:solidFill>
                  <a:srgbClr val="F4E8DC"/>
                </a:solidFill>
              </a:rPr>
              <a:t>The goal is a named owner, a release sequence and a measurement contract — not a longer idea list.</a:t>
            </a:r>
          </a:p>
        </p:txBody>
      </p:sp>
    </p:spTree>
    <p:extLst>
      <p:ext uri="{BB962C8B-B14F-4D97-AF65-F5344CB8AC3E}">
        <p14:creationId xmlns:p14="http://schemas.microsoft.com/office/powerpoint/2010/main" val="1052131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2026-09-02T05:42:24.2900000Z</dcterms:created>
  <dcterms:modified xsi:type="dcterms:W3CDTF">2026-09-02T05:42:24.2900000Z</dcterms:modified>
</coreProperties>
</file>