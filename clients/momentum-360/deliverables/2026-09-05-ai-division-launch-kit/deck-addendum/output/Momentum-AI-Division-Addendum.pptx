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what has already run: Puttery attribution spine with passing suites, ten prospect homepages from one engine, this deck from a brand file, two 4K films for 278 credits, two 16-page audits that reached the quote stage. The division sells that.
[Sources]
clients/momentum-360/deliverables/2026-09-05-ai-division-launch-kit/DIVISION.md
Mac Frederick, Slack #ai-tech-news, July 28 and August 3, 2026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honest answer to Mac's outbound question, and it is the argument for an audit-led funnel. Say the numbers plainly and move to the opener.
[Sources]
clients/momentum-360/deliverables/2026-09-02-dillon-ai-director-outreach/sends/gmail-reconciliation-2026-09-03.json
clients/momentum-360/deliverables/2026-08-21-pre-sale-ai-search-audits/PACKAGE-STATUS.md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this live on Momentum's own domain. Show the host-challenge finding honestly: from a datacenter every automated identity is challenged, so AI-crawler access is reported as not observed, not asserted.
[Sources]
clients/momentum-360/deliverables/2026-09-05-ai-division-launch-kit/offers.json
clients/momentum-360/deliverables/2026-09-05-ai-division-launch-kit/snapshot/README.md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lanes are Mac's; the flagships are Dillon's proposal for what launches first. Each ships with its agent and an hours-per-client target.
[Sources]
Mac Frederick, Slack #ai-tech-news, July 28 and August 3, 2026
clients/momentum-360/deliverables/2026-09-05-ai-division-launch-kit/offers.json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quote any of these to a prospect. They are anchored to what has actually been sold or quoted and they are Mac's to set.
[Sources]
clients/momentum-360/deliverables/2026-09-05-ai-division-launch-kit/offers.json
clients/momentum-360/deliverables/2026-09-05-ai-division-launch-kit/pending-decisions.json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double-hours row is the whole argument for hours-per-client as an acceptance metric: at double hours the recurring cohort loses money. Rows are produced by the September 4 pack's economics engine, not typed.
[Sources]
clients/momentum-360/deliverables/2026-09-05-ai-division-launch-kit/economics-v2.json (engine: 2026-09-04-ai-division-plan/economics.py)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register, not on enthusiasm. The meeting output is a decision sheet. Owners: prices, compensation, capacity, support coverage and the name are Mac's; the offer architecture and visual direction are Dillon's proposals.
[Sources]
clients/momentum-360/deliverables/2026-09-05-ai-division-launch-kit/pending-decisions.json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825"/>
        </a:solidFill>
      </p:bgPr>
    </p:bg>
    <p:spTree>
      <p:nvGrpSpPr>
        <p:cNvPr id="1" name=""/>
        <p:cNvGrpSpPr/>
        <p:nvPr/>
      </p:nvGrpSpPr>
      <p:grpSpPr>
        <a:xfrm>
          <a:off x="0" y="0"/>
          <a:ext cx="0" cy="0"/>
          <a:chOff x="0" y="0"/>
          <a:chExt cx="0" cy="0"/>
        </a:xfrm>
      </p:grpSpPr>
      <p:sp>
        <p:nvSpPr>
          <p:cNvPr id="2" name="role:numeral"/>
          <p:cNvSpPr txBox="1"/>
          <p:nvPr/>
        </p:nvSpPr>
        <p:spPr>
          <a:xfrm>
            <a:off x="4480560" y="502920"/>
            <a:ext cx="8138160" cy="6949440"/>
          </a:xfrm>
          <a:prstGeom prst="rect">
            <a:avLst/>
          </a:prstGeom>
          <a:noFill/>
          <a:ln/>
        </p:spPr>
        <p:txBody>
          <a:bodyPr wrap="square" lIns="0" tIns="0" rIns="0" bIns="0" rtlCol="0" anchor="t"/>
          <a:lstStyle/>
          <a:p>
            <a:pPr algn="r" indent="0" marL="0">
              <a:lnSpc>
                <a:spcPct val="100000"/>
              </a:lnSpc>
              <a:buNone/>
            </a:pPr>
            <a:r>
              <a:rPr lang="en-US" sz="43000" b="1" dirty="0">
                <a:solidFill>
                  <a:srgbClr val="112B3F"/>
                </a:solidFill>
                <a:latin typeface="Arial" pitchFamily="34" charset="0"/>
                <a:ea typeface="Arial" pitchFamily="34" charset="-122"/>
                <a:cs typeface="Arial" pitchFamily="34" charset="-120"/>
              </a:rPr>
              <a:t>04</a:t>
            </a:r>
            <a:endParaRPr lang="en-US" sz="43000" dirty="0"/>
          </a:p>
        </p:txBody>
      </p:sp>
      <p:pic>
        <p:nvPicPr>
          <p:cNvPr id="3" name="role:logo" descr="Momentum Digital logo">    </p:cNvPr>
          <p:cNvPicPr>
            <a:picLocks noChangeAspect="1"/>
          </p:cNvPicPr>
          <p:nvPr/>
        </p:nvPicPr>
        <p:blipFill>
          <a:blip r:embed="rId1"/>
          <a:stretch>
            <a:fillRect/>
          </a:stretch>
        </p:blipFill>
        <p:spPr>
          <a:xfrm>
            <a:off x="10106863" y="658368"/>
            <a:ext cx="1371600" cy="294904"/>
          </a:xfrm>
          <a:prstGeom prst="rect">
            <a:avLst/>
          </a:prstGeom>
        </p:spPr>
      </p:pic>
      <p:sp>
        <p:nvSpPr>
          <p:cNvPr id="4" name="role:kicker"/>
          <p:cNvSpPr txBox="1"/>
          <p:nvPr/>
        </p:nvSpPr>
        <p:spPr>
          <a:xfrm>
            <a:off x="713232" y="3063240"/>
            <a:ext cx="6766560" cy="201168"/>
          </a:xfrm>
          <a:prstGeom prst="rect">
            <a:avLst/>
          </a:prstGeom>
          <a:noFill/>
          <a:ln/>
        </p:spPr>
        <p:txBody>
          <a:bodyPr wrap="square" lIns="0" tIns="0" rIns="0" bIns="0" rtlCol="0" anchor="t"/>
          <a:lstStyle/>
          <a:p>
            <a:pPr algn="l" indent="0" marL="0">
              <a:buNone/>
            </a:pPr>
            <a:r>
              <a:rPr lang="en-US" sz="1050" b="1" spc="240" kern="0" dirty="0">
                <a:solidFill>
                  <a:srgbClr val="5AA7E0"/>
                </a:solidFill>
                <a:latin typeface="Arial" pitchFamily="34" charset="0"/>
                <a:ea typeface="Arial" pitchFamily="34" charset="-122"/>
                <a:cs typeface="Arial" pitchFamily="34" charset="-120"/>
              </a:rPr>
              <a:t>SECTION FOUR · DRAFT FOR THE FRIDAY CONVERSATION</a:t>
            </a:r>
            <a:endParaRPr lang="en-US" sz="1050" dirty="0"/>
          </a:p>
        </p:txBody>
      </p:sp>
      <p:sp>
        <p:nvSpPr>
          <p:cNvPr id="5" name="role:title"/>
          <p:cNvSpPr txBox="1"/>
          <p:nvPr/>
        </p:nvSpPr>
        <p:spPr>
          <a:xfrm>
            <a:off x="713232" y="3392424"/>
            <a:ext cx="7498080" cy="633984"/>
          </a:xfrm>
          <a:prstGeom prst="rect">
            <a:avLst/>
          </a:prstGeom>
          <a:noFill/>
          <a:ln/>
        </p:spPr>
        <p:txBody>
          <a:bodyPr wrap="square" lIns="0" tIns="0" rIns="0" bIns="0" rtlCol="0" anchor="t"/>
          <a:lstStyle/>
          <a:p>
            <a:pPr algn="l" indent="0" marL="0">
              <a:lnSpc>
                <a:spcPct val="102000"/>
              </a:lnSpc>
              <a:buNone/>
            </a:pPr>
            <a:r>
              <a:rPr lang="en-US" sz="4400" b="1" dirty="0">
                <a:solidFill>
                  <a:srgbClr val="FFFFFF"/>
                </a:solidFill>
                <a:latin typeface="Arial" pitchFamily="34" charset="0"/>
                <a:ea typeface="Arial" pitchFamily="34" charset="-122"/>
                <a:cs typeface="Arial" pitchFamily="34" charset="-120"/>
              </a:rPr>
              <a:t>The AI division</a:t>
            </a:r>
            <a:endParaRPr lang="en-US" sz="4400" dirty="0"/>
          </a:p>
        </p:txBody>
      </p:sp>
      <p:sp>
        <p:nvSpPr>
          <p:cNvPr id="6" name="role:sub"/>
          <p:cNvSpPr txBox="1"/>
          <p:nvPr/>
        </p:nvSpPr>
        <p:spPr>
          <a:xfrm>
            <a:off x="713232" y="4282440"/>
            <a:ext cx="6766560" cy="559308"/>
          </a:xfrm>
          <a:prstGeom prst="rect">
            <a:avLst/>
          </a:prstGeom>
          <a:noFill/>
          <a:ln/>
        </p:spPr>
        <p:txBody>
          <a:bodyPr wrap="square" lIns="0" tIns="0" rIns="0" bIns="0" rtlCol="0" anchor="t"/>
          <a:lstStyle/>
          <a:p>
            <a:pPr algn="l" indent="0" marL="0">
              <a:lnSpc>
                <a:spcPct val="130000"/>
              </a:lnSpc>
              <a:buNone/>
            </a:pPr>
            <a:r>
              <a:rPr lang="en-US" sz="1500" dirty="0">
                <a:solidFill>
                  <a:srgbClr val="9DB5C8"/>
                </a:solidFill>
                <a:latin typeface="Arial" pitchFamily="34" charset="0"/>
                <a:ea typeface="Arial" pitchFamily="34" charset="-122"/>
                <a:cs typeface="Arial" pitchFamily="34" charset="-120"/>
              </a:rPr>
              <a:t>Four lanes Mac already named. One launch-ready flagship and one roadmap offer behind each. One free opener.</a:t>
            </a:r>
            <a:endParaRPr lang="en-US" sz="15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320" decel="70000"/>
                                        <p:tgtEl>
                                          <p:spTgt spid="3"/>
                                        </p:tgtEl>
                                      </p:cBhvr>
                                    </p:animEffect>
                                  </p:childTnLst>
                                </p:cTn>
                              </p:par>
                              <p:par>
                                <p:cTn id="8" presetID="23" presetClass="entr" presetSubtype="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1035" decel="70000"/>
                                        <p:tgtEl>
                                          <p:spTgt spid="2"/>
                                        </p:tgtEl>
                                      </p:cBhvr>
                                    </p:animEffect>
                                    <p:animScale>
                                      <p:cBhvr>
                                        <p:cTn id="11" dur="1035" decel="70000" fill="hold"/>
                                        <p:tgtEl>
                                          <p:spTgt spid="2"/>
                                        </p:tgtEl>
                                      </p:cBhvr>
                                      <p:from x="106000" y="106000"/>
                                      <p:to x="100000" y="100000"/>
                                    </p:animScale>
                                  </p:childTnLst>
                                </p:cTn>
                              </p:par>
                              <p:par>
                                <p:cTn id="12" presetID="10" presetClass="entr" presetSubtype="0" fill="hold" grpId="0" nodeType="withEffect">
                                  <p:stCondLst>
                                    <p:cond delay="55"/>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322" decel="70000"/>
                                        <p:tgtEl>
                                          <p:spTgt spid="4"/>
                                        </p:tgtEl>
                                      </p:cBhvr>
                                    </p:animEffect>
                                    <p:anim calcmode="lin" valueType="num">
                                      <p:cBhvr additive="base">
                                        <p:cTn id="15" dur="322" decel="70000" fill="hold"/>
                                        <p:tgtEl>
                                          <p:spTgt spid="4"/>
                                        </p:tgtEl>
                                        <p:attrNameLst>
                                          <p:attrName>ppt_y</p:attrName>
                                        </p:attrNameLst>
                                      </p:cBhvr>
                                      <p:tavLst>
                                        <p:tav tm="0">
                                          <p:val>
                                            <p:strVal val="#ppt_y+0.032"/>
                                          </p:val>
                                        </p:tav>
                                        <p:tav tm="100000">
                                          <p:val>
                                            <p:strVal val="#ppt_y"/>
                                          </p:val>
                                        </p:tav>
                                      </p:tavLst>
                                    </p:anim>
                                  </p:childTnLst>
                                </p:cTn>
                              </p:par>
                              <p:par>
                                <p:cTn id="16" presetID="10" presetClass="entr" presetSubtype="0" fill="hold" grpId="0" nodeType="withEffect">
                                  <p:stCondLst>
                                    <p:cond delay="11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482" decel="70000"/>
                                        <p:tgtEl>
                                          <p:spTgt spid="5"/>
                                        </p:tgtEl>
                                      </p:cBhvr>
                                    </p:animEffect>
                                    <p:anim calcmode="lin" valueType="num">
                                      <p:cBhvr additive="base">
                                        <p:cTn id="19" dur="482" decel="70000" fill="hold"/>
                                        <p:tgtEl>
                                          <p:spTgt spid="5"/>
                                        </p:tgtEl>
                                        <p:attrNameLst>
                                          <p:attrName>ppt_y</p:attrName>
                                        </p:attrNameLst>
                                      </p:cBhvr>
                                      <p:tavLst>
                                        <p:tav tm="0">
                                          <p:val>
                                            <p:strVal val="#ppt_y+0.0512"/>
                                          </p:val>
                                        </p:tav>
                                        <p:tav tm="100000">
                                          <p:val>
                                            <p:strVal val="#ppt_y"/>
                                          </p:val>
                                        </p:tav>
                                      </p:tavLst>
                                    </p:anim>
                                  </p:childTnLst>
                                </p:cTn>
                              </p:par>
                              <p:par>
                                <p:cTn id="20" presetID="10" presetClass="entr" presetSubtype="0" fill="hold" grpId="0" nodeType="withEffect">
                                  <p:stCondLst>
                                    <p:cond delay="165"/>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390" decel="70000"/>
                                        <p:tgtEl>
                                          <p:spTgt spid="6"/>
                                        </p:tgtEl>
                                      </p:cBhvr>
                                    </p:animEffect>
                                    <p:anim calcmode="lin" valueType="num">
                                      <p:cBhvr additive="base">
                                        <p:cTn id="23" dur="390" decel="70000" fill="hold"/>
                                        <p:tgtEl>
                                          <p:spTgt spid="6"/>
                                        </p:tgtEl>
                                        <p:attrNameLst>
                                          <p:attrName>ppt_y</p:attrName>
                                        </p:attrNameLst>
                                      </p:cBhvr>
                                      <p:tavLst>
                                        <p:tav tm="0">
                                          <p:val>
                                            <p:strVal val="#ppt_y+0.038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role:panel-right"/>
          <p:cNvSpPr/>
          <p:nvPr/>
        </p:nvSpPr>
        <p:spPr>
          <a:xfrm>
            <a:off x="8214055" y="0"/>
            <a:ext cx="3977640" cy="6858000"/>
          </a:xfrm>
          <a:prstGeom prst="rect">
            <a:avLst/>
          </a:prstGeom>
          <a:solidFill>
            <a:srgbClr val="0A1825"/>
          </a:solidFill>
          <a:ln w="12700">
            <a:solidFill>
              <a:srgbClr val="333333"/>
            </a:solidFill>
            <a:prstDash val="solid"/>
          </a:ln>
        </p:spPr>
      </p:sp>
      <p:pic>
        <p:nvPicPr>
          <p:cNvPr id="3" name="role:motif" descr="C:\Users\dillo\.claude\skills\client-deck\assets\momentum-digital\momentum-mark-white.png">    </p:cNvPr>
          <p:cNvPicPr>
            <a:picLocks noChangeAspect="1"/>
          </p:cNvPicPr>
          <p:nvPr/>
        </p:nvPicPr>
        <p:blipFill>
          <a:blip r:embed="rId1">
            <a:alphaModFix amt="10000"/>
          </a:blip>
          <a:stretch>
            <a:fillRect/>
          </a:stretch>
        </p:blipFill>
        <p:spPr>
          <a:xfrm>
            <a:off x="9601200" y="4114800"/>
            <a:ext cx="3931920" cy="4664199"/>
          </a:xfrm>
          <a:prstGeom prst="rect">
            <a:avLst/>
          </a:prstGeom>
        </p:spPr>
      </p:pic>
      <p:pic>
        <p:nvPicPr>
          <p:cNvPr id="4" name="role:logo" descr="Momentum Digital logo">    </p:cNvPr>
          <p:cNvPicPr>
            <a:picLocks noChangeAspect="1"/>
          </p:cNvPicPr>
          <p:nvPr/>
        </p:nvPicPr>
        <p:blipFill>
          <a:blip r:embed="rId2"/>
          <a:stretch>
            <a:fillRect/>
          </a:stretch>
        </p:blipFill>
        <p:spPr>
          <a:xfrm>
            <a:off x="10106863" y="658368"/>
            <a:ext cx="1371600" cy="294904"/>
          </a:xfrm>
          <a:prstGeom prst="rect">
            <a:avLst/>
          </a:prstGeom>
        </p:spPr>
      </p:pic>
      <p:sp>
        <p:nvSpPr>
          <p:cNvPr id="5" name="role:kicker"/>
          <p:cNvSpPr txBox="1"/>
          <p:nvPr/>
        </p:nvSpPr>
        <p:spPr>
          <a:xfrm>
            <a:off x="713232" y="658368"/>
            <a:ext cx="8753551" cy="201168"/>
          </a:xfrm>
          <a:prstGeom prst="rect">
            <a:avLst/>
          </a:prstGeom>
          <a:noFill/>
          <a:ln/>
        </p:spPr>
        <p:txBody>
          <a:bodyPr wrap="square" lIns="0" tIns="0" rIns="0" bIns="0" rtlCol="0" anchor="t"/>
          <a:lstStyle/>
          <a:p>
            <a:pPr algn="l" indent="0" marL="0">
              <a:buNone/>
            </a:pPr>
            <a:r>
              <a:rPr lang="en-US" sz="1050" b="1" spc="240" kern="0" dirty="0">
                <a:solidFill>
                  <a:srgbClr val="2A80C2"/>
                </a:solidFill>
                <a:latin typeface="Arial" pitchFamily="34" charset="0"/>
                <a:ea typeface="Arial" pitchFamily="34" charset="-122"/>
                <a:cs typeface="Arial" pitchFamily="34" charset="-120"/>
              </a:rPr>
              <a:t>MOMENTUM AI · PROPOSED</a:t>
            </a:r>
            <a:endParaRPr lang="en-US" sz="1050" dirty="0"/>
          </a:p>
        </p:txBody>
      </p:sp>
      <p:sp>
        <p:nvSpPr>
          <p:cNvPr id="6" name="role:title"/>
          <p:cNvSpPr txBox="1"/>
          <p:nvPr/>
        </p:nvSpPr>
        <p:spPr>
          <a:xfrm>
            <a:off x="713232" y="987552"/>
            <a:ext cx="7589520" cy="1074420"/>
          </a:xfrm>
          <a:prstGeom prst="rect">
            <a:avLst/>
          </a:prstGeom>
          <a:noFill/>
          <a:ln/>
        </p:spPr>
        <p:txBody>
          <a:bodyPr wrap="square" lIns="0" tIns="0" rIns="0" bIns="0" rtlCol="0" anchor="t"/>
          <a:lstStyle/>
          <a:p>
            <a:pPr algn="l" indent="0" marL="0">
              <a:lnSpc>
                <a:spcPct val="102000"/>
              </a:lnSpc>
              <a:buNone/>
            </a:pPr>
            <a:r>
              <a:rPr lang="en-US" sz="3900" b="1" dirty="0">
                <a:solidFill>
                  <a:srgbClr val="0F151B"/>
                </a:solidFill>
                <a:latin typeface="Arial" pitchFamily="34" charset="0"/>
                <a:ea typeface="Arial" pitchFamily="34" charset="-122"/>
                <a:cs typeface="Arial" pitchFamily="34" charset="-120"/>
              </a:rPr>
              <a:t>Momentum built the machine.</a:t>
            </a:r>
            <a:endParaRPr lang="en-US" sz="3900" dirty="0"/>
          </a:p>
          <a:p>
            <a:pPr algn="l" indent="0" marL="0">
              <a:lnSpc>
                <a:spcPct val="102000"/>
              </a:lnSpc>
              <a:buNone/>
            </a:pPr>
            <a:r>
              <a:rPr lang="en-US" sz="3900" b="1" dirty="0">
                <a:solidFill>
                  <a:srgbClr val="0F151B"/>
                </a:solidFill>
                <a:latin typeface="Arial" pitchFamily="34" charset="0"/>
                <a:ea typeface="Arial" pitchFamily="34" charset="-122"/>
                <a:cs typeface="Arial" pitchFamily="34" charset="-120"/>
              </a:rPr>
              <a:t>Now we build yours.</a:t>
            </a:r>
            <a:endParaRPr lang="en-US" sz="3900" dirty="0"/>
          </a:p>
        </p:txBody>
      </p:sp>
      <p:sp>
        <p:nvSpPr>
          <p:cNvPr id="7" name="role:static"/>
          <p:cNvSpPr txBox="1"/>
          <p:nvPr/>
        </p:nvSpPr>
        <p:spPr>
          <a:xfrm>
            <a:off x="10929823" y="6437376"/>
            <a:ext cx="548640" cy="219456"/>
          </a:xfrm>
          <a:prstGeom prst="rect">
            <a:avLst/>
          </a:prstGeom>
          <a:noFill/>
          <a:ln/>
        </p:spPr>
        <p:txBody>
          <a:bodyPr wrap="square" lIns="0" tIns="0" rIns="0" bIns="0" rtlCol="0" anchor="t"/>
          <a:lstStyle/>
          <a:p>
            <a:pPr algn="r" indent="0" marL="0">
              <a:buNone/>
            </a:pPr>
            <a:r>
              <a:rPr lang="en-US" sz="1050" b="1" spc="100" kern="0" dirty="0">
                <a:solidFill>
                  <a:srgbClr val="CBD8E3"/>
                </a:solidFill>
                <a:latin typeface="Arial" pitchFamily="34" charset="0"/>
                <a:ea typeface="Arial" pitchFamily="34" charset="-122"/>
                <a:cs typeface="Arial" pitchFamily="34" charset="-120"/>
              </a:rPr>
              <a:t>01</a:t>
            </a:r>
            <a:endParaRPr lang="en-US" sz="1050" dirty="0"/>
          </a:p>
        </p:txBody>
      </p:sp>
      <p:sp>
        <p:nvSpPr>
          <p:cNvPr id="8" name="role:figure"/>
          <p:cNvSpPr txBox="1"/>
          <p:nvPr/>
        </p:nvSpPr>
        <p:spPr>
          <a:xfrm>
            <a:off x="713232" y="2446020"/>
            <a:ext cx="1956816" cy="519176"/>
          </a:xfrm>
          <a:prstGeom prst="rect">
            <a:avLst/>
          </a:prstGeom>
          <a:noFill/>
          <a:ln/>
        </p:spPr>
        <p:txBody>
          <a:bodyPr wrap="square" lIns="0" tIns="0" rIns="0" bIns="0" rtlCol="0" anchor="t"/>
          <a:lstStyle/>
          <a:p>
            <a:pPr algn="l" indent="0" marL="0">
              <a:lnSpc>
                <a:spcPct val="100000"/>
              </a:lnSpc>
              <a:buNone/>
            </a:pPr>
            <a:r>
              <a:rPr lang="en-US" sz="3800" b="1" dirty="0">
                <a:solidFill>
                  <a:srgbClr val="2A80C2"/>
                </a:solidFill>
                <a:latin typeface="Arial" pitchFamily="34" charset="0"/>
                <a:ea typeface="Arial" pitchFamily="34" charset="-122"/>
                <a:cs typeface="Arial" pitchFamily="34" charset="-120"/>
              </a:rPr>
              <a:t>1,000+</a:t>
            </a:r>
            <a:endParaRPr lang="en-US" sz="3800" dirty="0"/>
          </a:p>
        </p:txBody>
      </p:sp>
      <p:sp>
        <p:nvSpPr>
          <p:cNvPr id="9" name="role:figure-label"/>
          <p:cNvSpPr txBox="1"/>
          <p:nvPr/>
        </p:nvSpPr>
        <p:spPr>
          <a:xfrm>
            <a:off x="713232" y="3020060"/>
            <a:ext cx="1956816" cy="237744"/>
          </a:xfrm>
          <a:prstGeom prst="rect">
            <a:avLst/>
          </a:prstGeom>
          <a:noFill/>
          <a:ln/>
        </p:spPr>
        <p:txBody>
          <a:bodyPr wrap="square" lIns="0" tIns="0" rIns="0" bIns="0" rtlCol="0" anchor="t"/>
          <a:lstStyle/>
          <a:p>
            <a:pPr algn="l" indent="0" marL="0">
              <a:lnSpc>
                <a:spcPct val="120000"/>
              </a:lnSpc>
              <a:buNone/>
            </a:pPr>
            <a:r>
              <a:rPr lang="en-US" sz="1200" b="1" dirty="0">
                <a:solidFill>
                  <a:srgbClr val="0F151B"/>
                </a:solidFill>
                <a:latin typeface="Arial" pitchFamily="34" charset="0"/>
                <a:ea typeface="Arial" pitchFamily="34" charset="-122"/>
                <a:cs typeface="Arial" pitchFamily="34" charset="-120"/>
              </a:rPr>
              <a:t>Businesses served</a:t>
            </a:r>
            <a:endParaRPr lang="en-US" sz="1200" dirty="0"/>
          </a:p>
        </p:txBody>
      </p:sp>
      <p:sp>
        <p:nvSpPr>
          <p:cNvPr id="10" name="role:figure-label"/>
          <p:cNvSpPr txBox="1"/>
          <p:nvPr/>
        </p:nvSpPr>
        <p:spPr>
          <a:xfrm>
            <a:off x="713232" y="3321812"/>
            <a:ext cx="1956816" cy="374904"/>
          </a:xfrm>
          <a:prstGeom prst="rect">
            <a:avLst/>
          </a:prstGeom>
          <a:noFill/>
          <a:ln/>
        </p:spPr>
        <p:txBody>
          <a:bodyPr wrap="square" lIns="0" tIns="0" rIns="0" bIns="0" rtlCol="0" anchor="t"/>
          <a:lstStyle/>
          <a:p>
            <a:pPr algn="l" indent="0" marL="0">
              <a:lnSpc>
                <a:spcPct val="120000"/>
              </a:lnSpc>
              <a:buNone/>
            </a:pPr>
            <a:r>
              <a:rPr lang="en-US" sz="1050" dirty="0">
                <a:solidFill>
                  <a:srgbClr val="5A6772"/>
                </a:solidFill>
                <a:latin typeface="Arial" pitchFamily="34" charset="0"/>
                <a:ea typeface="Arial" pitchFamily="34" charset="-122"/>
                <a:cs typeface="Arial" pitchFamily="34" charset="-120"/>
              </a:rPr>
              <a:t>Philadelphia region, since 2015</a:t>
            </a:r>
            <a:endParaRPr lang="en-US" sz="1050" dirty="0"/>
          </a:p>
        </p:txBody>
      </p:sp>
      <p:sp>
        <p:nvSpPr>
          <p:cNvPr id="11" name="role:rule-v"/>
          <p:cNvSpPr/>
          <p:nvPr/>
        </p:nvSpPr>
        <p:spPr>
          <a:xfrm>
            <a:off x="2944368" y="2446020"/>
            <a:ext cx="0" cy="1360424"/>
          </a:xfrm>
          <a:prstGeom prst="line">
            <a:avLst/>
          </a:prstGeom>
          <a:noFill/>
          <a:ln w="9525">
            <a:solidFill>
              <a:srgbClr val="E2EAF1"/>
            </a:solidFill>
            <a:prstDash val="solid"/>
          </a:ln>
        </p:spPr>
      </p:sp>
      <p:sp>
        <p:nvSpPr>
          <p:cNvPr id="12" name="role:figure"/>
          <p:cNvSpPr txBox="1"/>
          <p:nvPr/>
        </p:nvSpPr>
        <p:spPr>
          <a:xfrm>
            <a:off x="3182112" y="2446020"/>
            <a:ext cx="1956816" cy="519176"/>
          </a:xfrm>
          <a:prstGeom prst="rect">
            <a:avLst/>
          </a:prstGeom>
          <a:noFill/>
          <a:ln/>
        </p:spPr>
        <p:txBody>
          <a:bodyPr wrap="square" lIns="0" tIns="0" rIns="0" bIns="0" rtlCol="0" anchor="t"/>
          <a:lstStyle/>
          <a:p>
            <a:pPr algn="l" indent="0" marL="0">
              <a:lnSpc>
                <a:spcPct val="100000"/>
              </a:lnSpc>
              <a:buNone/>
            </a:pPr>
            <a:r>
              <a:rPr lang="en-US" sz="3800" b="1" dirty="0">
                <a:solidFill>
                  <a:srgbClr val="2A80C2"/>
                </a:solidFill>
                <a:latin typeface="Arial" pitchFamily="34" charset="0"/>
                <a:ea typeface="Arial" pitchFamily="34" charset="-122"/>
                <a:cs typeface="Arial" pitchFamily="34" charset="-120"/>
              </a:rPr>
              <a:t>4</a:t>
            </a:r>
            <a:endParaRPr lang="en-US" sz="3800" dirty="0"/>
          </a:p>
        </p:txBody>
      </p:sp>
      <p:sp>
        <p:nvSpPr>
          <p:cNvPr id="13" name="role:figure-label"/>
          <p:cNvSpPr txBox="1"/>
          <p:nvPr/>
        </p:nvSpPr>
        <p:spPr>
          <a:xfrm>
            <a:off x="3182112" y="3020060"/>
            <a:ext cx="1956816" cy="237744"/>
          </a:xfrm>
          <a:prstGeom prst="rect">
            <a:avLst/>
          </a:prstGeom>
          <a:noFill/>
          <a:ln/>
        </p:spPr>
        <p:txBody>
          <a:bodyPr wrap="square" lIns="0" tIns="0" rIns="0" bIns="0" rtlCol="0" anchor="t"/>
          <a:lstStyle/>
          <a:p>
            <a:pPr algn="l" indent="0" marL="0">
              <a:lnSpc>
                <a:spcPct val="120000"/>
              </a:lnSpc>
              <a:buNone/>
            </a:pPr>
            <a:r>
              <a:rPr lang="en-US" sz="1200" b="1" dirty="0">
                <a:solidFill>
                  <a:srgbClr val="0F151B"/>
                </a:solidFill>
                <a:latin typeface="Arial" pitchFamily="34" charset="0"/>
                <a:ea typeface="Arial" pitchFamily="34" charset="-122"/>
                <a:cs typeface="Arial" pitchFamily="34" charset="-120"/>
              </a:rPr>
              <a:t>Lanes</a:t>
            </a:r>
            <a:endParaRPr lang="en-US" sz="1200" dirty="0"/>
          </a:p>
        </p:txBody>
      </p:sp>
      <p:sp>
        <p:nvSpPr>
          <p:cNvPr id="14" name="role:figure-label"/>
          <p:cNvSpPr txBox="1"/>
          <p:nvPr/>
        </p:nvSpPr>
        <p:spPr>
          <a:xfrm>
            <a:off x="3182112" y="3321812"/>
            <a:ext cx="1956816" cy="374904"/>
          </a:xfrm>
          <a:prstGeom prst="rect">
            <a:avLst/>
          </a:prstGeom>
          <a:noFill/>
          <a:ln/>
        </p:spPr>
        <p:txBody>
          <a:bodyPr wrap="square" lIns="0" tIns="0" rIns="0" bIns="0" rtlCol="0" anchor="t"/>
          <a:lstStyle/>
          <a:p>
            <a:pPr algn="l" indent="0" marL="0">
              <a:lnSpc>
                <a:spcPct val="120000"/>
              </a:lnSpc>
              <a:buNone/>
            </a:pPr>
            <a:r>
              <a:rPr lang="en-US" sz="1050" dirty="0">
                <a:solidFill>
                  <a:srgbClr val="5A6772"/>
                </a:solidFill>
                <a:latin typeface="Arial" pitchFamily="34" charset="0"/>
                <a:ea typeface="Arial" pitchFamily="34" charset="-122"/>
                <a:cs typeface="Arial" pitchFamily="34" charset="-120"/>
              </a:rPr>
              <a:t>AEO/GEO · AI Design · AI Marketing · AI Automation</a:t>
            </a:r>
            <a:endParaRPr lang="en-US" sz="1050" dirty="0"/>
          </a:p>
        </p:txBody>
      </p:sp>
      <p:sp>
        <p:nvSpPr>
          <p:cNvPr id="15" name="role:rule-v"/>
          <p:cNvSpPr/>
          <p:nvPr/>
        </p:nvSpPr>
        <p:spPr>
          <a:xfrm>
            <a:off x="5413248" y="2446020"/>
            <a:ext cx="0" cy="1360424"/>
          </a:xfrm>
          <a:prstGeom prst="line">
            <a:avLst/>
          </a:prstGeom>
          <a:noFill/>
          <a:ln w="9525">
            <a:solidFill>
              <a:srgbClr val="E2EAF1"/>
            </a:solidFill>
            <a:prstDash val="solid"/>
          </a:ln>
        </p:spPr>
      </p:sp>
      <p:sp>
        <p:nvSpPr>
          <p:cNvPr id="16" name="role:figure"/>
          <p:cNvSpPr txBox="1"/>
          <p:nvPr/>
        </p:nvSpPr>
        <p:spPr>
          <a:xfrm>
            <a:off x="5650992" y="2446020"/>
            <a:ext cx="1956816" cy="519176"/>
          </a:xfrm>
          <a:prstGeom prst="rect">
            <a:avLst/>
          </a:prstGeom>
          <a:noFill/>
          <a:ln/>
        </p:spPr>
        <p:txBody>
          <a:bodyPr wrap="square" lIns="0" tIns="0" rIns="0" bIns="0" rtlCol="0" anchor="t"/>
          <a:lstStyle/>
          <a:p>
            <a:pPr algn="l" indent="0" marL="0">
              <a:lnSpc>
                <a:spcPct val="100000"/>
              </a:lnSpc>
              <a:buNone/>
            </a:pPr>
            <a:r>
              <a:rPr lang="en-US" sz="3800" b="1" dirty="0">
                <a:solidFill>
                  <a:srgbClr val="2A80C2"/>
                </a:solidFill>
                <a:latin typeface="Arial" pitchFamily="34" charset="0"/>
                <a:ea typeface="Arial" pitchFamily="34" charset="-122"/>
                <a:cs typeface="Arial" pitchFamily="34" charset="-120"/>
              </a:rPr>
              <a:t>4 + 4</a:t>
            </a:r>
            <a:endParaRPr lang="en-US" sz="3800" dirty="0"/>
          </a:p>
        </p:txBody>
      </p:sp>
      <p:sp>
        <p:nvSpPr>
          <p:cNvPr id="17" name="role:figure-label"/>
          <p:cNvSpPr txBox="1"/>
          <p:nvPr/>
        </p:nvSpPr>
        <p:spPr>
          <a:xfrm>
            <a:off x="5650992" y="3020060"/>
            <a:ext cx="1956816" cy="237744"/>
          </a:xfrm>
          <a:prstGeom prst="rect">
            <a:avLst/>
          </a:prstGeom>
          <a:noFill/>
          <a:ln/>
        </p:spPr>
        <p:txBody>
          <a:bodyPr wrap="square" lIns="0" tIns="0" rIns="0" bIns="0" rtlCol="0" anchor="t"/>
          <a:lstStyle/>
          <a:p>
            <a:pPr algn="l" indent="0" marL="0">
              <a:lnSpc>
                <a:spcPct val="120000"/>
              </a:lnSpc>
              <a:buNone/>
            </a:pPr>
            <a:r>
              <a:rPr lang="en-US" sz="1200" b="1" dirty="0">
                <a:solidFill>
                  <a:srgbClr val="0F151B"/>
                </a:solidFill>
                <a:latin typeface="Arial" pitchFamily="34" charset="0"/>
                <a:ea typeface="Arial" pitchFamily="34" charset="-122"/>
                <a:cs typeface="Arial" pitchFamily="34" charset="-120"/>
              </a:rPr>
              <a:t>Flagships + roadmap</a:t>
            </a:r>
            <a:endParaRPr lang="en-US" sz="1200" dirty="0"/>
          </a:p>
        </p:txBody>
      </p:sp>
      <p:sp>
        <p:nvSpPr>
          <p:cNvPr id="18" name="role:figure-label"/>
          <p:cNvSpPr txBox="1"/>
          <p:nvPr/>
        </p:nvSpPr>
        <p:spPr>
          <a:xfrm>
            <a:off x="5650992" y="3321812"/>
            <a:ext cx="1956816" cy="374904"/>
          </a:xfrm>
          <a:prstGeom prst="rect">
            <a:avLst/>
          </a:prstGeom>
          <a:noFill/>
          <a:ln/>
        </p:spPr>
        <p:txBody>
          <a:bodyPr wrap="square" lIns="0" tIns="0" rIns="0" bIns="0" rtlCol="0" anchor="t"/>
          <a:lstStyle/>
          <a:p>
            <a:pPr algn="l" indent="0" marL="0">
              <a:lnSpc>
                <a:spcPct val="120000"/>
              </a:lnSpc>
              <a:buNone/>
            </a:pPr>
            <a:r>
              <a:rPr lang="en-US" sz="1050" dirty="0">
                <a:solidFill>
                  <a:srgbClr val="5A6772"/>
                </a:solidFill>
                <a:latin typeface="Arial" pitchFamily="34" charset="0"/>
                <a:ea typeface="Arial" pitchFamily="34" charset="-122"/>
                <a:cs typeface="Arial" pitchFamily="34" charset="-120"/>
              </a:rPr>
              <a:t>One of each behind every lane</a:t>
            </a:r>
            <a:endParaRPr lang="en-US" sz="1050" dirty="0"/>
          </a:p>
        </p:txBody>
      </p:sp>
      <p:sp>
        <p:nvSpPr>
          <p:cNvPr id="19" name="role:rule-h"/>
          <p:cNvSpPr/>
          <p:nvPr/>
        </p:nvSpPr>
        <p:spPr>
          <a:xfrm>
            <a:off x="713232" y="4754880"/>
            <a:ext cx="7406640" cy="0"/>
          </a:xfrm>
          <a:prstGeom prst="line">
            <a:avLst/>
          </a:prstGeom>
          <a:noFill/>
          <a:ln w="9525">
            <a:solidFill>
              <a:srgbClr val="E2EAF1"/>
            </a:solidFill>
            <a:prstDash val="solid"/>
          </a:ln>
        </p:spPr>
      </p:sp>
      <p:sp>
        <p:nvSpPr>
          <p:cNvPr id="20" name="role:body"/>
          <p:cNvSpPr txBox="1"/>
          <p:nvPr/>
        </p:nvSpPr>
        <p:spPr>
          <a:xfrm>
            <a:off x="713232" y="4983480"/>
            <a:ext cx="7223760" cy="727710"/>
          </a:xfrm>
          <a:prstGeom prst="rect">
            <a:avLst/>
          </a:prstGeom>
          <a:noFill/>
          <a:ln/>
        </p:spPr>
        <p:txBody>
          <a:bodyPr wrap="square" lIns="0" tIns="0" rIns="0" bIns="0" rtlCol="0" anchor="t"/>
          <a:lstStyle/>
          <a:p>
            <a:pPr algn="l" indent="0" marL="0">
              <a:lnSpc>
                <a:spcPct val="134000"/>
              </a:lnSpc>
              <a:buNone/>
            </a:pPr>
            <a:r>
              <a:rPr lang="en-US" sz="1300" dirty="0">
                <a:solidFill>
                  <a:srgbClr val="5A6772"/>
                </a:solidFill>
                <a:latin typeface="Arial" pitchFamily="34" charset="0"/>
                <a:ea typeface="Arial" pitchFamily="34" charset="-122"/>
                <a:cs typeface="Arial" pitchFamily="34" charset="-120"/>
              </a:rPr>
              <a:t>Momentum has served over 1,000 Philadelphia-region small businesses since 2015 (needmomentum.com/about-us/). The division sells what is already proven to work inside Momentum, packaged in the four lanes Mac has already put on the site.</a:t>
            </a:r>
            <a:endParaRPr lang="en-US" sz="1300" dirty="0"/>
          </a:p>
        </p:txBody>
      </p:sp>
      <p:sp>
        <p:nvSpPr>
          <p:cNvPr id="21" name="role:kicker"/>
          <p:cNvSpPr txBox="1"/>
          <p:nvPr/>
        </p:nvSpPr>
        <p:spPr>
          <a:xfrm>
            <a:off x="8549640" y="1417320"/>
            <a:ext cx="3108960" cy="201168"/>
          </a:xfrm>
          <a:prstGeom prst="rect">
            <a:avLst/>
          </a:prstGeom>
          <a:noFill/>
          <a:ln/>
        </p:spPr>
        <p:txBody>
          <a:bodyPr wrap="square" lIns="0" tIns="0" rIns="0" bIns="0" rtlCol="0" anchor="t"/>
          <a:lstStyle/>
          <a:p>
            <a:pPr algn="l" indent="0" marL="0">
              <a:buNone/>
            </a:pPr>
            <a:r>
              <a:rPr lang="en-US" sz="1050" b="1" spc="240" kern="0" dirty="0">
                <a:solidFill>
                  <a:srgbClr val="5AA7E0"/>
                </a:solidFill>
                <a:latin typeface="Arial" pitchFamily="34" charset="0"/>
                <a:ea typeface="Arial" pitchFamily="34" charset="-122"/>
                <a:cs typeface="Arial" pitchFamily="34" charset="-120"/>
              </a:rPr>
              <a:t>THE THESIS</a:t>
            </a:r>
            <a:endParaRPr lang="en-US" sz="1050" dirty="0"/>
          </a:p>
        </p:txBody>
      </p:sp>
      <p:sp>
        <p:nvSpPr>
          <p:cNvPr id="22" name="role:body"/>
          <p:cNvSpPr txBox="1"/>
          <p:nvPr/>
        </p:nvSpPr>
        <p:spPr>
          <a:xfrm>
            <a:off x="8549640" y="1746504"/>
            <a:ext cx="3108960" cy="658368"/>
          </a:xfrm>
          <a:prstGeom prst="rect">
            <a:avLst/>
          </a:prstGeom>
          <a:noFill/>
          <a:ln/>
        </p:spPr>
        <p:txBody>
          <a:bodyPr wrap="square" lIns="0" tIns="0" rIns="0" bIns="0" rtlCol="0" anchor="t"/>
          <a:lstStyle/>
          <a:p>
            <a:pPr algn="l" indent="0" marL="0">
              <a:lnSpc>
                <a:spcPct val="105000"/>
              </a:lnSpc>
              <a:buNone/>
            </a:pPr>
            <a:r>
              <a:rPr lang="en-US" sz="2200" b="1" dirty="0">
                <a:solidFill>
                  <a:srgbClr val="FFFFFF"/>
                </a:solidFill>
                <a:latin typeface="Arial" pitchFamily="34" charset="0"/>
                <a:ea typeface="Arial" pitchFamily="34" charset="-122"/>
                <a:cs typeface="Arial" pitchFamily="34" charset="-120"/>
              </a:rPr>
              <a:t>Every offer ships</a:t>
            </a:r>
            <a:endParaRPr lang="en-US" sz="2200" dirty="0"/>
          </a:p>
          <a:p>
            <a:pPr algn="l" indent="0" marL="0">
              <a:lnSpc>
                <a:spcPct val="105000"/>
              </a:lnSpc>
              <a:buNone/>
            </a:pPr>
            <a:r>
              <a:rPr lang="en-US" sz="2200" b="1" dirty="0">
                <a:solidFill>
                  <a:srgbClr val="FFFFFF"/>
                </a:solidFill>
                <a:latin typeface="Arial" pitchFamily="34" charset="0"/>
                <a:ea typeface="Arial" pitchFamily="34" charset="-122"/>
                <a:cs typeface="Arial" pitchFamily="34" charset="-120"/>
              </a:rPr>
              <a:t>with its agent.</a:t>
            </a:r>
            <a:endParaRPr lang="en-US" sz="2200" dirty="0"/>
          </a:p>
        </p:txBody>
      </p:sp>
      <p:sp>
        <p:nvSpPr>
          <p:cNvPr id="23" name="Text 19"/>
          <p:cNvSpPr txBox="1"/>
          <p:nvPr/>
        </p:nvSpPr>
        <p:spPr>
          <a:xfrm>
            <a:off x="8549640" y="2551176"/>
            <a:ext cx="3108960" cy="3145536"/>
          </a:xfrm>
          <a:prstGeom prst="rect">
            <a:avLst/>
          </a:prstGeom>
          <a:noFill/>
          <a:ln/>
        </p:spPr>
        <p:txBody>
          <a:bodyPr wrap="square" lIns="0" tIns="0" rIns="0" bIns="0" rtlCol="0" anchor="t"/>
          <a:lstStyle/>
          <a:p>
            <a:pPr marL="342900" indent="-342900">
              <a:lnSpc>
                <a:spcPct val="124000"/>
              </a:lnSpc>
              <a:spcAft>
                <a:spcPts val="700"/>
              </a:spcAft>
              <a:buSzPct val="100000"/>
              <a:buChar char="•"/>
            </a:pPr>
            <a:r>
              <a:rPr lang="en-US" sz="1200" dirty="0">
                <a:solidFill>
                  <a:srgbClr val="9DB5C8"/>
                </a:solidFill>
                <a:latin typeface="Arial" pitchFamily="34" charset="0"/>
                <a:ea typeface="Arial" pitchFamily="34" charset="-122"/>
                <a:cs typeface="Arial" pitchFamily="34" charset="-120"/>
              </a:rPr>
              <a:t>Hours per client is an acceptance metric of the offer itself, measured monthly</a:t>
            </a:r>
            <a:endParaRPr lang="en-US" sz="1200" dirty="0"/>
          </a:p>
          <a:p>
            <a:pPr marL="342900" indent="-342900">
              <a:lnSpc>
                <a:spcPct val="124000"/>
              </a:lnSpc>
              <a:spcAft>
                <a:spcPts val="700"/>
              </a:spcAft>
              <a:buSzPct val="100000"/>
              <a:buChar char="•"/>
            </a:pPr>
            <a:r>
              <a:rPr lang="en-US" sz="1200" dirty="0">
                <a:solidFill>
                  <a:srgbClr val="9DB5C8"/>
                </a:solidFill>
                <a:latin typeface="Arial" pitchFamily="34" charset="0"/>
                <a:ea typeface="Arial" pitchFamily="34" charset="-122"/>
                <a:cs typeface="Arial" pitchFamily="34" charset="-120"/>
              </a:rPr>
              <a:t>A division whose product is one person's hours is a consultancy with a chatbot</a:t>
            </a:r>
            <a:endParaRPr lang="en-US" sz="1200" dirty="0"/>
          </a:p>
          <a:p>
            <a:pPr marL="342900" indent="-342900">
              <a:lnSpc>
                <a:spcPct val="124000"/>
              </a:lnSpc>
              <a:spcAft>
                <a:spcPts val="700"/>
              </a:spcAft>
              <a:buSzPct val="100000"/>
              <a:buChar char="•"/>
            </a:pPr>
            <a:r>
              <a:rPr lang="en-US" sz="1200" dirty="0">
                <a:solidFill>
                  <a:srgbClr val="9DB5C8"/>
                </a:solidFill>
                <a:latin typeface="Arial" pitchFamily="34" charset="0"/>
                <a:ea typeface="Arial" pitchFamily="34" charset="-122"/>
                <a:cs typeface="Arial" pitchFamily="34" charset="-120"/>
              </a:rPr>
              <a:t>The lockup is the existing mark plus AI. No new logo (decision D19)</a:t>
            </a:r>
            <a:endParaRPr lang="en-US" sz="1200" dirty="0"/>
          </a:p>
        </p:txBody>
      </p:sp>
      <p:sp>
        <p:nvSpPr>
          <p:cNvPr id="24" name="role:foot"/>
          <p:cNvSpPr txBox="1"/>
          <p:nvPr/>
        </p:nvSpPr>
        <p:spPr>
          <a:xfrm>
            <a:off x="713232" y="6400800"/>
            <a:ext cx="9942271" cy="237744"/>
          </a:xfrm>
          <a:prstGeom prst="rect">
            <a:avLst/>
          </a:prstGeom>
          <a:noFill/>
          <a:ln/>
        </p:spPr>
        <p:txBody>
          <a:bodyPr wrap="square" lIns="0" tIns="0" rIns="0" bIns="0" rtlCol="0" anchor="t"/>
          <a:lstStyle/>
          <a:p>
            <a:pPr algn="l" indent="0" marL="0">
              <a:buNone/>
            </a:pPr>
            <a:r>
              <a:rPr lang="en-US" sz="950" i="1" dirty="0">
                <a:solidFill>
                  <a:srgbClr val="8A97A2"/>
                </a:solidFill>
                <a:latin typeface="Arial" pitchFamily="34" charset="0"/>
                <a:ea typeface="Arial" pitchFamily="34" charset="-122"/>
                <a:cs typeface="Arial" pitchFamily="34" charset="-120"/>
              </a:rPr>
              <a:t>Every price, hour budget and capacity figure on this slide is a proposal until recorded as agreed.</a:t>
            </a:r>
            <a:endParaRPr lang="en-US" sz="9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42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900" decel="70000"/>
                                        <p:tgtEl>
                                          <p:spTgt spid="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320" decel="70000"/>
                                        <p:tgtEl>
                                          <p:spTgt spid="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322" decel="70000"/>
                                        <p:tgtEl>
                                          <p:spTgt spid="5"/>
                                        </p:tgtEl>
                                      </p:cBhvr>
                                    </p:animEffect>
                                    <p:anim calcmode="lin" valueType="num">
                                      <p:cBhvr additive="base">
                                        <p:cTn id="17" dur="322" decel="70000" fill="hold"/>
                                        <p:tgtEl>
                                          <p:spTgt spid="5"/>
                                        </p:tgtEl>
                                        <p:attrNameLst>
                                          <p:attrName>ppt_y</p:attrName>
                                        </p:attrNameLst>
                                      </p:cBhvr>
                                      <p:tavLst>
                                        <p:tav tm="0">
                                          <p:val>
                                            <p:strVal val="#ppt_y+0.032"/>
                                          </p:val>
                                        </p:tav>
                                        <p:tav tm="100000">
                                          <p:val>
                                            <p:strVal val="#ppt_y"/>
                                          </p:val>
                                        </p:tav>
                                      </p:tavLst>
                                    </p:anim>
                                  </p:childTnLst>
                                </p:cTn>
                              </p:par>
                              <p:par>
                                <p:cTn id="18" presetID="10" presetClass="entr" presetSubtype="0" fill="hold" grpId="0" nodeType="withEffect">
                                  <p:stCondLst>
                                    <p:cond delay="55"/>
                                  </p:stCondLst>
                                  <p:childTnLst>
                                    <p:set>
                                      <p:cBhvr>
                                        <p:cTn id="19" dur="1" fill="hold">
                                          <p:stCondLst>
                                            <p:cond delay="0"/>
                                          </p:stCondLst>
                                        </p:cTn>
                                        <p:tgtEl>
                                          <p:spTgt spid="6"/>
                                        </p:tgtEl>
                                        <p:attrNameLst>
                                          <p:attrName>style.visibility</p:attrName>
                                        </p:attrNameLst>
                                      </p:cBhvr>
                                      <p:to>
                                        <p:strVal val="visible"/>
                                      </p:to>
                                    </p:set>
                                    <p:animEffect transition="in" filter="fade">
                                      <p:cBhvr>
                                        <p:cTn id="20" dur="482" decel="70000"/>
                                        <p:tgtEl>
                                          <p:spTgt spid="6"/>
                                        </p:tgtEl>
                                      </p:cBhvr>
                                    </p:animEffect>
                                    <p:anim calcmode="lin" valueType="num">
                                      <p:cBhvr additive="base">
                                        <p:cTn id="21" dur="482" decel="70000" fill="hold"/>
                                        <p:tgtEl>
                                          <p:spTgt spid="6"/>
                                        </p:tgtEl>
                                        <p:attrNameLst>
                                          <p:attrName>ppt_y</p:attrName>
                                        </p:attrNameLst>
                                      </p:cBhvr>
                                      <p:tavLst>
                                        <p:tav tm="0">
                                          <p:val>
                                            <p:strVal val="#ppt_y+0.0512"/>
                                          </p:val>
                                        </p:tav>
                                        <p:tav tm="100000">
                                          <p:val>
                                            <p:strVal val="#ppt_y"/>
                                          </p:val>
                                        </p:tav>
                                      </p:tavLst>
                                    </p:anim>
                                  </p:childTnLst>
                                </p:cTn>
                              </p:par>
                              <p:par>
                                <p:cTn id="22" presetID="10" presetClass="entr" presetSubtype="0" fill="hold" grpId="0" nodeType="withEffect">
                                  <p:stCondLst>
                                    <p:cond delay="110"/>
                                  </p:stCondLst>
                                  <p:childTnLst>
                                    <p:set>
                                      <p:cBhvr>
                                        <p:cTn id="23" dur="1" fill="hold">
                                          <p:stCondLst>
                                            <p:cond delay="0"/>
                                          </p:stCondLst>
                                        </p:cTn>
                                        <p:tgtEl>
                                          <p:spTgt spid="21"/>
                                        </p:tgtEl>
                                        <p:attrNameLst>
                                          <p:attrName>style.visibility</p:attrName>
                                        </p:attrNameLst>
                                      </p:cBhvr>
                                      <p:to>
                                        <p:strVal val="visible"/>
                                      </p:to>
                                    </p:set>
                                    <p:animEffect transition="in" filter="fade">
                                      <p:cBhvr>
                                        <p:cTn id="24" dur="322" decel="70000"/>
                                        <p:tgtEl>
                                          <p:spTgt spid="21"/>
                                        </p:tgtEl>
                                      </p:cBhvr>
                                    </p:animEffect>
                                    <p:anim calcmode="lin" valueType="num">
                                      <p:cBhvr additive="base">
                                        <p:cTn id="25" dur="322" decel="70000" fill="hold"/>
                                        <p:tgtEl>
                                          <p:spTgt spid="21"/>
                                        </p:tgtEl>
                                        <p:attrNameLst>
                                          <p:attrName>ppt_y</p:attrName>
                                        </p:attrNameLst>
                                      </p:cBhvr>
                                      <p:tavLst>
                                        <p:tav tm="0">
                                          <p:val>
                                            <p:strVal val="#ppt_y+0.032"/>
                                          </p:val>
                                        </p:tav>
                                        <p:tav tm="100000">
                                          <p:val>
                                            <p:strVal val="#ppt_y"/>
                                          </p:val>
                                        </p:tav>
                                      </p:tavLst>
                                    </p:anim>
                                  </p:childTnLst>
                                </p:cTn>
                              </p:par>
                              <p:par>
                                <p:cTn id="26" presetID="10" presetClass="entr" presetSubtype="0" fill="hold" grpId="0" nodeType="withEffect">
                                  <p:stCondLst>
                                    <p:cond delay="165"/>
                                  </p:stCondLst>
                                  <p:childTnLst>
                                    <p:set>
                                      <p:cBhvr>
                                        <p:cTn id="27" dur="1" fill="hold">
                                          <p:stCondLst>
                                            <p:cond delay="0"/>
                                          </p:stCondLst>
                                        </p:cTn>
                                        <p:tgtEl>
                                          <p:spTgt spid="22"/>
                                        </p:tgtEl>
                                        <p:attrNameLst>
                                          <p:attrName>style.visibility</p:attrName>
                                        </p:attrNameLst>
                                      </p:cBhvr>
                                      <p:to>
                                        <p:strVal val="visible"/>
                                      </p:to>
                                    </p:set>
                                    <p:animEffect transition="in" filter="fade">
                                      <p:cBhvr>
                                        <p:cTn id="28" dur="322" decel="70000"/>
                                        <p:tgtEl>
                                          <p:spTgt spid="22"/>
                                        </p:tgtEl>
                                      </p:cBhvr>
                                    </p:animEffect>
                                  </p:childTnLst>
                                </p:cTn>
                              </p:par>
                              <p:par>
                                <p:cTn id="29" presetID="23" presetClass="entr" presetSubtype="0" fill="hold" grpId="0" nodeType="withEffect">
                                  <p:stCondLst>
                                    <p:cond delay="22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482" decel="70000"/>
                                        <p:tgtEl>
                                          <p:spTgt spid="8"/>
                                        </p:tgtEl>
                                      </p:cBhvr>
                                    </p:animEffect>
                                    <p:animScale>
                                      <p:cBhvr>
                                        <p:cTn id="32" dur="482" decel="70000" fill="hold"/>
                                        <p:tgtEl>
                                          <p:spTgt spid="8"/>
                                        </p:tgtEl>
                                      </p:cBhvr>
                                      <p:from x="82000" y="82000"/>
                                      <p:to x="100000" y="100000"/>
                                    </p:animScale>
                                  </p:childTnLst>
                                </p:cTn>
                              </p:par>
                              <p:par>
                                <p:cTn id="33" presetID="22" presetClass="entr" presetSubtype="1" fill="hold" grpId="0" nodeType="withEffect">
                                  <p:stCondLst>
                                    <p:cond delay="275"/>
                                  </p:stCondLst>
                                  <p:childTnLst>
                                    <p:set>
                                      <p:cBhvr>
                                        <p:cTn id="34" dur="1" fill="hold">
                                          <p:stCondLst>
                                            <p:cond delay="0"/>
                                          </p:stCondLst>
                                        </p:cTn>
                                        <p:tgtEl>
                                          <p:spTgt spid="11"/>
                                        </p:tgtEl>
                                        <p:attrNameLst>
                                          <p:attrName>style.visibility</p:attrName>
                                        </p:attrNameLst>
                                      </p:cBhvr>
                                      <p:to>
                                        <p:strVal val="visible"/>
                                      </p:to>
                                    </p:set>
                                    <p:animEffect transition="in" filter="wipe(down)">
                                      <p:cBhvr>
                                        <p:cTn id="35" dur="390"/>
                                        <p:tgtEl>
                                          <p:spTgt spid="11"/>
                                        </p:tgtEl>
                                      </p:cBhvr>
                                    </p:animEffect>
                                  </p:childTnLst>
                                </p:cTn>
                              </p:par>
                              <p:par>
                                <p:cTn id="36" presetID="23" presetClass="entr" presetSubtype="0" fill="hold" grpId="0" nodeType="withEffect">
                                  <p:stCondLst>
                                    <p:cond delay="33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482" decel="70000"/>
                                        <p:tgtEl>
                                          <p:spTgt spid="12"/>
                                        </p:tgtEl>
                                      </p:cBhvr>
                                    </p:animEffect>
                                    <p:animScale>
                                      <p:cBhvr>
                                        <p:cTn id="39" dur="482" decel="70000" fill="hold"/>
                                        <p:tgtEl>
                                          <p:spTgt spid="12"/>
                                        </p:tgtEl>
                                      </p:cBhvr>
                                      <p:from x="82000" y="82000"/>
                                      <p:to x="100000" y="100000"/>
                                    </p:animScale>
                                  </p:childTnLst>
                                </p:cTn>
                              </p:par>
                              <p:par>
                                <p:cTn id="40" presetID="22" presetClass="entr" presetSubtype="1" fill="hold" grpId="0" nodeType="withEffect">
                                  <p:stCondLst>
                                    <p:cond delay="385"/>
                                  </p:stCondLst>
                                  <p:childTnLst>
                                    <p:set>
                                      <p:cBhvr>
                                        <p:cTn id="41" dur="1" fill="hold">
                                          <p:stCondLst>
                                            <p:cond delay="0"/>
                                          </p:stCondLst>
                                        </p:cTn>
                                        <p:tgtEl>
                                          <p:spTgt spid="15"/>
                                        </p:tgtEl>
                                        <p:attrNameLst>
                                          <p:attrName>style.visibility</p:attrName>
                                        </p:attrNameLst>
                                      </p:cBhvr>
                                      <p:to>
                                        <p:strVal val="visible"/>
                                      </p:to>
                                    </p:set>
                                    <p:animEffect transition="in" filter="wipe(down)">
                                      <p:cBhvr>
                                        <p:cTn id="42" dur="390"/>
                                        <p:tgtEl>
                                          <p:spTgt spid="15"/>
                                        </p:tgtEl>
                                      </p:cBhvr>
                                    </p:animEffect>
                                  </p:childTnLst>
                                </p:cTn>
                              </p:par>
                              <p:par>
                                <p:cTn id="43" presetID="23" presetClass="entr" presetSubtype="0" fill="hold" grpId="0" nodeType="withEffect">
                                  <p:stCondLst>
                                    <p:cond delay="44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482" decel="70000"/>
                                        <p:tgtEl>
                                          <p:spTgt spid="16"/>
                                        </p:tgtEl>
                                      </p:cBhvr>
                                    </p:animEffect>
                                    <p:animScale>
                                      <p:cBhvr>
                                        <p:cTn id="46" dur="482" decel="70000" fill="hold"/>
                                        <p:tgtEl>
                                          <p:spTgt spid="16"/>
                                        </p:tgtEl>
                                      </p:cBhvr>
                                      <p:from x="82000" y="82000"/>
                                      <p:to x="100000" y="100000"/>
                                    </p:animScale>
                                  </p:childTnLst>
                                </p:cTn>
                              </p:par>
                              <p:par>
                                <p:cTn id="47" presetID="10" presetClass="entr" presetSubtype="0" fill="hold" grpId="0" nodeType="withEffect">
                                  <p:stCondLst>
                                    <p:cond delay="495"/>
                                  </p:stCondLst>
                                  <p:childTnLst>
                                    <p:set>
                                      <p:cBhvr>
                                        <p:cTn id="48" dur="1" fill="hold">
                                          <p:stCondLst>
                                            <p:cond delay="0"/>
                                          </p:stCondLst>
                                        </p:cTn>
                                        <p:tgtEl>
                                          <p:spTgt spid="9"/>
                                        </p:tgtEl>
                                        <p:attrNameLst>
                                          <p:attrName>style.visibility</p:attrName>
                                        </p:attrNameLst>
                                      </p:cBhvr>
                                      <p:to>
                                        <p:strVal val="visible"/>
                                      </p:to>
                                    </p:set>
                                    <p:animEffect transition="in" filter="fade">
                                      <p:cBhvr>
                                        <p:cTn id="49" dur="299" decel="70000"/>
                                        <p:tgtEl>
                                          <p:spTgt spid="9"/>
                                        </p:tgtEl>
                                      </p:cBhvr>
                                    </p:animEffect>
                                  </p:childTnLst>
                                </p:cTn>
                              </p:par>
                              <p:par>
                                <p:cTn id="50" presetID="10" presetClass="entr" presetSubtype="0" fill="hold" grpId="0" nodeType="withEffect">
                                  <p:stCondLst>
                                    <p:cond delay="550"/>
                                  </p:stCondLst>
                                  <p:childTnLst>
                                    <p:set>
                                      <p:cBhvr>
                                        <p:cTn id="51" dur="1" fill="hold">
                                          <p:stCondLst>
                                            <p:cond delay="0"/>
                                          </p:stCondLst>
                                        </p:cTn>
                                        <p:tgtEl>
                                          <p:spTgt spid="13"/>
                                        </p:tgtEl>
                                        <p:attrNameLst>
                                          <p:attrName>style.visibility</p:attrName>
                                        </p:attrNameLst>
                                      </p:cBhvr>
                                      <p:to>
                                        <p:strVal val="visible"/>
                                      </p:to>
                                    </p:set>
                                    <p:animEffect transition="in" filter="fade">
                                      <p:cBhvr>
                                        <p:cTn id="52" dur="299" decel="70000"/>
                                        <p:tgtEl>
                                          <p:spTgt spid="13"/>
                                        </p:tgtEl>
                                      </p:cBhvr>
                                    </p:animEffect>
                                  </p:childTnLst>
                                </p:cTn>
                              </p:par>
                              <p:par>
                                <p:cTn id="53" presetID="10" presetClass="entr" presetSubtype="0" fill="hold" grpId="0" nodeType="withEffect">
                                  <p:stCondLst>
                                    <p:cond delay="605"/>
                                  </p:stCondLst>
                                  <p:childTnLst>
                                    <p:set>
                                      <p:cBhvr>
                                        <p:cTn id="54" dur="1" fill="hold">
                                          <p:stCondLst>
                                            <p:cond delay="0"/>
                                          </p:stCondLst>
                                        </p:cTn>
                                        <p:tgtEl>
                                          <p:spTgt spid="17"/>
                                        </p:tgtEl>
                                        <p:attrNameLst>
                                          <p:attrName>style.visibility</p:attrName>
                                        </p:attrNameLst>
                                      </p:cBhvr>
                                      <p:to>
                                        <p:strVal val="visible"/>
                                      </p:to>
                                    </p:set>
                                    <p:animEffect transition="in" filter="fade">
                                      <p:cBhvr>
                                        <p:cTn id="55" dur="299" decel="70000"/>
                                        <p:tgtEl>
                                          <p:spTgt spid="17"/>
                                        </p:tgtEl>
                                      </p:cBhvr>
                                    </p:animEffect>
                                  </p:childTnLst>
                                </p:cTn>
                              </p:par>
                              <p:par>
                                <p:cTn id="56" presetID="10" presetClass="entr" presetSubtype="0" fill="hold" grpId="0" nodeType="withEffect">
                                  <p:stCondLst>
                                    <p:cond delay="660"/>
                                  </p:stCondLst>
                                  <p:childTnLst>
                                    <p:set>
                                      <p:cBhvr>
                                        <p:cTn id="57" dur="1" fill="hold">
                                          <p:stCondLst>
                                            <p:cond delay="0"/>
                                          </p:stCondLst>
                                        </p:cTn>
                                        <p:tgtEl>
                                          <p:spTgt spid="10"/>
                                        </p:tgtEl>
                                        <p:attrNameLst>
                                          <p:attrName>style.visibility</p:attrName>
                                        </p:attrNameLst>
                                      </p:cBhvr>
                                      <p:to>
                                        <p:strVal val="visible"/>
                                      </p:to>
                                    </p:set>
                                    <p:animEffect transition="in" filter="fade">
                                      <p:cBhvr>
                                        <p:cTn id="58" dur="299" decel="70000"/>
                                        <p:tgtEl>
                                          <p:spTgt spid="10"/>
                                        </p:tgtEl>
                                      </p:cBhvr>
                                    </p:animEffect>
                                  </p:childTnLst>
                                </p:cTn>
                              </p:par>
                              <p:par>
                                <p:cTn id="59" presetID="10" presetClass="entr" presetSubtype="0" fill="hold" grpId="0" nodeType="withEffect">
                                  <p:stCondLst>
                                    <p:cond delay="715"/>
                                  </p:stCondLst>
                                  <p:childTnLst>
                                    <p:set>
                                      <p:cBhvr>
                                        <p:cTn id="60" dur="1" fill="hold">
                                          <p:stCondLst>
                                            <p:cond delay="0"/>
                                          </p:stCondLst>
                                        </p:cTn>
                                        <p:tgtEl>
                                          <p:spTgt spid="14"/>
                                        </p:tgtEl>
                                        <p:attrNameLst>
                                          <p:attrName>style.visibility</p:attrName>
                                        </p:attrNameLst>
                                      </p:cBhvr>
                                      <p:to>
                                        <p:strVal val="visible"/>
                                      </p:to>
                                    </p:set>
                                    <p:animEffect transition="in" filter="fade">
                                      <p:cBhvr>
                                        <p:cTn id="61" dur="299" decel="70000"/>
                                        <p:tgtEl>
                                          <p:spTgt spid="14"/>
                                        </p:tgtEl>
                                      </p:cBhvr>
                                    </p:animEffect>
                                  </p:childTnLst>
                                </p:cTn>
                              </p:par>
                              <p:par>
                                <p:cTn id="62" presetID="10" presetClass="entr" presetSubtype="0" fill="hold" grpId="0" nodeType="withEffect">
                                  <p:stCondLst>
                                    <p:cond delay="770"/>
                                  </p:stCondLst>
                                  <p:childTnLst>
                                    <p:set>
                                      <p:cBhvr>
                                        <p:cTn id="63" dur="1" fill="hold">
                                          <p:stCondLst>
                                            <p:cond delay="0"/>
                                          </p:stCondLst>
                                        </p:cTn>
                                        <p:tgtEl>
                                          <p:spTgt spid="18"/>
                                        </p:tgtEl>
                                        <p:attrNameLst>
                                          <p:attrName>style.visibility</p:attrName>
                                        </p:attrNameLst>
                                      </p:cBhvr>
                                      <p:to>
                                        <p:strVal val="visible"/>
                                      </p:to>
                                    </p:set>
                                    <p:animEffect transition="in" filter="fade">
                                      <p:cBhvr>
                                        <p:cTn id="64" dur="299" decel="70000"/>
                                        <p:tgtEl>
                                          <p:spTgt spid="18"/>
                                        </p:tgtEl>
                                      </p:cBhvr>
                                    </p:animEffect>
                                  </p:childTnLst>
                                </p:cTn>
                              </p:par>
                              <p:par>
                                <p:cTn id="65" presetID="22" presetClass="entr" presetSubtype="1" fill="hold" grpId="0" nodeType="withEffect">
                                  <p:stCondLst>
                                    <p:cond delay="825"/>
                                  </p:stCondLst>
                                  <p:childTnLst>
                                    <p:set>
                                      <p:cBhvr>
                                        <p:cTn id="66" dur="1" fill="hold">
                                          <p:stCondLst>
                                            <p:cond delay="0"/>
                                          </p:stCondLst>
                                        </p:cTn>
                                        <p:tgtEl>
                                          <p:spTgt spid="19"/>
                                        </p:tgtEl>
                                        <p:attrNameLst>
                                          <p:attrName>style.visibility</p:attrName>
                                        </p:attrNameLst>
                                      </p:cBhvr>
                                      <p:to>
                                        <p:strVal val="visible"/>
                                      </p:to>
                                    </p:set>
                                    <p:animEffect transition="in" filter="wipe(right)">
                                      <p:cBhvr>
                                        <p:cTn id="67" dur="529"/>
                                        <p:tgtEl>
                                          <p:spTgt spid="19"/>
                                        </p:tgtEl>
                                      </p:cBhvr>
                                    </p:animEffect>
                                  </p:childTnLst>
                                </p:cTn>
                              </p:par>
                              <p:par>
                                <p:cTn id="68" presetID="10" presetClass="entr" presetSubtype="0" fill="hold" grpId="0" nodeType="withEffect">
                                  <p:stCondLst>
                                    <p:cond delay="880"/>
                                  </p:stCondLst>
                                  <p:childTnLst>
                                    <p:set>
                                      <p:cBhvr>
                                        <p:cTn id="69" dur="1" fill="hold">
                                          <p:stCondLst>
                                            <p:cond delay="0"/>
                                          </p:stCondLst>
                                        </p:cTn>
                                        <p:tgtEl>
                                          <p:spTgt spid="20"/>
                                        </p:tgtEl>
                                        <p:attrNameLst>
                                          <p:attrName>style.visibility</p:attrName>
                                        </p:attrNameLst>
                                      </p:cBhvr>
                                      <p:to>
                                        <p:strVal val="visible"/>
                                      </p:to>
                                    </p:set>
                                    <p:animEffect transition="in" filter="fade">
                                      <p:cBhvr>
                                        <p:cTn id="70" dur="322" decel="700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role:panel-right"/>
          <p:cNvSpPr/>
          <p:nvPr/>
        </p:nvSpPr>
        <p:spPr>
          <a:xfrm>
            <a:off x="7985455" y="0"/>
            <a:ext cx="4206240" cy="6858000"/>
          </a:xfrm>
          <a:prstGeom prst="rect">
            <a:avLst/>
          </a:prstGeom>
          <a:solidFill>
            <a:srgbClr val="0A1825"/>
          </a:solidFill>
          <a:ln w="12700">
            <a:solidFill>
              <a:srgbClr val="333333"/>
            </a:solidFill>
            <a:prstDash val="solid"/>
          </a:ln>
        </p:spPr>
      </p:sp>
      <p:pic>
        <p:nvPicPr>
          <p:cNvPr id="3" name="role:logo" descr="Momentum Digital logo">    </p:cNvPr>
          <p:cNvPicPr>
            <a:picLocks noChangeAspect="1"/>
          </p:cNvPicPr>
          <p:nvPr/>
        </p:nvPicPr>
        <p:blipFill>
          <a:blip r:embed="rId1"/>
          <a:stretch>
            <a:fillRect/>
          </a:stretch>
        </p:blipFill>
        <p:spPr>
          <a:xfrm>
            <a:off x="10106863" y="658368"/>
            <a:ext cx="1371600" cy="294904"/>
          </a:xfrm>
          <a:prstGeom prst="rect">
            <a:avLst/>
          </a:prstGeom>
        </p:spPr>
      </p:pic>
      <p:sp>
        <p:nvSpPr>
          <p:cNvPr id="4" name="role:kicker"/>
          <p:cNvSpPr txBox="1"/>
          <p:nvPr/>
        </p:nvSpPr>
        <p:spPr>
          <a:xfrm>
            <a:off x="713232" y="658368"/>
            <a:ext cx="8753551" cy="201168"/>
          </a:xfrm>
          <a:prstGeom prst="rect">
            <a:avLst/>
          </a:prstGeom>
          <a:noFill/>
          <a:ln/>
        </p:spPr>
        <p:txBody>
          <a:bodyPr wrap="square" lIns="0" tIns="0" rIns="0" bIns="0" rtlCol="0" anchor="t"/>
          <a:lstStyle/>
          <a:p>
            <a:pPr algn="l" indent="0" marL="0">
              <a:buNone/>
            </a:pPr>
            <a:r>
              <a:rPr lang="en-US" sz="1050" b="1" spc="240" kern="0" dirty="0">
                <a:solidFill>
                  <a:srgbClr val="2A80C2"/>
                </a:solidFill>
                <a:latin typeface="Arial" pitchFamily="34" charset="0"/>
                <a:ea typeface="Arial" pitchFamily="34" charset="-122"/>
                <a:cs typeface="Arial" pitchFamily="34" charset="-120"/>
              </a:rPr>
              <a:t>THE QUESTION MAC ASKED ON SEPTEMBER 4</a:t>
            </a:r>
            <a:endParaRPr lang="en-US" sz="1050" dirty="0"/>
          </a:p>
        </p:txBody>
      </p:sp>
      <p:sp>
        <p:nvSpPr>
          <p:cNvPr id="5" name="role:title"/>
          <p:cNvSpPr txBox="1"/>
          <p:nvPr/>
        </p:nvSpPr>
        <p:spPr>
          <a:xfrm>
            <a:off x="713232" y="987552"/>
            <a:ext cx="7680960" cy="1074420"/>
          </a:xfrm>
          <a:prstGeom prst="rect">
            <a:avLst/>
          </a:prstGeom>
          <a:noFill/>
          <a:ln/>
        </p:spPr>
        <p:txBody>
          <a:bodyPr wrap="square" lIns="0" tIns="0" rIns="0" bIns="0" rtlCol="0" anchor="t"/>
          <a:lstStyle/>
          <a:p>
            <a:pPr algn="l" indent="0" marL="0">
              <a:lnSpc>
                <a:spcPct val="102000"/>
              </a:lnSpc>
              <a:buNone/>
            </a:pPr>
            <a:r>
              <a:rPr lang="en-US" sz="3900" b="1" dirty="0">
                <a:solidFill>
                  <a:srgbClr val="0F151B"/>
                </a:solidFill>
                <a:latin typeface="Arial" pitchFamily="34" charset="0"/>
                <a:ea typeface="Arial" pitchFamily="34" charset="-122"/>
                <a:cs typeface="Arial" pitchFamily="34" charset="-120"/>
              </a:rPr>
              <a:t>Has outbound started?</a:t>
            </a:r>
            <a:endParaRPr lang="en-US" sz="3900" dirty="0"/>
          </a:p>
          <a:p>
            <a:pPr algn="l" indent="0" marL="0">
              <a:lnSpc>
                <a:spcPct val="102000"/>
              </a:lnSpc>
              <a:buNone/>
            </a:pPr>
            <a:r>
              <a:rPr lang="en-US" sz="3900" b="1" dirty="0">
                <a:solidFill>
                  <a:srgbClr val="0F151B"/>
                </a:solidFill>
                <a:latin typeface="Arial" pitchFamily="34" charset="0"/>
                <a:ea typeface="Arial" pitchFamily="34" charset="-122"/>
                <a:cs typeface="Arial" pitchFamily="34" charset="-120"/>
              </a:rPr>
              <a:t>Yes. Here is what it did.</a:t>
            </a:r>
            <a:endParaRPr lang="en-US" sz="3900" dirty="0"/>
          </a:p>
        </p:txBody>
      </p:sp>
      <p:sp>
        <p:nvSpPr>
          <p:cNvPr id="6" name="role:static"/>
          <p:cNvSpPr txBox="1"/>
          <p:nvPr/>
        </p:nvSpPr>
        <p:spPr>
          <a:xfrm>
            <a:off x="10929823" y="6437376"/>
            <a:ext cx="548640" cy="219456"/>
          </a:xfrm>
          <a:prstGeom prst="rect">
            <a:avLst/>
          </a:prstGeom>
          <a:noFill/>
          <a:ln/>
        </p:spPr>
        <p:txBody>
          <a:bodyPr wrap="square" lIns="0" tIns="0" rIns="0" bIns="0" rtlCol="0" anchor="t"/>
          <a:lstStyle/>
          <a:p>
            <a:pPr algn="r" indent="0" marL="0">
              <a:buNone/>
            </a:pPr>
            <a:r>
              <a:rPr lang="en-US" sz="1050" b="1" spc="100" kern="0" dirty="0">
                <a:solidFill>
                  <a:srgbClr val="CBD8E3"/>
                </a:solidFill>
                <a:latin typeface="Arial" pitchFamily="34" charset="0"/>
                <a:ea typeface="Arial" pitchFamily="34" charset="-122"/>
                <a:cs typeface="Arial" pitchFamily="34" charset="-120"/>
              </a:rPr>
              <a:t>02</a:t>
            </a:r>
            <a:endParaRPr lang="en-US" sz="1050" dirty="0"/>
          </a:p>
        </p:txBody>
      </p:sp>
      <p:sp>
        <p:nvSpPr>
          <p:cNvPr id="7" name="role:figure"/>
          <p:cNvSpPr txBox="1"/>
          <p:nvPr/>
        </p:nvSpPr>
        <p:spPr>
          <a:xfrm>
            <a:off x="713232" y="2514600"/>
            <a:ext cx="3291840" cy="1130808"/>
          </a:xfrm>
          <a:prstGeom prst="rect">
            <a:avLst/>
          </a:prstGeom>
          <a:noFill/>
          <a:ln/>
        </p:spPr>
        <p:txBody>
          <a:bodyPr wrap="square" lIns="0" tIns="0" rIns="0" bIns="0" rtlCol="0" anchor="t"/>
          <a:lstStyle/>
          <a:p>
            <a:pPr algn="l" indent="0" marL="0">
              <a:lnSpc>
                <a:spcPct val="100000"/>
              </a:lnSpc>
              <a:buNone/>
            </a:pPr>
            <a:r>
              <a:rPr lang="en-US" sz="8400" b="1" dirty="0">
                <a:solidFill>
                  <a:srgbClr val="F58320"/>
                </a:solidFill>
                <a:latin typeface="Arial" pitchFamily="34" charset="0"/>
                <a:ea typeface="Arial" pitchFamily="34" charset="-122"/>
                <a:cs typeface="Arial" pitchFamily="34" charset="-120"/>
              </a:rPr>
              <a:t>241</a:t>
            </a:r>
            <a:endParaRPr lang="en-US" sz="8400" dirty="0"/>
          </a:p>
        </p:txBody>
      </p:sp>
      <p:sp>
        <p:nvSpPr>
          <p:cNvPr id="8" name="role:figure-label"/>
          <p:cNvSpPr txBox="1"/>
          <p:nvPr/>
        </p:nvSpPr>
        <p:spPr>
          <a:xfrm>
            <a:off x="713232" y="3700272"/>
            <a:ext cx="3291840" cy="246888"/>
          </a:xfrm>
          <a:prstGeom prst="rect">
            <a:avLst/>
          </a:prstGeom>
          <a:noFill/>
          <a:ln/>
        </p:spPr>
        <p:txBody>
          <a:bodyPr wrap="square" lIns="0" tIns="0" rIns="0" bIns="0" rtlCol="0" anchor="t"/>
          <a:lstStyle/>
          <a:p>
            <a:pPr algn="l" indent="0" marL="0">
              <a:lnSpc>
                <a:spcPct val="120000"/>
              </a:lnSpc>
              <a:buNone/>
            </a:pPr>
            <a:r>
              <a:rPr lang="en-US" sz="1200" b="1" dirty="0">
                <a:solidFill>
                  <a:srgbClr val="0F151B"/>
                </a:solidFill>
                <a:latin typeface="Arial" pitchFamily="34" charset="0"/>
                <a:ea typeface="Arial" pitchFamily="34" charset="-122"/>
                <a:cs typeface="Arial" pitchFamily="34" charset="-120"/>
              </a:rPr>
              <a:t>Cold emails sent</a:t>
            </a:r>
            <a:endParaRPr lang="en-US" sz="1200" dirty="0"/>
          </a:p>
        </p:txBody>
      </p:sp>
      <p:sp>
        <p:nvSpPr>
          <p:cNvPr id="9" name="role:figure-label"/>
          <p:cNvSpPr txBox="1"/>
          <p:nvPr/>
        </p:nvSpPr>
        <p:spPr>
          <a:xfrm>
            <a:off x="713232" y="4011168"/>
            <a:ext cx="3291840" cy="224028"/>
          </a:xfrm>
          <a:prstGeom prst="rect">
            <a:avLst/>
          </a:prstGeom>
          <a:noFill/>
          <a:ln/>
        </p:spPr>
        <p:txBody>
          <a:bodyPr wrap="square" lIns="0" tIns="0" rIns="0" bIns="0" rtlCol="0" anchor="t"/>
          <a:lstStyle/>
          <a:p>
            <a:pPr algn="l" indent="0" marL="0">
              <a:lnSpc>
                <a:spcPct val="120000"/>
              </a:lnSpc>
              <a:buNone/>
            </a:pPr>
            <a:r>
              <a:rPr lang="en-US" sz="1050" dirty="0">
                <a:solidFill>
                  <a:srgbClr val="5A6772"/>
                </a:solidFill>
                <a:latin typeface="Arial" pitchFamily="34" charset="0"/>
                <a:ea typeface="Arial" pitchFamily="34" charset="-122"/>
                <a:cs typeface="Arial" pitchFamily="34" charset="-120"/>
              </a:rPr>
              <a:t>Two waves, Sept 2–3, from Dillon's Gmail</a:t>
            </a:r>
            <a:endParaRPr lang="en-US" sz="1050" dirty="0"/>
          </a:p>
        </p:txBody>
      </p:sp>
      <p:sp>
        <p:nvSpPr>
          <p:cNvPr id="10" name="role:figure"/>
          <p:cNvSpPr txBox="1"/>
          <p:nvPr/>
        </p:nvSpPr>
        <p:spPr>
          <a:xfrm>
            <a:off x="4370832" y="2514600"/>
            <a:ext cx="3291840" cy="1130808"/>
          </a:xfrm>
          <a:prstGeom prst="rect">
            <a:avLst/>
          </a:prstGeom>
          <a:noFill/>
          <a:ln/>
        </p:spPr>
        <p:txBody>
          <a:bodyPr wrap="square" lIns="0" tIns="0" rIns="0" bIns="0" rtlCol="0" anchor="t"/>
          <a:lstStyle/>
          <a:p>
            <a:pPr algn="l" indent="0" marL="0">
              <a:lnSpc>
                <a:spcPct val="100000"/>
              </a:lnSpc>
              <a:buNone/>
            </a:pPr>
            <a:r>
              <a:rPr lang="en-US" sz="8400" b="1" dirty="0">
                <a:solidFill>
                  <a:srgbClr val="0F151B"/>
                </a:solidFill>
                <a:latin typeface="Arial" pitchFamily="34" charset="0"/>
                <a:ea typeface="Arial" pitchFamily="34" charset="-122"/>
                <a:cs typeface="Arial" pitchFamily="34" charset="-120"/>
              </a:rPr>
              <a:t>0</a:t>
            </a:r>
            <a:endParaRPr lang="en-US" sz="8400" dirty="0"/>
          </a:p>
        </p:txBody>
      </p:sp>
      <p:sp>
        <p:nvSpPr>
          <p:cNvPr id="11" name="role:figure-label"/>
          <p:cNvSpPr txBox="1"/>
          <p:nvPr/>
        </p:nvSpPr>
        <p:spPr>
          <a:xfrm>
            <a:off x="4370832" y="3700272"/>
            <a:ext cx="3291840" cy="246888"/>
          </a:xfrm>
          <a:prstGeom prst="rect">
            <a:avLst/>
          </a:prstGeom>
          <a:noFill/>
          <a:ln/>
        </p:spPr>
        <p:txBody>
          <a:bodyPr wrap="square" lIns="0" tIns="0" rIns="0" bIns="0" rtlCol="0" anchor="t"/>
          <a:lstStyle/>
          <a:p>
            <a:pPr algn="l" indent="0" marL="0">
              <a:lnSpc>
                <a:spcPct val="120000"/>
              </a:lnSpc>
              <a:buNone/>
            </a:pPr>
            <a:r>
              <a:rPr lang="en-US" sz="1200" b="1" dirty="0">
                <a:solidFill>
                  <a:srgbClr val="0F151B"/>
                </a:solidFill>
                <a:latin typeface="Arial" pitchFamily="34" charset="0"/>
                <a:ea typeface="Arial" pitchFamily="34" charset="-122"/>
                <a:cs typeface="Arial" pitchFamily="34" charset="-120"/>
              </a:rPr>
              <a:t>Verified human replies</a:t>
            </a:r>
            <a:endParaRPr lang="en-US" sz="1200" dirty="0"/>
          </a:p>
        </p:txBody>
      </p:sp>
      <p:sp>
        <p:nvSpPr>
          <p:cNvPr id="12" name="role:figure-label"/>
          <p:cNvSpPr txBox="1"/>
          <p:nvPr/>
        </p:nvSpPr>
        <p:spPr>
          <a:xfrm>
            <a:off x="4370832" y="4011168"/>
            <a:ext cx="3291840" cy="384048"/>
          </a:xfrm>
          <a:prstGeom prst="rect">
            <a:avLst/>
          </a:prstGeom>
          <a:noFill/>
          <a:ln/>
        </p:spPr>
        <p:txBody>
          <a:bodyPr wrap="square" lIns="0" tIns="0" rIns="0" bIns="0" rtlCol="0" anchor="t"/>
          <a:lstStyle/>
          <a:p>
            <a:pPr algn="l" indent="0" marL="0">
              <a:lnSpc>
                <a:spcPct val="120000"/>
              </a:lnSpc>
              <a:buNone/>
            </a:pPr>
            <a:r>
              <a:rPr lang="en-US" sz="1050" dirty="0">
                <a:solidFill>
                  <a:srgbClr val="5A6772"/>
                </a:solidFill>
                <a:latin typeface="Arial" pitchFamily="34" charset="0"/>
                <a:ea typeface="Arial" pitchFamily="34" charset="-122"/>
                <a:cs typeface="Arial" pitchFamily="34" charset="-120"/>
              </a:rPr>
              <a:t>Two bounces, two auto-replies. No bounce is not proof of delivery.</a:t>
            </a:r>
            <a:endParaRPr lang="en-US" sz="1050" dirty="0"/>
          </a:p>
        </p:txBody>
      </p:sp>
      <p:sp>
        <p:nvSpPr>
          <p:cNvPr id="13" name="role:rule-h"/>
          <p:cNvSpPr/>
          <p:nvPr/>
        </p:nvSpPr>
        <p:spPr>
          <a:xfrm>
            <a:off x="713232" y="4892040"/>
            <a:ext cx="7223760" cy="0"/>
          </a:xfrm>
          <a:prstGeom prst="line">
            <a:avLst/>
          </a:prstGeom>
          <a:noFill/>
          <a:ln w="9525">
            <a:solidFill>
              <a:srgbClr val="E2EAF1"/>
            </a:solidFill>
            <a:prstDash val="solid"/>
          </a:ln>
        </p:spPr>
      </p:sp>
      <p:sp>
        <p:nvSpPr>
          <p:cNvPr id="14" name="role:body"/>
          <p:cNvSpPr txBox="1"/>
          <p:nvPr/>
        </p:nvSpPr>
        <p:spPr>
          <a:xfrm>
            <a:off x="713232" y="5074920"/>
            <a:ext cx="7223760" cy="526288"/>
          </a:xfrm>
          <a:prstGeom prst="rect">
            <a:avLst/>
          </a:prstGeom>
          <a:noFill/>
          <a:ln/>
        </p:spPr>
        <p:txBody>
          <a:bodyPr wrap="square" lIns="0" tIns="0" rIns="0" bIns="0" rtlCol="0" anchor="t"/>
          <a:lstStyle/>
          <a:p>
            <a:pPr algn="l" indent="0" marL="0">
              <a:lnSpc>
                <a:spcPct val="130000"/>
              </a:lnSpc>
              <a:buNone/>
            </a:pPr>
            <a:r>
              <a:rPr lang="en-US" sz="1400" b="1" dirty="0">
                <a:solidFill>
                  <a:srgbClr val="0F151B"/>
                </a:solidFill>
                <a:latin typeface="Arial" pitchFamily="34" charset="0"/>
                <a:ea typeface="Arial" pitchFamily="34" charset="-122"/>
                <a:cs typeface="Arial" pitchFamily="34" charset="-120"/>
              </a:rPr>
              <a:t>In the same fortnight, two hand-built AI search audits sent to GT Clinic and Tuxedo Den both reached the quote stage.</a:t>
            </a:r>
            <a:endParaRPr lang="en-US" sz="1400" dirty="0"/>
          </a:p>
        </p:txBody>
      </p:sp>
      <p:sp>
        <p:nvSpPr>
          <p:cNvPr id="15" name="role:kicker"/>
          <p:cNvSpPr txBox="1"/>
          <p:nvPr/>
        </p:nvSpPr>
        <p:spPr>
          <a:xfrm>
            <a:off x="8321040" y="1417320"/>
            <a:ext cx="3337560" cy="201168"/>
          </a:xfrm>
          <a:prstGeom prst="rect">
            <a:avLst/>
          </a:prstGeom>
          <a:noFill/>
          <a:ln/>
        </p:spPr>
        <p:txBody>
          <a:bodyPr wrap="square" lIns="0" tIns="0" rIns="0" bIns="0" rtlCol="0" anchor="t"/>
          <a:lstStyle/>
          <a:p>
            <a:pPr algn="l" indent="0" marL="0">
              <a:buNone/>
            </a:pPr>
            <a:r>
              <a:rPr lang="en-US" sz="1050" b="1" spc="240" kern="0" dirty="0">
                <a:solidFill>
                  <a:srgbClr val="5AA7E0"/>
                </a:solidFill>
                <a:latin typeface="Arial" pitchFamily="34" charset="0"/>
                <a:ea typeface="Arial" pitchFamily="34" charset="-122"/>
                <a:cs typeface="Arial" pitchFamily="34" charset="-120"/>
              </a:rPr>
              <a:t>WHAT IT MEANS</a:t>
            </a:r>
            <a:endParaRPr lang="en-US" sz="1050" dirty="0"/>
          </a:p>
        </p:txBody>
      </p:sp>
      <p:sp>
        <p:nvSpPr>
          <p:cNvPr id="16" name="role:body"/>
          <p:cNvSpPr txBox="1"/>
          <p:nvPr/>
        </p:nvSpPr>
        <p:spPr>
          <a:xfrm>
            <a:off x="8321040" y="1746504"/>
            <a:ext cx="3337560" cy="630936"/>
          </a:xfrm>
          <a:prstGeom prst="rect">
            <a:avLst/>
          </a:prstGeom>
          <a:noFill/>
          <a:ln/>
        </p:spPr>
        <p:txBody>
          <a:bodyPr wrap="square" lIns="0" tIns="0" rIns="0" bIns="0" rtlCol="0" anchor="t"/>
          <a:lstStyle/>
          <a:p>
            <a:pPr algn="l" indent="0" marL="0">
              <a:lnSpc>
                <a:spcPct val="105000"/>
              </a:lnSpc>
              <a:buNone/>
            </a:pPr>
            <a:r>
              <a:rPr lang="en-US" sz="2100" b="1" dirty="0">
                <a:solidFill>
                  <a:srgbClr val="FFFFFF"/>
                </a:solidFill>
                <a:latin typeface="Arial" pitchFamily="34" charset="0"/>
                <a:ea typeface="Arial" pitchFamily="34" charset="-122"/>
                <a:cs typeface="Arial" pitchFamily="34" charset="-120"/>
              </a:rPr>
              <a:t>The audit is the</a:t>
            </a:r>
            <a:endParaRPr lang="en-US" sz="2100" dirty="0"/>
          </a:p>
          <a:p>
            <a:pPr algn="l" indent="0" marL="0">
              <a:lnSpc>
                <a:spcPct val="105000"/>
              </a:lnSpc>
              <a:buNone/>
            </a:pPr>
            <a:r>
              <a:rPr lang="en-US" sz="2100" b="1" dirty="0">
                <a:solidFill>
                  <a:srgbClr val="FFFFFF"/>
                </a:solidFill>
                <a:latin typeface="Arial" pitchFamily="34" charset="0"/>
                <a:ea typeface="Arial" pitchFamily="34" charset="-122"/>
                <a:cs typeface="Arial" pitchFamily="34" charset="-120"/>
              </a:rPr>
              <a:t>opener that works.</a:t>
            </a:r>
            <a:endParaRPr lang="en-US" sz="2100" dirty="0"/>
          </a:p>
        </p:txBody>
      </p:sp>
      <p:sp>
        <p:nvSpPr>
          <p:cNvPr id="17" name="Text 14"/>
          <p:cNvSpPr txBox="1"/>
          <p:nvPr/>
        </p:nvSpPr>
        <p:spPr>
          <a:xfrm>
            <a:off x="8321040" y="2523744"/>
            <a:ext cx="3337560" cy="3447288"/>
          </a:xfrm>
          <a:prstGeom prst="rect">
            <a:avLst/>
          </a:prstGeom>
          <a:noFill/>
          <a:ln/>
        </p:spPr>
        <p:txBody>
          <a:bodyPr wrap="square" lIns="0" tIns="0" rIns="0" bIns="0" rtlCol="0" anchor="t"/>
          <a:lstStyle/>
          <a:p>
            <a:pPr marL="342900" indent="-342900">
              <a:lnSpc>
                <a:spcPct val="124000"/>
              </a:lnSpc>
              <a:spcAft>
                <a:spcPts val="700"/>
              </a:spcAft>
              <a:buSzPct val="100000"/>
              <a:buChar char="•"/>
            </a:pPr>
            <a:r>
              <a:rPr lang="en-US" sz="1200" dirty="0">
                <a:solidFill>
                  <a:srgbClr val="9DB5C8"/>
                </a:solidFill>
                <a:latin typeface="Arial" pitchFamily="34" charset="0"/>
                <a:ea typeface="Arial" pitchFamily="34" charset="-122"/>
                <a:cs typeface="Arial" pitchFamily="34" charset="-120"/>
              </a:rPr>
              <a:t>The Snapshot makes the audit repeatable and lets Jesse run it</a:t>
            </a:r>
            <a:endParaRPr lang="en-US" sz="1200" dirty="0"/>
          </a:p>
          <a:p>
            <a:pPr marL="342900" indent="-342900">
              <a:lnSpc>
                <a:spcPct val="124000"/>
              </a:lnSpc>
              <a:spcAft>
                <a:spcPts val="700"/>
              </a:spcAft>
              <a:buSzPct val="100000"/>
              <a:buChar char="•"/>
            </a:pPr>
            <a:r>
              <a:rPr lang="en-US" sz="1200" dirty="0">
                <a:solidFill>
                  <a:srgbClr val="9DB5C8"/>
                </a:solidFill>
                <a:latin typeface="Arial" pitchFamily="34" charset="0"/>
                <a:ea typeface="Arial" pitchFamily="34" charset="-122"/>
                <a:cs typeface="Arial" pitchFamily="34" charset="-120"/>
              </a:rPr>
              <a:t>Reporting is defined before the next send: sends, replies, quotes, signed, collected, as five counts</a:t>
            </a:r>
            <a:endParaRPr lang="en-US" sz="1200" dirty="0"/>
          </a:p>
          <a:p>
            <a:pPr marL="342900" indent="-342900">
              <a:lnSpc>
                <a:spcPct val="124000"/>
              </a:lnSpc>
              <a:spcAft>
                <a:spcPts val="700"/>
              </a:spcAft>
              <a:buSzPct val="100000"/>
              <a:buChar char="•"/>
            </a:pPr>
            <a:r>
              <a:rPr lang="en-US" sz="1200" dirty="0">
                <a:solidFill>
                  <a:srgbClr val="9DB5C8"/>
                </a:solidFill>
                <a:latin typeface="Arial" pitchFamily="34" charset="0"/>
                <a:ea typeface="Arial" pitchFamily="34" charset="-122"/>
                <a:cs typeface="Arial" pitchFamily="34" charset="-120"/>
              </a:rPr>
              <a:t>No further send is authorised by the September plan (decision D10)</a:t>
            </a:r>
            <a:endParaRPr lang="en-US" sz="1200" dirty="0"/>
          </a:p>
        </p:txBody>
      </p:sp>
      <p:sp>
        <p:nvSpPr>
          <p:cNvPr id="18" name="role:foot"/>
          <p:cNvSpPr txBox="1"/>
          <p:nvPr/>
        </p:nvSpPr>
        <p:spPr>
          <a:xfrm>
            <a:off x="713232" y="6400800"/>
            <a:ext cx="9942271" cy="237744"/>
          </a:xfrm>
          <a:prstGeom prst="rect">
            <a:avLst/>
          </a:prstGeom>
          <a:noFill/>
          <a:ln/>
        </p:spPr>
        <p:txBody>
          <a:bodyPr wrap="square" lIns="0" tIns="0" rIns="0" bIns="0" rtlCol="0" anchor="t"/>
          <a:lstStyle/>
          <a:p>
            <a:pPr algn="l" indent="0" marL="0">
              <a:buNone/>
            </a:pPr>
            <a:r>
              <a:rPr lang="en-US" sz="950" i="1" dirty="0">
                <a:solidFill>
                  <a:srgbClr val="8A97A2"/>
                </a:solidFill>
                <a:latin typeface="Arial" pitchFamily="34" charset="0"/>
                <a:ea typeface="Arial" pitchFamily="34" charset="-122"/>
                <a:cs typeface="Arial" pitchFamily="34" charset="-120"/>
              </a:rPr>
              <a:t>Reconciled from Gmail SENT on September 3, 2026. Audit outcomes from the pre-sale audit package status, verified September 3.</a:t>
            </a:r>
            <a:endParaRPr lang="en-US" sz="9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42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320" decel="70000"/>
                                        <p:tgtEl>
                                          <p:spTgt spid="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322" decel="70000"/>
                                        <p:tgtEl>
                                          <p:spTgt spid="4"/>
                                        </p:tgtEl>
                                      </p:cBhvr>
                                    </p:animEffect>
                                    <p:anim calcmode="lin" valueType="num">
                                      <p:cBhvr additive="base">
                                        <p:cTn id="14" dur="322" decel="70000" fill="hold"/>
                                        <p:tgtEl>
                                          <p:spTgt spid="4"/>
                                        </p:tgtEl>
                                        <p:attrNameLst>
                                          <p:attrName>ppt_y</p:attrName>
                                        </p:attrNameLst>
                                      </p:cBhvr>
                                      <p:tavLst>
                                        <p:tav tm="0">
                                          <p:val>
                                            <p:strVal val="#ppt_y+0.032"/>
                                          </p:val>
                                        </p:tav>
                                        <p:tav tm="100000">
                                          <p:val>
                                            <p:strVal val="#ppt_y"/>
                                          </p:val>
                                        </p:tav>
                                      </p:tavLst>
                                    </p:anim>
                                  </p:childTnLst>
                                </p:cTn>
                              </p:par>
                              <p:par>
                                <p:cTn id="15" presetID="10" presetClass="entr" presetSubtype="0" fill="hold" grpId="0" nodeType="withEffect">
                                  <p:stCondLst>
                                    <p:cond delay="55"/>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82" decel="70000"/>
                                        <p:tgtEl>
                                          <p:spTgt spid="5"/>
                                        </p:tgtEl>
                                      </p:cBhvr>
                                    </p:animEffect>
                                    <p:anim calcmode="lin" valueType="num">
                                      <p:cBhvr additive="base">
                                        <p:cTn id="18" dur="482" decel="70000" fill="hold"/>
                                        <p:tgtEl>
                                          <p:spTgt spid="5"/>
                                        </p:tgtEl>
                                        <p:attrNameLst>
                                          <p:attrName>ppt_y</p:attrName>
                                        </p:attrNameLst>
                                      </p:cBhvr>
                                      <p:tavLst>
                                        <p:tav tm="0">
                                          <p:val>
                                            <p:strVal val="#ppt_y+0.0512"/>
                                          </p:val>
                                        </p:tav>
                                        <p:tav tm="100000">
                                          <p:val>
                                            <p:strVal val="#ppt_y"/>
                                          </p:val>
                                        </p:tav>
                                      </p:tavLst>
                                    </p:anim>
                                  </p:childTnLst>
                                </p:cTn>
                              </p:par>
                              <p:par>
                                <p:cTn id="19" presetID="10" presetClass="entr" presetSubtype="0" fill="hold" grpId="0" nodeType="withEffect">
                                  <p:stCondLst>
                                    <p:cond delay="11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322" decel="70000"/>
                                        <p:tgtEl>
                                          <p:spTgt spid="15"/>
                                        </p:tgtEl>
                                      </p:cBhvr>
                                    </p:animEffect>
                                    <p:anim calcmode="lin" valueType="num">
                                      <p:cBhvr additive="base">
                                        <p:cTn id="22" dur="322" decel="70000" fill="hold"/>
                                        <p:tgtEl>
                                          <p:spTgt spid="15"/>
                                        </p:tgtEl>
                                        <p:attrNameLst>
                                          <p:attrName>ppt_y</p:attrName>
                                        </p:attrNameLst>
                                      </p:cBhvr>
                                      <p:tavLst>
                                        <p:tav tm="0">
                                          <p:val>
                                            <p:strVal val="#ppt_y+0.032"/>
                                          </p:val>
                                        </p:tav>
                                        <p:tav tm="100000">
                                          <p:val>
                                            <p:strVal val="#ppt_y"/>
                                          </p:val>
                                        </p:tav>
                                      </p:tavLst>
                                    </p:anim>
                                  </p:childTnLst>
                                </p:cTn>
                              </p:par>
                              <p:par>
                                <p:cTn id="23" presetID="10" presetClass="entr" presetSubtype="0" fill="hold" grpId="0" nodeType="withEffect">
                                  <p:stCondLst>
                                    <p:cond delay="165"/>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322" decel="70000"/>
                                        <p:tgtEl>
                                          <p:spTgt spid="16"/>
                                        </p:tgtEl>
                                      </p:cBhvr>
                                    </p:animEffect>
                                  </p:childTnLst>
                                </p:cTn>
                              </p:par>
                              <p:par>
                                <p:cTn id="26" presetID="23" presetClass="entr" presetSubtype="0" fill="hold" grpId="0" nodeType="withEffect">
                                  <p:stCondLst>
                                    <p:cond delay="22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482" decel="70000"/>
                                        <p:tgtEl>
                                          <p:spTgt spid="7"/>
                                        </p:tgtEl>
                                      </p:cBhvr>
                                    </p:animEffect>
                                    <p:animScale>
                                      <p:cBhvr>
                                        <p:cTn id="29" dur="482" decel="70000" fill="hold"/>
                                        <p:tgtEl>
                                          <p:spTgt spid="7"/>
                                        </p:tgtEl>
                                      </p:cBhvr>
                                      <p:from x="82000" y="82000"/>
                                      <p:to x="100000" y="100000"/>
                                    </p:animScale>
                                  </p:childTnLst>
                                </p:cTn>
                              </p:par>
                              <p:par>
                                <p:cTn id="30" presetID="23" presetClass="entr" presetSubtype="0" fill="hold" grpId="0" nodeType="withEffect">
                                  <p:stCondLst>
                                    <p:cond delay="275"/>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482" decel="70000"/>
                                        <p:tgtEl>
                                          <p:spTgt spid="10"/>
                                        </p:tgtEl>
                                      </p:cBhvr>
                                    </p:animEffect>
                                    <p:animScale>
                                      <p:cBhvr>
                                        <p:cTn id="33" dur="482" decel="70000" fill="hold"/>
                                        <p:tgtEl>
                                          <p:spTgt spid="10"/>
                                        </p:tgtEl>
                                      </p:cBhvr>
                                      <p:from x="82000" y="82000"/>
                                      <p:to x="100000" y="100000"/>
                                    </p:animScale>
                                  </p:childTnLst>
                                </p:cTn>
                              </p:par>
                              <p:par>
                                <p:cTn id="34" presetID="10" presetClass="entr" presetSubtype="0" fill="hold" grpId="0" nodeType="withEffect">
                                  <p:stCondLst>
                                    <p:cond delay="330"/>
                                  </p:stCondLst>
                                  <p:childTnLst>
                                    <p:set>
                                      <p:cBhvr>
                                        <p:cTn id="35" dur="1" fill="hold">
                                          <p:stCondLst>
                                            <p:cond delay="0"/>
                                          </p:stCondLst>
                                        </p:cTn>
                                        <p:tgtEl>
                                          <p:spTgt spid="8"/>
                                        </p:tgtEl>
                                        <p:attrNameLst>
                                          <p:attrName>style.visibility</p:attrName>
                                        </p:attrNameLst>
                                      </p:cBhvr>
                                      <p:to>
                                        <p:strVal val="visible"/>
                                      </p:to>
                                    </p:set>
                                    <p:animEffect transition="in" filter="fade">
                                      <p:cBhvr>
                                        <p:cTn id="36" dur="299" decel="70000"/>
                                        <p:tgtEl>
                                          <p:spTgt spid="8"/>
                                        </p:tgtEl>
                                      </p:cBhvr>
                                    </p:animEffect>
                                  </p:childTnLst>
                                </p:cTn>
                              </p:par>
                              <p:par>
                                <p:cTn id="37" presetID="10" presetClass="entr" presetSubtype="0" fill="hold" grpId="0" nodeType="withEffect">
                                  <p:stCondLst>
                                    <p:cond delay="385"/>
                                  </p:stCondLst>
                                  <p:childTnLst>
                                    <p:set>
                                      <p:cBhvr>
                                        <p:cTn id="38" dur="1" fill="hold">
                                          <p:stCondLst>
                                            <p:cond delay="0"/>
                                          </p:stCondLst>
                                        </p:cTn>
                                        <p:tgtEl>
                                          <p:spTgt spid="11"/>
                                        </p:tgtEl>
                                        <p:attrNameLst>
                                          <p:attrName>style.visibility</p:attrName>
                                        </p:attrNameLst>
                                      </p:cBhvr>
                                      <p:to>
                                        <p:strVal val="visible"/>
                                      </p:to>
                                    </p:set>
                                    <p:animEffect transition="in" filter="fade">
                                      <p:cBhvr>
                                        <p:cTn id="39" dur="299" decel="70000"/>
                                        <p:tgtEl>
                                          <p:spTgt spid="11"/>
                                        </p:tgtEl>
                                      </p:cBhvr>
                                    </p:animEffect>
                                  </p:childTnLst>
                                </p:cTn>
                              </p:par>
                              <p:par>
                                <p:cTn id="40" presetID="10" presetClass="entr" presetSubtype="0" fill="hold" grpId="0" nodeType="withEffect">
                                  <p:stCondLst>
                                    <p:cond delay="440"/>
                                  </p:stCondLst>
                                  <p:childTnLst>
                                    <p:set>
                                      <p:cBhvr>
                                        <p:cTn id="41" dur="1" fill="hold">
                                          <p:stCondLst>
                                            <p:cond delay="0"/>
                                          </p:stCondLst>
                                        </p:cTn>
                                        <p:tgtEl>
                                          <p:spTgt spid="9"/>
                                        </p:tgtEl>
                                        <p:attrNameLst>
                                          <p:attrName>style.visibility</p:attrName>
                                        </p:attrNameLst>
                                      </p:cBhvr>
                                      <p:to>
                                        <p:strVal val="visible"/>
                                      </p:to>
                                    </p:set>
                                    <p:animEffect transition="in" filter="fade">
                                      <p:cBhvr>
                                        <p:cTn id="42" dur="299" decel="70000"/>
                                        <p:tgtEl>
                                          <p:spTgt spid="9"/>
                                        </p:tgtEl>
                                      </p:cBhvr>
                                    </p:animEffect>
                                  </p:childTnLst>
                                </p:cTn>
                              </p:par>
                              <p:par>
                                <p:cTn id="43" presetID="10" presetClass="entr" presetSubtype="0" fill="hold" grpId="0" nodeType="withEffect">
                                  <p:stCondLst>
                                    <p:cond delay="495"/>
                                  </p:stCondLst>
                                  <p:childTnLst>
                                    <p:set>
                                      <p:cBhvr>
                                        <p:cTn id="44" dur="1" fill="hold">
                                          <p:stCondLst>
                                            <p:cond delay="0"/>
                                          </p:stCondLst>
                                        </p:cTn>
                                        <p:tgtEl>
                                          <p:spTgt spid="12"/>
                                        </p:tgtEl>
                                        <p:attrNameLst>
                                          <p:attrName>style.visibility</p:attrName>
                                        </p:attrNameLst>
                                      </p:cBhvr>
                                      <p:to>
                                        <p:strVal val="visible"/>
                                      </p:to>
                                    </p:set>
                                    <p:animEffect transition="in" filter="fade">
                                      <p:cBhvr>
                                        <p:cTn id="45" dur="299" decel="70000"/>
                                        <p:tgtEl>
                                          <p:spTgt spid="12"/>
                                        </p:tgtEl>
                                      </p:cBhvr>
                                    </p:animEffect>
                                  </p:childTnLst>
                                </p:cTn>
                              </p:par>
                              <p:par>
                                <p:cTn id="46" presetID="22" presetClass="entr" presetSubtype="1" fill="hold" grpId="0" nodeType="withEffect">
                                  <p:stCondLst>
                                    <p:cond delay="550"/>
                                  </p:stCondLst>
                                  <p:childTnLst>
                                    <p:set>
                                      <p:cBhvr>
                                        <p:cTn id="47" dur="1" fill="hold">
                                          <p:stCondLst>
                                            <p:cond delay="0"/>
                                          </p:stCondLst>
                                        </p:cTn>
                                        <p:tgtEl>
                                          <p:spTgt spid="13"/>
                                        </p:tgtEl>
                                        <p:attrNameLst>
                                          <p:attrName>style.visibility</p:attrName>
                                        </p:attrNameLst>
                                      </p:cBhvr>
                                      <p:to>
                                        <p:strVal val="visible"/>
                                      </p:to>
                                    </p:set>
                                    <p:animEffect transition="in" filter="wipe(right)">
                                      <p:cBhvr>
                                        <p:cTn id="48" dur="529"/>
                                        <p:tgtEl>
                                          <p:spTgt spid="13"/>
                                        </p:tgtEl>
                                      </p:cBhvr>
                                    </p:animEffect>
                                  </p:childTnLst>
                                </p:cTn>
                              </p:par>
                              <p:par>
                                <p:cTn id="49" presetID="10" presetClass="entr" presetSubtype="0" fill="hold" grpId="0" nodeType="withEffect">
                                  <p:stCondLst>
                                    <p:cond delay="605"/>
                                  </p:stCondLst>
                                  <p:childTnLst>
                                    <p:set>
                                      <p:cBhvr>
                                        <p:cTn id="50" dur="1" fill="hold">
                                          <p:stCondLst>
                                            <p:cond delay="0"/>
                                          </p:stCondLst>
                                        </p:cTn>
                                        <p:tgtEl>
                                          <p:spTgt spid="14"/>
                                        </p:tgtEl>
                                        <p:attrNameLst>
                                          <p:attrName>style.visibility</p:attrName>
                                        </p:attrNameLst>
                                      </p:cBhvr>
                                      <p:to>
                                        <p:strVal val="visible"/>
                                      </p:to>
                                    </p:set>
                                    <p:animEffect transition="in" filter="fade">
                                      <p:cBhvr>
                                        <p:cTn id="51" dur="322" decel="70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role:logo" descr="Momentum Digital logo">    </p:cNvPr>
          <p:cNvPicPr>
            <a:picLocks noChangeAspect="1"/>
          </p:cNvPicPr>
          <p:nvPr/>
        </p:nvPicPr>
        <p:blipFill>
          <a:blip r:embed="rId1"/>
          <a:stretch>
            <a:fillRect/>
          </a:stretch>
        </p:blipFill>
        <p:spPr>
          <a:xfrm>
            <a:off x="10106863" y="658368"/>
            <a:ext cx="1371600" cy="294904"/>
          </a:xfrm>
          <a:prstGeom prst="rect">
            <a:avLst/>
          </a:prstGeom>
        </p:spPr>
      </p:pic>
      <p:sp>
        <p:nvSpPr>
          <p:cNvPr id="3" name="role:kicker"/>
          <p:cNvSpPr txBox="1"/>
          <p:nvPr/>
        </p:nvSpPr>
        <p:spPr>
          <a:xfrm>
            <a:off x="713232" y="658368"/>
            <a:ext cx="8753551" cy="201168"/>
          </a:xfrm>
          <a:prstGeom prst="rect">
            <a:avLst/>
          </a:prstGeom>
          <a:noFill/>
          <a:ln/>
        </p:spPr>
        <p:txBody>
          <a:bodyPr wrap="square" lIns="0" tIns="0" rIns="0" bIns="0" rtlCol="0" anchor="t"/>
          <a:lstStyle/>
          <a:p>
            <a:pPr algn="l" indent="0" marL="0">
              <a:buNone/>
            </a:pPr>
            <a:r>
              <a:rPr lang="en-US" sz="1050" b="1" spc="240" kern="0" dirty="0">
                <a:solidFill>
                  <a:srgbClr val="2A80C2"/>
                </a:solidFill>
                <a:latin typeface="Arial" pitchFamily="34" charset="0"/>
                <a:ea typeface="Arial" pitchFamily="34" charset="-122"/>
                <a:cs typeface="Arial" pitchFamily="34" charset="-120"/>
              </a:rPr>
              <a:t>THE OPENER · FREE</a:t>
            </a:r>
            <a:endParaRPr lang="en-US" sz="1050" dirty="0"/>
          </a:p>
        </p:txBody>
      </p:sp>
      <p:sp>
        <p:nvSpPr>
          <p:cNvPr id="4" name="role:title"/>
          <p:cNvSpPr txBox="1"/>
          <p:nvPr/>
        </p:nvSpPr>
        <p:spPr>
          <a:xfrm>
            <a:off x="713232" y="987552"/>
            <a:ext cx="8570671" cy="569214"/>
          </a:xfrm>
          <a:prstGeom prst="rect">
            <a:avLst/>
          </a:prstGeom>
          <a:noFill/>
          <a:ln/>
        </p:spPr>
        <p:txBody>
          <a:bodyPr wrap="square" lIns="0" tIns="0" rIns="0" bIns="0" rtlCol="0" anchor="t"/>
          <a:lstStyle/>
          <a:p>
            <a:pPr algn="l" indent="0" marL="0">
              <a:lnSpc>
                <a:spcPct val="102000"/>
              </a:lnSpc>
              <a:buNone/>
            </a:pPr>
            <a:r>
              <a:rPr lang="en-US" sz="3900" b="1" dirty="0">
                <a:solidFill>
                  <a:srgbClr val="0F151B"/>
                </a:solidFill>
                <a:latin typeface="Arial" pitchFamily="34" charset="0"/>
                <a:ea typeface="Arial" pitchFamily="34" charset="-122"/>
                <a:cs typeface="Arial" pitchFamily="34" charset="-120"/>
              </a:rPr>
              <a:t>AI Search Snapshot</a:t>
            </a:r>
            <a:endParaRPr lang="en-US" sz="3900" dirty="0"/>
          </a:p>
        </p:txBody>
      </p:sp>
      <p:sp>
        <p:nvSpPr>
          <p:cNvPr id="5" name="role:sub"/>
          <p:cNvSpPr txBox="1"/>
          <p:nvPr/>
        </p:nvSpPr>
        <p:spPr>
          <a:xfrm>
            <a:off x="713232" y="1703070"/>
            <a:ext cx="8046720" cy="649224"/>
          </a:xfrm>
          <a:prstGeom prst="rect">
            <a:avLst/>
          </a:prstGeom>
          <a:noFill/>
          <a:ln/>
        </p:spPr>
        <p:txBody>
          <a:bodyPr wrap="square" lIns="0" tIns="0" rIns="0" bIns="0" rtlCol="0" anchor="t"/>
          <a:lstStyle/>
          <a:p>
            <a:pPr algn="l" indent="0" marL="0">
              <a:lnSpc>
                <a:spcPct val="128000"/>
              </a:lnSpc>
              <a:buNone/>
            </a:pPr>
            <a:r>
              <a:rPr lang="en-US" sz="1800" dirty="0">
                <a:solidFill>
                  <a:srgbClr val="5A6772"/>
                </a:solidFill>
                <a:latin typeface="Arial" pitchFamily="34" charset="0"/>
                <a:ea typeface="Arial" pitchFamily="34" charset="-122"/>
                <a:cs typeface="Arial" pitchFamily="34" charset="-120"/>
              </a:rPr>
              <a:t>A generated, branded audit from one URL: can AI systems read the site, and does it say what the business is.</a:t>
            </a:r>
            <a:endParaRPr lang="en-US" sz="1800" dirty="0"/>
          </a:p>
        </p:txBody>
      </p:sp>
      <p:sp>
        <p:nvSpPr>
          <p:cNvPr id="6" name="role:static"/>
          <p:cNvSpPr txBox="1"/>
          <p:nvPr/>
        </p:nvSpPr>
        <p:spPr>
          <a:xfrm>
            <a:off x="10929823" y="6437376"/>
            <a:ext cx="548640" cy="219456"/>
          </a:xfrm>
          <a:prstGeom prst="rect">
            <a:avLst/>
          </a:prstGeom>
          <a:noFill/>
          <a:ln/>
        </p:spPr>
        <p:txBody>
          <a:bodyPr wrap="square" lIns="0" tIns="0" rIns="0" bIns="0" rtlCol="0" anchor="t"/>
          <a:lstStyle/>
          <a:p>
            <a:pPr algn="r" indent="0" marL="0">
              <a:buNone/>
            </a:pPr>
            <a:r>
              <a:rPr lang="en-US" sz="1050" b="1" spc="100" kern="0" dirty="0">
                <a:solidFill>
                  <a:srgbClr val="CBD8E3"/>
                </a:solidFill>
                <a:latin typeface="Arial" pitchFamily="34" charset="0"/>
                <a:ea typeface="Arial" pitchFamily="34" charset="-122"/>
                <a:cs typeface="Arial" pitchFamily="34" charset="-120"/>
              </a:rPr>
              <a:t>03</a:t>
            </a:r>
            <a:endParaRPr lang="en-US" sz="1050" dirty="0"/>
          </a:p>
        </p:txBody>
      </p:sp>
      <p:sp>
        <p:nvSpPr>
          <p:cNvPr id="7" name="role:step-num"/>
          <p:cNvSpPr txBox="1"/>
          <p:nvPr/>
        </p:nvSpPr>
        <p:spPr>
          <a:xfrm>
            <a:off x="713232" y="2800350"/>
            <a:ext cx="1604406" cy="292608"/>
          </a:xfrm>
          <a:prstGeom prst="rect">
            <a:avLst/>
          </a:prstGeom>
          <a:noFill/>
          <a:ln/>
        </p:spPr>
        <p:txBody>
          <a:bodyPr wrap="square" lIns="0" tIns="0" rIns="0" bIns="0" rtlCol="0" anchor="t"/>
          <a:lstStyle/>
          <a:p>
            <a:pPr algn="l" indent="0" marL="0">
              <a:buNone/>
            </a:pPr>
            <a:r>
              <a:rPr lang="en-US" sz="1500" b="1" spc="100" kern="0" dirty="0">
                <a:solidFill>
                  <a:srgbClr val="2A80C2"/>
                </a:solidFill>
                <a:latin typeface="Arial" pitchFamily="34" charset="0"/>
                <a:ea typeface="Arial" pitchFamily="34" charset="-122"/>
                <a:cs typeface="Arial" pitchFamily="34" charset="-120"/>
              </a:rPr>
              <a:t>01</a:t>
            </a:r>
            <a:endParaRPr lang="en-US" sz="1500" dirty="0"/>
          </a:p>
        </p:txBody>
      </p:sp>
      <p:sp>
        <p:nvSpPr>
          <p:cNvPr id="8" name="role:step-head"/>
          <p:cNvSpPr txBox="1"/>
          <p:nvPr/>
        </p:nvSpPr>
        <p:spPr>
          <a:xfrm>
            <a:off x="713232" y="3220974"/>
            <a:ext cx="1604406" cy="273558"/>
          </a:xfrm>
          <a:prstGeom prst="rect">
            <a:avLst/>
          </a:prstGeom>
          <a:noFill/>
          <a:ln/>
        </p:spPr>
        <p:txBody>
          <a:bodyPr wrap="square" lIns="0" tIns="0" rIns="0" bIns="0" rtlCol="0" anchor="t"/>
          <a:lstStyle/>
          <a:p>
            <a:pPr algn="l" indent="0" marL="0">
              <a:lnSpc>
                <a:spcPct val="110000"/>
              </a:lnSpc>
              <a:buNone/>
            </a:pPr>
            <a:r>
              <a:rPr lang="en-US" sz="1500" b="1" dirty="0">
                <a:solidFill>
                  <a:srgbClr val="0F151B"/>
                </a:solidFill>
                <a:latin typeface="Arial" pitchFamily="34" charset="0"/>
                <a:ea typeface="Arial" pitchFamily="34" charset="-122"/>
                <a:cs typeface="Arial" pitchFamily="34" charset="-120"/>
              </a:rPr>
              <a:t>One URL</a:t>
            </a:r>
            <a:endParaRPr lang="en-US" sz="1500" dirty="0"/>
          </a:p>
        </p:txBody>
      </p:sp>
      <p:sp>
        <p:nvSpPr>
          <p:cNvPr id="9" name="role:body"/>
          <p:cNvSpPr txBox="1"/>
          <p:nvPr/>
        </p:nvSpPr>
        <p:spPr>
          <a:xfrm>
            <a:off x="713232" y="3604260"/>
            <a:ext cx="1604406" cy="568071"/>
          </a:xfrm>
          <a:prstGeom prst="rect">
            <a:avLst/>
          </a:prstGeom>
          <a:noFill/>
          <a:ln/>
        </p:spPr>
        <p:txBody>
          <a:bodyPr wrap="square" lIns="0" tIns="0" rIns="0" bIns="0" rtlCol="0" anchor="t"/>
          <a:lstStyle/>
          <a:p>
            <a:pPr algn="l" indent="0" marL="0">
              <a:lnSpc>
                <a:spcPct val="126000"/>
              </a:lnSpc>
              <a:buNone/>
            </a:pPr>
            <a:r>
              <a:rPr lang="en-US" sz="1050" dirty="0">
                <a:solidFill>
                  <a:srgbClr val="5A6772"/>
                </a:solidFill>
                <a:latin typeface="Arial" pitchFamily="34" charset="0"/>
                <a:ea typeface="Arial" pitchFamily="34" charset="-122"/>
                <a:cs typeface="Arial" pitchFamily="34" charset="-120"/>
              </a:rPr>
              <a:t>The prospect's homepage. Nothing else is needed to start.</a:t>
            </a:r>
            <a:endParaRPr lang="en-US" sz="1050" dirty="0"/>
          </a:p>
        </p:txBody>
      </p:sp>
      <p:sp>
        <p:nvSpPr>
          <p:cNvPr id="10" name="role:rule-v"/>
          <p:cNvSpPr/>
          <p:nvPr/>
        </p:nvSpPr>
        <p:spPr>
          <a:xfrm>
            <a:off x="2610246" y="2800350"/>
            <a:ext cx="0" cy="1600200"/>
          </a:xfrm>
          <a:prstGeom prst="line">
            <a:avLst/>
          </a:prstGeom>
          <a:noFill/>
          <a:ln w="9525">
            <a:solidFill>
              <a:srgbClr val="E2EAF1"/>
            </a:solidFill>
            <a:prstDash val="solid"/>
          </a:ln>
        </p:spPr>
      </p:sp>
      <p:sp>
        <p:nvSpPr>
          <p:cNvPr id="11" name="role:step-num"/>
          <p:cNvSpPr txBox="1"/>
          <p:nvPr/>
        </p:nvSpPr>
        <p:spPr>
          <a:xfrm>
            <a:off x="2866278" y="2800350"/>
            <a:ext cx="1604406" cy="292608"/>
          </a:xfrm>
          <a:prstGeom prst="rect">
            <a:avLst/>
          </a:prstGeom>
          <a:noFill/>
          <a:ln/>
        </p:spPr>
        <p:txBody>
          <a:bodyPr wrap="square" lIns="0" tIns="0" rIns="0" bIns="0" rtlCol="0" anchor="t"/>
          <a:lstStyle/>
          <a:p>
            <a:pPr algn="l" indent="0" marL="0">
              <a:buNone/>
            </a:pPr>
            <a:r>
              <a:rPr lang="en-US" sz="1500" b="1" spc="100" kern="0" dirty="0">
                <a:solidFill>
                  <a:srgbClr val="2A80C2"/>
                </a:solidFill>
                <a:latin typeface="Arial" pitchFamily="34" charset="0"/>
                <a:ea typeface="Arial" pitchFamily="34" charset="-122"/>
                <a:cs typeface="Arial" pitchFamily="34" charset="-120"/>
              </a:rPr>
              <a:t>02</a:t>
            </a:r>
            <a:endParaRPr lang="en-US" sz="1500" dirty="0"/>
          </a:p>
        </p:txBody>
      </p:sp>
      <p:sp>
        <p:nvSpPr>
          <p:cNvPr id="12" name="role:step-head"/>
          <p:cNvSpPr txBox="1"/>
          <p:nvPr/>
        </p:nvSpPr>
        <p:spPr>
          <a:xfrm>
            <a:off x="2866278" y="3220974"/>
            <a:ext cx="1604406" cy="483108"/>
          </a:xfrm>
          <a:prstGeom prst="rect">
            <a:avLst/>
          </a:prstGeom>
          <a:noFill/>
          <a:ln/>
        </p:spPr>
        <p:txBody>
          <a:bodyPr wrap="square" lIns="0" tIns="0" rIns="0" bIns="0" rtlCol="0" anchor="t"/>
          <a:lstStyle/>
          <a:p>
            <a:pPr algn="l" indent="0" marL="0">
              <a:lnSpc>
                <a:spcPct val="110000"/>
              </a:lnSpc>
              <a:buNone/>
            </a:pPr>
            <a:r>
              <a:rPr lang="en-US" sz="1500" b="1" dirty="0">
                <a:solidFill>
                  <a:srgbClr val="0F151B"/>
                </a:solidFill>
                <a:latin typeface="Arial" pitchFamily="34" charset="0"/>
                <a:ea typeface="Arial" pitchFamily="34" charset="-122"/>
                <a:cs typeface="Arial" pitchFamily="34" charset="-120"/>
              </a:rPr>
              <a:t>Readiness checks</a:t>
            </a:r>
            <a:endParaRPr lang="en-US" sz="1500" dirty="0"/>
          </a:p>
        </p:txBody>
      </p:sp>
      <p:sp>
        <p:nvSpPr>
          <p:cNvPr id="13" name="role:body"/>
          <p:cNvSpPr txBox="1"/>
          <p:nvPr/>
        </p:nvSpPr>
        <p:spPr>
          <a:xfrm>
            <a:off x="2866278" y="3813810"/>
            <a:ext cx="1604406" cy="904113"/>
          </a:xfrm>
          <a:prstGeom prst="rect">
            <a:avLst/>
          </a:prstGeom>
          <a:noFill/>
          <a:ln/>
        </p:spPr>
        <p:txBody>
          <a:bodyPr wrap="square" lIns="0" tIns="0" rIns="0" bIns="0" rtlCol="0" anchor="t"/>
          <a:lstStyle/>
          <a:p>
            <a:pPr algn="l" indent="0" marL="0">
              <a:lnSpc>
                <a:spcPct val="126000"/>
              </a:lnSpc>
              <a:buNone/>
            </a:pPr>
            <a:r>
              <a:rPr lang="en-US" sz="1050" dirty="0">
                <a:solidFill>
                  <a:srgbClr val="5A6772"/>
                </a:solidFill>
                <a:latin typeface="Arial" pitchFamily="34" charset="0"/>
                <a:ea typeface="Arial" pitchFamily="34" charset="-122"/>
                <a:cs typeface="Arial" pitchFamily="34" charset="-120"/>
              </a:rPr>
              <a:t>Can AI crawlers read it, is the business typed correctly, sitemap, canonical, FAQ, phone and address.</a:t>
            </a:r>
            <a:endParaRPr lang="en-US" sz="1050" dirty="0"/>
          </a:p>
        </p:txBody>
      </p:sp>
      <p:sp>
        <p:nvSpPr>
          <p:cNvPr id="14" name="role:rule-v"/>
          <p:cNvSpPr/>
          <p:nvPr/>
        </p:nvSpPr>
        <p:spPr>
          <a:xfrm>
            <a:off x="4763292" y="2800350"/>
            <a:ext cx="0" cy="1600200"/>
          </a:xfrm>
          <a:prstGeom prst="line">
            <a:avLst/>
          </a:prstGeom>
          <a:noFill/>
          <a:ln w="9525">
            <a:solidFill>
              <a:srgbClr val="E2EAF1"/>
            </a:solidFill>
            <a:prstDash val="solid"/>
          </a:ln>
        </p:spPr>
      </p:sp>
      <p:sp>
        <p:nvSpPr>
          <p:cNvPr id="15" name="role:step-num"/>
          <p:cNvSpPr txBox="1"/>
          <p:nvPr/>
        </p:nvSpPr>
        <p:spPr>
          <a:xfrm>
            <a:off x="5019324" y="2800350"/>
            <a:ext cx="1604406" cy="292608"/>
          </a:xfrm>
          <a:prstGeom prst="rect">
            <a:avLst/>
          </a:prstGeom>
          <a:noFill/>
          <a:ln/>
        </p:spPr>
        <p:txBody>
          <a:bodyPr wrap="square" lIns="0" tIns="0" rIns="0" bIns="0" rtlCol="0" anchor="t"/>
          <a:lstStyle/>
          <a:p>
            <a:pPr algn="l" indent="0" marL="0">
              <a:buNone/>
            </a:pPr>
            <a:r>
              <a:rPr lang="en-US" sz="1500" b="1" spc="100" kern="0" dirty="0">
                <a:solidFill>
                  <a:srgbClr val="2A80C2"/>
                </a:solidFill>
                <a:latin typeface="Arial" pitchFamily="34" charset="0"/>
                <a:ea typeface="Arial" pitchFamily="34" charset="-122"/>
                <a:cs typeface="Arial" pitchFamily="34" charset="-120"/>
              </a:rPr>
              <a:t>03</a:t>
            </a:r>
            <a:endParaRPr lang="en-US" sz="1500" dirty="0"/>
          </a:p>
        </p:txBody>
      </p:sp>
      <p:sp>
        <p:nvSpPr>
          <p:cNvPr id="16" name="role:step-head"/>
          <p:cNvSpPr txBox="1"/>
          <p:nvPr/>
        </p:nvSpPr>
        <p:spPr>
          <a:xfrm>
            <a:off x="5019324" y="3220974"/>
            <a:ext cx="1604406" cy="483108"/>
          </a:xfrm>
          <a:prstGeom prst="rect">
            <a:avLst/>
          </a:prstGeom>
          <a:noFill/>
          <a:ln/>
        </p:spPr>
        <p:txBody>
          <a:bodyPr wrap="square" lIns="0" tIns="0" rIns="0" bIns="0" rtlCol="0" anchor="t"/>
          <a:lstStyle/>
          <a:p>
            <a:pPr algn="l" indent="0" marL="0">
              <a:lnSpc>
                <a:spcPct val="110000"/>
              </a:lnSpc>
              <a:buNone/>
            </a:pPr>
            <a:r>
              <a:rPr lang="en-US" sz="1500" b="1" dirty="0">
                <a:solidFill>
                  <a:srgbClr val="0F151B"/>
                </a:solidFill>
                <a:latin typeface="Arial" pitchFamily="34" charset="0"/>
                <a:ea typeface="Arial" pitchFamily="34" charset="-122"/>
                <a:cs typeface="Arial" pitchFamily="34" charset="-120"/>
              </a:rPr>
              <a:t>Twenty questions</a:t>
            </a:r>
            <a:endParaRPr lang="en-US" sz="1500" dirty="0"/>
          </a:p>
        </p:txBody>
      </p:sp>
      <p:sp>
        <p:nvSpPr>
          <p:cNvPr id="17" name="role:body"/>
          <p:cNvSpPr txBox="1"/>
          <p:nvPr/>
        </p:nvSpPr>
        <p:spPr>
          <a:xfrm>
            <a:off x="5019324" y="3813810"/>
            <a:ext cx="1604406" cy="736092"/>
          </a:xfrm>
          <a:prstGeom prst="rect">
            <a:avLst/>
          </a:prstGeom>
          <a:noFill/>
          <a:ln/>
        </p:spPr>
        <p:txBody>
          <a:bodyPr wrap="square" lIns="0" tIns="0" rIns="0" bIns="0" rtlCol="0" anchor="t"/>
          <a:lstStyle/>
          <a:p>
            <a:pPr algn="l" indent="0" marL="0">
              <a:lnSpc>
                <a:spcPct val="126000"/>
              </a:lnSpc>
              <a:buNone/>
            </a:pPr>
            <a:r>
              <a:rPr lang="en-US" sz="1050" dirty="0">
                <a:solidFill>
                  <a:srgbClr val="5A6772"/>
                </a:solidFill>
                <a:latin typeface="Arial" pitchFamily="34" charset="0"/>
                <a:ea typeface="Arial" pitchFamily="34" charset="-122"/>
                <a:cs typeface="Arial" pitchFamily="34" charset="-120"/>
              </a:rPr>
              <a:t>Human-run on two named engines, recorded with date and citations. Never scraped.</a:t>
            </a:r>
            <a:endParaRPr lang="en-US" sz="1050" dirty="0"/>
          </a:p>
        </p:txBody>
      </p:sp>
      <p:sp>
        <p:nvSpPr>
          <p:cNvPr id="18" name="role:rule-v"/>
          <p:cNvSpPr/>
          <p:nvPr/>
        </p:nvSpPr>
        <p:spPr>
          <a:xfrm>
            <a:off x="6916339" y="2800350"/>
            <a:ext cx="0" cy="1600200"/>
          </a:xfrm>
          <a:prstGeom prst="line">
            <a:avLst/>
          </a:prstGeom>
          <a:noFill/>
          <a:ln w="9525">
            <a:solidFill>
              <a:srgbClr val="E2EAF1"/>
            </a:solidFill>
            <a:prstDash val="solid"/>
          </a:ln>
        </p:spPr>
      </p:sp>
      <p:sp>
        <p:nvSpPr>
          <p:cNvPr id="19" name="role:step-num"/>
          <p:cNvSpPr txBox="1"/>
          <p:nvPr/>
        </p:nvSpPr>
        <p:spPr>
          <a:xfrm>
            <a:off x="7172371" y="2800350"/>
            <a:ext cx="1604406" cy="292608"/>
          </a:xfrm>
          <a:prstGeom prst="rect">
            <a:avLst/>
          </a:prstGeom>
          <a:noFill/>
          <a:ln/>
        </p:spPr>
        <p:txBody>
          <a:bodyPr wrap="square" lIns="0" tIns="0" rIns="0" bIns="0" rtlCol="0" anchor="t"/>
          <a:lstStyle/>
          <a:p>
            <a:pPr algn="l" indent="0" marL="0">
              <a:buNone/>
            </a:pPr>
            <a:r>
              <a:rPr lang="en-US" sz="1500" b="1" spc="100" kern="0" dirty="0">
                <a:solidFill>
                  <a:srgbClr val="2A80C2"/>
                </a:solidFill>
                <a:latin typeface="Arial" pitchFamily="34" charset="0"/>
                <a:ea typeface="Arial" pitchFamily="34" charset="-122"/>
                <a:cs typeface="Arial" pitchFamily="34" charset="-120"/>
              </a:rPr>
              <a:t>04</a:t>
            </a:r>
            <a:endParaRPr lang="en-US" sz="1500" dirty="0"/>
          </a:p>
        </p:txBody>
      </p:sp>
      <p:sp>
        <p:nvSpPr>
          <p:cNvPr id="20" name="role:step-head"/>
          <p:cNvSpPr txBox="1"/>
          <p:nvPr/>
        </p:nvSpPr>
        <p:spPr>
          <a:xfrm>
            <a:off x="7172371" y="3220974"/>
            <a:ext cx="1604406" cy="273558"/>
          </a:xfrm>
          <a:prstGeom prst="rect">
            <a:avLst/>
          </a:prstGeom>
          <a:noFill/>
          <a:ln/>
        </p:spPr>
        <p:txBody>
          <a:bodyPr wrap="square" lIns="0" tIns="0" rIns="0" bIns="0" rtlCol="0" anchor="t"/>
          <a:lstStyle/>
          <a:p>
            <a:pPr algn="l" indent="0" marL="0">
              <a:lnSpc>
                <a:spcPct val="110000"/>
              </a:lnSpc>
              <a:buNone/>
            </a:pPr>
            <a:r>
              <a:rPr lang="en-US" sz="1500" b="1" dirty="0">
                <a:solidFill>
                  <a:srgbClr val="0F151B"/>
                </a:solidFill>
                <a:latin typeface="Arial" pitchFamily="34" charset="0"/>
                <a:ea typeface="Arial" pitchFamily="34" charset="-122"/>
                <a:cs typeface="Arial" pitchFamily="34" charset="-120"/>
              </a:rPr>
              <a:t>Branded report</a:t>
            </a:r>
            <a:endParaRPr lang="en-US" sz="1500" dirty="0"/>
          </a:p>
        </p:txBody>
      </p:sp>
      <p:sp>
        <p:nvSpPr>
          <p:cNvPr id="21" name="role:body"/>
          <p:cNvSpPr txBox="1"/>
          <p:nvPr/>
        </p:nvSpPr>
        <p:spPr>
          <a:xfrm>
            <a:off x="7172371" y="3604260"/>
            <a:ext cx="1604406" cy="736092"/>
          </a:xfrm>
          <a:prstGeom prst="rect">
            <a:avLst/>
          </a:prstGeom>
          <a:noFill/>
          <a:ln/>
        </p:spPr>
        <p:txBody>
          <a:bodyPr wrap="square" lIns="0" tIns="0" rIns="0" bIns="0" rtlCol="0" anchor="t"/>
          <a:lstStyle/>
          <a:p>
            <a:pPr algn="l" indent="0" marL="0">
              <a:lnSpc>
                <a:spcPct val="126000"/>
              </a:lnSpc>
              <a:buNone/>
            </a:pPr>
            <a:r>
              <a:rPr lang="en-US" sz="1050" dirty="0">
                <a:solidFill>
                  <a:srgbClr val="5A6772"/>
                </a:solidFill>
                <a:latin typeface="Arial" pitchFamily="34" charset="0"/>
                <a:ea typeface="Arial" pitchFamily="34" charset="-122"/>
                <a:cs typeface="Arial" pitchFamily="34" charset="-120"/>
              </a:rPr>
              <a:t>Three to five pages in the Momentum system. Fifteen minutes to produce.</a:t>
            </a:r>
            <a:endParaRPr lang="en-US" sz="1050" dirty="0"/>
          </a:p>
        </p:txBody>
      </p:sp>
      <p:sp>
        <p:nvSpPr>
          <p:cNvPr id="22" name="role:rule-v"/>
          <p:cNvSpPr/>
          <p:nvPr/>
        </p:nvSpPr>
        <p:spPr>
          <a:xfrm>
            <a:off x="9069385" y="2800350"/>
            <a:ext cx="0" cy="1600200"/>
          </a:xfrm>
          <a:prstGeom prst="line">
            <a:avLst/>
          </a:prstGeom>
          <a:noFill/>
          <a:ln w="9525">
            <a:solidFill>
              <a:srgbClr val="E2EAF1"/>
            </a:solidFill>
            <a:prstDash val="solid"/>
          </a:ln>
        </p:spPr>
      </p:sp>
      <p:sp>
        <p:nvSpPr>
          <p:cNvPr id="23" name="role:step-num"/>
          <p:cNvSpPr txBox="1"/>
          <p:nvPr/>
        </p:nvSpPr>
        <p:spPr>
          <a:xfrm>
            <a:off x="9325417" y="2800350"/>
            <a:ext cx="1604406" cy="292608"/>
          </a:xfrm>
          <a:prstGeom prst="rect">
            <a:avLst/>
          </a:prstGeom>
          <a:noFill/>
          <a:ln/>
        </p:spPr>
        <p:txBody>
          <a:bodyPr wrap="square" lIns="0" tIns="0" rIns="0" bIns="0" rtlCol="0" anchor="t"/>
          <a:lstStyle/>
          <a:p>
            <a:pPr algn="l" indent="0" marL="0">
              <a:buNone/>
            </a:pPr>
            <a:r>
              <a:rPr lang="en-US" sz="1500" b="1" spc="100" kern="0" dirty="0">
                <a:solidFill>
                  <a:srgbClr val="2A80C2"/>
                </a:solidFill>
                <a:latin typeface="Arial" pitchFamily="34" charset="0"/>
                <a:ea typeface="Arial" pitchFamily="34" charset="-122"/>
                <a:cs typeface="Arial" pitchFamily="34" charset="-120"/>
              </a:rPr>
              <a:t>05</a:t>
            </a:r>
            <a:endParaRPr lang="en-US" sz="1500" dirty="0"/>
          </a:p>
        </p:txBody>
      </p:sp>
      <p:sp>
        <p:nvSpPr>
          <p:cNvPr id="24" name="role:step-head"/>
          <p:cNvSpPr txBox="1"/>
          <p:nvPr/>
        </p:nvSpPr>
        <p:spPr>
          <a:xfrm>
            <a:off x="9325417" y="3220974"/>
            <a:ext cx="1604406" cy="273558"/>
          </a:xfrm>
          <a:prstGeom prst="rect">
            <a:avLst/>
          </a:prstGeom>
          <a:noFill/>
          <a:ln/>
        </p:spPr>
        <p:txBody>
          <a:bodyPr wrap="square" lIns="0" tIns="0" rIns="0" bIns="0" rtlCol="0" anchor="t"/>
          <a:lstStyle/>
          <a:p>
            <a:pPr algn="l" indent="0" marL="0">
              <a:lnSpc>
                <a:spcPct val="110000"/>
              </a:lnSpc>
              <a:buNone/>
            </a:pPr>
            <a:r>
              <a:rPr lang="en-US" sz="1500" b="1" dirty="0">
                <a:solidFill>
                  <a:srgbClr val="0F151B"/>
                </a:solidFill>
                <a:latin typeface="Arial" pitchFamily="34" charset="0"/>
                <a:ea typeface="Arial" pitchFamily="34" charset="-122"/>
                <a:cs typeface="Arial" pitchFamily="34" charset="-120"/>
              </a:rPr>
              <a:t>Next step</a:t>
            </a:r>
            <a:endParaRPr lang="en-US" sz="1500" dirty="0"/>
          </a:p>
        </p:txBody>
      </p:sp>
      <p:sp>
        <p:nvSpPr>
          <p:cNvPr id="25" name="role:body"/>
          <p:cNvSpPr txBox="1"/>
          <p:nvPr/>
        </p:nvSpPr>
        <p:spPr>
          <a:xfrm>
            <a:off x="9325417" y="3604260"/>
            <a:ext cx="1604406" cy="568071"/>
          </a:xfrm>
          <a:prstGeom prst="rect">
            <a:avLst/>
          </a:prstGeom>
          <a:noFill/>
          <a:ln/>
        </p:spPr>
        <p:txBody>
          <a:bodyPr wrap="square" lIns="0" tIns="0" rIns="0" bIns="0" rtlCol="0" anchor="t"/>
          <a:lstStyle/>
          <a:p>
            <a:pPr algn="l" indent="0" marL="0">
              <a:lnSpc>
                <a:spcPct val="126000"/>
              </a:lnSpc>
              <a:buNone/>
            </a:pPr>
            <a:r>
              <a:rPr lang="en-US" sz="1050" dirty="0">
                <a:solidFill>
                  <a:srgbClr val="5A6772"/>
                </a:solidFill>
                <a:latin typeface="Arial" pitchFamily="34" charset="0"/>
                <a:ea typeface="Arial" pitchFamily="34" charset="-122"/>
                <a:cs typeface="Arial" pitchFamily="34" charset="-120"/>
              </a:rPr>
              <a:t>Routes to the free audit page. Deeper diagnosis is paid.</a:t>
            </a:r>
            <a:endParaRPr lang="en-US" sz="1050" dirty="0"/>
          </a:p>
        </p:txBody>
      </p:sp>
      <p:sp>
        <p:nvSpPr>
          <p:cNvPr id="26" name="role:rule-h"/>
          <p:cNvSpPr/>
          <p:nvPr/>
        </p:nvSpPr>
        <p:spPr>
          <a:xfrm>
            <a:off x="713232" y="4892040"/>
            <a:ext cx="10765231" cy="0"/>
          </a:xfrm>
          <a:prstGeom prst="line">
            <a:avLst/>
          </a:prstGeom>
          <a:noFill/>
          <a:ln w="9525">
            <a:solidFill>
              <a:srgbClr val="E2EAF1"/>
            </a:solidFill>
            <a:prstDash val="solid"/>
          </a:ln>
        </p:spPr>
      </p:sp>
      <p:sp>
        <p:nvSpPr>
          <p:cNvPr id="27" name="role:kicker"/>
          <p:cNvSpPr txBox="1"/>
          <p:nvPr/>
        </p:nvSpPr>
        <p:spPr>
          <a:xfrm>
            <a:off x="713232" y="5029200"/>
            <a:ext cx="6949440" cy="201168"/>
          </a:xfrm>
          <a:prstGeom prst="rect">
            <a:avLst/>
          </a:prstGeom>
          <a:noFill/>
          <a:ln/>
        </p:spPr>
        <p:txBody>
          <a:bodyPr wrap="square" lIns="0" tIns="0" rIns="0" bIns="0" rtlCol="0" anchor="t"/>
          <a:lstStyle/>
          <a:p>
            <a:pPr algn="l" indent="0" marL="0">
              <a:buNone/>
            </a:pPr>
            <a:r>
              <a:rPr lang="en-US" sz="1050" b="1" spc="240" kern="0" dirty="0">
                <a:solidFill>
                  <a:srgbClr val="2A80C2"/>
                </a:solidFill>
                <a:latin typeface="Arial" pitchFamily="34" charset="0"/>
                <a:ea typeface="Arial" pitchFamily="34" charset="-122"/>
                <a:cs typeface="Arial" pitchFamily="34" charset="-120"/>
              </a:rPr>
              <a:t>WHY THIS AND NOT COLD EMAIL</a:t>
            </a:r>
            <a:endParaRPr lang="en-US" sz="1050" dirty="0"/>
          </a:p>
        </p:txBody>
      </p:sp>
      <p:sp>
        <p:nvSpPr>
          <p:cNvPr id="28" name="role:body"/>
          <p:cNvSpPr txBox="1"/>
          <p:nvPr/>
        </p:nvSpPr>
        <p:spPr>
          <a:xfrm>
            <a:off x="713232" y="5358384"/>
            <a:ext cx="6949440" cy="868680"/>
          </a:xfrm>
          <a:prstGeom prst="rect">
            <a:avLst/>
          </a:prstGeom>
          <a:noFill/>
          <a:ln/>
        </p:spPr>
        <p:txBody>
          <a:bodyPr wrap="square" lIns="0" tIns="0" rIns="0" bIns="0" rtlCol="0" anchor="t"/>
          <a:lstStyle/>
          <a:p>
            <a:pPr algn="l" indent="0" marL="0">
              <a:lnSpc>
                <a:spcPct val="132000"/>
              </a:lnSpc>
              <a:buNone/>
            </a:pPr>
            <a:r>
              <a:rPr lang="en-US" sz="1200" dirty="0">
                <a:solidFill>
                  <a:srgbClr val="5A6772"/>
                </a:solidFill>
                <a:latin typeface="Arial" pitchFamily="34" charset="0"/>
                <a:ea typeface="Arial" pitchFamily="34" charset="-122"/>
                <a:cs typeface="Arial" pitchFamily="34" charset="-120"/>
              </a:rPr>
              <a:t>Mac proposed exactly this on August 12. The two hand-built 16-page audits sent August 23 both reached the quote stage. The 241 cold emails sent September 2 to 3 got zero verified human replies. The audit is the opener that works; the Snapshot makes it repeatable and lets Jesse run it.</a:t>
            </a:r>
            <a:endParaRPr lang="en-US" sz="1200" dirty="0"/>
          </a:p>
        </p:txBody>
      </p:sp>
      <p:sp>
        <p:nvSpPr>
          <p:cNvPr id="29" name="role:kicker"/>
          <p:cNvSpPr txBox="1"/>
          <p:nvPr/>
        </p:nvSpPr>
        <p:spPr>
          <a:xfrm>
            <a:off x="7863840" y="5029200"/>
            <a:ext cx="3749040" cy="201168"/>
          </a:xfrm>
          <a:prstGeom prst="rect">
            <a:avLst/>
          </a:prstGeom>
          <a:noFill/>
          <a:ln/>
        </p:spPr>
        <p:txBody>
          <a:bodyPr wrap="square" lIns="0" tIns="0" rIns="0" bIns="0" rtlCol="0" anchor="t"/>
          <a:lstStyle/>
          <a:p>
            <a:pPr algn="l" indent="0" marL="0">
              <a:buNone/>
            </a:pPr>
            <a:r>
              <a:rPr lang="en-US" sz="1050" b="1" spc="240" kern="0" dirty="0">
                <a:solidFill>
                  <a:srgbClr val="2A80C2"/>
                </a:solidFill>
                <a:latin typeface="Arial" pitchFamily="34" charset="0"/>
                <a:ea typeface="Arial" pitchFamily="34" charset="-122"/>
                <a:cs typeface="Arial" pitchFamily="34" charset="-120"/>
              </a:rPr>
              <a:t>NEVER</a:t>
            </a:r>
            <a:endParaRPr lang="en-US" sz="1050" dirty="0"/>
          </a:p>
        </p:txBody>
      </p:sp>
      <p:sp>
        <p:nvSpPr>
          <p:cNvPr id="30" name="role:body"/>
          <p:cNvSpPr txBox="1"/>
          <p:nvPr/>
        </p:nvSpPr>
        <p:spPr>
          <a:xfrm>
            <a:off x="7863840" y="5358384"/>
            <a:ext cx="3749040" cy="460248"/>
          </a:xfrm>
          <a:prstGeom prst="rect">
            <a:avLst/>
          </a:prstGeom>
          <a:noFill/>
          <a:ln/>
        </p:spPr>
        <p:txBody>
          <a:bodyPr wrap="square" lIns="0" tIns="0" rIns="0" bIns="0" rtlCol="0" anchor="t"/>
          <a:lstStyle/>
          <a:p>
            <a:pPr algn="l" indent="0" marL="0">
              <a:lnSpc>
                <a:spcPct val="130000"/>
              </a:lnSpc>
              <a:buNone/>
            </a:pPr>
            <a:r>
              <a:rPr lang="en-US" sz="1200" b="1" dirty="0">
                <a:solidFill>
                  <a:srgbClr val="0F151B"/>
                </a:solidFill>
                <a:latin typeface="Arial" pitchFamily="34" charset="0"/>
                <a:ea typeface="Arial" pitchFamily="34" charset="-122"/>
                <a:cs typeface="Arial" pitchFamily="34" charset="-120"/>
              </a:rPr>
              <a:t>Guaranteed citations, guaranteed rankings, invented scores, scraped engine output.</a:t>
            </a:r>
            <a:endParaRPr lang="en-US" sz="1200" dirty="0"/>
          </a:p>
        </p:txBody>
      </p:sp>
      <p:sp>
        <p:nvSpPr>
          <p:cNvPr id="31" name="role:foot"/>
          <p:cNvSpPr txBox="1"/>
          <p:nvPr/>
        </p:nvSpPr>
        <p:spPr>
          <a:xfrm>
            <a:off x="713232" y="6400800"/>
            <a:ext cx="9942271" cy="237744"/>
          </a:xfrm>
          <a:prstGeom prst="rect">
            <a:avLst/>
          </a:prstGeom>
          <a:noFill/>
          <a:ln/>
        </p:spPr>
        <p:txBody>
          <a:bodyPr wrap="square" lIns="0" tIns="0" rIns="0" bIns="0" rtlCol="0" anchor="t"/>
          <a:lstStyle/>
          <a:p>
            <a:pPr algn="l" indent="0" marL="0">
              <a:buNone/>
            </a:pPr>
            <a:r>
              <a:rPr lang="en-US" sz="950" i="1" dirty="0">
                <a:solidFill>
                  <a:srgbClr val="8A97A2"/>
                </a:solidFill>
                <a:latin typeface="Arial" pitchFamily="34" charset="0"/>
                <a:ea typeface="Arial" pitchFamily="34" charset="-122"/>
                <a:cs typeface="Arial" pitchFamily="34" charset="-120"/>
              </a:rPr>
              <a:t>Mac proposed this on August 12. Generator v1 exists and ran on needmomentum.com on September 5: its top finding is that the agency's own robots.txt names no AI crawler.</a:t>
            </a:r>
            <a:endParaRPr lang="en-US" sz="9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320" decel="700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322" decel="70000"/>
                                        <p:tgtEl>
                                          <p:spTgt spid="3"/>
                                        </p:tgtEl>
                                      </p:cBhvr>
                                    </p:animEffect>
                                    <p:anim calcmode="lin" valueType="num">
                                      <p:cBhvr additive="base">
                                        <p:cTn id="11" dur="322" decel="70000" fill="hold"/>
                                        <p:tgtEl>
                                          <p:spTgt spid="3"/>
                                        </p:tgtEl>
                                        <p:attrNameLst>
                                          <p:attrName>ppt_y</p:attrName>
                                        </p:attrNameLst>
                                      </p:cBhvr>
                                      <p:tavLst>
                                        <p:tav tm="0">
                                          <p:val>
                                            <p:strVal val="#ppt_y+0.032"/>
                                          </p:val>
                                        </p:tav>
                                        <p:tav tm="100000">
                                          <p:val>
                                            <p:strVal val="#ppt_y"/>
                                          </p:val>
                                        </p:tav>
                                      </p:tavLst>
                                    </p:anim>
                                  </p:childTnLst>
                                </p:cTn>
                              </p:par>
                              <p:par>
                                <p:cTn id="12" presetID="10" presetClass="entr" presetSubtype="0" fill="hold" grpId="0" nodeType="withEffect">
                                  <p:stCondLst>
                                    <p:cond delay="55"/>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482" decel="70000"/>
                                        <p:tgtEl>
                                          <p:spTgt spid="4"/>
                                        </p:tgtEl>
                                      </p:cBhvr>
                                    </p:animEffect>
                                    <p:anim calcmode="lin" valueType="num">
                                      <p:cBhvr additive="base">
                                        <p:cTn id="15" dur="482" decel="70000" fill="hold"/>
                                        <p:tgtEl>
                                          <p:spTgt spid="4"/>
                                        </p:tgtEl>
                                        <p:attrNameLst>
                                          <p:attrName>ppt_y</p:attrName>
                                        </p:attrNameLst>
                                      </p:cBhvr>
                                      <p:tavLst>
                                        <p:tav tm="0">
                                          <p:val>
                                            <p:strVal val="#ppt_y+0.0512"/>
                                          </p:val>
                                        </p:tav>
                                        <p:tav tm="100000">
                                          <p:val>
                                            <p:strVal val="#ppt_y"/>
                                          </p:val>
                                        </p:tav>
                                      </p:tavLst>
                                    </p:anim>
                                  </p:childTnLst>
                                </p:cTn>
                              </p:par>
                              <p:par>
                                <p:cTn id="16" presetID="10" presetClass="entr" presetSubtype="0" fill="hold" grpId="0" nodeType="withEffect">
                                  <p:stCondLst>
                                    <p:cond delay="11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390" decel="70000"/>
                                        <p:tgtEl>
                                          <p:spTgt spid="5"/>
                                        </p:tgtEl>
                                      </p:cBhvr>
                                    </p:animEffect>
                                    <p:anim calcmode="lin" valueType="num">
                                      <p:cBhvr additive="base">
                                        <p:cTn id="19" dur="390" decel="70000" fill="hold"/>
                                        <p:tgtEl>
                                          <p:spTgt spid="5"/>
                                        </p:tgtEl>
                                        <p:attrNameLst>
                                          <p:attrName>ppt_y</p:attrName>
                                        </p:attrNameLst>
                                      </p:cBhvr>
                                      <p:tavLst>
                                        <p:tav tm="0">
                                          <p:val>
                                            <p:strVal val="#ppt_y+0.0384"/>
                                          </p:val>
                                        </p:tav>
                                        <p:tav tm="100000">
                                          <p:val>
                                            <p:strVal val="#ppt_y"/>
                                          </p:val>
                                        </p:tav>
                                      </p:tavLst>
                                    </p:anim>
                                  </p:childTnLst>
                                </p:cTn>
                              </p:par>
                              <p:par>
                                <p:cTn id="20" presetID="23" presetClass="entr" presetSubtype="0" fill="hold" grpId="0" nodeType="withEffect">
                                  <p:stCondLst>
                                    <p:cond delay="165"/>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368" decel="70000"/>
                                        <p:tgtEl>
                                          <p:spTgt spid="7"/>
                                        </p:tgtEl>
                                      </p:cBhvr>
                                    </p:animEffect>
                                    <p:animScale>
                                      <p:cBhvr>
                                        <p:cTn id="23" dur="368" decel="70000" fill="hold"/>
                                        <p:tgtEl>
                                          <p:spTgt spid="7"/>
                                        </p:tgtEl>
                                      </p:cBhvr>
                                      <p:from x="82000" y="82000"/>
                                      <p:to x="100000" y="100000"/>
                                    </p:animScale>
                                  </p:childTnLst>
                                </p:cTn>
                              </p:par>
                              <p:par>
                                <p:cTn id="24" presetID="22" presetClass="entr" presetSubtype="1" fill="hold" grpId="0" nodeType="withEffect">
                                  <p:stCondLst>
                                    <p:cond delay="220"/>
                                  </p:stCondLst>
                                  <p:childTnLst>
                                    <p:set>
                                      <p:cBhvr>
                                        <p:cTn id="25" dur="1" fill="hold">
                                          <p:stCondLst>
                                            <p:cond delay="0"/>
                                          </p:stCondLst>
                                        </p:cTn>
                                        <p:tgtEl>
                                          <p:spTgt spid="10"/>
                                        </p:tgtEl>
                                        <p:attrNameLst>
                                          <p:attrName>style.visibility</p:attrName>
                                        </p:attrNameLst>
                                      </p:cBhvr>
                                      <p:to>
                                        <p:strVal val="visible"/>
                                      </p:to>
                                    </p:set>
                                    <p:animEffect transition="in" filter="wipe(down)">
                                      <p:cBhvr>
                                        <p:cTn id="26" dur="390"/>
                                        <p:tgtEl>
                                          <p:spTgt spid="10"/>
                                        </p:tgtEl>
                                      </p:cBhvr>
                                    </p:animEffect>
                                  </p:childTnLst>
                                </p:cTn>
                              </p:par>
                              <p:par>
                                <p:cTn id="27" presetID="23" presetClass="entr" presetSubtype="0" fill="hold" grpId="0" nodeType="withEffect">
                                  <p:stCondLst>
                                    <p:cond delay="275"/>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368" decel="70000"/>
                                        <p:tgtEl>
                                          <p:spTgt spid="11"/>
                                        </p:tgtEl>
                                      </p:cBhvr>
                                    </p:animEffect>
                                    <p:animScale>
                                      <p:cBhvr>
                                        <p:cTn id="30" dur="368" decel="70000" fill="hold"/>
                                        <p:tgtEl>
                                          <p:spTgt spid="11"/>
                                        </p:tgtEl>
                                      </p:cBhvr>
                                      <p:from x="82000" y="82000"/>
                                      <p:to x="100000" y="100000"/>
                                    </p:animScale>
                                  </p:childTnLst>
                                </p:cTn>
                              </p:par>
                              <p:par>
                                <p:cTn id="31" presetID="22" presetClass="entr" presetSubtype="1" fill="hold" grpId="0" nodeType="withEffect">
                                  <p:stCondLst>
                                    <p:cond delay="330"/>
                                  </p:stCondLst>
                                  <p:childTnLst>
                                    <p:set>
                                      <p:cBhvr>
                                        <p:cTn id="32" dur="1" fill="hold">
                                          <p:stCondLst>
                                            <p:cond delay="0"/>
                                          </p:stCondLst>
                                        </p:cTn>
                                        <p:tgtEl>
                                          <p:spTgt spid="14"/>
                                        </p:tgtEl>
                                        <p:attrNameLst>
                                          <p:attrName>style.visibility</p:attrName>
                                        </p:attrNameLst>
                                      </p:cBhvr>
                                      <p:to>
                                        <p:strVal val="visible"/>
                                      </p:to>
                                    </p:set>
                                    <p:animEffect transition="in" filter="wipe(down)">
                                      <p:cBhvr>
                                        <p:cTn id="33" dur="390"/>
                                        <p:tgtEl>
                                          <p:spTgt spid="14"/>
                                        </p:tgtEl>
                                      </p:cBhvr>
                                    </p:animEffect>
                                  </p:childTnLst>
                                </p:cTn>
                              </p:par>
                              <p:par>
                                <p:cTn id="34" presetID="23" presetClass="entr" presetSubtype="0" fill="hold" grpId="0" nodeType="withEffect">
                                  <p:stCondLst>
                                    <p:cond delay="385"/>
                                  </p:stCondLst>
                                  <p:childTnLst>
                                    <p:set>
                                      <p:cBhvr>
                                        <p:cTn id="35" dur="1" fill="hold">
                                          <p:stCondLst>
                                            <p:cond delay="0"/>
                                          </p:stCondLst>
                                        </p:cTn>
                                        <p:tgtEl>
                                          <p:spTgt spid="15"/>
                                        </p:tgtEl>
                                        <p:attrNameLst>
                                          <p:attrName>style.visibility</p:attrName>
                                        </p:attrNameLst>
                                      </p:cBhvr>
                                      <p:to>
                                        <p:strVal val="visible"/>
                                      </p:to>
                                    </p:set>
                                    <p:animEffect transition="in" filter="fade">
                                      <p:cBhvr>
                                        <p:cTn id="36" dur="368" decel="70000"/>
                                        <p:tgtEl>
                                          <p:spTgt spid="15"/>
                                        </p:tgtEl>
                                      </p:cBhvr>
                                    </p:animEffect>
                                    <p:animScale>
                                      <p:cBhvr>
                                        <p:cTn id="37" dur="368" decel="70000" fill="hold"/>
                                        <p:tgtEl>
                                          <p:spTgt spid="15"/>
                                        </p:tgtEl>
                                      </p:cBhvr>
                                      <p:from x="82000" y="82000"/>
                                      <p:to x="100000" y="100000"/>
                                    </p:animScale>
                                  </p:childTnLst>
                                </p:cTn>
                              </p:par>
                              <p:par>
                                <p:cTn id="38" presetID="22" presetClass="entr" presetSubtype="1" fill="hold" grpId="0" nodeType="withEffect">
                                  <p:stCondLst>
                                    <p:cond delay="440"/>
                                  </p:stCondLst>
                                  <p:childTnLst>
                                    <p:set>
                                      <p:cBhvr>
                                        <p:cTn id="39" dur="1" fill="hold">
                                          <p:stCondLst>
                                            <p:cond delay="0"/>
                                          </p:stCondLst>
                                        </p:cTn>
                                        <p:tgtEl>
                                          <p:spTgt spid="18"/>
                                        </p:tgtEl>
                                        <p:attrNameLst>
                                          <p:attrName>style.visibility</p:attrName>
                                        </p:attrNameLst>
                                      </p:cBhvr>
                                      <p:to>
                                        <p:strVal val="visible"/>
                                      </p:to>
                                    </p:set>
                                    <p:animEffect transition="in" filter="wipe(down)">
                                      <p:cBhvr>
                                        <p:cTn id="40" dur="390"/>
                                        <p:tgtEl>
                                          <p:spTgt spid="18"/>
                                        </p:tgtEl>
                                      </p:cBhvr>
                                    </p:animEffect>
                                  </p:childTnLst>
                                </p:cTn>
                              </p:par>
                              <p:par>
                                <p:cTn id="41" presetID="23" presetClass="entr" presetSubtype="0" fill="hold" grpId="0" nodeType="withEffect">
                                  <p:stCondLst>
                                    <p:cond delay="495"/>
                                  </p:stCondLst>
                                  <p:childTnLst>
                                    <p:set>
                                      <p:cBhvr>
                                        <p:cTn id="42" dur="1" fill="hold">
                                          <p:stCondLst>
                                            <p:cond delay="0"/>
                                          </p:stCondLst>
                                        </p:cTn>
                                        <p:tgtEl>
                                          <p:spTgt spid="19"/>
                                        </p:tgtEl>
                                        <p:attrNameLst>
                                          <p:attrName>style.visibility</p:attrName>
                                        </p:attrNameLst>
                                      </p:cBhvr>
                                      <p:to>
                                        <p:strVal val="visible"/>
                                      </p:to>
                                    </p:set>
                                    <p:animEffect transition="in" filter="fade">
                                      <p:cBhvr>
                                        <p:cTn id="43" dur="368" decel="70000"/>
                                        <p:tgtEl>
                                          <p:spTgt spid="19"/>
                                        </p:tgtEl>
                                      </p:cBhvr>
                                    </p:animEffect>
                                    <p:animScale>
                                      <p:cBhvr>
                                        <p:cTn id="44" dur="368" decel="70000" fill="hold"/>
                                        <p:tgtEl>
                                          <p:spTgt spid="19"/>
                                        </p:tgtEl>
                                      </p:cBhvr>
                                      <p:from x="82000" y="82000"/>
                                      <p:to x="100000" y="100000"/>
                                    </p:animScale>
                                  </p:childTnLst>
                                </p:cTn>
                              </p:par>
                              <p:par>
                                <p:cTn id="45" presetID="22" presetClass="entr" presetSubtype="1" fill="hold" grpId="0" nodeType="withEffect">
                                  <p:stCondLst>
                                    <p:cond delay="550"/>
                                  </p:stCondLst>
                                  <p:childTnLst>
                                    <p:set>
                                      <p:cBhvr>
                                        <p:cTn id="46" dur="1" fill="hold">
                                          <p:stCondLst>
                                            <p:cond delay="0"/>
                                          </p:stCondLst>
                                        </p:cTn>
                                        <p:tgtEl>
                                          <p:spTgt spid="22"/>
                                        </p:tgtEl>
                                        <p:attrNameLst>
                                          <p:attrName>style.visibility</p:attrName>
                                        </p:attrNameLst>
                                      </p:cBhvr>
                                      <p:to>
                                        <p:strVal val="visible"/>
                                      </p:to>
                                    </p:set>
                                    <p:animEffect transition="in" filter="wipe(down)">
                                      <p:cBhvr>
                                        <p:cTn id="47" dur="390"/>
                                        <p:tgtEl>
                                          <p:spTgt spid="22"/>
                                        </p:tgtEl>
                                      </p:cBhvr>
                                    </p:animEffect>
                                  </p:childTnLst>
                                </p:cTn>
                              </p:par>
                              <p:par>
                                <p:cTn id="48" presetID="23" presetClass="entr" presetSubtype="0" fill="hold" grpId="0" nodeType="withEffect">
                                  <p:stCondLst>
                                    <p:cond delay="605"/>
                                  </p:stCondLst>
                                  <p:childTnLst>
                                    <p:set>
                                      <p:cBhvr>
                                        <p:cTn id="49" dur="1" fill="hold">
                                          <p:stCondLst>
                                            <p:cond delay="0"/>
                                          </p:stCondLst>
                                        </p:cTn>
                                        <p:tgtEl>
                                          <p:spTgt spid="23"/>
                                        </p:tgtEl>
                                        <p:attrNameLst>
                                          <p:attrName>style.visibility</p:attrName>
                                        </p:attrNameLst>
                                      </p:cBhvr>
                                      <p:to>
                                        <p:strVal val="visible"/>
                                      </p:to>
                                    </p:set>
                                    <p:animEffect transition="in" filter="fade">
                                      <p:cBhvr>
                                        <p:cTn id="50" dur="368" decel="70000"/>
                                        <p:tgtEl>
                                          <p:spTgt spid="23"/>
                                        </p:tgtEl>
                                      </p:cBhvr>
                                    </p:animEffect>
                                    <p:animScale>
                                      <p:cBhvr>
                                        <p:cTn id="51" dur="368" decel="70000" fill="hold"/>
                                        <p:tgtEl>
                                          <p:spTgt spid="23"/>
                                        </p:tgtEl>
                                      </p:cBhvr>
                                      <p:from x="82000" y="82000"/>
                                      <p:to x="100000" y="100000"/>
                                    </p:animScale>
                                  </p:childTnLst>
                                </p:cTn>
                              </p:par>
                              <p:par>
                                <p:cTn id="52" presetID="10" presetClass="entr" presetSubtype="0" fill="hold" grpId="0" nodeType="withEffect">
                                  <p:stCondLst>
                                    <p:cond delay="660"/>
                                  </p:stCondLst>
                                  <p:childTnLst>
                                    <p:set>
                                      <p:cBhvr>
                                        <p:cTn id="53" dur="1" fill="hold">
                                          <p:stCondLst>
                                            <p:cond delay="0"/>
                                          </p:stCondLst>
                                        </p:cTn>
                                        <p:tgtEl>
                                          <p:spTgt spid="8"/>
                                        </p:tgtEl>
                                        <p:attrNameLst>
                                          <p:attrName>style.visibility</p:attrName>
                                        </p:attrNameLst>
                                      </p:cBhvr>
                                      <p:to>
                                        <p:strVal val="visible"/>
                                      </p:to>
                                    </p:set>
                                    <p:animEffect transition="in" filter="fade">
                                      <p:cBhvr>
                                        <p:cTn id="54" dur="322" decel="70000"/>
                                        <p:tgtEl>
                                          <p:spTgt spid="8"/>
                                        </p:tgtEl>
                                      </p:cBhvr>
                                    </p:animEffect>
                                    <p:anim calcmode="lin" valueType="num">
                                      <p:cBhvr additive="base">
                                        <p:cTn id="55" dur="322" decel="70000" fill="hold"/>
                                        <p:tgtEl>
                                          <p:spTgt spid="8"/>
                                        </p:tgtEl>
                                        <p:attrNameLst>
                                          <p:attrName>ppt_y</p:attrName>
                                        </p:attrNameLst>
                                      </p:cBhvr>
                                      <p:tavLst>
                                        <p:tav tm="0">
                                          <p:val>
                                            <p:strVal val="#ppt_y+0.0288"/>
                                          </p:val>
                                        </p:tav>
                                        <p:tav tm="100000">
                                          <p:val>
                                            <p:strVal val="#ppt_y"/>
                                          </p:val>
                                        </p:tav>
                                      </p:tavLst>
                                    </p:anim>
                                  </p:childTnLst>
                                </p:cTn>
                              </p:par>
                              <p:par>
                                <p:cTn id="56" presetID="10" presetClass="entr" presetSubtype="0" fill="hold" grpId="0" nodeType="withEffect">
                                  <p:stCondLst>
                                    <p:cond delay="715"/>
                                  </p:stCondLst>
                                  <p:childTnLst>
                                    <p:set>
                                      <p:cBhvr>
                                        <p:cTn id="57" dur="1" fill="hold">
                                          <p:stCondLst>
                                            <p:cond delay="0"/>
                                          </p:stCondLst>
                                        </p:cTn>
                                        <p:tgtEl>
                                          <p:spTgt spid="12"/>
                                        </p:tgtEl>
                                        <p:attrNameLst>
                                          <p:attrName>style.visibility</p:attrName>
                                        </p:attrNameLst>
                                      </p:cBhvr>
                                      <p:to>
                                        <p:strVal val="visible"/>
                                      </p:to>
                                    </p:set>
                                    <p:animEffect transition="in" filter="fade">
                                      <p:cBhvr>
                                        <p:cTn id="58" dur="322" decel="70000"/>
                                        <p:tgtEl>
                                          <p:spTgt spid="12"/>
                                        </p:tgtEl>
                                      </p:cBhvr>
                                    </p:animEffect>
                                    <p:anim calcmode="lin" valueType="num">
                                      <p:cBhvr additive="base">
                                        <p:cTn id="59" dur="322" decel="70000" fill="hold"/>
                                        <p:tgtEl>
                                          <p:spTgt spid="12"/>
                                        </p:tgtEl>
                                        <p:attrNameLst>
                                          <p:attrName>ppt_y</p:attrName>
                                        </p:attrNameLst>
                                      </p:cBhvr>
                                      <p:tavLst>
                                        <p:tav tm="0">
                                          <p:val>
                                            <p:strVal val="#ppt_y+0.0288"/>
                                          </p:val>
                                        </p:tav>
                                        <p:tav tm="100000">
                                          <p:val>
                                            <p:strVal val="#ppt_y"/>
                                          </p:val>
                                        </p:tav>
                                      </p:tavLst>
                                    </p:anim>
                                  </p:childTnLst>
                                </p:cTn>
                              </p:par>
                              <p:par>
                                <p:cTn id="60" presetID="10" presetClass="entr" presetSubtype="0" fill="hold" grpId="0" nodeType="withEffect">
                                  <p:stCondLst>
                                    <p:cond delay="770"/>
                                  </p:stCondLst>
                                  <p:childTnLst>
                                    <p:set>
                                      <p:cBhvr>
                                        <p:cTn id="61" dur="1" fill="hold">
                                          <p:stCondLst>
                                            <p:cond delay="0"/>
                                          </p:stCondLst>
                                        </p:cTn>
                                        <p:tgtEl>
                                          <p:spTgt spid="16"/>
                                        </p:tgtEl>
                                        <p:attrNameLst>
                                          <p:attrName>style.visibility</p:attrName>
                                        </p:attrNameLst>
                                      </p:cBhvr>
                                      <p:to>
                                        <p:strVal val="visible"/>
                                      </p:to>
                                    </p:set>
                                    <p:animEffect transition="in" filter="fade">
                                      <p:cBhvr>
                                        <p:cTn id="62" dur="322" decel="70000"/>
                                        <p:tgtEl>
                                          <p:spTgt spid="16"/>
                                        </p:tgtEl>
                                      </p:cBhvr>
                                    </p:animEffect>
                                    <p:anim calcmode="lin" valueType="num">
                                      <p:cBhvr additive="base">
                                        <p:cTn id="63" dur="322" decel="70000" fill="hold"/>
                                        <p:tgtEl>
                                          <p:spTgt spid="16"/>
                                        </p:tgtEl>
                                        <p:attrNameLst>
                                          <p:attrName>ppt_y</p:attrName>
                                        </p:attrNameLst>
                                      </p:cBhvr>
                                      <p:tavLst>
                                        <p:tav tm="0">
                                          <p:val>
                                            <p:strVal val="#ppt_y+0.0288"/>
                                          </p:val>
                                        </p:tav>
                                        <p:tav tm="100000">
                                          <p:val>
                                            <p:strVal val="#ppt_y"/>
                                          </p:val>
                                        </p:tav>
                                      </p:tavLst>
                                    </p:anim>
                                  </p:childTnLst>
                                </p:cTn>
                              </p:par>
                              <p:par>
                                <p:cTn id="64" presetID="10" presetClass="entr" presetSubtype="0" fill="hold" grpId="0" nodeType="withEffect">
                                  <p:stCondLst>
                                    <p:cond delay="825"/>
                                  </p:stCondLst>
                                  <p:childTnLst>
                                    <p:set>
                                      <p:cBhvr>
                                        <p:cTn id="65" dur="1" fill="hold">
                                          <p:stCondLst>
                                            <p:cond delay="0"/>
                                          </p:stCondLst>
                                        </p:cTn>
                                        <p:tgtEl>
                                          <p:spTgt spid="20"/>
                                        </p:tgtEl>
                                        <p:attrNameLst>
                                          <p:attrName>style.visibility</p:attrName>
                                        </p:attrNameLst>
                                      </p:cBhvr>
                                      <p:to>
                                        <p:strVal val="visible"/>
                                      </p:to>
                                    </p:set>
                                    <p:animEffect transition="in" filter="fade">
                                      <p:cBhvr>
                                        <p:cTn id="66" dur="322" decel="70000"/>
                                        <p:tgtEl>
                                          <p:spTgt spid="20"/>
                                        </p:tgtEl>
                                      </p:cBhvr>
                                    </p:animEffect>
                                    <p:anim calcmode="lin" valueType="num">
                                      <p:cBhvr additive="base">
                                        <p:cTn id="67" dur="322" decel="70000" fill="hold"/>
                                        <p:tgtEl>
                                          <p:spTgt spid="20"/>
                                        </p:tgtEl>
                                        <p:attrNameLst>
                                          <p:attrName>ppt_y</p:attrName>
                                        </p:attrNameLst>
                                      </p:cBhvr>
                                      <p:tavLst>
                                        <p:tav tm="0">
                                          <p:val>
                                            <p:strVal val="#ppt_y+0.0288"/>
                                          </p:val>
                                        </p:tav>
                                        <p:tav tm="100000">
                                          <p:val>
                                            <p:strVal val="#ppt_y"/>
                                          </p:val>
                                        </p:tav>
                                      </p:tavLst>
                                    </p:anim>
                                  </p:childTnLst>
                                </p:cTn>
                              </p:par>
                              <p:par>
                                <p:cTn id="68" presetID="10" presetClass="entr" presetSubtype="0" fill="hold" grpId="0" nodeType="withEffect">
                                  <p:stCondLst>
                                    <p:cond delay="880"/>
                                  </p:stCondLst>
                                  <p:childTnLst>
                                    <p:set>
                                      <p:cBhvr>
                                        <p:cTn id="69" dur="1" fill="hold">
                                          <p:stCondLst>
                                            <p:cond delay="0"/>
                                          </p:stCondLst>
                                        </p:cTn>
                                        <p:tgtEl>
                                          <p:spTgt spid="24"/>
                                        </p:tgtEl>
                                        <p:attrNameLst>
                                          <p:attrName>style.visibility</p:attrName>
                                        </p:attrNameLst>
                                      </p:cBhvr>
                                      <p:to>
                                        <p:strVal val="visible"/>
                                      </p:to>
                                    </p:set>
                                    <p:animEffect transition="in" filter="fade">
                                      <p:cBhvr>
                                        <p:cTn id="70" dur="322" decel="70000"/>
                                        <p:tgtEl>
                                          <p:spTgt spid="24"/>
                                        </p:tgtEl>
                                      </p:cBhvr>
                                    </p:animEffect>
                                    <p:anim calcmode="lin" valueType="num">
                                      <p:cBhvr additive="base">
                                        <p:cTn id="71" dur="322" decel="70000" fill="hold"/>
                                        <p:tgtEl>
                                          <p:spTgt spid="24"/>
                                        </p:tgtEl>
                                        <p:attrNameLst>
                                          <p:attrName>ppt_y</p:attrName>
                                        </p:attrNameLst>
                                      </p:cBhvr>
                                      <p:tavLst>
                                        <p:tav tm="0">
                                          <p:val>
                                            <p:strVal val="#ppt_y+0.0288"/>
                                          </p:val>
                                        </p:tav>
                                        <p:tav tm="100000">
                                          <p:val>
                                            <p:strVal val="#ppt_y"/>
                                          </p:val>
                                        </p:tav>
                                      </p:tavLst>
                                    </p:anim>
                                  </p:childTnLst>
                                </p:cTn>
                              </p:par>
                              <p:par>
                                <p:cTn id="72" presetID="10" presetClass="entr" presetSubtype="0" fill="hold" grpId="0" nodeType="withEffect">
                                  <p:stCondLst>
                                    <p:cond delay="935"/>
                                  </p:stCondLst>
                                  <p:childTnLst>
                                    <p:set>
                                      <p:cBhvr>
                                        <p:cTn id="73" dur="1" fill="hold">
                                          <p:stCondLst>
                                            <p:cond delay="0"/>
                                          </p:stCondLst>
                                        </p:cTn>
                                        <p:tgtEl>
                                          <p:spTgt spid="9"/>
                                        </p:tgtEl>
                                        <p:attrNameLst>
                                          <p:attrName>style.visibility</p:attrName>
                                        </p:attrNameLst>
                                      </p:cBhvr>
                                      <p:to>
                                        <p:strVal val="visible"/>
                                      </p:to>
                                    </p:set>
                                    <p:animEffect transition="in" filter="fade">
                                      <p:cBhvr>
                                        <p:cTn id="74" dur="322" decel="70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role:logo" descr="Momentum Digital logo">    </p:cNvPr>
          <p:cNvPicPr>
            <a:picLocks noChangeAspect="1"/>
          </p:cNvPicPr>
          <p:nvPr/>
        </p:nvPicPr>
        <p:blipFill>
          <a:blip r:embed="rId1"/>
          <a:stretch>
            <a:fillRect/>
          </a:stretch>
        </p:blipFill>
        <p:spPr>
          <a:xfrm>
            <a:off x="10106863" y="658368"/>
            <a:ext cx="1371600" cy="294904"/>
          </a:xfrm>
          <a:prstGeom prst="rect">
            <a:avLst/>
          </a:prstGeom>
        </p:spPr>
      </p:pic>
      <p:sp>
        <p:nvSpPr>
          <p:cNvPr id="3" name="role:kicker"/>
          <p:cNvSpPr txBox="1"/>
          <p:nvPr/>
        </p:nvSpPr>
        <p:spPr>
          <a:xfrm>
            <a:off x="713232" y="658368"/>
            <a:ext cx="8753551" cy="201168"/>
          </a:xfrm>
          <a:prstGeom prst="rect">
            <a:avLst/>
          </a:prstGeom>
          <a:noFill/>
          <a:ln/>
        </p:spPr>
        <p:txBody>
          <a:bodyPr wrap="square" lIns="0" tIns="0" rIns="0" bIns="0" rtlCol="0" anchor="t"/>
          <a:lstStyle/>
          <a:p>
            <a:pPr algn="l" indent="0" marL="0">
              <a:buNone/>
            </a:pPr>
            <a:r>
              <a:rPr lang="en-US" sz="1050" b="1" spc="240" kern="0" dirty="0">
                <a:solidFill>
                  <a:srgbClr val="2A80C2"/>
                </a:solidFill>
                <a:latin typeface="Arial" pitchFamily="34" charset="0"/>
                <a:ea typeface="Arial" pitchFamily="34" charset="-122"/>
                <a:cs typeface="Arial" pitchFamily="34" charset="-120"/>
              </a:rPr>
              <a:t>FOUR LANES, FOUR FLAGSHIPS</a:t>
            </a:r>
            <a:endParaRPr lang="en-US" sz="1050" dirty="0"/>
          </a:p>
        </p:txBody>
      </p:sp>
      <p:sp>
        <p:nvSpPr>
          <p:cNvPr id="4" name="role:title"/>
          <p:cNvSpPr txBox="1"/>
          <p:nvPr/>
        </p:nvSpPr>
        <p:spPr>
          <a:xfrm>
            <a:off x="713232" y="987552"/>
            <a:ext cx="8570671" cy="569214"/>
          </a:xfrm>
          <a:prstGeom prst="rect">
            <a:avLst/>
          </a:prstGeom>
          <a:noFill/>
          <a:ln/>
        </p:spPr>
        <p:txBody>
          <a:bodyPr wrap="square" lIns="0" tIns="0" rIns="0" bIns="0" rtlCol="0" anchor="t"/>
          <a:lstStyle/>
          <a:p>
            <a:pPr algn="l" indent="0" marL="0">
              <a:lnSpc>
                <a:spcPct val="102000"/>
              </a:lnSpc>
              <a:buNone/>
            </a:pPr>
            <a:r>
              <a:rPr lang="en-US" sz="3900" b="1" dirty="0">
                <a:solidFill>
                  <a:srgbClr val="0F151B"/>
                </a:solidFill>
                <a:latin typeface="Arial" pitchFamily="34" charset="0"/>
                <a:ea typeface="Arial" pitchFamily="34" charset="-122"/>
                <a:cs typeface="Arial" pitchFamily="34" charset="-120"/>
              </a:rPr>
              <a:t>What we sell, lane by lane</a:t>
            </a:r>
            <a:endParaRPr lang="en-US" sz="3900" dirty="0"/>
          </a:p>
        </p:txBody>
      </p:sp>
      <p:sp>
        <p:nvSpPr>
          <p:cNvPr id="5" name="role:static"/>
          <p:cNvSpPr txBox="1"/>
          <p:nvPr/>
        </p:nvSpPr>
        <p:spPr>
          <a:xfrm>
            <a:off x="10929823" y="6437376"/>
            <a:ext cx="548640" cy="219456"/>
          </a:xfrm>
          <a:prstGeom prst="rect">
            <a:avLst/>
          </a:prstGeom>
          <a:noFill/>
          <a:ln/>
        </p:spPr>
        <p:txBody>
          <a:bodyPr wrap="square" lIns="0" tIns="0" rIns="0" bIns="0" rtlCol="0" anchor="t"/>
          <a:lstStyle/>
          <a:p>
            <a:pPr algn="r" indent="0" marL="0">
              <a:buNone/>
            </a:pPr>
            <a:r>
              <a:rPr lang="en-US" sz="1050" b="1" spc="100" kern="0" dirty="0">
                <a:solidFill>
                  <a:srgbClr val="CBD8E3"/>
                </a:solidFill>
                <a:latin typeface="Arial" pitchFamily="34" charset="0"/>
                <a:ea typeface="Arial" pitchFamily="34" charset="-122"/>
                <a:cs typeface="Arial" pitchFamily="34" charset="-120"/>
              </a:rPr>
              <a:t>04</a:t>
            </a:r>
            <a:endParaRPr lang="en-US" sz="1050" dirty="0"/>
          </a:p>
        </p:txBody>
      </p:sp>
      <p:sp>
        <p:nvSpPr>
          <p:cNvPr id="6" name="role:row-head"/>
          <p:cNvSpPr txBox="1"/>
          <p:nvPr/>
        </p:nvSpPr>
        <p:spPr>
          <a:xfrm>
            <a:off x="713232" y="2148840"/>
            <a:ext cx="3017520" cy="282448"/>
          </a:xfrm>
          <a:prstGeom prst="rect">
            <a:avLst/>
          </a:prstGeom>
          <a:noFill/>
          <a:ln/>
        </p:spPr>
        <p:txBody>
          <a:bodyPr wrap="square" lIns="0" tIns="0" rIns="0" bIns="0" rtlCol="0" anchor="t"/>
          <a:lstStyle/>
          <a:p>
            <a:pPr algn="l" indent="0" marL="0">
              <a:lnSpc>
                <a:spcPct val="110000"/>
              </a:lnSpc>
              <a:buNone/>
            </a:pPr>
            <a:r>
              <a:rPr lang="en-US" sz="1600" b="1" dirty="0">
                <a:solidFill>
                  <a:srgbClr val="0F151B"/>
                </a:solidFill>
                <a:latin typeface="Arial" pitchFamily="34" charset="0"/>
                <a:ea typeface="Arial" pitchFamily="34" charset="-122"/>
                <a:cs typeface="Arial" pitchFamily="34" charset="-120"/>
              </a:rPr>
              <a:t>01  AEO / GEO</a:t>
            </a:r>
            <a:endParaRPr lang="en-US" sz="1600" dirty="0"/>
          </a:p>
        </p:txBody>
      </p:sp>
      <p:sp>
        <p:nvSpPr>
          <p:cNvPr id="7" name="role:row-body"/>
          <p:cNvSpPr txBox="1"/>
          <p:nvPr/>
        </p:nvSpPr>
        <p:spPr>
          <a:xfrm>
            <a:off x="4142232" y="2148840"/>
            <a:ext cx="7336231" cy="664464"/>
          </a:xfrm>
          <a:prstGeom prst="rect">
            <a:avLst/>
          </a:prstGeom>
          <a:noFill/>
          <a:ln/>
        </p:spPr>
        <p:txBody>
          <a:bodyPr wrap="square" lIns="0" tIns="0" rIns="0" bIns="0" rtlCol="0" anchor="t"/>
          <a:lstStyle/>
          <a:p>
            <a:pPr algn="l" indent="0" marL="0">
              <a:lnSpc>
                <a:spcPct val="128000"/>
              </a:lnSpc>
              <a:buNone/>
            </a:pPr>
            <a:r>
              <a:rPr lang="en-US" sz="1250" dirty="0">
                <a:solidFill>
                  <a:srgbClr val="5A6772"/>
                </a:solidFill>
                <a:latin typeface="Arial" pitchFamily="34" charset="0"/>
                <a:ea typeface="Arial" pitchFamily="34" charset="-122"/>
                <a:cs typeface="Arial" pitchFamily="34" charset="-120"/>
              </a:rPr>
              <a:t>Get found by AI. AI Search Readiness sprint: Within 90 days the systems that write AI answers can read the site, know what the business is, and are measured monthly on the questions its buyers ask.</a:t>
            </a:r>
            <a:endParaRPr lang="en-US" sz="1250" dirty="0"/>
          </a:p>
        </p:txBody>
      </p:sp>
      <p:sp>
        <p:nvSpPr>
          <p:cNvPr id="8" name="role:rule-h"/>
          <p:cNvSpPr/>
          <p:nvPr/>
        </p:nvSpPr>
        <p:spPr>
          <a:xfrm>
            <a:off x="713232" y="2950464"/>
            <a:ext cx="10765231" cy="0"/>
          </a:xfrm>
          <a:prstGeom prst="line">
            <a:avLst/>
          </a:prstGeom>
          <a:noFill/>
          <a:ln w="9525">
            <a:solidFill>
              <a:srgbClr val="E2EAF1"/>
            </a:solidFill>
            <a:prstDash val="solid"/>
          </a:ln>
        </p:spPr>
      </p:sp>
      <p:sp>
        <p:nvSpPr>
          <p:cNvPr id="9" name="role:row-head"/>
          <p:cNvSpPr txBox="1"/>
          <p:nvPr/>
        </p:nvSpPr>
        <p:spPr>
          <a:xfrm>
            <a:off x="713232" y="3087624"/>
            <a:ext cx="3017520" cy="282448"/>
          </a:xfrm>
          <a:prstGeom prst="rect">
            <a:avLst/>
          </a:prstGeom>
          <a:noFill/>
          <a:ln/>
        </p:spPr>
        <p:txBody>
          <a:bodyPr wrap="square" lIns="0" tIns="0" rIns="0" bIns="0" rtlCol="0" anchor="t"/>
          <a:lstStyle/>
          <a:p>
            <a:pPr algn="l" indent="0" marL="0">
              <a:lnSpc>
                <a:spcPct val="110000"/>
              </a:lnSpc>
              <a:buNone/>
            </a:pPr>
            <a:r>
              <a:rPr lang="en-US" sz="1600" b="1" dirty="0">
                <a:solidFill>
                  <a:srgbClr val="0F151B"/>
                </a:solidFill>
                <a:latin typeface="Arial" pitchFamily="34" charset="0"/>
                <a:ea typeface="Arial" pitchFamily="34" charset="-122"/>
                <a:cs typeface="Arial" pitchFamily="34" charset="-120"/>
              </a:rPr>
              <a:t>02  AI Design</a:t>
            </a:r>
            <a:endParaRPr lang="en-US" sz="1600" dirty="0"/>
          </a:p>
        </p:txBody>
      </p:sp>
      <p:sp>
        <p:nvSpPr>
          <p:cNvPr id="10" name="role:row-body"/>
          <p:cNvSpPr txBox="1"/>
          <p:nvPr/>
        </p:nvSpPr>
        <p:spPr>
          <a:xfrm>
            <a:off x="4142232" y="3087624"/>
            <a:ext cx="7336231" cy="664464"/>
          </a:xfrm>
          <a:prstGeom prst="rect">
            <a:avLst/>
          </a:prstGeom>
          <a:noFill/>
          <a:ln/>
        </p:spPr>
        <p:txBody>
          <a:bodyPr wrap="square" lIns="0" tIns="0" rIns="0" bIns="0" rtlCol="0" anchor="t"/>
          <a:lstStyle/>
          <a:p>
            <a:pPr algn="l" indent="0" marL="0">
              <a:lnSpc>
                <a:spcPct val="128000"/>
              </a:lnSpc>
              <a:buNone/>
            </a:pPr>
            <a:r>
              <a:rPr lang="en-US" sz="1250" dirty="0">
                <a:solidFill>
                  <a:srgbClr val="5A6772"/>
                </a:solidFill>
                <a:latin typeface="Arial" pitchFamily="34" charset="0"/>
                <a:ea typeface="Arial" pitchFamily="34" charset="-122"/>
                <a:cs typeface="Arial" pitchFamily="34" charset="-120"/>
              </a:rPr>
              <a:t>Prototype in a week. Spec build: Five working days after kickoff the client is looking at a working prototype of the thing they were describing: a site, a dashboard, or a film, built from real assets and real facts.</a:t>
            </a:r>
            <a:endParaRPr lang="en-US" sz="1250" dirty="0"/>
          </a:p>
        </p:txBody>
      </p:sp>
      <p:sp>
        <p:nvSpPr>
          <p:cNvPr id="11" name="role:rule-h"/>
          <p:cNvSpPr/>
          <p:nvPr/>
        </p:nvSpPr>
        <p:spPr>
          <a:xfrm>
            <a:off x="713232" y="3889248"/>
            <a:ext cx="10765231" cy="0"/>
          </a:xfrm>
          <a:prstGeom prst="line">
            <a:avLst/>
          </a:prstGeom>
          <a:noFill/>
          <a:ln w="9525">
            <a:solidFill>
              <a:srgbClr val="E2EAF1"/>
            </a:solidFill>
            <a:prstDash val="solid"/>
          </a:ln>
        </p:spPr>
      </p:sp>
      <p:sp>
        <p:nvSpPr>
          <p:cNvPr id="12" name="role:row-head"/>
          <p:cNvSpPr txBox="1"/>
          <p:nvPr/>
        </p:nvSpPr>
        <p:spPr>
          <a:xfrm>
            <a:off x="713232" y="4026408"/>
            <a:ext cx="3017520" cy="282448"/>
          </a:xfrm>
          <a:prstGeom prst="rect">
            <a:avLst/>
          </a:prstGeom>
          <a:noFill/>
          <a:ln/>
        </p:spPr>
        <p:txBody>
          <a:bodyPr wrap="square" lIns="0" tIns="0" rIns="0" bIns="0" rtlCol="0" anchor="t"/>
          <a:lstStyle/>
          <a:p>
            <a:pPr algn="l" indent="0" marL="0">
              <a:lnSpc>
                <a:spcPct val="110000"/>
              </a:lnSpc>
              <a:buNone/>
            </a:pPr>
            <a:r>
              <a:rPr lang="en-US" sz="1600" b="1" dirty="0">
                <a:solidFill>
                  <a:srgbClr val="0F151B"/>
                </a:solidFill>
                <a:latin typeface="Arial" pitchFamily="34" charset="0"/>
                <a:ea typeface="Arial" pitchFamily="34" charset="-122"/>
                <a:cs typeface="Arial" pitchFamily="34" charset="-120"/>
              </a:rPr>
              <a:t>03  AI Marketing</a:t>
            </a:r>
            <a:endParaRPr lang="en-US" sz="1600" dirty="0"/>
          </a:p>
        </p:txBody>
      </p:sp>
      <p:sp>
        <p:nvSpPr>
          <p:cNvPr id="13" name="role:row-body"/>
          <p:cNvSpPr txBox="1"/>
          <p:nvPr/>
        </p:nvSpPr>
        <p:spPr>
          <a:xfrm>
            <a:off x="4142232" y="4026408"/>
            <a:ext cx="7336231" cy="664464"/>
          </a:xfrm>
          <a:prstGeom prst="rect">
            <a:avLst/>
          </a:prstGeom>
          <a:noFill/>
          <a:ln/>
        </p:spPr>
        <p:txBody>
          <a:bodyPr wrap="square" lIns="0" tIns="0" rIns="0" bIns="0" rtlCol="0" anchor="t"/>
          <a:lstStyle/>
          <a:p>
            <a:pPr algn="l" indent="0" marL="0">
              <a:lnSpc>
                <a:spcPct val="128000"/>
              </a:lnSpc>
              <a:buNone/>
            </a:pPr>
            <a:r>
              <a:rPr lang="en-US" sz="1250" dirty="0">
                <a:solidFill>
                  <a:srgbClr val="5A6772"/>
                </a:solidFill>
                <a:latin typeface="Arial" pitchFamily="34" charset="0"/>
                <a:ea typeface="Arial" pitchFamily="34" charset="-122"/>
                <a:cs typeface="Arial" pitchFamily="34" charset="-120"/>
              </a:rPr>
              <a:t>Content that moves. Motion content system: Every month the client gets a short brand film and a set of stills, in their identity, with a rights ledger, ready for every social placement, and their logo has never been touched by a model.</a:t>
            </a:r>
            <a:endParaRPr lang="en-US" sz="1250" dirty="0"/>
          </a:p>
        </p:txBody>
      </p:sp>
      <p:sp>
        <p:nvSpPr>
          <p:cNvPr id="14" name="role:rule-h"/>
          <p:cNvSpPr/>
          <p:nvPr/>
        </p:nvSpPr>
        <p:spPr>
          <a:xfrm>
            <a:off x="713232" y="4828032"/>
            <a:ext cx="10765231" cy="0"/>
          </a:xfrm>
          <a:prstGeom prst="line">
            <a:avLst/>
          </a:prstGeom>
          <a:noFill/>
          <a:ln w="9525">
            <a:solidFill>
              <a:srgbClr val="E2EAF1"/>
            </a:solidFill>
            <a:prstDash val="solid"/>
          </a:ln>
        </p:spPr>
      </p:sp>
      <p:sp>
        <p:nvSpPr>
          <p:cNvPr id="15" name="role:row-head"/>
          <p:cNvSpPr txBox="1"/>
          <p:nvPr/>
        </p:nvSpPr>
        <p:spPr>
          <a:xfrm>
            <a:off x="713232" y="4965192"/>
            <a:ext cx="3017520" cy="282448"/>
          </a:xfrm>
          <a:prstGeom prst="rect">
            <a:avLst/>
          </a:prstGeom>
          <a:noFill/>
          <a:ln/>
        </p:spPr>
        <p:txBody>
          <a:bodyPr wrap="square" lIns="0" tIns="0" rIns="0" bIns="0" rtlCol="0" anchor="t"/>
          <a:lstStyle/>
          <a:p>
            <a:pPr algn="l" indent="0" marL="0">
              <a:lnSpc>
                <a:spcPct val="110000"/>
              </a:lnSpc>
              <a:buNone/>
            </a:pPr>
            <a:r>
              <a:rPr lang="en-US" sz="1600" b="1" dirty="0">
                <a:solidFill>
                  <a:srgbClr val="0F151B"/>
                </a:solidFill>
                <a:latin typeface="Arial" pitchFamily="34" charset="0"/>
                <a:ea typeface="Arial" pitchFamily="34" charset="-122"/>
                <a:cs typeface="Arial" pitchFamily="34" charset="-120"/>
              </a:rPr>
              <a:t>04  AI Automation</a:t>
            </a:r>
            <a:endParaRPr lang="en-US" sz="1600" dirty="0"/>
          </a:p>
        </p:txBody>
      </p:sp>
      <p:sp>
        <p:nvSpPr>
          <p:cNvPr id="16" name="role:row-body"/>
          <p:cNvSpPr txBox="1"/>
          <p:nvPr/>
        </p:nvSpPr>
        <p:spPr>
          <a:xfrm>
            <a:off x="4142232" y="4965192"/>
            <a:ext cx="7336231" cy="664464"/>
          </a:xfrm>
          <a:prstGeom prst="rect">
            <a:avLst/>
          </a:prstGeom>
          <a:noFill/>
          <a:ln/>
        </p:spPr>
        <p:txBody>
          <a:bodyPr wrap="square" lIns="0" tIns="0" rIns="0" bIns="0" rtlCol="0" anchor="t"/>
          <a:lstStyle/>
          <a:p>
            <a:pPr algn="l" indent="0" marL="0">
              <a:lnSpc>
                <a:spcPct val="128000"/>
              </a:lnSpc>
              <a:buNone/>
            </a:pPr>
            <a:r>
              <a:rPr lang="en-US" sz="1250" dirty="0">
                <a:solidFill>
                  <a:srgbClr val="5A6772"/>
                </a:solidFill>
                <a:latin typeface="Arial" pitchFamily="34" charset="0"/>
                <a:ea typeface="Arial" pitchFamily="34" charset="-122"/>
                <a:cs typeface="Arial" pitchFamily="34" charset="-120"/>
              </a:rPr>
              <a:t>The attribution spine. Lead Operations agent: A named employee can account for every accepted lead, from one agreed intake source through one destination, including duplicates and exceptions, and the agent drafts the first reply.</a:t>
            </a:r>
            <a:endParaRPr lang="en-US" sz="1250" dirty="0"/>
          </a:p>
        </p:txBody>
      </p:sp>
      <p:sp>
        <p:nvSpPr>
          <p:cNvPr id="17" name="role:foot"/>
          <p:cNvSpPr txBox="1"/>
          <p:nvPr/>
        </p:nvSpPr>
        <p:spPr>
          <a:xfrm>
            <a:off x="713232" y="6400800"/>
            <a:ext cx="9942271" cy="237744"/>
          </a:xfrm>
          <a:prstGeom prst="rect">
            <a:avLst/>
          </a:prstGeom>
          <a:noFill/>
          <a:ln/>
        </p:spPr>
        <p:txBody>
          <a:bodyPr wrap="square" lIns="0" tIns="0" rIns="0" bIns="0" rtlCol="0" anchor="t"/>
          <a:lstStyle/>
          <a:p>
            <a:pPr algn="l" indent="0" marL="0">
              <a:buNone/>
            </a:pPr>
            <a:r>
              <a:rPr lang="en-US" sz="950" i="1" dirty="0">
                <a:solidFill>
                  <a:srgbClr val="8A97A2"/>
                </a:solidFill>
                <a:latin typeface="Arial" pitchFamily="34" charset="0"/>
                <a:ea typeface="Arial" pitchFamily="34" charset="-122"/>
                <a:cs typeface="Arial" pitchFamily="34" charset="-120"/>
              </a:rPr>
              <a:t>Every price, hour budget and capacity figure on this slide is a proposal until recorded as agreed.</a:t>
            </a:r>
            <a:endParaRPr lang="en-US" sz="9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320" decel="700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322" decel="70000"/>
                                        <p:tgtEl>
                                          <p:spTgt spid="3"/>
                                        </p:tgtEl>
                                      </p:cBhvr>
                                    </p:animEffect>
                                    <p:anim calcmode="lin" valueType="num">
                                      <p:cBhvr additive="base">
                                        <p:cTn id="11" dur="322" decel="70000" fill="hold"/>
                                        <p:tgtEl>
                                          <p:spTgt spid="3"/>
                                        </p:tgtEl>
                                        <p:attrNameLst>
                                          <p:attrName>ppt_y</p:attrName>
                                        </p:attrNameLst>
                                      </p:cBhvr>
                                      <p:tavLst>
                                        <p:tav tm="0">
                                          <p:val>
                                            <p:strVal val="#ppt_y+0.032"/>
                                          </p:val>
                                        </p:tav>
                                        <p:tav tm="100000">
                                          <p:val>
                                            <p:strVal val="#ppt_y"/>
                                          </p:val>
                                        </p:tav>
                                      </p:tavLst>
                                    </p:anim>
                                  </p:childTnLst>
                                </p:cTn>
                              </p:par>
                              <p:par>
                                <p:cTn id="12" presetID="10" presetClass="entr" presetSubtype="0" fill="hold" grpId="0" nodeType="withEffect">
                                  <p:stCondLst>
                                    <p:cond delay="55"/>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482" decel="70000"/>
                                        <p:tgtEl>
                                          <p:spTgt spid="4"/>
                                        </p:tgtEl>
                                      </p:cBhvr>
                                    </p:animEffect>
                                    <p:anim calcmode="lin" valueType="num">
                                      <p:cBhvr additive="base">
                                        <p:cTn id="15" dur="482" decel="70000" fill="hold"/>
                                        <p:tgtEl>
                                          <p:spTgt spid="4"/>
                                        </p:tgtEl>
                                        <p:attrNameLst>
                                          <p:attrName>ppt_y</p:attrName>
                                        </p:attrNameLst>
                                      </p:cBhvr>
                                      <p:tavLst>
                                        <p:tav tm="0">
                                          <p:val>
                                            <p:strVal val="#ppt_y+0.0512"/>
                                          </p:val>
                                        </p:tav>
                                        <p:tav tm="100000">
                                          <p:val>
                                            <p:strVal val="#ppt_y"/>
                                          </p:val>
                                        </p:tav>
                                      </p:tavLst>
                                    </p:anim>
                                  </p:childTnLst>
                                </p:cTn>
                              </p:par>
                              <p:par>
                                <p:cTn id="16" presetID="10" presetClass="entr" presetSubtype="0" fill="hold" grpId="0" nodeType="withEffect">
                                  <p:stCondLst>
                                    <p:cond delay="11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345" decel="70000"/>
                                        <p:tgtEl>
                                          <p:spTgt spid="6"/>
                                        </p:tgtEl>
                                      </p:cBhvr>
                                    </p:animEffect>
                                    <p:anim calcmode="lin" valueType="num">
                                      <p:cBhvr additive="base">
                                        <p:cTn id="19" dur="345" decel="70000" fill="hold"/>
                                        <p:tgtEl>
                                          <p:spTgt spid="6"/>
                                        </p:tgtEl>
                                        <p:attrNameLst>
                                          <p:attrName>ppt_y</p:attrName>
                                        </p:attrNameLst>
                                      </p:cBhvr>
                                      <p:tavLst>
                                        <p:tav tm="0">
                                          <p:val>
                                            <p:strVal val="#ppt_y+0.0288"/>
                                          </p:val>
                                        </p:tav>
                                        <p:tav tm="100000">
                                          <p:val>
                                            <p:strVal val="#ppt_y"/>
                                          </p:val>
                                        </p:tav>
                                      </p:tavLst>
                                    </p:anim>
                                  </p:childTnLst>
                                </p:cTn>
                              </p:par>
                              <p:par>
                                <p:cTn id="20" presetID="10" presetClass="entr" presetSubtype="0" fill="hold" grpId="0" nodeType="withEffect">
                                  <p:stCondLst>
                                    <p:cond delay="165"/>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322" decel="70000"/>
                                        <p:tgtEl>
                                          <p:spTgt spid="7"/>
                                        </p:tgtEl>
                                      </p:cBhvr>
                                    </p:animEffect>
                                  </p:childTnLst>
                                </p:cTn>
                              </p:par>
                              <p:par>
                                <p:cTn id="23" presetID="22" presetClass="entr" presetSubtype="1" fill="hold" grpId="0" nodeType="withEffect">
                                  <p:stCondLst>
                                    <p:cond delay="220"/>
                                  </p:stCondLst>
                                  <p:childTnLst>
                                    <p:set>
                                      <p:cBhvr>
                                        <p:cTn id="24" dur="1" fill="hold">
                                          <p:stCondLst>
                                            <p:cond delay="0"/>
                                          </p:stCondLst>
                                        </p:cTn>
                                        <p:tgtEl>
                                          <p:spTgt spid="8"/>
                                        </p:tgtEl>
                                        <p:attrNameLst>
                                          <p:attrName>style.visibility</p:attrName>
                                        </p:attrNameLst>
                                      </p:cBhvr>
                                      <p:to>
                                        <p:strVal val="visible"/>
                                      </p:to>
                                    </p:set>
                                    <p:animEffect transition="in" filter="wipe(right)">
                                      <p:cBhvr>
                                        <p:cTn id="25" dur="529"/>
                                        <p:tgtEl>
                                          <p:spTgt spid="8"/>
                                        </p:tgtEl>
                                      </p:cBhvr>
                                    </p:animEffect>
                                  </p:childTnLst>
                                </p:cTn>
                              </p:par>
                              <p:par>
                                <p:cTn id="26" presetID="10" presetClass="entr" presetSubtype="0" fill="hold" grpId="0" nodeType="withEffect">
                                  <p:stCondLst>
                                    <p:cond delay="275"/>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345" decel="70000"/>
                                        <p:tgtEl>
                                          <p:spTgt spid="9"/>
                                        </p:tgtEl>
                                      </p:cBhvr>
                                    </p:animEffect>
                                    <p:anim calcmode="lin" valueType="num">
                                      <p:cBhvr additive="base">
                                        <p:cTn id="29" dur="345" decel="70000" fill="hold"/>
                                        <p:tgtEl>
                                          <p:spTgt spid="9"/>
                                        </p:tgtEl>
                                        <p:attrNameLst>
                                          <p:attrName>ppt_y</p:attrName>
                                        </p:attrNameLst>
                                      </p:cBhvr>
                                      <p:tavLst>
                                        <p:tav tm="0">
                                          <p:val>
                                            <p:strVal val="#ppt_y+0.0288"/>
                                          </p:val>
                                        </p:tav>
                                        <p:tav tm="100000">
                                          <p:val>
                                            <p:strVal val="#ppt_y"/>
                                          </p:val>
                                        </p:tav>
                                      </p:tavLst>
                                    </p:anim>
                                  </p:childTnLst>
                                </p:cTn>
                              </p:par>
                              <p:par>
                                <p:cTn id="30" presetID="10" presetClass="entr" presetSubtype="0" fill="hold" grpId="0" nodeType="withEffect">
                                  <p:stCondLst>
                                    <p:cond delay="33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322" decel="70000"/>
                                        <p:tgtEl>
                                          <p:spTgt spid="10"/>
                                        </p:tgtEl>
                                      </p:cBhvr>
                                    </p:animEffect>
                                  </p:childTnLst>
                                </p:cTn>
                              </p:par>
                              <p:par>
                                <p:cTn id="33" presetID="22" presetClass="entr" presetSubtype="1" fill="hold" grpId="0" nodeType="withEffect">
                                  <p:stCondLst>
                                    <p:cond delay="385"/>
                                  </p:stCondLst>
                                  <p:childTnLst>
                                    <p:set>
                                      <p:cBhvr>
                                        <p:cTn id="34" dur="1" fill="hold">
                                          <p:stCondLst>
                                            <p:cond delay="0"/>
                                          </p:stCondLst>
                                        </p:cTn>
                                        <p:tgtEl>
                                          <p:spTgt spid="11"/>
                                        </p:tgtEl>
                                        <p:attrNameLst>
                                          <p:attrName>style.visibility</p:attrName>
                                        </p:attrNameLst>
                                      </p:cBhvr>
                                      <p:to>
                                        <p:strVal val="visible"/>
                                      </p:to>
                                    </p:set>
                                    <p:animEffect transition="in" filter="wipe(right)">
                                      <p:cBhvr>
                                        <p:cTn id="35" dur="529"/>
                                        <p:tgtEl>
                                          <p:spTgt spid="11"/>
                                        </p:tgtEl>
                                      </p:cBhvr>
                                    </p:animEffect>
                                  </p:childTnLst>
                                </p:cTn>
                              </p:par>
                              <p:par>
                                <p:cTn id="36" presetID="10" presetClass="entr" presetSubtype="0" fill="hold" grpId="0" nodeType="withEffect">
                                  <p:stCondLst>
                                    <p:cond delay="44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345" decel="70000"/>
                                        <p:tgtEl>
                                          <p:spTgt spid="12"/>
                                        </p:tgtEl>
                                      </p:cBhvr>
                                    </p:animEffect>
                                    <p:anim calcmode="lin" valueType="num">
                                      <p:cBhvr additive="base">
                                        <p:cTn id="39" dur="345" decel="70000" fill="hold"/>
                                        <p:tgtEl>
                                          <p:spTgt spid="12"/>
                                        </p:tgtEl>
                                        <p:attrNameLst>
                                          <p:attrName>ppt_y</p:attrName>
                                        </p:attrNameLst>
                                      </p:cBhvr>
                                      <p:tavLst>
                                        <p:tav tm="0">
                                          <p:val>
                                            <p:strVal val="#ppt_y+0.0288"/>
                                          </p:val>
                                        </p:tav>
                                        <p:tav tm="100000">
                                          <p:val>
                                            <p:strVal val="#ppt_y"/>
                                          </p:val>
                                        </p:tav>
                                      </p:tavLst>
                                    </p:anim>
                                  </p:childTnLst>
                                </p:cTn>
                              </p:par>
                              <p:par>
                                <p:cTn id="40" presetID="10" presetClass="entr" presetSubtype="0" fill="hold" grpId="0" nodeType="withEffect">
                                  <p:stCondLst>
                                    <p:cond delay="495"/>
                                  </p:stCondLst>
                                  <p:childTnLst>
                                    <p:set>
                                      <p:cBhvr>
                                        <p:cTn id="41" dur="1" fill="hold">
                                          <p:stCondLst>
                                            <p:cond delay="0"/>
                                          </p:stCondLst>
                                        </p:cTn>
                                        <p:tgtEl>
                                          <p:spTgt spid="13"/>
                                        </p:tgtEl>
                                        <p:attrNameLst>
                                          <p:attrName>style.visibility</p:attrName>
                                        </p:attrNameLst>
                                      </p:cBhvr>
                                      <p:to>
                                        <p:strVal val="visible"/>
                                      </p:to>
                                    </p:set>
                                    <p:animEffect transition="in" filter="fade">
                                      <p:cBhvr>
                                        <p:cTn id="42" dur="322" decel="70000"/>
                                        <p:tgtEl>
                                          <p:spTgt spid="13"/>
                                        </p:tgtEl>
                                      </p:cBhvr>
                                    </p:animEffect>
                                  </p:childTnLst>
                                </p:cTn>
                              </p:par>
                              <p:par>
                                <p:cTn id="43" presetID="22" presetClass="entr" presetSubtype="1" fill="hold" grpId="0" nodeType="withEffect">
                                  <p:stCondLst>
                                    <p:cond delay="550"/>
                                  </p:stCondLst>
                                  <p:childTnLst>
                                    <p:set>
                                      <p:cBhvr>
                                        <p:cTn id="44" dur="1" fill="hold">
                                          <p:stCondLst>
                                            <p:cond delay="0"/>
                                          </p:stCondLst>
                                        </p:cTn>
                                        <p:tgtEl>
                                          <p:spTgt spid="14"/>
                                        </p:tgtEl>
                                        <p:attrNameLst>
                                          <p:attrName>style.visibility</p:attrName>
                                        </p:attrNameLst>
                                      </p:cBhvr>
                                      <p:to>
                                        <p:strVal val="visible"/>
                                      </p:to>
                                    </p:set>
                                    <p:animEffect transition="in" filter="wipe(right)">
                                      <p:cBhvr>
                                        <p:cTn id="45" dur="529"/>
                                        <p:tgtEl>
                                          <p:spTgt spid="14"/>
                                        </p:tgtEl>
                                      </p:cBhvr>
                                    </p:animEffect>
                                  </p:childTnLst>
                                </p:cTn>
                              </p:par>
                              <p:par>
                                <p:cTn id="46" presetID="10" presetClass="entr" presetSubtype="0" fill="hold" grpId="0" nodeType="withEffect">
                                  <p:stCondLst>
                                    <p:cond delay="605"/>
                                  </p:stCondLst>
                                  <p:childTnLst>
                                    <p:set>
                                      <p:cBhvr>
                                        <p:cTn id="47" dur="1" fill="hold">
                                          <p:stCondLst>
                                            <p:cond delay="0"/>
                                          </p:stCondLst>
                                        </p:cTn>
                                        <p:tgtEl>
                                          <p:spTgt spid="15"/>
                                        </p:tgtEl>
                                        <p:attrNameLst>
                                          <p:attrName>style.visibility</p:attrName>
                                        </p:attrNameLst>
                                      </p:cBhvr>
                                      <p:to>
                                        <p:strVal val="visible"/>
                                      </p:to>
                                    </p:set>
                                    <p:animEffect transition="in" filter="fade">
                                      <p:cBhvr>
                                        <p:cTn id="48" dur="345" decel="70000"/>
                                        <p:tgtEl>
                                          <p:spTgt spid="15"/>
                                        </p:tgtEl>
                                      </p:cBhvr>
                                    </p:animEffect>
                                    <p:anim calcmode="lin" valueType="num">
                                      <p:cBhvr additive="base">
                                        <p:cTn id="49" dur="345" decel="70000" fill="hold"/>
                                        <p:tgtEl>
                                          <p:spTgt spid="15"/>
                                        </p:tgtEl>
                                        <p:attrNameLst>
                                          <p:attrName>ppt_y</p:attrName>
                                        </p:attrNameLst>
                                      </p:cBhvr>
                                      <p:tavLst>
                                        <p:tav tm="0">
                                          <p:val>
                                            <p:strVal val="#ppt_y+0.0288"/>
                                          </p:val>
                                        </p:tav>
                                        <p:tav tm="100000">
                                          <p:val>
                                            <p:strVal val="#ppt_y"/>
                                          </p:val>
                                        </p:tav>
                                      </p:tavLst>
                                    </p:anim>
                                  </p:childTnLst>
                                </p:cTn>
                              </p:par>
                              <p:par>
                                <p:cTn id="50" presetID="10" presetClass="entr" presetSubtype="0" fill="hold" grpId="0" nodeType="withEffect">
                                  <p:stCondLst>
                                    <p:cond delay="660"/>
                                  </p:stCondLst>
                                  <p:childTnLst>
                                    <p:set>
                                      <p:cBhvr>
                                        <p:cTn id="51" dur="1" fill="hold">
                                          <p:stCondLst>
                                            <p:cond delay="0"/>
                                          </p:stCondLst>
                                        </p:cTn>
                                        <p:tgtEl>
                                          <p:spTgt spid="16"/>
                                        </p:tgtEl>
                                        <p:attrNameLst>
                                          <p:attrName>style.visibility</p:attrName>
                                        </p:attrNameLst>
                                      </p:cBhvr>
                                      <p:to>
                                        <p:strVal val="visible"/>
                                      </p:to>
                                    </p:set>
                                    <p:animEffect transition="in" filter="fade">
                                      <p:cBhvr>
                                        <p:cTn id="52" dur="322" decel="700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role:logo" descr="Momentum Digital logo">    </p:cNvPr>
          <p:cNvPicPr>
            <a:picLocks noChangeAspect="1"/>
          </p:cNvPicPr>
          <p:nvPr/>
        </p:nvPicPr>
        <p:blipFill>
          <a:blip r:embed="rId1"/>
          <a:stretch>
            <a:fillRect/>
          </a:stretch>
        </p:blipFill>
        <p:spPr>
          <a:xfrm>
            <a:off x="10106863" y="658368"/>
            <a:ext cx="1371600" cy="294904"/>
          </a:xfrm>
          <a:prstGeom prst="rect">
            <a:avLst/>
          </a:prstGeom>
        </p:spPr>
      </p:pic>
      <p:sp>
        <p:nvSpPr>
          <p:cNvPr id="3" name="role:kicker"/>
          <p:cNvSpPr txBox="1"/>
          <p:nvPr/>
        </p:nvSpPr>
        <p:spPr>
          <a:xfrm>
            <a:off x="713232" y="658368"/>
            <a:ext cx="8753551" cy="201168"/>
          </a:xfrm>
          <a:prstGeom prst="rect">
            <a:avLst/>
          </a:prstGeom>
          <a:noFill/>
          <a:ln/>
        </p:spPr>
        <p:txBody>
          <a:bodyPr wrap="square" lIns="0" tIns="0" rIns="0" bIns="0" rtlCol="0" anchor="t"/>
          <a:lstStyle/>
          <a:p>
            <a:pPr algn="l" indent="0" marL="0">
              <a:buNone/>
            </a:pPr>
            <a:r>
              <a:rPr lang="en-US" sz="1050" b="1" spc="240" kern="0" dirty="0">
                <a:solidFill>
                  <a:srgbClr val="2A80C2"/>
                </a:solidFill>
                <a:latin typeface="Arial" pitchFamily="34" charset="0"/>
                <a:ea typeface="Arial" pitchFamily="34" charset="-122"/>
                <a:cs typeface="Arial" pitchFamily="34" charset="-120"/>
              </a:rPr>
              <a:t>PROPOSED PRICING · NOT AGREED</a:t>
            </a:r>
            <a:endParaRPr lang="en-US" sz="1050" dirty="0"/>
          </a:p>
        </p:txBody>
      </p:sp>
      <p:sp>
        <p:nvSpPr>
          <p:cNvPr id="4" name="role:title"/>
          <p:cNvSpPr txBox="1"/>
          <p:nvPr/>
        </p:nvSpPr>
        <p:spPr>
          <a:xfrm>
            <a:off x="713232" y="987552"/>
            <a:ext cx="8570671" cy="1074420"/>
          </a:xfrm>
          <a:prstGeom prst="rect">
            <a:avLst/>
          </a:prstGeom>
          <a:noFill/>
          <a:ln/>
        </p:spPr>
        <p:txBody>
          <a:bodyPr wrap="square" lIns="0" tIns="0" rIns="0" bIns="0" rtlCol="0" anchor="t"/>
          <a:lstStyle/>
          <a:p>
            <a:pPr algn="l" indent="0" marL="0">
              <a:lnSpc>
                <a:spcPct val="102000"/>
              </a:lnSpc>
              <a:buNone/>
            </a:pPr>
            <a:r>
              <a:rPr lang="en-US" sz="3900" b="1" dirty="0">
                <a:solidFill>
                  <a:srgbClr val="0F151B"/>
                </a:solidFill>
                <a:latin typeface="Arial" pitchFamily="34" charset="0"/>
                <a:ea typeface="Arial" pitchFamily="34" charset="-122"/>
                <a:cs typeface="Arial" pitchFamily="34" charset="-120"/>
              </a:rPr>
              <a:t>Four flagships, four roadmap offers</a:t>
            </a:r>
            <a:endParaRPr lang="en-US" sz="3900" dirty="0"/>
          </a:p>
        </p:txBody>
      </p:sp>
      <p:sp>
        <p:nvSpPr>
          <p:cNvPr id="5" name="role:static"/>
          <p:cNvSpPr txBox="1"/>
          <p:nvPr/>
        </p:nvSpPr>
        <p:spPr>
          <a:xfrm>
            <a:off x="10929823" y="6437376"/>
            <a:ext cx="548640" cy="219456"/>
          </a:xfrm>
          <a:prstGeom prst="rect">
            <a:avLst/>
          </a:prstGeom>
          <a:noFill/>
          <a:ln/>
        </p:spPr>
        <p:txBody>
          <a:bodyPr wrap="square" lIns="0" tIns="0" rIns="0" bIns="0" rtlCol="0" anchor="t"/>
          <a:lstStyle/>
          <a:p>
            <a:pPr algn="r" indent="0" marL="0">
              <a:buNone/>
            </a:pPr>
            <a:r>
              <a:rPr lang="en-US" sz="1050" b="1" spc="100" kern="0" dirty="0">
                <a:solidFill>
                  <a:srgbClr val="CBD8E3"/>
                </a:solidFill>
                <a:latin typeface="Arial" pitchFamily="34" charset="0"/>
                <a:ea typeface="Arial" pitchFamily="34" charset="-122"/>
                <a:cs typeface="Arial" pitchFamily="34" charset="-120"/>
              </a:rPr>
              <a:t>05</a:t>
            </a:r>
            <a:endParaRPr lang="en-US" sz="10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713232" y="2194560"/>
          <a:ext cx="10765231" cy="914400"/>
        </p:xfrm>
        <a:graphic>
          <a:graphicData uri="http://schemas.openxmlformats.org/drawingml/2006/table">
            <a:tbl>
              <a:tblPr/>
              <a:tblGrid>
                <a:gridCol w="1554480"/>
                <a:gridCol w="2377440"/>
                <a:gridCol w="868680"/>
                <a:gridCol w="868680"/>
                <a:gridCol w="2377440"/>
                <a:gridCol w="2715768"/>
              </a:tblGrid>
              <a:tr h="566928">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Lane</a:t>
                      </a:r>
                      <a:endParaRPr lang="en-US" sz="1100" dirty="0">
                        <a:latin typeface="Arial" charset="0"/>
                        <a:ea typeface="Arial" charset="0"/>
                        <a:cs typeface="Arial" charset="0"/>
                      </a:endParaRPr>
                    </a:p>
                  </a:txBody>
                  <a:tcPr marL="146304" marR="146304" marT="54864" marB="54864" anchor="ctr">
                    <a:lnL w="0" cap="flat" cmpd="sng" algn="ctr">
                      <a:noFill/>
                    </a:lnL>
                    <a:lnR w="0" cap="flat" cmpd="sng" algn="ctr">
                      <a:noFill/>
                    </a:lnR>
                    <a:lnT w="0" cap="flat" cmpd="sng" algn="ctr">
                      <a:noFill/>
                    </a:lnT>
                    <a:lnB w="6350" cap="flat" cmpd="sng" algn="ctr">
                      <a:solidFill>
                        <a:srgbClr val="E2EAF1"/>
                      </a:solidFill>
                      <a:prstDash val="solid"/>
                      <a:round/>
                      <a:headEnd type="none" w="med" len="med"/>
                      <a:tailEnd type="none" w="med" len="med"/>
                    </a:lnB>
                    <a:solidFill>
                      <a:srgbClr val="0A1825"/>
                    </a:solidFill>
                  </a:tcPr>
                </a:tc>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Launch flagship</a:t>
                      </a:r>
                      <a:endParaRPr lang="en-US" sz="1100" dirty="0">
                        <a:latin typeface="Arial" charset="0"/>
                        <a:ea typeface="Arial" charset="0"/>
                        <a:cs typeface="Arial" charset="0"/>
                      </a:endParaRPr>
                    </a:p>
                  </a:txBody>
                  <a:tcPr marL="146304" marR="146304" marT="54864" marB="54864" anchor="ctr">
                    <a:lnL w="0" cap="flat" cmpd="sng" algn="ctr">
                      <a:noFill/>
                    </a:lnL>
                    <a:lnR w="0" cap="flat" cmpd="sng" algn="ctr">
                      <a:noFill/>
                    </a:lnR>
                    <a:lnT w="0" cap="flat" cmpd="sng" algn="ctr">
                      <a:noFill/>
                    </a:lnT>
                    <a:lnB w="6350" cap="flat" cmpd="sng" algn="ctr">
                      <a:solidFill>
                        <a:srgbClr val="E2EAF1"/>
                      </a:solidFill>
                      <a:prstDash val="solid"/>
                      <a:round/>
                      <a:headEnd type="none" w="med" len="med"/>
                      <a:tailEnd type="none" w="med" len="med"/>
                    </a:lnB>
                    <a:solidFill>
                      <a:srgbClr val="0A1825"/>
                    </a:solidFill>
                  </a:tcPr>
                </a:tc>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Setup</a:t>
                      </a:r>
                      <a:endParaRPr lang="en-US" sz="1100" dirty="0">
                        <a:latin typeface="Arial" charset="0"/>
                        <a:ea typeface="Arial" charset="0"/>
                        <a:cs typeface="Arial" charset="0"/>
                      </a:endParaRPr>
                    </a:p>
                  </a:txBody>
                  <a:tcPr marL="146304" marR="146304" marT="54864" marB="54864" anchor="ctr">
                    <a:lnL w="0" cap="flat" cmpd="sng" algn="ctr">
                      <a:noFill/>
                    </a:lnL>
                    <a:lnR w="0" cap="flat" cmpd="sng" algn="ctr">
                      <a:noFill/>
                    </a:lnR>
                    <a:lnT w="0" cap="flat" cmpd="sng" algn="ctr">
                      <a:noFill/>
                    </a:lnT>
                    <a:lnB w="6350" cap="flat" cmpd="sng" algn="ctr">
                      <a:solidFill>
                        <a:srgbClr val="E2EAF1"/>
                      </a:solidFill>
                      <a:prstDash val="solid"/>
                      <a:round/>
                      <a:headEnd type="none" w="med" len="med"/>
                      <a:tailEnd type="none" w="med" len="med"/>
                    </a:lnB>
                    <a:solidFill>
                      <a:srgbClr val="0A1825"/>
                    </a:solidFill>
                  </a:tcPr>
                </a:tc>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Monthly</a:t>
                      </a:r>
                      <a:endParaRPr lang="en-US" sz="1100" dirty="0">
                        <a:latin typeface="Arial" charset="0"/>
                        <a:ea typeface="Arial" charset="0"/>
                        <a:cs typeface="Arial" charset="0"/>
                      </a:endParaRPr>
                    </a:p>
                  </a:txBody>
                  <a:tcPr marL="146304" marR="146304" marT="54864" marB="54864" anchor="ctr">
                    <a:lnL w="0" cap="flat" cmpd="sng" algn="ctr">
                      <a:noFill/>
                    </a:lnL>
                    <a:lnR w="0" cap="flat" cmpd="sng" algn="ctr">
                      <a:noFill/>
                    </a:lnR>
                    <a:lnT w="0" cap="flat" cmpd="sng" algn="ctr">
                      <a:noFill/>
                    </a:lnT>
                    <a:lnB w="6350" cap="flat" cmpd="sng" algn="ctr">
                      <a:solidFill>
                        <a:srgbClr val="E2EAF1"/>
                      </a:solidFill>
                      <a:prstDash val="solid"/>
                      <a:round/>
                      <a:headEnd type="none" w="med" len="med"/>
                      <a:tailEnd type="none" w="med" len="med"/>
                    </a:lnB>
                    <a:solidFill>
                      <a:srgbClr val="0A1825"/>
                    </a:solidFill>
                  </a:tcPr>
                </a:tc>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Hours target</a:t>
                      </a:r>
                      <a:endParaRPr lang="en-US" sz="1100" dirty="0">
                        <a:latin typeface="Arial" charset="0"/>
                        <a:ea typeface="Arial" charset="0"/>
                        <a:cs typeface="Arial" charset="0"/>
                      </a:endParaRPr>
                    </a:p>
                  </a:txBody>
                  <a:tcPr marL="146304" marR="146304" marT="54864" marB="54864" anchor="ctr">
                    <a:lnL w="0" cap="flat" cmpd="sng" algn="ctr">
                      <a:noFill/>
                    </a:lnL>
                    <a:lnR w="0" cap="flat" cmpd="sng" algn="ctr">
                      <a:noFill/>
                    </a:lnR>
                    <a:lnT w="0" cap="flat" cmpd="sng" algn="ctr">
                      <a:noFill/>
                    </a:lnT>
                    <a:lnB w="6350" cap="flat" cmpd="sng" algn="ctr">
                      <a:solidFill>
                        <a:srgbClr val="E2EAF1"/>
                      </a:solidFill>
                      <a:prstDash val="solid"/>
                      <a:round/>
                      <a:headEnd type="none" w="med" len="med"/>
                      <a:tailEnd type="none" w="med" len="med"/>
                    </a:lnB>
                    <a:solidFill>
                      <a:srgbClr val="0A1825"/>
                    </a:solidFill>
                  </a:tcPr>
                </a:tc>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Roadmap · next</a:t>
                      </a:r>
                      <a:endParaRPr lang="en-US" sz="1100" dirty="0">
                        <a:latin typeface="Arial" charset="0"/>
                        <a:ea typeface="Arial" charset="0"/>
                        <a:cs typeface="Arial" charset="0"/>
                      </a:endParaRPr>
                    </a:p>
                  </a:txBody>
                  <a:tcPr marL="146304" marR="146304" marT="54864" marB="54864" anchor="ctr">
                    <a:lnL w="0" cap="flat" cmpd="sng" algn="ctr">
                      <a:noFill/>
                    </a:lnL>
                    <a:lnR w="0" cap="flat" cmpd="sng" algn="ctr">
                      <a:noFill/>
                    </a:lnR>
                    <a:lnT w="0" cap="flat" cmpd="sng" algn="ctr">
                      <a:noFill/>
                    </a:lnT>
                    <a:lnB w="6350" cap="flat" cmpd="sng" algn="ctr">
                      <a:solidFill>
                        <a:srgbClr val="E2EAF1"/>
                      </a:solidFill>
                      <a:prstDash val="solid"/>
                      <a:round/>
                      <a:headEnd type="none" w="med" len="med"/>
                      <a:tailEnd type="none" w="med" len="med"/>
                    </a:lnB>
                    <a:solidFill>
                      <a:srgbClr val="0A1825"/>
                    </a:solidFill>
                  </a:tcPr>
                </a:tc>
              </a:tr>
              <a:tr h="566928">
                <a:tc>
                  <a:txBody>
                    <a:bodyPr/>
                    <a:lstStyle/>
                    <a:p>
                      <a:pPr algn="l" indent="0" marL="0">
                        <a:buNone/>
                      </a:pPr>
                      <a:r>
                        <a:rPr lang="en-US" sz="1100" dirty="0">
                          <a:solidFill>
                            <a:srgbClr val="0F151B"/>
                          </a:solidFill>
                          <a:latin typeface="Arial" pitchFamily="34" charset="0"/>
                          <a:ea typeface="Arial" pitchFamily="34" charset="-122"/>
                          <a:cs typeface="Arial" pitchFamily="34" charset="-120"/>
                        </a:rPr>
                        <a:t>01 AEO / GEO</a:t>
                      </a:r>
                      <a:endParaRPr lang="en-US" sz="1100" dirty="0">
                        <a:latin typeface="Arial" charset="0"/>
                        <a:ea typeface="Arial" charset="0"/>
                        <a:cs typeface="Arial" charset="0"/>
                      </a:endParaRPr>
                    </a:p>
                  </a:txBody>
                  <a:tcPr marL="146304" marR="146304" marT="54864" marB="54864" anchor="ctr">
                    <a:lnL w="0" cap="flat" cmpd="sng" algn="ctr">
                      <a:noFill/>
                    </a:lnL>
                    <a:lnR w="0" cap="flat" cmpd="sng" algn="ctr">
                      <a:noFill/>
                    </a:lnR>
                    <a:lnT w="0" cap="flat" cmpd="sng" algn="ctr">
                      <a:noFill/>
                    </a:lnT>
                    <a:lnB w="6350" cap="flat" cmpd="sng" algn="ctr">
                      <a:solidFill>
                        <a:srgbClr val="E2EAF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F151B"/>
                          </a:solidFill>
                          <a:latin typeface="Arial" pitchFamily="34" charset="0"/>
                          <a:ea typeface="Arial" pitchFamily="34" charset="-122"/>
                          <a:cs typeface="Arial" pitchFamily="34" charset="-120"/>
                        </a:rPr>
                        <a:t>AI Search Readiness sprint</a:t>
                      </a:r>
                      <a:endParaRPr lang="en-US" sz="1100" dirty="0">
                        <a:latin typeface="Arial" charset="0"/>
                        <a:ea typeface="Arial" charset="0"/>
                        <a:cs typeface="Arial" charset="0"/>
                      </a:endParaRPr>
                    </a:p>
                  </a:txBody>
                  <a:tcPr marL="146304" marR="146304" marT="54864" marB="54864" anchor="ctr">
                    <a:lnL w="0" cap="flat" cmpd="sng" algn="ctr">
                      <a:noFill/>
                    </a:lnL>
                    <a:lnR w="0" cap="flat" cmpd="sng" algn="ctr">
                      <a:noFill/>
                    </a:lnR>
                    <a:lnT w="0" cap="flat" cmpd="sng" algn="ctr">
                      <a:noFill/>
                    </a:lnT>
                    <a:lnB w="6350" cap="flat" cmpd="sng" algn="ctr">
                      <a:solidFill>
                        <a:srgbClr val="E2EAF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F151B"/>
                          </a:solidFill>
                          <a:latin typeface="Arial" pitchFamily="34" charset="0"/>
                          <a:ea typeface="Arial" pitchFamily="34" charset="-122"/>
                          <a:cs typeface="Arial" pitchFamily="34" charset="-120"/>
                        </a:rPr>
                        <a:t>$1,500</a:t>
                      </a:r>
                      <a:endParaRPr lang="en-US" sz="1100" dirty="0">
                        <a:latin typeface="Arial" charset="0"/>
                        <a:ea typeface="Arial" charset="0"/>
                        <a:cs typeface="Arial" charset="0"/>
                      </a:endParaRPr>
                    </a:p>
                  </a:txBody>
                  <a:tcPr marL="146304" marR="146304" marT="54864" marB="54864" anchor="ctr">
                    <a:lnL w="0" cap="flat" cmpd="sng" algn="ctr">
                      <a:noFill/>
                    </a:lnL>
                    <a:lnR w="0" cap="flat" cmpd="sng" algn="ctr">
                      <a:noFill/>
                    </a:lnR>
                    <a:lnT w="0" cap="flat" cmpd="sng" algn="ctr">
                      <a:noFill/>
                    </a:lnT>
                    <a:lnB w="6350" cap="flat" cmpd="sng" algn="ctr">
                      <a:solidFill>
                        <a:srgbClr val="E2EAF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F151B"/>
                          </a:solidFill>
                          <a:latin typeface="Arial" pitchFamily="34" charset="0"/>
                          <a:ea typeface="Arial" pitchFamily="34" charset="-122"/>
                          <a:cs typeface="Arial" pitchFamily="34" charset="-120"/>
                        </a:rPr>
                        <a:t>$750</a:t>
                      </a:r>
                      <a:endParaRPr lang="en-US" sz="1100" dirty="0">
                        <a:latin typeface="Arial" charset="0"/>
                        <a:ea typeface="Arial" charset="0"/>
                        <a:cs typeface="Arial" charset="0"/>
                      </a:endParaRPr>
                    </a:p>
                  </a:txBody>
                  <a:tcPr marL="146304" marR="146304" marT="54864" marB="54864" anchor="ctr">
                    <a:lnL w="0" cap="flat" cmpd="sng" algn="ctr">
                      <a:noFill/>
                    </a:lnL>
                    <a:lnR w="0" cap="flat" cmpd="sng" algn="ctr">
                      <a:noFill/>
                    </a:lnR>
                    <a:lnT w="0" cap="flat" cmpd="sng" algn="ctr">
                      <a:noFill/>
                    </a:lnT>
                    <a:lnB w="6350" cap="flat" cmpd="sng" algn="ctr">
                      <a:solidFill>
                        <a:srgbClr val="E2EAF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F151B"/>
                          </a:solidFill>
                          <a:latin typeface="Arial" pitchFamily="34" charset="0"/>
                          <a:ea typeface="Arial" pitchFamily="34" charset="-122"/>
                          <a:cs typeface="Arial" pitchFamily="34" charset="-120"/>
                        </a:rPr>
                        <a:t>Under 4 hours/month per client by month three, measured</a:t>
                      </a:r>
                      <a:endParaRPr lang="en-US" sz="1100" dirty="0">
                        <a:latin typeface="Arial" charset="0"/>
                        <a:ea typeface="Arial" charset="0"/>
                        <a:cs typeface="Arial" charset="0"/>
                      </a:endParaRPr>
                    </a:p>
                  </a:txBody>
                  <a:tcPr marL="146304" marR="146304" marT="54864" marB="54864" anchor="ctr">
                    <a:lnL w="0" cap="flat" cmpd="sng" algn="ctr">
                      <a:noFill/>
                    </a:lnL>
                    <a:lnR w="0" cap="flat" cmpd="sng" algn="ctr">
                      <a:noFill/>
                    </a:lnR>
                    <a:lnT w="0" cap="flat" cmpd="sng" algn="ctr">
                      <a:noFill/>
                    </a:lnT>
                    <a:lnB w="6350" cap="flat" cmpd="sng" algn="ctr">
                      <a:solidFill>
                        <a:srgbClr val="E2EAF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F151B"/>
                          </a:solidFill>
                          <a:latin typeface="Arial" pitchFamily="34" charset="0"/>
                          <a:ea typeface="Arial" pitchFamily="34" charset="-122"/>
                          <a:cs typeface="Arial" pitchFamily="34" charset="-120"/>
                        </a:rPr>
                        <a:t>AI Visibility monitoring · $500/month</a:t>
                      </a:r>
                      <a:endParaRPr lang="en-US" sz="1100" dirty="0">
                        <a:latin typeface="Arial" charset="0"/>
                        <a:ea typeface="Arial" charset="0"/>
                        <a:cs typeface="Arial" charset="0"/>
                      </a:endParaRPr>
                    </a:p>
                  </a:txBody>
                  <a:tcPr marL="146304" marR="146304" marT="54864" marB="54864" anchor="ctr">
                    <a:lnL w="0" cap="flat" cmpd="sng" algn="ctr">
                      <a:noFill/>
                    </a:lnL>
                    <a:lnR w="0" cap="flat" cmpd="sng" algn="ctr">
                      <a:noFill/>
                    </a:lnR>
                    <a:lnT w="0" cap="flat" cmpd="sng" algn="ctr">
                      <a:noFill/>
                    </a:lnT>
                    <a:lnB w="6350" cap="flat" cmpd="sng" algn="ctr">
                      <a:solidFill>
                        <a:srgbClr val="E2EAF1"/>
                      </a:solidFill>
                      <a:prstDash val="solid"/>
                      <a:round/>
                      <a:headEnd type="none" w="med" len="med"/>
                      <a:tailEnd type="none" w="med" len="med"/>
                    </a:lnB>
                    <a:solidFill>
                      <a:srgbClr val="FFFFFF"/>
                    </a:solidFill>
                  </a:tcPr>
                </a:tc>
              </a:tr>
              <a:tr h="566928">
                <a:tc>
                  <a:txBody>
                    <a:bodyPr/>
                    <a:lstStyle/>
                    <a:p>
                      <a:pPr algn="l" indent="0" marL="0">
                        <a:buNone/>
                      </a:pPr>
                      <a:r>
                        <a:rPr lang="en-US" sz="1100" dirty="0">
                          <a:solidFill>
                            <a:srgbClr val="0F151B"/>
                          </a:solidFill>
                          <a:latin typeface="Arial" pitchFamily="34" charset="0"/>
                          <a:ea typeface="Arial" pitchFamily="34" charset="-122"/>
                          <a:cs typeface="Arial" pitchFamily="34" charset="-120"/>
                        </a:rPr>
                        <a:t>02 AI Design</a:t>
                      </a:r>
                      <a:endParaRPr lang="en-US" sz="1100" dirty="0">
                        <a:latin typeface="Arial" charset="0"/>
                        <a:ea typeface="Arial" charset="0"/>
                        <a:cs typeface="Arial" charset="0"/>
                      </a:endParaRPr>
                    </a:p>
                  </a:txBody>
                  <a:tcPr marL="146304" marR="146304" marT="54864" marB="54864" anchor="ctr">
                    <a:lnL w="0" cap="flat" cmpd="sng" algn="ctr">
                      <a:noFill/>
                    </a:lnL>
                    <a:lnR w="0" cap="flat" cmpd="sng" algn="ctr">
                      <a:noFill/>
                    </a:lnR>
                    <a:lnT w="0" cap="flat" cmpd="sng" algn="ctr">
                      <a:noFill/>
                    </a:lnT>
                    <a:lnB w="6350" cap="flat" cmpd="sng" algn="ctr">
                      <a:solidFill>
                        <a:srgbClr val="E2EAF1"/>
                      </a:solidFill>
                      <a:prstDash val="solid"/>
                      <a:round/>
                      <a:headEnd type="none" w="med" len="med"/>
                      <a:tailEnd type="none" w="med" len="med"/>
                    </a:lnB>
                    <a:solidFill>
                      <a:srgbClr val="F1F6FA"/>
                    </a:solidFill>
                  </a:tcPr>
                </a:tc>
                <a:tc>
                  <a:txBody>
                    <a:bodyPr/>
                    <a:lstStyle/>
                    <a:p>
                      <a:pPr algn="l" indent="0" marL="0">
                        <a:buNone/>
                      </a:pPr>
                      <a:r>
                        <a:rPr lang="en-US" sz="1100" dirty="0">
                          <a:solidFill>
                            <a:srgbClr val="0F151B"/>
                          </a:solidFill>
                          <a:latin typeface="Arial" pitchFamily="34" charset="0"/>
                          <a:ea typeface="Arial" pitchFamily="34" charset="-122"/>
                          <a:cs typeface="Arial" pitchFamily="34" charset="-120"/>
                        </a:rPr>
                        <a:t>Spec build</a:t>
                      </a:r>
                      <a:endParaRPr lang="en-US" sz="1100" dirty="0">
                        <a:latin typeface="Arial" charset="0"/>
                        <a:ea typeface="Arial" charset="0"/>
                        <a:cs typeface="Arial" charset="0"/>
                      </a:endParaRPr>
                    </a:p>
                  </a:txBody>
                  <a:tcPr marL="146304" marR="146304" marT="54864" marB="54864" anchor="ctr">
                    <a:lnL w="0" cap="flat" cmpd="sng" algn="ctr">
                      <a:noFill/>
                    </a:lnL>
                    <a:lnR w="0" cap="flat" cmpd="sng" algn="ctr">
                      <a:noFill/>
                    </a:lnR>
                    <a:lnT w="0" cap="flat" cmpd="sng" algn="ctr">
                      <a:noFill/>
                    </a:lnT>
                    <a:lnB w="6350" cap="flat" cmpd="sng" algn="ctr">
                      <a:solidFill>
                        <a:srgbClr val="E2EAF1"/>
                      </a:solidFill>
                      <a:prstDash val="solid"/>
                      <a:round/>
                      <a:headEnd type="none" w="med" len="med"/>
                      <a:tailEnd type="none" w="med" len="med"/>
                    </a:lnB>
                    <a:solidFill>
                      <a:srgbClr val="F1F6FA"/>
                    </a:solidFill>
                  </a:tcPr>
                </a:tc>
                <a:tc>
                  <a:txBody>
                    <a:bodyPr/>
                    <a:lstStyle/>
                    <a:p>
                      <a:pPr algn="l" indent="0" marL="0">
                        <a:buNone/>
                      </a:pPr>
                      <a:r>
                        <a:rPr lang="en-US" sz="1100" dirty="0">
                          <a:solidFill>
                            <a:srgbClr val="0F151B"/>
                          </a:solidFill>
                          <a:latin typeface="Arial" pitchFamily="34" charset="0"/>
                          <a:ea typeface="Arial" pitchFamily="34" charset="-122"/>
                          <a:cs typeface="Arial" pitchFamily="34" charset="-120"/>
                        </a:rPr>
                        <a:t>$3,500</a:t>
                      </a:r>
                      <a:endParaRPr lang="en-US" sz="1100" dirty="0">
                        <a:latin typeface="Arial" charset="0"/>
                        <a:ea typeface="Arial" charset="0"/>
                        <a:cs typeface="Arial" charset="0"/>
                      </a:endParaRPr>
                    </a:p>
                  </a:txBody>
                  <a:tcPr marL="146304" marR="146304" marT="54864" marB="54864" anchor="ctr">
                    <a:lnL w="0" cap="flat" cmpd="sng" algn="ctr">
                      <a:noFill/>
                    </a:lnL>
                    <a:lnR w="0" cap="flat" cmpd="sng" algn="ctr">
                      <a:noFill/>
                    </a:lnR>
                    <a:lnT w="0" cap="flat" cmpd="sng" algn="ctr">
                      <a:noFill/>
                    </a:lnT>
                    <a:lnB w="6350" cap="flat" cmpd="sng" algn="ctr">
                      <a:solidFill>
                        <a:srgbClr val="E2EAF1"/>
                      </a:solidFill>
                      <a:prstDash val="solid"/>
                      <a:round/>
                      <a:headEnd type="none" w="med" len="med"/>
                      <a:tailEnd type="none" w="med" len="med"/>
                    </a:lnB>
                    <a:solidFill>
                      <a:srgbClr val="F1F6FA"/>
                    </a:solidFill>
                  </a:tcPr>
                </a:tc>
                <a:tc>
                  <a:txBody>
                    <a:bodyPr/>
                    <a:lstStyle/>
                    <a:p>
                      <a:pPr algn="l" indent="0" marL="0">
                        <a:buNone/>
                      </a:pPr>
                      <a:r>
                        <a:rPr lang="en-US" sz="1100" dirty="0">
                          <a:solidFill>
                            <a:srgbClr val="0F151B"/>
                          </a:solidFill>
                          <a:latin typeface="Arial" pitchFamily="34" charset="0"/>
                          <a:ea typeface="Arial" pitchFamily="34" charset="-122"/>
                          <a:cs typeface="Arial" pitchFamily="34" charset="-120"/>
                        </a:rPr>
                        <a:t>fixed</a:t>
                      </a:r>
                      <a:endParaRPr lang="en-US" sz="1100" dirty="0">
                        <a:latin typeface="Arial" charset="0"/>
                        <a:ea typeface="Arial" charset="0"/>
                        <a:cs typeface="Arial" charset="0"/>
                      </a:endParaRPr>
                    </a:p>
                  </a:txBody>
                  <a:tcPr marL="146304" marR="146304" marT="54864" marB="54864" anchor="ctr">
                    <a:lnL w="0" cap="flat" cmpd="sng" algn="ctr">
                      <a:noFill/>
                    </a:lnL>
                    <a:lnR w="0" cap="flat" cmpd="sng" algn="ctr">
                      <a:noFill/>
                    </a:lnR>
                    <a:lnT w="0" cap="flat" cmpd="sng" algn="ctr">
                      <a:noFill/>
                    </a:lnT>
                    <a:lnB w="6350" cap="flat" cmpd="sng" algn="ctr">
                      <a:solidFill>
                        <a:srgbClr val="E2EAF1"/>
                      </a:solidFill>
                      <a:prstDash val="solid"/>
                      <a:round/>
                      <a:headEnd type="none" w="med" len="med"/>
                      <a:tailEnd type="none" w="med" len="med"/>
                    </a:lnB>
                    <a:solidFill>
                      <a:srgbClr val="F1F6FA"/>
                    </a:solidFill>
                  </a:tcPr>
                </a:tc>
                <a:tc>
                  <a:txBody>
                    <a:bodyPr/>
                    <a:lstStyle/>
                    <a:p>
                      <a:pPr algn="l" indent="0" marL="0">
                        <a:buNone/>
                      </a:pPr>
                      <a:r>
                        <a:rPr lang="en-US" sz="1100" dirty="0">
                          <a:solidFill>
                            <a:srgbClr val="0F151B"/>
                          </a:solidFill>
                          <a:latin typeface="Arial" pitchFamily="34" charset="0"/>
                          <a:ea typeface="Arial" pitchFamily="34" charset="-122"/>
                          <a:cs typeface="Arial" pitchFamily="34" charset="-120"/>
                        </a:rPr>
                        <a:t>Under 24 hours per build, measured</a:t>
                      </a:r>
                      <a:endParaRPr lang="en-US" sz="1100" dirty="0">
                        <a:latin typeface="Arial" charset="0"/>
                        <a:ea typeface="Arial" charset="0"/>
                        <a:cs typeface="Arial" charset="0"/>
                      </a:endParaRPr>
                    </a:p>
                  </a:txBody>
                  <a:tcPr marL="146304" marR="146304" marT="54864" marB="54864" anchor="ctr">
                    <a:lnL w="0" cap="flat" cmpd="sng" algn="ctr">
                      <a:noFill/>
                    </a:lnL>
                    <a:lnR w="0" cap="flat" cmpd="sng" algn="ctr">
                      <a:noFill/>
                    </a:lnR>
                    <a:lnT w="0" cap="flat" cmpd="sng" algn="ctr">
                      <a:noFill/>
                    </a:lnT>
                    <a:lnB w="6350" cap="flat" cmpd="sng" algn="ctr">
                      <a:solidFill>
                        <a:srgbClr val="E2EAF1"/>
                      </a:solidFill>
                      <a:prstDash val="solid"/>
                      <a:round/>
                      <a:headEnd type="none" w="med" len="med"/>
                      <a:tailEnd type="none" w="med" len="med"/>
                    </a:lnB>
                    <a:solidFill>
                      <a:srgbClr val="F1F6FA"/>
                    </a:solidFill>
                  </a:tcPr>
                </a:tc>
                <a:tc>
                  <a:txBody>
                    <a:bodyPr/>
                    <a:lstStyle/>
                    <a:p>
                      <a:pPr algn="l" indent="0" marL="0">
                        <a:buNone/>
                      </a:pPr>
                      <a:r>
                        <a:rPr lang="en-US" sz="1100" dirty="0">
                          <a:solidFill>
                            <a:srgbClr val="0F151B"/>
                          </a:solidFill>
                          <a:latin typeface="Arial" pitchFamily="34" charset="0"/>
                          <a:ea typeface="Arial" pitchFamily="34" charset="-122"/>
                          <a:cs typeface="Arial" pitchFamily="34" charset="-120"/>
                        </a:rPr>
                        <a:t>Closed-loop site optimization · $1,000/month</a:t>
                      </a:r>
                      <a:endParaRPr lang="en-US" sz="1100" dirty="0">
                        <a:latin typeface="Arial" charset="0"/>
                        <a:ea typeface="Arial" charset="0"/>
                        <a:cs typeface="Arial" charset="0"/>
                      </a:endParaRPr>
                    </a:p>
                  </a:txBody>
                  <a:tcPr marL="146304" marR="146304" marT="54864" marB="54864" anchor="ctr">
                    <a:lnL w="0" cap="flat" cmpd="sng" algn="ctr">
                      <a:noFill/>
                    </a:lnL>
                    <a:lnR w="0" cap="flat" cmpd="sng" algn="ctr">
                      <a:noFill/>
                    </a:lnR>
                    <a:lnT w="0" cap="flat" cmpd="sng" algn="ctr">
                      <a:noFill/>
                    </a:lnT>
                    <a:lnB w="6350" cap="flat" cmpd="sng" algn="ctr">
                      <a:solidFill>
                        <a:srgbClr val="E2EAF1"/>
                      </a:solidFill>
                      <a:prstDash val="solid"/>
                      <a:round/>
                      <a:headEnd type="none" w="med" len="med"/>
                      <a:tailEnd type="none" w="med" len="med"/>
                    </a:lnB>
                    <a:solidFill>
                      <a:srgbClr val="F1F6FA"/>
                    </a:solidFill>
                  </a:tcPr>
                </a:tc>
              </a:tr>
              <a:tr h="566928">
                <a:tc>
                  <a:txBody>
                    <a:bodyPr/>
                    <a:lstStyle/>
                    <a:p>
                      <a:pPr algn="l" indent="0" marL="0">
                        <a:buNone/>
                      </a:pPr>
                      <a:r>
                        <a:rPr lang="en-US" sz="1100" dirty="0">
                          <a:solidFill>
                            <a:srgbClr val="0F151B"/>
                          </a:solidFill>
                          <a:latin typeface="Arial" pitchFamily="34" charset="0"/>
                          <a:ea typeface="Arial" pitchFamily="34" charset="-122"/>
                          <a:cs typeface="Arial" pitchFamily="34" charset="-120"/>
                        </a:rPr>
                        <a:t>03 AI Marketing</a:t>
                      </a:r>
                      <a:endParaRPr lang="en-US" sz="1100" dirty="0">
                        <a:latin typeface="Arial" charset="0"/>
                        <a:ea typeface="Arial" charset="0"/>
                        <a:cs typeface="Arial" charset="0"/>
                      </a:endParaRPr>
                    </a:p>
                  </a:txBody>
                  <a:tcPr marL="146304" marR="146304" marT="54864" marB="54864" anchor="ctr">
                    <a:lnL w="0" cap="flat" cmpd="sng" algn="ctr">
                      <a:noFill/>
                    </a:lnL>
                    <a:lnR w="0" cap="flat" cmpd="sng" algn="ctr">
                      <a:noFill/>
                    </a:lnR>
                    <a:lnT w="0" cap="flat" cmpd="sng" algn="ctr">
                      <a:noFill/>
                    </a:lnT>
                    <a:lnB w="6350" cap="flat" cmpd="sng" algn="ctr">
                      <a:solidFill>
                        <a:srgbClr val="E2EAF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F151B"/>
                          </a:solidFill>
                          <a:latin typeface="Arial" pitchFamily="34" charset="0"/>
                          <a:ea typeface="Arial" pitchFamily="34" charset="-122"/>
                          <a:cs typeface="Arial" pitchFamily="34" charset="-120"/>
                        </a:rPr>
                        <a:t>Motion content system</a:t>
                      </a:r>
                      <a:endParaRPr lang="en-US" sz="1100" dirty="0">
                        <a:latin typeface="Arial" charset="0"/>
                        <a:ea typeface="Arial" charset="0"/>
                        <a:cs typeface="Arial" charset="0"/>
                      </a:endParaRPr>
                    </a:p>
                  </a:txBody>
                  <a:tcPr marL="146304" marR="146304" marT="54864" marB="54864" anchor="ctr">
                    <a:lnL w="0" cap="flat" cmpd="sng" algn="ctr">
                      <a:noFill/>
                    </a:lnL>
                    <a:lnR w="0" cap="flat" cmpd="sng" algn="ctr">
                      <a:noFill/>
                    </a:lnR>
                    <a:lnT w="0" cap="flat" cmpd="sng" algn="ctr">
                      <a:noFill/>
                    </a:lnT>
                    <a:lnB w="6350" cap="flat" cmpd="sng" algn="ctr">
                      <a:solidFill>
                        <a:srgbClr val="E2EAF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F151B"/>
                          </a:solidFill>
                          <a:latin typeface="Arial" pitchFamily="34" charset="0"/>
                          <a:ea typeface="Arial" pitchFamily="34" charset="-122"/>
                          <a:cs typeface="Arial" pitchFamily="34" charset="-120"/>
                        </a:rPr>
                        <a:t>$1,500</a:t>
                      </a:r>
                      <a:endParaRPr lang="en-US" sz="1100" dirty="0">
                        <a:latin typeface="Arial" charset="0"/>
                        <a:ea typeface="Arial" charset="0"/>
                        <a:cs typeface="Arial" charset="0"/>
                      </a:endParaRPr>
                    </a:p>
                  </a:txBody>
                  <a:tcPr marL="146304" marR="146304" marT="54864" marB="54864" anchor="ctr">
                    <a:lnL w="0" cap="flat" cmpd="sng" algn="ctr">
                      <a:noFill/>
                    </a:lnL>
                    <a:lnR w="0" cap="flat" cmpd="sng" algn="ctr">
                      <a:noFill/>
                    </a:lnR>
                    <a:lnT w="0" cap="flat" cmpd="sng" algn="ctr">
                      <a:noFill/>
                    </a:lnT>
                    <a:lnB w="6350" cap="flat" cmpd="sng" algn="ctr">
                      <a:solidFill>
                        <a:srgbClr val="E2EAF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F151B"/>
                          </a:solidFill>
                          <a:latin typeface="Arial" pitchFamily="34" charset="0"/>
                          <a:ea typeface="Arial" pitchFamily="34" charset="-122"/>
                          <a:cs typeface="Arial" pitchFamily="34" charset="-120"/>
                        </a:rPr>
                        <a:t>$1,250</a:t>
                      </a:r>
                      <a:endParaRPr lang="en-US" sz="1100" dirty="0">
                        <a:latin typeface="Arial" charset="0"/>
                        <a:ea typeface="Arial" charset="0"/>
                        <a:cs typeface="Arial" charset="0"/>
                      </a:endParaRPr>
                    </a:p>
                  </a:txBody>
                  <a:tcPr marL="146304" marR="146304" marT="54864" marB="54864" anchor="ctr">
                    <a:lnL w="0" cap="flat" cmpd="sng" algn="ctr">
                      <a:noFill/>
                    </a:lnL>
                    <a:lnR w="0" cap="flat" cmpd="sng" algn="ctr">
                      <a:noFill/>
                    </a:lnR>
                    <a:lnT w="0" cap="flat" cmpd="sng" algn="ctr">
                      <a:noFill/>
                    </a:lnT>
                    <a:lnB w="6350" cap="flat" cmpd="sng" algn="ctr">
                      <a:solidFill>
                        <a:srgbClr val="E2EAF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F151B"/>
                          </a:solidFill>
                          <a:latin typeface="Arial" pitchFamily="34" charset="0"/>
                          <a:ea typeface="Arial" pitchFamily="34" charset="-122"/>
                          <a:cs typeface="Arial" pitchFamily="34" charset="-120"/>
                        </a:rPr>
                        <a:t>Under 6 hours/month per client, measured</a:t>
                      </a:r>
                      <a:endParaRPr lang="en-US" sz="1100" dirty="0">
                        <a:latin typeface="Arial" charset="0"/>
                        <a:ea typeface="Arial" charset="0"/>
                        <a:cs typeface="Arial" charset="0"/>
                      </a:endParaRPr>
                    </a:p>
                  </a:txBody>
                  <a:tcPr marL="146304" marR="146304" marT="54864" marB="54864" anchor="ctr">
                    <a:lnL w="0" cap="flat" cmpd="sng" algn="ctr">
                      <a:noFill/>
                    </a:lnL>
                    <a:lnR w="0" cap="flat" cmpd="sng" algn="ctr">
                      <a:noFill/>
                    </a:lnR>
                    <a:lnT w="0" cap="flat" cmpd="sng" algn="ctr">
                      <a:noFill/>
                    </a:lnT>
                    <a:lnB w="6350" cap="flat" cmpd="sng" algn="ctr">
                      <a:solidFill>
                        <a:srgbClr val="E2EAF1"/>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F151B"/>
                          </a:solidFill>
                          <a:latin typeface="Arial" pitchFamily="34" charset="0"/>
                          <a:ea typeface="Arial" pitchFamily="34" charset="-122"/>
                          <a:cs typeface="Arial" pitchFamily="34" charset="-120"/>
                        </a:rPr>
                        <a:t>ChatGPT Ads management · $500/month</a:t>
                      </a:r>
                      <a:endParaRPr lang="en-US" sz="1100" dirty="0">
                        <a:latin typeface="Arial" charset="0"/>
                        <a:ea typeface="Arial" charset="0"/>
                        <a:cs typeface="Arial" charset="0"/>
                      </a:endParaRPr>
                    </a:p>
                  </a:txBody>
                  <a:tcPr marL="146304" marR="146304" marT="54864" marB="54864" anchor="ctr">
                    <a:lnL w="0" cap="flat" cmpd="sng" algn="ctr">
                      <a:noFill/>
                    </a:lnL>
                    <a:lnR w="0" cap="flat" cmpd="sng" algn="ctr">
                      <a:noFill/>
                    </a:lnR>
                    <a:lnT w="0" cap="flat" cmpd="sng" algn="ctr">
                      <a:noFill/>
                    </a:lnT>
                    <a:lnB w="6350" cap="flat" cmpd="sng" algn="ctr">
                      <a:solidFill>
                        <a:srgbClr val="E2EAF1"/>
                      </a:solidFill>
                      <a:prstDash val="solid"/>
                      <a:round/>
                      <a:headEnd type="none" w="med" len="med"/>
                      <a:tailEnd type="none" w="med" len="med"/>
                    </a:lnB>
                    <a:solidFill>
                      <a:srgbClr val="FFFFFF"/>
                    </a:solidFill>
                  </a:tcPr>
                </a:tc>
              </a:tr>
              <a:tr h="566928">
                <a:tc>
                  <a:txBody>
                    <a:bodyPr/>
                    <a:lstStyle/>
                    <a:p>
                      <a:pPr algn="l" indent="0" marL="0">
                        <a:buNone/>
                      </a:pPr>
                      <a:r>
                        <a:rPr lang="en-US" sz="1100" dirty="0">
                          <a:solidFill>
                            <a:srgbClr val="0F151B"/>
                          </a:solidFill>
                          <a:latin typeface="Arial" pitchFamily="34" charset="0"/>
                          <a:ea typeface="Arial" pitchFamily="34" charset="-122"/>
                          <a:cs typeface="Arial" pitchFamily="34" charset="-120"/>
                        </a:rPr>
                        <a:t>04 AI Automation</a:t>
                      </a:r>
                      <a:endParaRPr lang="en-US" sz="1100" dirty="0">
                        <a:latin typeface="Arial" charset="0"/>
                        <a:ea typeface="Arial" charset="0"/>
                        <a:cs typeface="Arial" charset="0"/>
                      </a:endParaRPr>
                    </a:p>
                  </a:txBody>
                  <a:tcPr marL="146304" marR="146304" marT="54864" marB="54864" anchor="ctr">
                    <a:lnL w="0" cap="flat" cmpd="sng" algn="ctr">
                      <a:noFill/>
                    </a:lnL>
                    <a:lnR w="0" cap="flat" cmpd="sng" algn="ctr">
                      <a:noFill/>
                    </a:lnR>
                    <a:lnT w="0" cap="flat" cmpd="sng" algn="ctr">
                      <a:noFill/>
                    </a:lnT>
                    <a:lnB w="6350" cap="flat" cmpd="sng" algn="ctr">
                      <a:solidFill>
                        <a:srgbClr val="E2EAF1"/>
                      </a:solidFill>
                      <a:prstDash val="solid"/>
                      <a:round/>
                      <a:headEnd type="none" w="med" len="med"/>
                      <a:tailEnd type="none" w="med" len="med"/>
                    </a:lnB>
                    <a:solidFill>
                      <a:srgbClr val="F1F6FA"/>
                    </a:solidFill>
                  </a:tcPr>
                </a:tc>
                <a:tc>
                  <a:txBody>
                    <a:bodyPr/>
                    <a:lstStyle/>
                    <a:p>
                      <a:pPr algn="l" indent="0" marL="0">
                        <a:buNone/>
                      </a:pPr>
                      <a:r>
                        <a:rPr lang="en-US" sz="1100" dirty="0">
                          <a:solidFill>
                            <a:srgbClr val="0F151B"/>
                          </a:solidFill>
                          <a:latin typeface="Arial" pitchFamily="34" charset="0"/>
                          <a:ea typeface="Arial" pitchFamily="34" charset="-122"/>
                          <a:cs typeface="Arial" pitchFamily="34" charset="-120"/>
                        </a:rPr>
                        <a:t>Lead Operations agent</a:t>
                      </a:r>
                      <a:endParaRPr lang="en-US" sz="1100" dirty="0">
                        <a:latin typeface="Arial" charset="0"/>
                        <a:ea typeface="Arial" charset="0"/>
                        <a:cs typeface="Arial" charset="0"/>
                      </a:endParaRPr>
                    </a:p>
                  </a:txBody>
                  <a:tcPr marL="146304" marR="146304" marT="54864" marB="54864" anchor="ctr">
                    <a:lnL w="0" cap="flat" cmpd="sng" algn="ctr">
                      <a:noFill/>
                    </a:lnL>
                    <a:lnR w="0" cap="flat" cmpd="sng" algn="ctr">
                      <a:noFill/>
                    </a:lnR>
                    <a:lnT w="0" cap="flat" cmpd="sng" algn="ctr">
                      <a:noFill/>
                    </a:lnT>
                    <a:lnB w="6350" cap="flat" cmpd="sng" algn="ctr">
                      <a:solidFill>
                        <a:srgbClr val="E2EAF1"/>
                      </a:solidFill>
                      <a:prstDash val="solid"/>
                      <a:round/>
                      <a:headEnd type="none" w="med" len="med"/>
                      <a:tailEnd type="none" w="med" len="med"/>
                    </a:lnB>
                    <a:solidFill>
                      <a:srgbClr val="F1F6FA"/>
                    </a:solidFill>
                  </a:tcPr>
                </a:tc>
                <a:tc>
                  <a:txBody>
                    <a:bodyPr/>
                    <a:lstStyle/>
                    <a:p>
                      <a:pPr algn="l" indent="0" marL="0">
                        <a:buNone/>
                      </a:pPr>
                      <a:r>
                        <a:rPr lang="en-US" sz="1100" dirty="0">
                          <a:solidFill>
                            <a:srgbClr val="0F151B"/>
                          </a:solidFill>
                          <a:latin typeface="Arial" pitchFamily="34" charset="0"/>
                          <a:ea typeface="Arial" pitchFamily="34" charset="-122"/>
                          <a:cs typeface="Arial" pitchFamily="34" charset="-120"/>
                        </a:rPr>
                        <a:t>$3,500</a:t>
                      </a:r>
                      <a:endParaRPr lang="en-US" sz="1100" dirty="0">
                        <a:latin typeface="Arial" charset="0"/>
                        <a:ea typeface="Arial" charset="0"/>
                        <a:cs typeface="Arial" charset="0"/>
                      </a:endParaRPr>
                    </a:p>
                  </a:txBody>
                  <a:tcPr marL="146304" marR="146304" marT="54864" marB="54864" anchor="ctr">
                    <a:lnL w="0" cap="flat" cmpd="sng" algn="ctr">
                      <a:noFill/>
                    </a:lnL>
                    <a:lnR w="0" cap="flat" cmpd="sng" algn="ctr">
                      <a:noFill/>
                    </a:lnR>
                    <a:lnT w="0" cap="flat" cmpd="sng" algn="ctr">
                      <a:noFill/>
                    </a:lnT>
                    <a:lnB w="6350" cap="flat" cmpd="sng" algn="ctr">
                      <a:solidFill>
                        <a:srgbClr val="E2EAF1"/>
                      </a:solidFill>
                      <a:prstDash val="solid"/>
                      <a:round/>
                      <a:headEnd type="none" w="med" len="med"/>
                      <a:tailEnd type="none" w="med" len="med"/>
                    </a:lnB>
                    <a:solidFill>
                      <a:srgbClr val="F1F6FA"/>
                    </a:solidFill>
                  </a:tcPr>
                </a:tc>
                <a:tc>
                  <a:txBody>
                    <a:bodyPr/>
                    <a:lstStyle/>
                    <a:p>
                      <a:pPr algn="l" indent="0" marL="0">
                        <a:buNone/>
                      </a:pPr>
                      <a:r>
                        <a:rPr lang="en-US" sz="1100" dirty="0">
                          <a:solidFill>
                            <a:srgbClr val="0F151B"/>
                          </a:solidFill>
                          <a:latin typeface="Arial" pitchFamily="34" charset="0"/>
                          <a:ea typeface="Arial" pitchFamily="34" charset="-122"/>
                          <a:cs typeface="Arial" pitchFamily="34" charset="-120"/>
                        </a:rPr>
                        <a:t>$1,500</a:t>
                      </a:r>
                      <a:endParaRPr lang="en-US" sz="1100" dirty="0">
                        <a:latin typeface="Arial" charset="0"/>
                        <a:ea typeface="Arial" charset="0"/>
                        <a:cs typeface="Arial" charset="0"/>
                      </a:endParaRPr>
                    </a:p>
                  </a:txBody>
                  <a:tcPr marL="146304" marR="146304" marT="54864" marB="54864" anchor="ctr">
                    <a:lnL w="0" cap="flat" cmpd="sng" algn="ctr">
                      <a:noFill/>
                    </a:lnL>
                    <a:lnR w="0" cap="flat" cmpd="sng" algn="ctr">
                      <a:noFill/>
                    </a:lnR>
                    <a:lnT w="0" cap="flat" cmpd="sng" algn="ctr">
                      <a:noFill/>
                    </a:lnT>
                    <a:lnB w="6350" cap="flat" cmpd="sng" algn="ctr">
                      <a:solidFill>
                        <a:srgbClr val="E2EAF1"/>
                      </a:solidFill>
                      <a:prstDash val="solid"/>
                      <a:round/>
                      <a:headEnd type="none" w="med" len="med"/>
                      <a:tailEnd type="none" w="med" len="med"/>
                    </a:lnB>
                    <a:solidFill>
                      <a:srgbClr val="F1F6FA"/>
                    </a:solidFill>
                  </a:tcPr>
                </a:tc>
                <a:tc>
                  <a:txBody>
                    <a:bodyPr/>
                    <a:lstStyle/>
                    <a:p>
                      <a:pPr algn="l" indent="0" marL="0">
                        <a:buNone/>
                      </a:pPr>
                      <a:r>
                        <a:rPr lang="en-US" sz="1100" dirty="0">
                          <a:solidFill>
                            <a:srgbClr val="0F151B"/>
                          </a:solidFill>
                          <a:latin typeface="Arial" pitchFamily="34" charset="0"/>
                          <a:ea typeface="Arial" pitchFamily="34" charset="-122"/>
                          <a:cs typeface="Arial" pitchFamily="34" charset="-120"/>
                        </a:rPr>
                        <a:t>Under 6 hours/month per client, measured</a:t>
                      </a:r>
                      <a:endParaRPr lang="en-US" sz="1100" dirty="0">
                        <a:latin typeface="Arial" charset="0"/>
                        <a:ea typeface="Arial" charset="0"/>
                        <a:cs typeface="Arial" charset="0"/>
                      </a:endParaRPr>
                    </a:p>
                  </a:txBody>
                  <a:tcPr marL="146304" marR="146304" marT="54864" marB="54864" anchor="ctr">
                    <a:lnL w="0" cap="flat" cmpd="sng" algn="ctr">
                      <a:noFill/>
                    </a:lnL>
                    <a:lnR w="0" cap="flat" cmpd="sng" algn="ctr">
                      <a:noFill/>
                    </a:lnR>
                    <a:lnT w="0" cap="flat" cmpd="sng" algn="ctr">
                      <a:noFill/>
                    </a:lnT>
                    <a:lnB w="6350" cap="flat" cmpd="sng" algn="ctr">
                      <a:solidFill>
                        <a:srgbClr val="E2EAF1"/>
                      </a:solidFill>
                      <a:prstDash val="solid"/>
                      <a:round/>
                      <a:headEnd type="none" w="med" len="med"/>
                      <a:tailEnd type="none" w="med" len="med"/>
                    </a:lnB>
                    <a:solidFill>
                      <a:srgbClr val="F1F6FA"/>
                    </a:solidFill>
                  </a:tcPr>
                </a:tc>
                <a:tc>
                  <a:txBody>
                    <a:bodyPr/>
                    <a:lstStyle/>
                    <a:p>
                      <a:pPr algn="l" indent="0" marL="0">
                        <a:buNone/>
                      </a:pPr>
                      <a:r>
                        <a:rPr lang="en-US" sz="1100" dirty="0">
                          <a:solidFill>
                            <a:srgbClr val="0F151B"/>
                          </a:solidFill>
                          <a:latin typeface="Arial" pitchFamily="34" charset="0"/>
                          <a:ea typeface="Arial" pitchFamily="34" charset="-122"/>
                          <a:cs typeface="Arial" pitchFamily="34" charset="-120"/>
                        </a:rPr>
                        <a:t>Attribution Spine · $3,500 build + $1,000/month</a:t>
                      </a:r>
                      <a:endParaRPr lang="en-US" sz="1100" dirty="0">
                        <a:latin typeface="Arial" charset="0"/>
                        <a:ea typeface="Arial" charset="0"/>
                        <a:cs typeface="Arial" charset="0"/>
                      </a:endParaRPr>
                    </a:p>
                  </a:txBody>
                  <a:tcPr marL="146304" marR="146304" marT="54864" marB="54864" anchor="ctr">
                    <a:lnL w="0" cap="flat" cmpd="sng" algn="ctr">
                      <a:noFill/>
                    </a:lnL>
                    <a:lnR w="0" cap="flat" cmpd="sng" algn="ctr">
                      <a:noFill/>
                    </a:lnR>
                    <a:lnT w="0" cap="flat" cmpd="sng" algn="ctr">
                      <a:noFill/>
                    </a:lnT>
                    <a:lnB w="6350" cap="flat" cmpd="sng" algn="ctr">
                      <a:solidFill>
                        <a:srgbClr val="E2EAF1"/>
                      </a:solidFill>
                      <a:prstDash val="solid"/>
                      <a:round/>
                      <a:headEnd type="none" w="med" len="med"/>
                      <a:tailEnd type="none" w="med" len="med"/>
                    </a:lnB>
                    <a:solidFill>
                      <a:srgbClr val="F1F6FA"/>
                    </a:solidFill>
                  </a:tcPr>
                </a:tc>
              </a:tr>
            </a:tbl>
          </a:graphicData>
        </a:graphic>
      </p:graphicFrame>
      <p:sp>
        <p:nvSpPr>
          <p:cNvPr id="7" name="role:rule-h"/>
          <p:cNvSpPr/>
          <p:nvPr/>
        </p:nvSpPr>
        <p:spPr>
          <a:xfrm>
            <a:off x="713232" y="5257800"/>
            <a:ext cx="10765231" cy="0"/>
          </a:xfrm>
          <a:prstGeom prst="line">
            <a:avLst/>
          </a:prstGeom>
          <a:noFill/>
          <a:ln w="9525">
            <a:solidFill>
              <a:srgbClr val="E2EAF1"/>
            </a:solidFill>
            <a:prstDash val="solid"/>
          </a:ln>
        </p:spPr>
      </p:sp>
      <p:sp>
        <p:nvSpPr>
          <p:cNvPr id="8" name="role:body"/>
          <p:cNvSpPr txBox="1"/>
          <p:nvPr/>
        </p:nvSpPr>
        <p:spPr>
          <a:xfrm>
            <a:off x="713232" y="5394960"/>
            <a:ext cx="10765231" cy="427228"/>
          </a:xfrm>
          <a:prstGeom prst="rect">
            <a:avLst/>
          </a:prstGeom>
          <a:noFill/>
          <a:ln/>
        </p:spPr>
        <p:txBody>
          <a:bodyPr wrap="square" lIns="0" tIns="0" rIns="0" bIns="0" rtlCol="0" anchor="t"/>
          <a:lstStyle/>
          <a:p>
            <a:pPr algn="l" indent="0" marL="0">
              <a:lnSpc>
                <a:spcPct val="130000"/>
              </a:lnSpc>
              <a:buNone/>
            </a:pPr>
            <a:r>
              <a:rPr lang="en-US" sz="1100" dirty="0">
                <a:solidFill>
                  <a:srgbClr val="5A6772"/>
                </a:solidFill>
                <a:latin typeface="Arial" pitchFamily="34" charset="0"/>
                <a:ea typeface="Arial" pitchFamily="34" charset="-122"/>
                <a:cs typeface="Arial" pitchFamily="34" charset="-120"/>
              </a:rPr>
              <a:t>Anchors: Fagan Painting bought AEO/GEO at $500/month for 90 days; GT Clinic was quoted $900/month after an audit; Deborah Mara signed a $500/month ChatGPT Ads lane; the Puttery build was proposed at $2,500 to $3,500; published floor $1,000/month, custom $3,000/month, design package $3,000.</a:t>
            </a:r>
            <a:endParaRPr lang="en-US" sz="1100" dirty="0"/>
          </a:p>
        </p:txBody>
      </p:sp>
      <p:sp>
        <p:nvSpPr>
          <p:cNvPr id="9" name="role:foot"/>
          <p:cNvSpPr txBox="1"/>
          <p:nvPr/>
        </p:nvSpPr>
        <p:spPr>
          <a:xfrm>
            <a:off x="713232" y="6400800"/>
            <a:ext cx="9942271" cy="237744"/>
          </a:xfrm>
          <a:prstGeom prst="rect">
            <a:avLst/>
          </a:prstGeom>
          <a:noFill/>
          <a:ln/>
        </p:spPr>
        <p:txBody>
          <a:bodyPr wrap="square" lIns="0" tIns="0" rIns="0" bIns="0" rtlCol="0" anchor="t"/>
          <a:lstStyle/>
          <a:p>
            <a:pPr algn="l" indent="0" marL="0">
              <a:buNone/>
            </a:pPr>
            <a:r>
              <a:rPr lang="en-US" sz="950" i="1" dirty="0">
                <a:solidFill>
                  <a:srgbClr val="8A97A2"/>
                </a:solidFill>
                <a:latin typeface="Arial" pitchFamily="34" charset="0"/>
                <a:ea typeface="Arial" pitchFamily="34" charset="-122"/>
                <a:cs typeface="Arial" pitchFamily="34" charset="-120"/>
              </a:rPr>
              <a:t>Every price, hour budget and capacity figure on this slide is a proposal until recorded as agreed. Decisions D04, D05, D06 and D20.</a:t>
            </a:r>
            <a:endParaRPr lang="en-US" sz="9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320" decel="700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322" decel="70000"/>
                                        <p:tgtEl>
                                          <p:spTgt spid="3"/>
                                        </p:tgtEl>
                                      </p:cBhvr>
                                    </p:animEffect>
                                    <p:anim calcmode="lin" valueType="num">
                                      <p:cBhvr additive="base">
                                        <p:cTn id="11" dur="322" decel="70000" fill="hold"/>
                                        <p:tgtEl>
                                          <p:spTgt spid="3"/>
                                        </p:tgtEl>
                                        <p:attrNameLst>
                                          <p:attrName>ppt_y</p:attrName>
                                        </p:attrNameLst>
                                      </p:cBhvr>
                                      <p:tavLst>
                                        <p:tav tm="0">
                                          <p:val>
                                            <p:strVal val="#ppt_y+0.032"/>
                                          </p:val>
                                        </p:tav>
                                        <p:tav tm="100000">
                                          <p:val>
                                            <p:strVal val="#ppt_y"/>
                                          </p:val>
                                        </p:tav>
                                      </p:tavLst>
                                    </p:anim>
                                  </p:childTnLst>
                                </p:cTn>
                              </p:par>
                              <p:par>
                                <p:cTn id="12" presetID="10" presetClass="entr" presetSubtype="0" fill="hold" grpId="0" nodeType="withEffect">
                                  <p:stCondLst>
                                    <p:cond delay="55"/>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482" decel="70000"/>
                                        <p:tgtEl>
                                          <p:spTgt spid="4"/>
                                        </p:tgtEl>
                                      </p:cBhvr>
                                    </p:animEffect>
                                    <p:anim calcmode="lin" valueType="num">
                                      <p:cBhvr additive="base">
                                        <p:cTn id="15" dur="482" decel="70000" fill="hold"/>
                                        <p:tgtEl>
                                          <p:spTgt spid="4"/>
                                        </p:tgtEl>
                                        <p:attrNameLst>
                                          <p:attrName>ppt_y</p:attrName>
                                        </p:attrNameLst>
                                      </p:cBhvr>
                                      <p:tavLst>
                                        <p:tav tm="0">
                                          <p:val>
                                            <p:strVal val="#ppt_y+0.0512"/>
                                          </p:val>
                                        </p:tav>
                                        <p:tav tm="100000">
                                          <p:val>
                                            <p:strVal val="#ppt_y"/>
                                          </p:val>
                                        </p:tav>
                                      </p:tavLst>
                                    </p:anim>
                                  </p:childTnLst>
                                </p:cTn>
                              </p:par>
                              <p:par>
                                <p:cTn id="16" presetID="10" presetClass="entr" presetSubtype="0" fill="hold" grpId="0" nodeType="withEffect">
                                  <p:stCondLst>
                                    <p:cond delay="11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368" decel="70000"/>
                                        <p:tgtEl>
                                          <p:spTgt spid="7"/>
                                        </p:tgtEl>
                                      </p:cBhvr>
                                    </p:animEffect>
                                  </p:childTnLst>
                                </p:cTn>
                              </p:par>
                              <p:par>
                                <p:cTn id="19" presetID="22" presetClass="entr" presetSubtype="1" fill="hold" grpId="0" nodeType="withEffect">
                                  <p:stCondLst>
                                    <p:cond delay="165"/>
                                  </p:stCondLst>
                                  <p:childTnLst>
                                    <p:set>
                                      <p:cBhvr>
                                        <p:cTn id="20" dur="1" fill="hold">
                                          <p:stCondLst>
                                            <p:cond delay="0"/>
                                          </p:stCondLst>
                                        </p:cTn>
                                        <p:tgtEl>
                                          <p:spTgt spid="7"/>
                                        </p:tgtEl>
                                        <p:attrNameLst>
                                          <p:attrName>style.visibility</p:attrName>
                                        </p:attrNameLst>
                                      </p:cBhvr>
                                      <p:to>
                                        <p:strVal val="visible"/>
                                      </p:to>
                                    </p:set>
                                    <p:animEffect transition="in" filter="wipe(right)">
                                      <p:cBhvr>
                                        <p:cTn id="21" dur="529"/>
                                        <p:tgtEl>
                                          <p:spTgt spid="7"/>
                                        </p:tgtEl>
                                      </p:cBhvr>
                                    </p:animEffect>
                                  </p:childTnLst>
                                </p:cTn>
                              </p:par>
                              <p:par>
                                <p:cTn id="22" presetID="10" presetClass="entr" presetSubtype="0" fill="hold" grpId="0" nodeType="withEffect">
                                  <p:stCondLst>
                                    <p:cond delay="22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322" decel="70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role:logo" descr="Momentum Digital logo">    </p:cNvPr>
          <p:cNvPicPr>
            <a:picLocks noChangeAspect="1"/>
          </p:cNvPicPr>
          <p:nvPr/>
        </p:nvPicPr>
        <p:blipFill>
          <a:blip r:embed="rId1"/>
          <a:stretch>
            <a:fillRect/>
          </a:stretch>
        </p:blipFill>
        <p:spPr>
          <a:xfrm>
            <a:off x="10106863" y="658368"/>
            <a:ext cx="1371600" cy="294904"/>
          </a:xfrm>
          <a:prstGeom prst="rect">
            <a:avLst/>
          </a:prstGeom>
        </p:spPr>
      </p:pic>
      <p:sp>
        <p:nvSpPr>
          <p:cNvPr id="3" name="role:kicker"/>
          <p:cNvSpPr txBox="1"/>
          <p:nvPr/>
        </p:nvSpPr>
        <p:spPr>
          <a:xfrm>
            <a:off x="713232" y="658368"/>
            <a:ext cx="8753551" cy="201168"/>
          </a:xfrm>
          <a:prstGeom prst="rect">
            <a:avLst/>
          </a:prstGeom>
          <a:noFill/>
          <a:ln/>
        </p:spPr>
        <p:txBody>
          <a:bodyPr wrap="square" lIns="0" tIns="0" rIns="0" bIns="0" rtlCol="0" anchor="t"/>
          <a:lstStyle/>
          <a:p>
            <a:pPr algn="l" indent="0" marL="0">
              <a:buNone/>
            </a:pPr>
            <a:r>
              <a:rPr lang="en-US" sz="1050" b="1" spc="240" kern="0" dirty="0">
                <a:solidFill>
                  <a:srgbClr val="2A80C2"/>
                </a:solidFill>
                <a:latin typeface="Arial" pitchFamily="34" charset="0"/>
                <a:ea typeface="Arial" pitchFamily="34" charset="-122"/>
                <a:cs typeface="Arial" pitchFamily="34" charset="-120"/>
              </a:rPr>
              <a:t>ECONOMICS · UNDER THE PACK'S OWN ASSUMPTIONS</a:t>
            </a:r>
            <a:endParaRPr lang="en-US" sz="1050" dirty="0"/>
          </a:p>
        </p:txBody>
      </p:sp>
      <p:sp>
        <p:nvSpPr>
          <p:cNvPr id="4" name="role:title"/>
          <p:cNvSpPr txBox="1"/>
          <p:nvPr/>
        </p:nvSpPr>
        <p:spPr>
          <a:xfrm>
            <a:off x="713232" y="987552"/>
            <a:ext cx="8570671" cy="569214"/>
          </a:xfrm>
          <a:prstGeom prst="rect">
            <a:avLst/>
          </a:prstGeom>
          <a:noFill/>
          <a:ln/>
        </p:spPr>
        <p:txBody>
          <a:bodyPr wrap="square" lIns="0" tIns="0" rIns="0" bIns="0" rtlCol="0" anchor="t"/>
          <a:lstStyle/>
          <a:p>
            <a:pPr algn="l" indent="0" marL="0">
              <a:lnSpc>
                <a:spcPct val="102000"/>
              </a:lnSpc>
              <a:buNone/>
            </a:pPr>
            <a:r>
              <a:rPr lang="en-US" sz="3900" b="1" dirty="0">
                <a:solidFill>
                  <a:srgbClr val="0F151B"/>
                </a:solidFill>
                <a:latin typeface="Arial" pitchFamily="34" charset="0"/>
                <a:ea typeface="Arial" pitchFamily="34" charset="-122"/>
                <a:cs typeface="Arial" pitchFamily="34" charset="-120"/>
              </a:rPr>
              <a:t>What the cohort contributes</a:t>
            </a:r>
            <a:endParaRPr lang="en-US" sz="3900" dirty="0"/>
          </a:p>
        </p:txBody>
      </p:sp>
      <p:sp>
        <p:nvSpPr>
          <p:cNvPr id="5" name="role:static"/>
          <p:cNvSpPr txBox="1"/>
          <p:nvPr/>
        </p:nvSpPr>
        <p:spPr>
          <a:xfrm>
            <a:off x="10929823" y="6437376"/>
            <a:ext cx="548640" cy="219456"/>
          </a:xfrm>
          <a:prstGeom prst="rect">
            <a:avLst/>
          </a:prstGeom>
          <a:noFill/>
          <a:ln/>
        </p:spPr>
        <p:txBody>
          <a:bodyPr wrap="square" lIns="0" tIns="0" rIns="0" bIns="0" rtlCol="0" anchor="t"/>
          <a:lstStyle/>
          <a:p>
            <a:pPr algn="r" indent="0" marL="0">
              <a:buNone/>
            </a:pPr>
            <a:r>
              <a:rPr lang="en-US" sz="1050" b="1" spc="100" kern="0" dirty="0">
                <a:solidFill>
                  <a:srgbClr val="CBD8E3"/>
                </a:solidFill>
                <a:latin typeface="Arial" pitchFamily="34" charset="0"/>
                <a:ea typeface="Arial" pitchFamily="34" charset="-122"/>
                <a:cs typeface="Arial" pitchFamily="34" charset="-120"/>
              </a:rPr>
              <a:t>06</a:t>
            </a:r>
            <a:endParaRPr lang="en-US" sz="10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713232" y="1922526"/>
          <a:ext cx="10765231" cy="914400"/>
        </p:xfrm>
        <a:graphic>
          <a:graphicData uri="http://schemas.openxmlformats.org/drawingml/2006/table">
            <a:tbl>
              <a:tblPr/>
              <a:tblGrid>
                <a:gridCol w="4754880"/>
                <a:gridCol w="2194560"/>
                <a:gridCol w="1463040"/>
                <a:gridCol w="2350008"/>
              </a:tblGrid>
              <a:tr h="457200">
                <a:tc>
                  <a:txBody>
                    <a:bodyPr/>
                    <a:lstStyle/>
                    <a:p>
                      <a:pPr algn="l" indent="0" marL="0">
                        <a:buNone/>
                      </a:pPr>
                      <a:r>
                        <a:rPr lang="en-US" sz="1200" b="1" dirty="0">
                          <a:solidFill>
                            <a:srgbClr val="FFFFFF"/>
                          </a:solidFill>
                          <a:latin typeface="Arial" pitchFamily="34" charset="0"/>
                          <a:ea typeface="Arial" pitchFamily="34" charset="-122"/>
                          <a:cs typeface="Arial" pitchFamily="34" charset="-120"/>
                        </a:rPr>
                        <a:t>Scenario</a:t>
                      </a:r>
                      <a:endParaRPr lang="en-US" sz="1200" dirty="0">
                        <a:latin typeface="Arial" charset="0"/>
                        <a:ea typeface="Arial" charset="0"/>
                        <a:cs typeface="Arial" charset="0"/>
                      </a:endParaRPr>
                    </a:p>
                  </a:txBody>
                  <a:tcPr marL="146304" marR="146304" marT="54864" marB="54864" anchor="ctr">
                    <a:lnL w="0" cap="flat" cmpd="sng" algn="ctr">
                      <a:noFill/>
                    </a:lnL>
                    <a:lnR w="0" cap="flat" cmpd="sng" algn="ctr">
                      <a:noFill/>
                    </a:lnR>
                    <a:lnT w="0" cap="flat" cmpd="sng" algn="ctr">
                      <a:noFill/>
                    </a:lnT>
                    <a:lnB w="6350" cap="flat" cmpd="sng" algn="ctr">
                      <a:solidFill>
                        <a:srgbClr val="E2EAF1"/>
                      </a:solidFill>
                      <a:prstDash val="solid"/>
                      <a:round/>
                      <a:headEnd type="none" w="med" len="med"/>
                      <a:tailEnd type="none" w="med" len="med"/>
                    </a:lnB>
                    <a:solidFill>
                      <a:srgbClr val="0A1825"/>
                    </a:solidFill>
                  </a:tcPr>
                </a:tc>
                <a:tc>
                  <a:txBody>
                    <a:bodyPr/>
                    <a:lstStyle/>
                    <a:p>
                      <a:pPr algn="l" indent="0" marL="0">
                        <a:buNone/>
                      </a:pPr>
                      <a:r>
                        <a:rPr lang="en-US" sz="1200" b="1" dirty="0">
                          <a:solidFill>
                            <a:srgbClr val="FFFFFF"/>
                          </a:solidFill>
                          <a:latin typeface="Arial" pitchFamily="34" charset="0"/>
                          <a:ea typeface="Arial" pitchFamily="34" charset="-122"/>
                          <a:cs typeface="Arial" pitchFamily="34" charset="-120"/>
                        </a:rPr>
                        <a:t>Monthly revenue</a:t>
                      </a:r>
                      <a:endParaRPr lang="en-US" sz="1200" dirty="0">
                        <a:latin typeface="Arial" charset="0"/>
                        <a:ea typeface="Arial" charset="0"/>
                        <a:cs typeface="Arial" charset="0"/>
                      </a:endParaRPr>
                    </a:p>
                  </a:txBody>
                  <a:tcPr marL="146304" marR="146304" marT="54864" marB="54864" anchor="ctr">
                    <a:lnL w="0" cap="flat" cmpd="sng" algn="ctr">
                      <a:noFill/>
                    </a:lnL>
                    <a:lnR w="0" cap="flat" cmpd="sng" algn="ctr">
                      <a:noFill/>
                    </a:lnR>
                    <a:lnT w="0" cap="flat" cmpd="sng" algn="ctr">
                      <a:noFill/>
                    </a:lnT>
                    <a:lnB w="6350" cap="flat" cmpd="sng" algn="ctr">
                      <a:solidFill>
                        <a:srgbClr val="E2EAF1"/>
                      </a:solidFill>
                      <a:prstDash val="solid"/>
                      <a:round/>
                      <a:headEnd type="none" w="med" len="med"/>
                      <a:tailEnd type="none" w="med" len="med"/>
                    </a:lnB>
                    <a:solidFill>
                      <a:srgbClr val="0A1825"/>
                    </a:solidFill>
                  </a:tcPr>
                </a:tc>
                <a:tc>
                  <a:txBody>
                    <a:bodyPr/>
                    <a:lstStyle/>
                    <a:p>
                      <a:pPr algn="l" indent="0" marL="0">
                        <a:buNone/>
                      </a:pPr>
                      <a:r>
                        <a:rPr lang="en-US" sz="1200" b="1" dirty="0">
                          <a:solidFill>
                            <a:srgbClr val="FFFFFF"/>
                          </a:solidFill>
                          <a:latin typeface="Arial" pitchFamily="34" charset="0"/>
                          <a:ea typeface="Arial" pitchFamily="34" charset="-122"/>
                          <a:cs typeface="Arial" pitchFamily="34" charset="-120"/>
                        </a:rPr>
                        <a:t>Hours</a:t>
                      </a:r>
                      <a:endParaRPr lang="en-US" sz="1200" dirty="0">
                        <a:latin typeface="Arial" charset="0"/>
                        <a:ea typeface="Arial" charset="0"/>
                        <a:cs typeface="Arial" charset="0"/>
                      </a:endParaRPr>
                    </a:p>
                  </a:txBody>
                  <a:tcPr marL="146304" marR="146304" marT="54864" marB="54864" anchor="ctr">
                    <a:lnL w="0" cap="flat" cmpd="sng" algn="ctr">
                      <a:noFill/>
                    </a:lnL>
                    <a:lnR w="0" cap="flat" cmpd="sng" algn="ctr">
                      <a:noFill/>
                    </a:lnR>
                    <a:lnT w="0" cap="flat" cmpd="sng" algn="ctr">
                      <a:noFill/>
                    </a:lnT>
                    <a:lnB w="6350" cap="flat" cmpd="sng" algn="ctr">
                      <a:solidFill>
                        <a:srgbClr val="E2EAF1"/>
                      </a:solidFill>
                      <a:prstDash val="solid"/>
                      <a:round/>
                      <a:headEnd type="none" w="med" len="med"/>
                      <a:tailEnd type="none" w="med" len="med"/>
                    </a:lnB>
                    <a:solidFill>
                      <a:srgbClr val="0A1825"/>
                    </a:solidFill>
                  </a:tcPr>
                </a:tc>
                <a:tc>
                  <a:txBody>
                    <a:bodyPr/>
                    <a:lstStyle/>
                    <a:p>
                      <a:pPr algn="l" indent="0" marL="0">
                        <a:buNone/>
                      </a:pPr>
                      <a:r>
                        <a:rPr lang="en-US" sz="1200" b="1" dirty="0">
                          <a:solidFill>
                            <a:srgbClr val="FFFFFF"/>
                          </a:solidFill>
                          <a:latin typeface="Arial" pitchFamily="34" charset="0"/>
                          <a:ea typeface="Arial" pitchFamily="34" charset="-122"/>
                          <a:cs typeface="Arial" pitchFamily="34" charset="-120"/>
                        </a:rPr>
                        <a:t>Contribution</a:t>
                      </a:r>
                      <a:endParaRPr lang="en-US" sz="1200" dirty="0">
                        <a:latin typeface="Arial" charset="0"/>
                        <a:ea typeface="Arial" charset="0"/>
                        <a:cs typeface="Arial" charset="0"/>
                      </a:endParaRPr>
                    </a:p>
                  </a:txBody>
                  <a:tcPr marL="146304" marR="146304" marT="54864" marB="54864" anchor="ctr">
                    <a:lnL w="0" cap="flat" cmpd="sng" algn="ctr">
                      <a:noFill/>
                    </a:lnL>
                    <a:lnR w="0" cap="flat" cmpd="sng" algn="ctr">
                      <a:noFill/>
                    </a:lnR>
                    <a:lnT w="0" cap="flat" cmpd="sng" algn="ctr">
                      <a:noFill/>
                    </a:lnT>
                    <a:lnB w="6350" cap="flat" cmpd="sng" algn="ctr">
                      <a:solidFill>
                        <a:srgbClr val="E2EAF1"/>
                      </a:solidFill>
                      <a:prstDash val="solid"/>
                      <a:round/>
                      <a:headEnd type="none" w="med" len="med"/>
                      <a:tailEnd type="none" w="med" len="med"/>
                    </a:lnB>
                    <a:solidFill>
                      <a:srgbClr val="0A1825"/>
                    </a:solidFill>
                  </a:tcPr>
                </a:tc>
              </a:tr>
              <a:tr h="457200">
                <a:tc>
                  <a:txBody>
                    <a:bodyPr/>
                    <a:lstStyle/>
                    <a:p>
                      <a:pPr algn="l" indent="0" marL="0">
                        <a:buNone/>
                      </a:pPr>
                      <a:r>
                        <a:rPr lang="en-US" sz="1200" dirty="0">
                          <a:solidFill>
                            <a:srgbClr val="0F151B"/>
                          </a:solidFill>
                          <a:latin typeface="Arial" pitchFamily="34" charset="0"/>
                          <a:ea typeface="Arial" pitchFamily="34" charset="-122"/>
                          <a:cs typeface="Arial" pitchFamily="34" charset="-120"/>
                        </a:rPr>
                        <a:t>one client on each recurring flagship</a:t>
                      </a:r>
                      <a:endParaRPr lang="en-US" sz="1200" dirty="0">
                        <a:latin typeface="Arial" charset="0"/>
                        <a:ea typeface="Arial" charset="0"/>
                        <a:cs typeface="Arial" charset="0"/>
                      </a:endParaRPr>
                    </a:p>
                  </a:txBody>
                  <a:tcPr marL="146304" marR="146304" marT="54864" marB="54864" anchor="ctr">
                    <a:lnL w="0" cap="flat" cmpd="sng" algn="ctr">
                      <a:noFill/>
                    </a:lnL>
                    <a:lnR w="0" cap="flat" cmpd="sng" algn="ctr">
                      <a:noFill/>
                    </a:lnR>
                    <a:lnT w="0" cap="flat" cmpd="sng" algn="ctr">
                      <a:noFill/>
                    </a:lnT>
                    <a:lnB w="6350" cap="flat" cmpd="sng" algn="ctr">
                      <a:solidFill>
                        <a:srgbClr val="E2EAF1"/>
                      </a:solidFill>
                      <a:prstDash val="solid"/>
                      <a:round/>
                      <a:headEnd type="none" w="med" len="med"/>
                      <a:tailEnd type="none" w="med" len="med"/>
                    </a:lnB>
                    <a:solidFill>
                      <a:srgbClr val="FFFFFF"/>
                    </a:solidFill>
                  </a:tcPr>
                </a:tc>
                <a:tc>
                  <a:txBody>
                    <a:bodyPr/>
                    <a:lstStyle/>
                    <a:p>
                      <a:pPr algn="l" indent="0" marL="0">
                        <a:buNone/>
                      </a:pPr>
                      <a:r>
                        <a:rPr lang="en-US" sz="1200" dirty="0">
                          <a:solidFill>
                            <a:srgbClr val="0F151B"/>
                          </a:solidFill>
                          <a:latin typeface="Arial" pitchFamily="34" charset="0"/>
                          <a:ea typeface="Arial" pitchFamily="34" charset="-122"/>
                          <a:cs typeface="Arial" pitchFamily="34" charset="-120"/>
                        </a:rPr>
                        <a:t>$3,500</a:t>
                      </a:r>
                      <a:endParaRPr lang="en-US" sz="1200" dirty="0">
                        <a:latin typeface="Arial" charset="0"/>
                        <a:ea typeface="Arial" charset="0"/>
                        <a:cs typeface="Arial" charset="0"/>
                      </a:endParaRPr>
                    </a:p>
                  </a:txBody>
                  <a:tcPr marL="146304" marR="146304" marT="54864" marB="54864" anchor="ctr">
                    <a:lnL w="0" cap="flat" cmpd="sng" algn="ctr">
                      <a:noFill/>
                    </a:lnL>
                    <a:lnR w="0" cap="flat" cmpd="sng" algn="ctr">
                      <a:noFill/>
                    </a:lnR>
                    <a:lnT w="0" cap="flat" cmpd="sng" algn="ctr">
                      <a:noFill/>
                    </a:lnT>
                    <a:lnB w="6350" cap="flat" cmpd="sng" algn="ctr">
                      <a:solidFill>
                        <a:srgbClr val="E2EAF1"/>
                      </a:solidFill>
                      <a:prstDash val="solid"/>
                      <a:round/>
                      <a:headEnd type="none" w="med" len="med"/>
                      <a:tailEnd type="none" w="med" len="med"/>
                    </a:lnB>
                    <a:solidFill>
                      <a:srgbClr val="FFFFFF"/>
                    </a:solidFill>
                  </a:tcPr>
                </a:tc>
                <a:tc>
                  <a:txBody>
                    <a:bodyPr/>
                    <a:lstStyle/>
                    <a:p>
                      <a:pPr algn="l" indent="0" marL="0">
                        <a:buNone/>
                      </a:pPr>
                      <a:r>
                        <a:rPr lang="en-US" sz="1200" dirty="0">
                          <a:solidFill>
                            <a:srgbClr val="0F151B"/>
                          </a:solidFill>
                          <a:latin typeface="Arial" pitchFamily="34" charset="0"/>
                          <a:ea typeface="Arial" pitchFamily="34" charset="-122"/>
                          <a:cs typeface="Arial" pitchFamily="34" charset="-120"/>
                        </a:rPr>
                        <a:t>16</a:t>
                      </a:r>
                      <a:endParaRPr lang="en-US" sz="1200" dirty="0">
                        <a:latin typeface="Arial" charset="0"/>
                        <a:ea typeface="Arial" charset="0"/>
                        <a:cs typeface="Arial" charset="0"/>
                      </a:endParaRPr>
                    </a:p>
                  </a:txBody>
                  <a:tcPr marL="146304" marR="146304" marT="54864" marB="54864" anchor="ctr">
                    <a:lnL w="0" cap="flat" cmpd="sng" algn="ctr">
                      <a:noFill/>
                    </a:lnL>
                    <a:lnR w="0" cap="flat" cmpd="sng" algn="ctr">
                      <a:noFill/>
                    </a:lnR>
                    <a:lnT w="0" cap="flat" cmpd="sng" algn="ctr">
                      <a:noFill/>
                    </a:lnT>
                    <a:lnB w="6350" cap="flat" cmpd="sng" algn="ctr">
                      <a:solidFill>
                        <a:srgbClr val="E2EAF1"/>
                      </a:solidFill>
                      <a:prstDash val="solid"/>
                      <a:round/>
                      <a:headEnd type="none" w="med" len="med"/>
                      <a:tailEnd type="none" w="med" len="med"/>
                    </a:lnB>
                    <a:solidFill>
                      <a:srgbClr val="FFFFFF"/>
                    </a:solidFill>
                  </a:tcPr>
                </a:tc>
                <a:tc>
                  <a:txBody>
                    <a:bodyPr/>
                    <a:lstStyle/>
                    <a:p>
                      <a:pPr algn="l" indent="0" marL="0">
                        <a:buNone/>
                      </a:pPr>
                      <a:r>
                        <a:rPr lang="en-US" sz="1200" dirty="0">
                          <a:solidFill>
                            <a:srgbClr val="0F151B"/>
                          </a:solidFill>
                          <a:latin typeface="Arial" pitchFamily="34" charset="0"/>
                          <a:ea typeface="Arial" pitchFamily="34" charset="-122"/>
                          <a:cs typeface="Arial" pitchFamily="34" charset="-120"/>
                        </a:rPr>
                        <a:t>$1,125</a:t>
                      </a:r>
                      <a:endParaRPr lang="en-US" sz="1200" dirty="0">
                        <a:latin typeface="Arial" charset="0"/>
                        <a:ea typeface="Arial" charset="0"/>
                        <a:cs typeface="Arial" charset="0"/>
                      </a:endParaRPr>
                    </a:p>
                  </a:txBody>
                  <a:tcPr marL="146304" marR="146304" marT="54864" marB="54864" anchor="ctr">
                    <a:lnL w="0" cap="flat" cmpd="sng" algn="ctr">
                      <a:noFill/>
                    </a:lnL>
                    <a:lnR w="0" cap="flat" cmpd="sng" algn="ctr">
                      <a:noFill/>
                    </a:lnR>
                    <a:lnT w="0" cap="flat" cmpd="sng" algn="ctr">
                      <a:noFill/>
                    </a:lnT>
                    <a:lnB w="6350" cap="flat" cmpd="sng" algn="ctr">
                      <a:solidFill>
                        <a:srgbClr val="E2EAF1"/>
                      </a:solidFill>
                      <a:prstDash val="solid"/>
                      <a:round/>
                      <a:headEnd type="none" w="med" len="med"/>
                      <a:tailEnd type="none" w="med" len="med"/>
                    </a:lnB>
                    <a:solidFill>
                      <a:srgbClr val="FFFFFF"/>
                    </a:solidFill>
                  </a:tcPr>
                </a:tc>
              </a:tr>
              <a:tr h="457200">
                <a:tc>
                  <a:txBody>
                    <a:bodyPr/>
                    <a:lstStyle/>
                    <a:p>
                      <a:pPr algn="l" indent="0" marL="0">
                        <a:buNone/>
                      </a:pPr>
                      <a:r>
                        <a:rPr lang="en-US" sz="1200" dirty="0">
                          <a:solidFill>
                            <a:srgbClr val="0F151B"/>
                          </a:solidFill>
                          <a:latin typeface="Arial" pitchFamily="34" charset="0"/>
                          <a:ea typeface="Arial" pitchFamily="34" charset="-122"/>
                          <a:cs typeface="Arial" pitchFamily="34" charset="-120"/>
                        </a:rPr>
                        <a:t>same, double hours</a:t>
                      </a:r>
                      <a:endParaRPr lang="en-US" sz="1200" dirty="0">
                        <a:latin typeface="Arial" charset="0"/>
                        <a:ea typeface="Arial" charset="0"/>
                        <a:cs typeface="Arial" charset="0"/>
                      </a:endParaRPr>
                    </a:p>
                  </a:txBody>
                  <a:tcPr marL="146304" marR="146304" marT="54864" marB="54864" anchor="ctr">
                    <a:lnL w="0" cap="flat" cmpd="sng" algn="ctr">
                      <a:noFill/>
                    </a:lnL>
                    <a:lnR w="0" cap="flat" cmpd="sng" algn="ctr">
                      <a:noFill/>
                    </a:lnR>
                    <a:lnT w="0" cap="flat" cmpd="sng" algn="ctr">
                      <a:noFill/>
                    </a:lnT>
                    <a:lnB w="6350" cap="flat" cmpd="sng" algn="ctr">
                      <a:solidFill>
                        <a:srgbClr val="E2EAF1"/>
                      </a:solidFill>
                      <a:prstDash val="solid"/>
                      <a:round/>
                      <a:headEnd type="none" w="med" len="med"/>
                      <a:tailEnd type="none" w="med" len="med"/>
                    </a:lnB>
                    <a:solidFill>
                      <a:srgbClr val="F1F6FA"/>
                    </a:solidFill>
                  </a:tcPr>
                </a:tc>
                <a:tc>
                  <a:txBody>
                    <a:bodyPr/>
                    <a:lstStyle/>
                    <a:p>
                      <a:pPr algn="l" indent="0" marL="0">
                        <a:buNone/>
                      </a:pPr>
                      <a:r>
                        <a:rPr lang="en-US" sz="1200" dirty="0">
                          <a:solidFill>
                            <a:srgbClr val="0F151B"/>
                          </a:solidFill>
                          <a:latin typeface="Arial" pitchFamily="34" charset="0"/>
                          <a:ea typeface="Arial" pitchFamily="34" charset="-122"/>
                          <a:cs typeface="Arial" pitchFamily="34" charset="-120"/>
                        </a:rPr>
                        <a:t>$3,500</a:t>
                      </a:r>
                      <a:endParaRPr lang="en-US" sz="1200" dirty="0">
                        <a:latin typeface="Arial" charset="0"/>
                        <a:ea typeface="Arial" charset="0"/>
                        <a:cs typeface="Arial" charset="0"/>
                      </a:endParaRPr>
                    </a:p>
                  </a:txBody>
                  <a:tcPr marL="146304" marR="146304" marT="54864" marB="54864" anchor="ctr">
                    <a:lnL w="0" cap="flat" cmpd="sng" algn="ctr">
                      <a:noFill/>
                    </a:lnL>
                    <a:lnR w="0" cap="flat" cmpd="sng" algn="ctr">
                      <a:noFill/>
                    </a:lnR>
                    <a:lnT w="0" cap="flat" cmpd="sng" algn="ctr">
                      <a:noFill/>
                    </a:lnT>
                    <a:lnB w="6350" cap="flat" cmpd="sng" algn="ctr">
                      <a:solidFill>
                        <a:srgbClr val="E2EAF1"/>
                      </a:solidFill>
                      <a:prstDash val="solid"/>
                      <a:round/>
                      <a:headEnd type="none" w="med" len="med"/>
                      <a:tailEnd type="none" w="med" len="med"/>
                    </a:lnB>
                    <a:solidFill>
                      <a:srgbClr val="F1F6FA"/>
                    </a:solidFill>
                  </a:tcPr>
                </a:tc>
                <a:tc>
                  <a:txBody>
                    <a:bodyPr/>
                    <a:lstStyle/>
                    <a:p>
                      <a:pPr algn="l" indent="0" marL="0">
                        <a:buNone/>
                      </a:pPr>
                      <a:r>
                        <a:rPr lang="en-US" sz="1200" dirty="0">
                          <a:solidFill>
                            <a:srgbClr val="0F151B"/>
                          </a:solidFill>
                          <a:latin typeface="Arial" pitchFamily="34" charset="0"/>
                          <a:ea typeface="Arial" pitchFamily="34" charset="-122"/>
                          <a:cs typeface="Arial" pitchFamily="34" charset="-120"/>
                        </a:rPr>
                        <a:t>32</a:t>
                      </a:r>
                      <a:endParaRPr lang="en-US" sz="1200" dirty="0">
                        <a:latin typeface="Arial" charset="0"/>
                        <a:ea typeface="Arial" charset="0"/>
                        <a:cs typeface="Arial" charset="0"/>
                      </a:endParaRPr>
                    </a:p>
                  </a:txBody>
                  <a:tcPr marL="146304" marR="146304" marT="54864" marB="54864" anchor="ctr">
                    <a:lnL w="0" cap="flat" cmpd="sng" algn="ctr">
                      <a:noFill/>
                    </a:lnL>
                    <a:lnR w="0" cap="flat" cmpd="sng" algn="ctr">
                      <a:noFill/>
                    </a:lnR>
                    <a:lnT w="0" cap="flat" cmpd="sng" algn="ctr">
                      <a:noFill/>
                    </a:lnT>
                    <a:lnB w="6350" cap="flat" cmpd="sng" algn="ctr">
                      <a:solidFill>
                        <a:srgbClr val="E2EAF1"/>
                      </a:solidFill>
                      <a:prstDash val="solid"/>
                      <a:round/>
                      <a:headEnd type="none" w="med" len="med"/>
                      <a:tailEnd type="none" w="med" len="med"/>
                    </a:lnB>
                    <a:solidFill>
                      <a:srgbClr val="F1F6FA"/>
                    </a:solidFill>
                  </a:tcPr>
                </a:tc>
                <a:tc>
                  <a:txBody>
                    <a:bodyPr/>
                    <a:lstStyle/>
                    <a:p>
                      <a:pPr algn="l" indent="0" marL="0">
                        <a:buNone/>
                      </a:pPr>
                      <a:r>
                        <a:rPr lang="en-US" sz="1200" dirty="0">
                          <a:solidFill>
                            <a:srgbClr val="0F151B"/>
                          </a:solidFill>
                          <a:latin typeface="Arial" pitchFamily="34" charset="0"/>
                          <a:ea typeface="Arial" pitchFamily="34" charset="-122"/>
                          <a:cs typeface="Arial" pitchFamily="34" charset="-120"/>
                        </a:rPr>
                        <a:t>−$75</a:t>
                      </a:r>
                      <a:endParaRPr lang="en-US" sz="1200" dirty="0">
                        <a:latin typeface="Arial" charset="0"/>
                        <a:ea typeface="Arial" charset="0"/>
                        <a:cs typeface="Arial" charset="0"/>
                      </a:endParaRPr>
                    </a:p>
                  </a:txBody>
                  <a:tcPr marL="146304" marR="146304" marT="54864" marB="54864" anchor="ctr">
                    <a:lnL w="0" cap="flat" cmpd="sng" algn="ctr">
                      <a:noFill/>
                    </a:lnL>
                    <a:lnR w="0" cap="flat" cmpd="sng" algn="ctr">
                      <a:noFill/>
                    </a:lnR>
                    <a:lnT w="0" cap="flat" cmpd="sng" algn="ctr">
                      <a:noFill/>
                    </a:lnT>
                    <a:lnB w="6350" cap="flat" cmpd="sng" algn="ctr">
                      <a:solidFill>
                        <a:srgbClr val="E2EAF1"/>
                      </a:solidFill>
                      <a:prstDash val="solid"/>
                      <a:round/>
                      <a:headEnd type="none" w="med" len="med"/>
                      <a:tailEnd type="none" w="med" len="med"/>
                    </a:lnB>
                    <a:solidFill>
                      <a:srgbClr val="F1F6FA"/>
                    </a:solidFill>
                  </a:tcPr>
                </a:tc>
              </a:tr>
              <a:tr h="457200">
                <a:tc>
                  <a:txBody>
                    <a:bodyPr/>
                    <a:lstStyle/>
                    <a:p>
                      <a:pPr algn="l" indent="0" marL="0">
                        <a:buNone/>
                      </a:pPr>
                      <a:r>
                        <a:rPr lang="en-US" sz="1200" dirty="0">
                          <a:solidFill>
                            <a:srgbClr val="0F151B"/>
                          </a:solidFill>
                          <a:latin typeface="Arial" pitchFamily="34" charset="0"/>
                          <a:ea typeface="Arial" pitchFamily="34" charset="-122"/>
                          <a:cs typeface="Arial" pitchFamily="34" charset="-120"/>
                        </a:rPr>
                        <a:t>two clients on each recurring flagship</a:t>
                      </a:r>
                      <a:endParaRPr lang="en-US" sz="1200" dirty="0">
                        <a:latin typeface="Arial" charset="0"/>
                        <a:ea typeface="Arial" charset="0"/>
                        <a:cs typeface="Arial" charset="0"/>
                      </a:endParaRPr>
                    </a:p>
                  </a:txBody>
                  <a:tcPr marL="146304" marR="146304" marT="54864" marB="54864" anchor="ctr">
                    <a:lnL w="0" cap="flat" cmpd="sng" algn="ctr">
                      <a:noFill/>
                    </a:lnL>
                    <a:lnR w="0" cap="flat" cmpd="sng" algn="ctr">
                      <a:noFill/>
                    </a:lnR>
                    <a:lnT w="0" cap="flat" cmpd="sng" algn="ctr">
                      <a:noFill/>
                    </a:lnT>
                    <a:lnB w="6350" cap="flat" cmpd="sng" algn="ctr">
                      <a:solidFill>
                        <a:srgbClr val="E2EAF1"/>
                      </a:solidFill>
                      <a:prstDash val="solid"/>
                      <a:round/>
                      <a:headEnd type="none" w="med" len="med"/>
                      <a:tailEnd type="none" w="med" len="med"/>
                    </a:lnB>
                    <a:solidFill>
                      <a:srgbClr val="FFFFFF"/>
                    </a:solidFill>
                  </a:tcPr>
                </a:tc>
                <a:tc>
                  <a:txBody>
                    <a:bodyPr/>
                    <a:lstStyle/>
                    <a:p>
                      <a:pPr algn="l" indent="0" marL="0">
                        <a:buNone/>
                      </a:pPr>
                      <a:r>
                        <a:rPr lang="en-US" sz="1200" dirty="0">
                          <a:solidFill>
                            <a:srgbClr val="0F151B"/>
                          </a:solidFill>
                          <a:latin typeface="Arial" pitchFamily="34" charset="0"/>
                          <a:ea typeface="Arial" pitchFamily="34" charset="-122"/>
                          <a:cs typeface="Arial" pitchFamily="34" charset="-120"/>
                        </a:rPr>
                        <a:t>$7,000</a:t>
                      </a:r>
                      <a:endParaRPr lang="en-US" sz="1200" dirty="0">
                        <a:latin typeface="Arial" charset="0"/>
                        <a:ea typeface="Arial" charset="0"/>
                        <a:cs typeface="Arial" charset="0"/>
                      </a:endParaRPr>
                    </a:p>
                  </a:txBody>
                  <a:tcPr marL="146304" marR="146304" marT="54864" marB="54864" anchor="ctr">
                    <a:lnL w="0" cap="flat" cmpd="sng" algn="ctr">
                      <a:noFill/>
                    </a:lnL>
                    <a:lnR w="0" cap="flat" cmpd="sng" algn="ctr">
                      <a:noFill/>
                    </a:lnR>
                    <a:lnT w="0" cap="flat" cmpd="sng" algn="ctr">
                      <a:noFill/>
                    </a:lnT>
                    <a:lnB w="6350" cap="flat" cmpd="sng" algn="ctr">
                      <a:solidFill>
                        <a:srgbClr val="E2EAF1"/>
                      </a:solidFill>
                      <a:prstDash val="solid"/>
                      <a:round/>
                      <a:headEnd type="none" w="med" len="med"/>
                      <a:tailEnd type="none" w="med" len="med"/>
                    </a:lnB>
                    <a:solidFill>
                      <a:srgbClr val="FFFFFF"/>
                    </a:solidFill>
                  </a:tcPr>
                </a:tc>
                <a:tc>
                  <a:txBody>
                    <a:bodyPr/>
                    <a:lstStyle/>
                    <a:p>
                      <a:pPr algn="l" indent="0" marL="0">
                        <a:buNone/>
                      </a:pPr>
                      <a:r>
                        <a:rPr lang="en-US" sz="1200" dirty="0">
                          <a:solidFill>
                            <a:srgbClr val="0F151B"/>
                          </a:solidFill>
                          <a:latin typeface="Arial" pitchFamily="34" charset="0"/>
                          <a:ea typeface="Arial" pitchFamily="34" charset="-122"/>
                          <a:cs typeface="Arial" pitchFamily="34" charset="-120"/>
                        </a:rPr>
                        <a:t>32</a:t>
                      </a:r>
                      <a:endParaRPr lang="en-US" sz="1200" dirty="0">
                        <a:latin typeface="Arial" charset="0"/>
                        <a:ea typeface="Arial" charset="0"/>
                        <a:cs typeface="Arial" charset="0"/>
                      </a:endParaRPr>
                    </a:p>
                  </a:txBody>
                  <a:tcPr marL="146304" marR="146304" marT="54864" marB="54864" anchor="ctr">
                    <a:lnL w="0" cap="flat" cmpd="sng" algn="ctr">
                      <a:noFill/>
                    </a:lnL>
                    <a:lnR w="0" cap="flat" cmpd="sng" algn="ctr">
                      <a:noFill/>
                    </a:lnR>
                    <a:lnT w="0" cap="flat" cmpd="sng" algn="ctr">
                      <a:noFill/>
                    </a:lnT>
                    <a:lnB w="6350" cap="flat" cmpd="sng" algn="ctr">
                      <a:solidFill>
                        <a:srgbClr val="E2EAF1"/>
                      </a:solidFill>
                      <a:prstDash val="solid"/>
                      <a:round/>
                      <a:headEnd type="none" w="med" len="med"/>
                      <a:tailEnd type="none" w="med" len="med"/>
                    </a:lnB>
                    <a:solidFill>
                      <a:srgbClr val="FFFFFF"/>
                    </a:solidFill>
                  </a:tcPr>
                </a:tc>
                <a:tc>
                  <a:txBody>
                    <a:bodyPr/>
                    <a:lstStyle/>
                    <a:p>
                      <a:pPr algn="l" indent="0" marL="0">
                        <a:buNone/>
                      </a:pPr>
                      <a:r>
                        <a:rPr lang="en-US" sz="1200" dirty="0">
                          <a:solidFill>
                            <a:srgbClr val="0F151B"/>
                          </a:solidFill>
                          <a:latin typeface="Arial" pitchFamily="34" charset="0"/>
                          <a:ea typeface="Arial" pitchFamily="34" charset="-122"/>
                          <a:cs typeface="Arial" pitchFamily="34" charset="-120"/>
                        </a:rPr>
                        <a:t>$2,750</a:t>
                      </a:r>
                      <a:endParaRPr lang="en-US" sz="1200" dirty="0">
                        <a:latin typeface="Arial" charset="0"/>
                        <a:ea typeface="Arial" charset="0"/>
                        <a:cs typeface="Arial" charset="0"/>
                      </a:endParaRPr>
                    </a:p>
                  </a:txBody>
                  <a:tcPr marL="146304" marR="146304" marT="54864" marB="54864" anchor="ctr">
                    <a:lnL w="0" cap="flat" cmpd="sng" algn="ctr">
                      <a:noFill/>
                    </a:lnL>
                    <a:lnR w="0" cap="flat" cmpd="sng" algn="ctr">
                      <a:noFill/>
                    </a:lnR>
                    <a:lnT w="0" cap="flat" cmpd="sng" algn="ctr">
                      <a:noFill/>
                    </a:lnT>
                    <a:lnB w="6350" cap="flat" cmpd="sng" algn="ctr">
                      <a:solidFill>
                        <a:srgbClr val="E2EAF1"/>
                      </a:solidFill>
                      <a:prstDash val="solid"/>
                      <a:round/>
                      <a:headEnd type="none" w="med" len="med"/>
                      <a:tailEnd type="none" w="med" len="med"/>
                    </a:lnB>
                    <a:solidFill>
                      <a:srgbClr val="FFFFFF"/>
                    </a:solidFill>
                  </a:tcPr>
                </a:tc>
              </a:tr>
              <a:tr h="457200">
                <a:tc>
                  <a:txBody>
                    <a:bodyPr/>
                    <a:lstStyle/>
                    <a:p>
                      <a:pPr algn="l" indent="0" marL="0">
                        <a:buNone/>
                      </a:pPr>
                      <a:r>
                        <a:rPr lang="en-US" sz="1200" dirty="0">
                          <a:solidFill>
                            <a:srgbClr val="0F151B"/>
                          </a:solidFill>
                          <a:latin typeface="Arial" pitchFamily="34" charset="0"/>
                          <a:ea typeface="Arial" pitchFamily="34" charset="-122"/>
                          <a:cs typeface="Arial" pitchFamily="34" charset="-120"/>
                        </a:rPr>
                        <a:t>one of each, labor $125/hr</a:t>
                      </a:r>
                      <a:endParaRPr lang="en-US" sz="1200" dirty="0">
                        <a:latin typeface="Arial" charset="0"/>
                        <a:ea typeface="Arial" charset="0"/>
                        <a:cs typeface="Arial" charset="0"/>
                      </a:endParaRPr>
                    </a:p>
                  </a:txBody>
                  <a:tcPr marL="146304" marR="146304" marT="54864" marB="54864" anchor="ctr">
                    <a:lnL w="0" cap="flat" cmpd="sng" algn="ctr">
                      <a:noFill/>
                    </a:lnL>
                    <a:lnR w="0" cap="flat" cmpd="sng" algn="ctr">
                      <a:noFill/>
                    </a:lnR>
                    <a:lnT w="0" cap="flat" cmpd="sng" algn="ctr">
                      <a:noFill/>
                    </a:lnT>
                    <a:lnB w="6350" cap="flat" cmpd="sng" algn="ctr">
                      <a:solidFill>
                        <a:srgbClr val="E2EAF1"/>
                      </a:solidFill>
                      <a:prstDash val="solid"/>
                      <a:round/>
                      <a:headEnd type="none" w="med" len="med"/>
                      <a:tailEnd type="none" w="med" len="med"/>
                    </a:lnB>
                    <a:solidFill>
                      <a:srgbClr val="F1F6FA"/>
                    </a:solidFill>
                  </a:tcPr>
                </a:tc>
                <a:tc>
                  <a:txBody>
                    <a:bodyPr/>
                    <a:lstStyle/>
                    <a:p>
                      <a:pPr algn="l" indent="0" marL="0">
                        <a:buNone/>
                      </a:pPr>
                      <a:r>
                        <a:rPr lang="en-US" sz="1200" dirty="0">
                          <a:solidFill>
                            <a:srgbClr val="0F151B"/>
                          </a:solidFill>
                          <a:latin typeface="Arial" pitchFamily="34" charset="0"/>
                          <a:ea typeface="Arial" pitchFamily="34" charset="-122"/>
                          <a:cs typeface="Arial" pitchFamily="34" charset="-120"/>
                        </a:rPr>
                        <a:t>$3,500</a:t>
                      </a:r>
                      <a:endParaRPr lang="en-US" sz="1200" dirty="0">
                        <a:latin typeface="Arial" charset="0"/>
                        <a:ea typeface="Arial" charset="0"/>
                        <a:cs typeface="Arial" charset="0"/>
                      </a:endParaRPr>
                    </a:p>
                  </a:txBody>
                  <a:tcPr marL="146304" marR="146304" marT="54864" marB="54864" anchor="ctr">
                    <a:lnL w="0" cap="flat" cmpd="sng" algn="ctr">
                      <a:noFill/>
                    </a:lnL>
                    <a:lnR w="0" cap="flat" cmpd="sng" algn="ctr">
                      <a:noFill/>
                    </a:lnR>
                    <a:lnT w="0" cap="flat" cmpd="sng" algn="ctr">
                      <a:noFill/>
                    </a:lnT>
                    <a:lnB w="6350" cap="flat" cmpd="sng" algn="ctr">
                      <a:solidFill>
                        <a:srgbClr val="E2EAF1"/>
                      </a:solidFill>
                      <a:prstDash val="solid"/>
                      <a:round/>
                      <a:headEnd type="none" w="med" len="med"/>
                      <a:tailEnd type="none" w="med" len="med"/>
                    </a:lnB>
                    <a:solidFill>
                      <a:srgbClr val="F1F6FA"/>
                    </a:solidFill>
                  </a:tcPr>
                </a:tc>
                <a:tc>
                  <a:txBody>
                    <a:bodyPr/>
                    <a:lstStyle/>
                    <a:p>
                      <a:pPr algn="l" indent="0" marL="0">
                        <a:buNone/>
                      </a:pPr>
                      <a:r>
                        <a:rPr lang="en-US" sz="1200" dirty="0">
                          <a:solidFill>
                            <a:srgbClr val="0F151B"/>
                          </a:solidFill>
                          <a:latin typeface="Arial" pitchFamily="34" charset="0"/>
                          <a:ea typeface="Arial" pitchFamily="34" charset="-122"/>
                          <a:cs typeface="Arial" pitchFamily="34" charset="-120"/>
                        </a:rPr>
                        <a:t>16</a:t>
                      </a:r>
                      <a:endParaRPr lang="en-US" sz="1200" dirty="0">
                        <a:latin typeface="Arial" charset="0"/>
                        <a:ea typeface="Arial" charset="0"/>
                        <a:cs typeface="Arial" charset="0"/>
                      </a:endParaRPr>
                    </a:p>
                  </a:txBody>
                  <a:tcPr marL="146304" marR="146304" marT="54864" marB="54864" anchor="ctr">
                    <a:lnL w="0" cap="flat" cmpd="sng" algn="ctr">
                      <a:noFill/>
                    </a:lnL>
                    <a:lnR w="0" cap="flat" cmpd="sng" algn="ctr">
                      <a:noFill/>
                    </a:lnR>
                    <a:lnT w="0" cap="flat" cmpd="sng" algn="ctr">
                      <a:noFill/>
                    </a:lnT>
                    <a:lnB w="6350" cap="flat" cmpd="sng" algn="ctr">
                      <a:solidFill>
                        <a:srgbClr val="E2EAF1"/>
                      </a:solidFill>
                      <a:prstDash val="solid"/>
                      <a:round/>
                      <a:headEnd type="none" w="med" len="med"/>
                      <a:tailEnd type="none" w="med" len="med"/>
                    </a:lnB>
                    <a:solidFill>
                      <a:srgbClr val="F1F6FA"/>
                    </a:solidFill>
                  </a:tcPr>
                </a:tc>
                <a:tc>
                  <a:txBody>
                    <a:bodyPr/>
                    <a:lstStyle/>
                    <a:p>
                      <a:pPr algn="l" indent="0" marL="0">
                        <a:buNone/>
                      </a:pPr>
                      <a:r>
                        <a:rPr lang="en-US" sz="1200" dirty="0">
                          <a:solidFill>
                            <a:srgbClr val="0F151B"/>
                          </a:solidFill>
                          <a:latin typeface="Arial" pitchFamily="34" charset="0"/>
                          <a:ea typeface="Arial" pitchFamily="34" charset="-122"/>
                          <a:cs typeface="Arial" pitchFamily="34" charset="-120"/>
                        </a:rPr>
                        <a:t>$325</a:t>
                      </a:r>
                      <a:endParaRPr lang="en-US" sz="1200" dirty="0">
                        <a:latin typeface="Arial" charset="0"/>
                        <a:ea typeface="Arial" charset="0"/>
                        <a:cs typeface="Arial" charset="0"/>
                      </a:endParaRPr>
                    </a:p>
                  </a:txBody>
                  <a:tcPr marL="146304" marR="146304" marT="54864" marB="54864" anchor="ctr">
                    <a:lnL w="0" cap="flat" cmpd="sng" algn="ctr">
                      <a:noFill/>
                    </a:lnL>
                    <a:lnR w="0" cap="flat" cmpd="sng" algn="ctr">
                      <a:noFill/>
                    </a:lnR>
                    <a:lnT w="0" cap="flat" cmpd="sng" algn="ctr">
                      <a:noFill/>
                    </a:lnT>
                    <a:lnB w="6350" cap="flat" cmpd="sng" algn="ctr">
                      <a:solidFill>
                        <a:srgbClr val="E2EAF1"/>
                      </a:solidFill>
                      <a:prstDash val="solid"/>
                      <a:round/>
                      <a:headEnd type="none" w="med" len="med"/>
                      <a:tailEnd type="none" w="med" len="med"/>
                    </a:lnB>
                    <a:solidFill>
                      <a:srgbClr val="F1F6FA"/>
                    </a:solidFill>
                  </a:tcPr>
                </a:tc>
              </a:tr>
              <a:tr h="457200">
                <a:tc>
                  <a:txBody>
                    <a:bodyPr/>
                    <a:lstStyle/>
                    <a:p>
                      <a:pPr algn="l" indent="0" marL="0">
                        <a:buNone/>
                      </a:pPr>
                      <a:r>
                        <a:rPr lang="en-US" sz="1200" dirty="0">
                          <a:solidFill>
                            <a:srgbClr val="0F151B"/>
                          </a:solidFill>
                          <a:latin typeface="Arial" pitchFamily="34" charset="0"/>
                          <a:ea typeface="Arial" pitchFamily="34" charset="-122"/>
                          <a:cs typeface="Arial" pitchFamily="34" charset="-120"/>
                        </a:rPr>
                        <a:t>Plus one Spec build in the month</a:t>
                      </a:r>
                      <a:endParaRPr lang="en-US" sz="1200" dirty="0">
                        <a:latin typeface="Arial" charset="0"/>
                        <a:ea typeface="Arial" charset="0"/>
                        <a:cs typeface="Arial" charset="0"/>
                      </a:endParaRPr>
                    </a:p>
                  </a:txBody>
                  <a:tcPr marL="146304" marR="146304" marT="54864" marB="54864" anchor="ctr">
                    <a:lnL w="0" cap="flat" cmpd="sng" algn="ctr">
                      <a:noFill/>
                    </a:lnL>
                    <a:lnR w="0" cap="flat" cmpd="sng" algn="ctr">
                      <a:noFill/>
                    </a:lnR>
                    <a:lnT w="0" cap="flat" cmpd="sng" algn="ctr">
                      <a:noFill/>
                    </a:lnT>
                    <a:lnB w="6350" cap="flat" cmpd="sng" algn="ctr">
                      <a:solidFill>
                        <a:srgbClr val="E2EAF1"/>
                      </a:solidFill>
                      <a:prstDash val="solid"/>
                      <a:round/>
                      <a:headEnd type="none" w="med" len="med"/>
                      <a:tailEnd type="none" w="med" len="med"/>
                    </a:lnB>
                    <a:solidFill>
                      <a:srgbClr val="FFFFFF"/>
                    </a:solidFill>
                  </a:tcPr>
                </a:tc>
                <a:tc>
                  <a:txBody>
                    <a:bodyPr/>
                    <a:lstStyle/>
                    <a:p>
                      <a:pPr algn="l" indent="0" marL="0">
                        <a:buNone/>
                      </a:pPr>
                      <a:r>
                        <a:rPr lang="en-US" sz="1200" dirty="0">
                          <a:solidFill>
                            <a:srgbClr val="0F151B"/>
                          </a:solidFill>
                          <a:latin typeface="Arial" pitchFamily="34" charset="0"/>
                          <a:ea typeface="Arial" pitchFamily="34" charset="-122"/>
                          <a:cs typeface="Arial" pitchFamily="34" charset="-120"/>
                        </a:rPr>
                        <a:t>+$3,500 once</a:t>
                      </a:r>
                      <a:endParaRPr lang="en-US" sz="1200" dirty="0">
                        <a:latin typeface="Arial" charset="0"/>
                        <a:ea typeface="Arial" charset="0"/>
                        <a:cs typeface="Arial" charset="0"/>
                      </a:endParaRPr>
                    </a:p>
                  </a:txBody>
                  <a:tcPr marL="146304" marR="146304" marT="54864" marB="54864" anchor="ctr">
                    <a:lnL w="0" cap="flat" cmpd="sng" algn="ctr">
                      <a:noFill/>
                    </a:lnL>
                    <a:lnR w="0" cap="flat" cmpd="sng" algn="ctr">
                      <a:noFill/>
                    </a:lnR>
                    <a:lnT w="0" cap="flat" cmpd="sng" algn="ctr">
                      <a:noFill/>
                    </a:lnT>
                    <a:lnB w="6350" cap="flat" cmpd="sng" algn="ctr">
                      <a:solidFill>
                        <a:srgbClr val="E2EAF1"/>
                      </a:solidFill>
                      <a:prstDash val="solid"/>
                      <a:round/>
                      <a:headEnd type="none" w="med" len="med"/>
                      <a:tailEnd type="none" w="med" len="med"/>
                    </a:lnB>
                    <a:solidFill>
                      <a:srgbClr val="FFFFFF"/>
                    </a:solidFill>
                  </a:tcPr>
                </a:tc>
                <a:tc>
                  <a:txBody>
                    <a:bodyPr/>
                    <a:lstStyle/>
                    <a:p>
                      <a:pPr algn="l" indent="0" marL="0">
                        <a:buNone/>
                      </a:pPr>
                      <a:r>
                        <a:rPr lang="en-US" sz="1200" dirty="0">
                          <a:solidFill>
                            <a:srgbClr val="0F151B"/>
                          </a:solidFill>
                          <a:latin typeface="Arial" pitchFamily="34" charset="0"/>
                          <a:ea typeface="Arial" pitchFamily="34" charset="-122"/>
                          <a:cs typeface="Arial" pitchFamily="34" charset="-120"/>
                        </a:rPr>
                        <a:t>+24</a:t>
                      </a:r>
                      <a:endParaRPr lang="en-US" sz="1200" dirty="0">
                        <a:latin typeface="Arial" charset="0"/>
                        <a:ea typeface="Arial" charset="0"/>
                        <a:cs typeface="Arial" charset="0"/>
                      </a:endParaRPr>
                    </a:p>
                  </a:txBody>
                  <a:tcPr marL="146304" marR="146304" marT="54864" marB="54864" anchor="ctr">
                    <a:lnL w="0" cap="flat" cmpd="sng" algn="ctr">
                      <a:noFill/>
                    </a:lnL>
                    <a:lnR w="0" cap="flat" cmpd="sng" algn="ctr">
                      <a:noFill/>
                    </a:lnR>
                    <a:lnT w="0" cap="flat" cmpd="sng" algn="ctr">
                      <a:noFill/>
                    </a:lnT>
                    <a:lnB w="6350" cap="flat" cmpd="sng" algn="ctr">
                      <a:solidFill>
                        <a:srgbClr val="E2EAF1"/>
                      </a:solidFill>
                      <a:prstDash val="solid"/>
                      <a:round/>
                      <a:headEnd type="none" w="med" len="med"/>
                      <a:tailEnd type="none" w="med" len="med"/>
                    </a:lnB>
                    <a:solidFill>
                      <a:srgbClr val="FFFFFF"/>
                    </a:solidFill>
                  </a:tcPr>
                </a:tc>
                <a:tc>
                  <a:txBody>
                    <a:bodyPr/>
                    <a:lstStyle/>
                    <a:p>
                      <a:pPr algn="l" indent="0" marL="0">
                        <a:buNone/>
                      </a:pPr>
                      <a:r>
                        <a:rPr lang="en-US" sz="1200" dirty="0">
                          <a:solidFill>
                            <a:srgbClr val="0F151B"/>
                          </a:solidFill>
                          <a:latin typeface="Arial" pitchFamily="34" charset="0"/>
                          <a:ea typeface="Arial" pitchFamily="34" charset="-122"/>
                          <a:cs typeface="Arial" pitchFamily="34" charset="-120"/>
                        </a:rPr>
                        <a:t>+$1,250 once</a:t>
                      </a:r>
                      <a:endParaRPr lang="en-US" sz="1200" dirty="0">
                        <a:latin typeface="Arial" charset="0"/>
                        <a:ea typeface="Arial" charset="0"/>
                        <a:cs typeface="Arial" charset="0"/>
                      </a:endParaRPr>
                    </a:p>
                  </a:txBody>
                  <a:tcPr marL="146304" marR="146304" marT="54864" marB="54864" anchor="ctr">
                    <a:lnL w="0" cap="flat" cmpd="sng" algn="ctr">
                      <a:noFill/>
                    </a:lnL>
                    <a:lnR w="0" cap="flat" cmpd="sng" algn="ctr">
                      <a:noFill/>
                    </a:lnR>
                    <a:lnT w="0" cap="flat" cmpd="sng" algn="ctr">
                      <a:noFill/>
                    </a:lnT>
                    <a:lnB w="6350" cap="flat" cmpd="sng" algn="ctr">
                      <a:solidFill>
                        <a:srgbClr val="E2EAF1"/>
                      </a:solidFill>
                      <a:prstDash val="solid"/>
                      <a:round/>
                      <a:headEnd type="none" w="med" len="med"/>
                      <a:tailEnd type="none" w="med" len="med"/>
                    </a:lnB>
                    <a:solidFill>
                      <a:srgbClr val="FFFFFF"/>
                    </a:solidFill>
                  </a:tcPr>
                </a:tc>
              </a:tr>
            </a:tbl>
          </a:graphicData>
        </a:graphic>
      </p:graphicFrame>
      <p:sp>
        <p:nvSpPr>
          <p:cNvPr id="7" name="role:rule-h"/>
          <p:cNvSpPr/>
          <p:nvPr/>
        </p:nvSpPr>
        <p:spPr>
          <a:xfrm>
            <a:off x="713232" y="5120640"/>
            <a:ext cx="10765231" cy="0"/>
          </a:xfrm>
          <a:prstGeom prst="line">
            <a:avLst/>
          </a:prstGeom>
          <a:noFill/>
          <a:ln w="9525">
            <a:solidFill>
              <a:srgbClr val="E2EAF1"/>
            </a:solidFill>
            <a:prstDash val="solid"/>
          </a:ln>
        </p:spPr>
      </p:sp>
      <p:sp>
        <p:nvSpPr>
          <p:cNvPr id="8" name="role:body"/>
          <p:cNvSpPr txBox="1"/>
          <p:nvPr/>
        </p:nvSpPr>
        <p:spPr>
          <a:xfrm>
            <a:off x="713232" y="5257800"/>
            <a:ext cx="10765231" cy="790448"/>
          </a:xfrm>
          <a:prstGeom prst="rect">
            <a:avLst/>
          </a:prstGeom>
          <a:noFill/>
          <a:ln/>
        </p:spPr>
        <p:txBody>
          <a:bodyPr wrap="square" lIns="0" tIns="0" rIns="0" bIns="0" rtlCol="0" anchor="t"/>
          <a:lstStyle/>
          <a:p>
            <a:pPr algn="l" indent="0" marL="0">
              <a:lnSpc>
                <a:spcPct val="130000"/>
              </a:lnSpc>
              <a:buNone/>
            </a:pPr>
            <a:r>
              <a:rPr lang="en-US" sz="1100" dirty="0">
                <a:solidFill>
                  <a:srgbClr val="5A6772"/>
                </a:solidFill>
                <a:latin typeface="Arial" pitchFamily="34" charset="0"/>
                <a:ea typeface="Arial" pitchFamily="34" charset="-122"/>
                <a:cs typeface="Arial" pitchFamily="34" charset="-120"/>
              </a:rPr>
              <a:t>$75 loaded labour/hour, 10% sales allowance, $500 fixed monthly allowance, per-offer tool allowances of $75 (AEO), $100 (Motion), $150 (Lead Ops), full collection. Same method as the September 4 pack's economics.py. These are calculations under assumptions, not actual revenue and not net profit. Booked, invoiced and collected stay separate totals. Missing collections stay unknown, not assumed paid. Double hours takes the recurring cohort below zero, which is why hours per client is an acceptance metric of every offer.</a:t>
            </a:r>
            <a:endParaRPr lang="en-US" sz="1100" dirty="0"/>
          </a:p>
        </p:txBody>
      </p:sp>
      <p:sp>
        <p:nvSpPr>
          <p:cNvPr id="9" name="role:foot"/>
          <p:cNvSpPr txBox="1"/>
          <p:nvPr/>
        </p:nvSpPr>
        <p:spPr>
          <a:xfrm>
            <a:off x="713232" y="6400800"/>
            <a:ext cx="9942271" cy="237744"/>
          </a:xfrm>
          <a:prstGeom prst="rect">
            <a:avLst/>
          </a:prstGeom>
          <a:noFill/>
          <a:ln/>
        </p:spPr>
        <p:txBody>
          <a:bodyPr wrap="square" lIns="0" tIns="0" rIns="0" bIns="0" rtlCol="0" anchor="t"/>
          <a:lstStyle/>
          <a:p>
            <a:pPr algn="l" indent="0" marL="0">
              <a:buNone/>
            </a:pPr>
            <a:r>
              <a:rPr lang="en-US" sz="950" i="1" dirty="0">
                <a:solidFill>
                  <a:srgbClr val="8A97A2"/>
                </a:solidFill>
                <a:latin typeface="Arial" pitchFamily="34" charset="0"/>
                <a:ea typeface="Arial" pitchFamily="34" charset="-122"/>
                <a:cs typeface="Arial" pitchFamily="34" charset="-120"/>
              </a:rPr>
              <a:t>Calculations under assumptions. Not revenue, not profit. Booked, invoiced and collected stay separate.</a:t>
            </a:r>
            <a:endParaRPr lang="en-US" sz="9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320" decel="700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322" decel="70000"/>
                                        <p:tgtEl>
                                          <p:spTgt spid="3"/>
                                        </p:tgtEl>
                                      </p:cBhvr>
                                    </p:animEffect>
                                    <p:anim calcmode="lin" valueType="num">
                                      <p:cBhvr additive="base">
                                        <p:cTn id="11" dur="322" decel="70000" fill="hold"/>
                                        <p:tgtEl>
                                          <p:spTgt spid="3"/>
                                        </p:tgtEl>
                                        <p:attrNameLst>
                                          <p:attrName>ppt_y</p:attrName>
                                        </p:attrNameLst>
                                      </p:cBhvr>
                                      <p:tavLst>
                                        <p:tav tm="0">
                                          <p:val>
                                            <p:strVal val="#ppt_y+0.032"/>
                                          </p:val>
                                        </p:tav>
                                        <p:tav tm="100000">
                                          <p:val>
                                            <p:strVal val="#ppt_y"/>
                                          </p:val>
                                        </p:tav>
                                      </p:tavLst>
                                    </p:anim>
                                  </p:childTnLst>
                                </p:cTn>
                              </p:par>
                              <p:par>
                                <p:cTn id="12" presetID="10" presetClass="entr" presetSubtype="0" fill="hold" grpId="0" nodeType="withEffect">
                                  <p:stCondLst>
                                    <p:cond delay="55"/>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482" decel="70000"/>
                                        <p:tgtEl>
                                          <p:spTgt spid="4"/>
                                        </p:tgtEl>
                                      </p:cBhvr>
                                    </p:animEffect>
                                    <p:anim calcmode="lin" valueType="num">
                                      <p:cBhvr additive="base">
                                        <p:cTn id="15" dur="482" decel="70000" fill="hold"/>
                                        <p:tgtEl>
                                          <p:spTgt spid="4"/>
                                        </p:tgtEl>
                                        <p:attrNameLst>
                                          <p:attrName>ppt_y</p:attrName>
                                        </p:attrNameLst>
                                      </p:cBhvr>
                                      <p:tavLst>
                                        <p:tav tm="0">
                                          <p:val>
                                            <p:strVal val="#ppt_y+0.0512"/>
                                          </p:val>
                                        </p:tav>
                                        <p:tav tm="100000">
                                          <p:val>
                                            <p:strVal val="#ppt_y"/>
                                          </p:val>
                                        </p:tav>
                                      </p:tavLst>
                                    </p:anim>
                                  </p:childTnLst>
                                </p:cTn>
                              </p:par>
                              <p:par>
                                <p:cTn id="16" presetID="10" presetClass="entr" presetSubtype="0" fill="hold" grpId="0" nodeType="withEffect">
                                  <p:stCondLst>
                                    <p:cond delay="11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368" decel="70000"/>
                                        <p:tgtEl>
                                          <p:spTgt spid="8"/>
                                        </p:tgtEl>
                                      </p:cBhvr>
                                    </p:animEffect>
                                  </p:childTnLst>
                                </p:cTn>
                              </p:par>
                              <p:par>
                                <p:cTn id="19" presetID="22" presetClass="entr" presetSubtype="1" fill="hold" grpId="0" nodeType="withEffect">
                                  <p:stCondLst>
                                    <p:cond delay="165"/>
                                  </p:stCondLst>
                                  <p:childTnLst>
                                    <p:set>
                                      <p:cBhvr>
                                        <p:cTn id="20" dur="1" fill="hold">
                                          <p:stCondLst>
                                            <p:cond delay="0"/>
                                          </p:stCondLst>
                                        </p:cTn>
                                        <p:tgtEl>
                                          <p:spTgt spid="7"/>
                                        </p:tgtEl>
                                        <p:attrNameLst>
                                          <p:attrName>style.visibility</p:attrName>
                                        </p:attrNameLst>
                                      </p:cBhvr>
                                      <p:to>
                                        <p:strVal val="visible"/>
                                      </p:to>
                                    </p:set>
                                    <p:animEffect transition="in" filter="wipe(right)">
                                      <p:cBhvr>
                                        <p:cTn id="21" dur="529"/>
                                        <p:tgtEl>
                                          <p:spTgt spid="7"/>
                                        </p:tgtEl>
                                      </p:cBhvr>
                                    </p:animEffect>
                                  </p:childTnLst>
                                </p:cTn>
                              </p:par>
                              <p:par>
                                <p:cTn id="22" presetID="10" presetClass="entr" presetSubtype="0" fill="hold" grpId="0" nodeType="withEffect">
                                  <p:stCondLst>
                                    <p:cond delay="22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322" decel="70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role:logo" descr="Momentum Digital logo">    </p:cNvPr>
          <p:cNvPicPr>
            <a:picLocks noChangeAspect="1"/>
          </p:cNvPicPr>
          <p:nvPr/>
        </p:nvPicPr>
        <p:blipFill>
          <a:blip r:embed="rId1"/>
          <a:stretch>
            <a:fillRect/>
          </a:stretch>
        </p:blipFill>
        <p:spPr>
          <a:xfrm>
            <a:off x="10106863" y="658368"/>
            <a:ext cx="1371600" cy="294904"/>
          </a:xfrm>
          <a:prstGeom prst="rect">
            <a:avLst/>
          </a:prstGeom>
        </p:spPr>
      </p:pic>
      <p:sp>
        <p:nvSpPr>
          <p:cNvPr id="3" name="role:kicker"/>
          <p:cNvSpPr txBox="1"/>
          <p:nvPr/>
        </p:nvSpPr>
        <p:spPr>
          <a:xfrm>
            <a:off x="713232" y="658368"/>
            <a:ext cx="8753551" cy="201168"/>
          </a:xfrm>
          <a:prstGeom prst="rect">
            <a:avLst/>
          </a:prstGeom>
          <a:noFill/>
          <a:ln/>
        </p:spPr>
        <p:txBody>
          <a:bodyPr wrap="square" lIns="0" tIns="0" rIns="0" bIns="0" rtlCol="0" anchor="t"/>
          <a:lstStyle/>
          <a:p>
            <a:pPr algn="l" indent="0" marL="0">
              <a:buNone/>
            </a:pPr>
            <a:r>
              <a:rPr lang="en-US" sz="1050" b="1" spc="240" kern="0" dirty="0">
                <a:solidFill>
                  <a:srgbClr val="2A80C2"/>
                </a:solidFill>
                <a:latin typeface="Arial" pitchFamily="34" charset="0"/>
                <a:ea typeface="Arial" pitchFamily="34" charset="-122"/>
                <a:cs typeface="Arial" pitchFamily="34" charset="-120"/>
              </a:rPr>
              <a:t>BEFORE ANYTHING IS SOLD · 20 OPEN DECISIONS</a:t>
            </a:r>
            <a:endParaRPr lang="en-US" sz="1050" dirty="0"/>
          </a:p>
        </p:txBody>
      </p:sp>
      <p:sp>
        <p:nvSpPr>
          <p:cNvPr id="4" name="role:title"/>
          <p:cNvSpPr txBox="1"/>
          <p:nvPr/>
        </p:nvSpPr>
        <p:spPr>
          <a:xfrm>
            <a:off x="713232" y="987552"/>
            <a:ext cx="8570671" cy="569214"/>
          </a:xfrm>
          <a:prstGeom prst="rect">
            <a:avLst/>
          </a:prstGeom>
          <a:noFill/>
          <a:ln/>
        </p:spPr>
        <p:txBody>
          <a:bodyPr wrap="square" lIns="0" tIns="0" rIns="0" bIns="0" rtlCol="0" anchor="t"/>
          <a:lstStyle/>
          <a:p>
            <a:pPr algn="l" indent="0" marL="0">
              <a:lnSpc>
                <a:spcPct val="102000"/>
              </a:lnSpc>
              <a:buNone/>
            </a:pPr>
            <a:r>
              <a:rPr lang="en-US" sz="3900" b="1" dirty="0">
                <a:solidFill>
                  <a:srgbClr val="0F151B"/>
                </a:solidFill>
                <a:latin typeface="Arial" pitchFamily="34" charset="0"/>
                <a:ea typeface="Arial" pitchFamily="34" charset="-122"/>
                <a:cs typeface="Arial" pitchFamily="34" charset="-120"/>
              </a:rPr>
              <a:t>What Friday has to settle</a:t>
            </a:r>
            <a:endParaRPr lang="en-US" sz="3900" dirty="0"/>
          </a:p>
        </p:txBody>
      </p:sp>
      <p:sp>
        <p:nvSpPr>
          <p:cNvPr id="5" name="role:sub"/>
          <p:cNvSpPr txBox="1"/>
          <p:nvPr/>
        </p:nvSpPr>
        <p:spPr>
          <a:xfrm>
            <a:off x="713232" y="1703070"/>
            <a:ext cx="8046720" cy="356616"/>
          </a:xfrm>
          <a:prstGeom prst="rect">
            <a:avLst/>
          </a:prstGeom>
          <a:noFill/>
          <a:ln/>
        </p:spPr>
        <p:txBody>
          <a:bodyPr wrap="square" lIns="0" tIns="0" rIns="0" bIns="0" rtlCol="0" anchor="t"/>
          <a:lstStyle/>
          <a:p>
            <a:pPr algn="l" indent="0" marL="0">
              <a:lnSpc>
                <a:spcPct val="128000"/>
              </a:lnSpc>
              <a:buNone/>
            </a:pPr>
            <a:r>
              <a:rPr lang="en-US" sz="1800" dirty="0">
                <a:solidFill>
                  <a:srgbClr val="5A6772"/>
                </a:solidFill>
                <a:latin typeface="Arial" pitchFamily="34" charset="0"/>
                <a:ea typeface="Arial" pitchFamily="34" charset="-122"/>
                <a:cs typeface="Arial" pitchFamily="34" charset="-120"/>
              </a:rPr>
              <a:t>The eight that block the launch. 12 more are in the register.</a:t>
            </a:r>
            <a:endParaRPr lang="en-US" sz="1800" dirty="0"/>
          </a:p>
        </p:txBody>
      </p:sp>
      <p:sp>
        <p:nvSpPr>
          <p:cNvPr id="6" name="role:static"/>
          <p:cNvSpPr txBox="1"/>
          <p:nvPr/>
        </p:nvSpPr>
        <p:spPr>
          <a:xfrm>
            <a:off x="10929823" y="6437376"/>
            <a:ext cx="548640" cy="219456"/>
          </a:xfrm>
          <a:prstGeom prst="rect">
            <a:avLst/>
          </a:prstGeom>
          <a:noFill/>
          <a:ln/>
        </p:spPr>
        <p:txBody>
          <a:bodyPr wrap="square" lIns="0" tIns="0" rIns="0" bIns="0" rtlCol="0" anchor="t"/>
          <a:lstStyle/>
          <a:p>
            <a:pPr algn="r" indent="0" marL="0">
              <a:buNone/>
            </a:pPr>
            <a:r>
              <a:rPr lang="en-US" sz="1050" b="1" spc="100" kern="0" dirty="0">
                <a:solidFill>
                  <a:srgbClr val="CBD8E3"/>
                </a:solidFill>
                <a:latin typeface="Arial" pitchFamily="34" charset="0"/>
                <a:ea typeface="Arial" pitchFamily="34" charset="-122"/>
                <a:cs typeface="Arial" pitchFamily="34" charset="-120"/>
              </a:rPr>
              <a:t>07</a:t>
            </a:r>
            <a:endParaRPr lang="en-US" sz="1050" dirty="0"/>
          </a:p>
        </p:txBody>
      </p:sp>
      <p:sp>
        <p:nvSpPr>
          <p:cNvPr id="7" name="role:row-head"/>
          <p:cNvSpPr txBox="1"/>
          <p:nvPr/>
        </p:nvSpPr>
        <p:spPr>
          <a:xfrm>
            <a:off x="713232" y="2462022"/>
            <a:ext cx="3291840" cy="239776"/>
          </a:xfrm>
          <a:prstGeom prst="rect">
            <a:avLst/>
          </a:prstGeom>
          <a:noFill/>
          <a:ln/>
        </p:spPr>
        <p:txBody>
          <a:bodyPr wrap="square" lIns="0" tIns="0" rIns="0" bIns="0" rtlCol="0" anchor="t"/>
          <a:lstStyle/>
          <a:p>
            <a:pPr algn="l" indent="0" marL="0">
              <a:lnSpc>
                <a:spcPct val="110000"/>
              </a:lnSpc>
              <a:buNone/>
            </a:pPr>
            <a:r>
              <a:rPr lang="en-US" sz="1300" b="1" dirty="0">
                <a:solidFill>
                  <a:srgbClr val="0F151B"/>
                </a:solidFill>
                <a:latin typeface="Arial" pitchFamily="34" charset="0"/>
                <a:ea typeface="Arial" pitchFamily="34" charset="-122"/>
                <a:cs typeface="Arial" pitchFamily="34" charset="-120"/>
              </a:rPr>
              <a:t>D01  Division charter</a:t>
            </a:r>
            <a:endParaRPr lang="en-US" sz="1300" dirty="0"/>
          </a:p>
        </p:txBody>
      </p:sp>
      <p:sp>
        <p:nvSpPr>
          <p:cNvPr id="8" name="role:row-body"/>
          <p:cNvSpPr txBox="1"/>
          <p:nvPr/>
        </p:nvSpPr>
        <p:spPr>
          <a:xfrm>
            <a:off x="4416552" y="2462022"/>
            <a:ext cx="7061911" cy="412496"/>
          </a:xfrm>
          <a:prstGeom prst="rect">
            <a:avLst/>
          </a:prstGeom>
          <a:noFill/>
          <a:ln/>
        </p:spPr>
        <p:txBody>
          <a:bodyPr wrap="square" lIns="0" tIns="0" rIns="0" bIns="0" rtlCol="0" anchor="t"/>
          <a:lstStyle/>
          <a:p>
            <a:pPr algn="l" indent="0" marL="0">
              <a:lnSpc>
                <a:spcPct val="128000"/>
              </a:lnSpc>
              <a:buNone/>
            </a:pPr>
            <a:r>
              <a:rPr lang="en-US" sz="1100" dirty="0">
                <a:solidFill>
                  <a:srgbClr val="5A6772"/>
                </a:solidFill>
                <a:latin typeface="Arial" pitchFamily="34" charset="0"/>
                <a:ea typeface="Arial" pitchFamily="34" charset="-122"/>
                <a:cs typeface="Arial" pitchFamily="34" charset="-120"/>
              </a:rPr>
              <a:t>Is the AI division chartered under Momentum Digital, with the four lanes Mac already put on the site as its structure?</a:t>
            </a:r>
            <a:endParaRPr lang="en-US" sz="1100" dirty="0"/>
          </a:p>
        </p:txBody>
      </p:sp>
      <p:sp>
        <p:nvSpPr>
          <p:cNvPr id="9" name="role:rule-h"/>
          <p:cNvSpPr/>
          <p:nvPr/>
        </p:nvSpPr>
        <p:spPr>
          <a:xfrm>
            <a:off x="713232" y="2920238"/>
            <a:ext cx="10765231" cy="0"/>
          </a:xfrm>
          <a:prstGeom prst="line">
            <a:avLst/>
          </a:prstGeom>
          <a:noFill/>
          <a:ln w="9525">
            <a:solidFill>
              <a:srgbClr val="E2EAF1"/>
            </a:solidFill>
            <a:prstDash val="solid"/>
          </a:ln>
        </p:spPr>
      </p:sp>
      <p:sp>
        <p:nvSpPr>
          <p:cNvPr id="10" name="role:row-head"/>
          <p:cNvSpPr txBox="1"/>
          <p:nvPr/>
        </p:nvSpPr>
        <p:spPr>
          <a:xfrm>
            <a:off x="713232" y="2965958"/>
            <a:ext cx="3291840" cy="239776"/>
          </a:xfrm>
          <a:prstGeom prst="rect">
            <a:avLst/>
          </a:prstGeom>
          <a:noFill/>
          <a:ln/>
        </p:spPr>
        <p:txBody>
          <a:bodyPr wrap="square" lIns="0" tIns="0" rIns="0" bIns="0" rtlCol="0" anchor="t"/>
          <a:lstStyle/>
          <a:p>
            <a:pPr algn="l" indent="0" marL="0">
              <a:lnSpc>
                <a:spcPct val="110000"/>
              </a:lnSpc>
              <a:buNone/>
            </a:pPr>
            <a:r>
              <a:rPr lang="en-US" sz="1300" b="1" dirty="0">
                <a:solidFill>
                  <a:srgbClr val="0F151B"/>
                </a:solidFill>
                <a:latin typeface="Arial" pitchFamily="34" charset="0"/>
                <a:ea typeface="Arial" pitchFamily="34" charset="-122"/>
                <a:cs typeface="Arial" pitchFamily="34" charset="-120"/>
              </a:rPr>
              <a:t>D02  Protected capacity</a:t>
            </a:r>
            <a:endParaRPr lang="en-US" sz="1300" dirty="0"/>
          </a:p>
        </p:txBody>
      </p:sp>
      <p:sp>
        <p:nvSpPr>
          <p:cNvPr id="11" name="role:row-body"/>
          <p:cNvSpPr txBox="1"/>
          <p:nvPr/>
        </p:nvSpPr>
        <p:spPr>
          <a:xfrm>
            <a:off x="4416552" y="2965958"/>
            <a:ext cx="7061911" cy="233680"/>
          </a:xfrm>
          <a:prstGeom prst="rect">
            <a:avLst/>
          </a:prstGeom>
          <a:noFill/>
          <a:ln/>
        </p:spPr>
        <p:txBody>
          <a:bodyPr wrap="square" lIns="0" tIns="0" rIns="0" bIns="0" rtlCol="0" anchor="t"/>
          <a:lstStyle/>
          <a:p>
            <a:pPr algn="l" indent="0" marL="0">
              <a:lnSpc>
                <a:spcPct val="128000"/>
              </a:lnSpc>
              <a:buNone/>
            </a:pPr>
            <a:r>
              <a:rPr lang="en-US" sz="1100" dirty="0">
                <a:solidFill>
                  <a:srgbClr val="5A6772"/>
                </a:solidFill>
                <a:latin typeface="Arial" pitchFamily="34" charset="0"/>
                <a:ea typeface="Arial" pitchFamily="34" charset="-122"/>
                <a:cs typeface="Arial" pitchFamily="34" charset="-120"/>
              </a:rPr>
              <a:t>How many hours per week are protected, and which existing obligations are explicitly subtracted?</a:t>
            </a:r>
            <a:endParaRPr lang="en-US" sz="1100" dirty="0"/>
          </a:p>
        </p:txBody>
      </p:sp>
      <p:sp>
        <p:nvSpPr>
          <p:cNvPr id="12" name="role:rule-h"/>
          <p:cNvSpPr/>
          <p:nvPr/>
        </p:nvSpPr>
        <p:spPr>
          <a:xfrm>
            <a:off x="713232" y="3251454"/>
            <a:ext cx="10765231" cy="0"/>
          </a:xfrm>
          <a:prstGeom prst="line">
            <a:avLst/>
          </a:prstGeom>
          <a:noFill/>
          <a:ln w="9525">
            <a:solidFill>
              <a:srgbClr val="E2EAF1"/>
            </a:solidFill>
            <a:prstDash val="solid"/>
          </a:ln>
        </p:spPr>
      </p:sp>
      <p:sp>
        <p:nvSpPr>
          <p:cNvPr id="13" name="role:row-head"/>
          <p:cNvSpPr txBox="1"/>
          <p:nvPr/>
        </p:nvSpPr>
        <p:spPr>
          <a:xfrm>
            <a:off x="713232" y="3297174"/>
            <a:ext cx="3291840" cy="239776"/>
          </a:xfrm>
          <a:prstGeom prst="rect">
            <a:avLst/>
          </a:prstGeom>
          <a:noFill/>
          <a:ln/>
        </p:spPr>
        <p:txBody>
          <a:bodyPr wrap="square" lIns="0" tIns="0" rIns="0" bIns="0" rtlCol="0" anchor="t"/>
          <a:lstStyle/>
          <a:p>
            <a:pPr algn="l" indent="0" marL="0">
              <a:lnSpc>
                <a:spcPct val="110000"/>
              </a:lnSpc>
              <a:buNone/>
            </a:pPr>
            <a:r>
              <a:rPr lang="en-US" sz="1300" b="1" dirty="0">
                <a:solidFill>
                  <a:srgbClr val="0F151B"/>
                </a:solidFill>
                <a:latin typeface="Arial" pitchFamily="34" charset="0"/>
                <a:ea typeface="Arial" pitchFamily="34" charset="-122"/>
                <a:cs typeface="Arial" pitchFamily="34" charset="-120"/>
              </a:rPr>
              <a:t>D03  Compensation arrangement</a:t>
            </a:r>
            <a:endParaRPr lang="en-US" sz="1300" dirty="0"/>
          </a:p>
        </p:txBody>
      </p:sp>
      <p:sp>
        <p:nvSpPr>
          <p:cNvPr id="14" name="role:row-body"/>
          <p:cNvSpPr txBox="1"/>
          <p:nvPr/>
        </p:nvSpPr>
        <p:spPr>
          <a:xfrm>
            <a:off x="4416552" y="3297174"/>
            <a:ext cx="7061911" cy="233680"/>
          </a:xfrm>
          <a:prstGeom prst="rect">
            <a:avLst/>
          </a:prstGeom>
          <a:noFill/>
          <a:ln/>
        </p:spPr>
        <p:txBody>
          <a:bodyPr wrap="square" lIns="0" tIns="0" rIns="0" bIns="0" rtlCol="0" anchor="t"/>
          <a:lstStyle/>
          <a:p>
            <a:pPr algn="l" indent="0" marL="0">
              <a:lnSpc>
                <a:spcPct val="128000"/>
              </a:lnSpc>
              <a:buNone/>
            </a:pPr>
            <a:r>
              <a:rPr lang="en-US" sz="1100" dirty="0">
                <a:solidFill>
                  <a:srgbClr val="5A6772"/>
                </a:solidFill>
                <a:latin typeface="Arial" pitchFamily="34" charset="0"/>
                <a:ea typeface="Arial" pitchFamily="34" charset="-122"/>
                <a:cs typeface="Arial" pitchFamily="34" charset="-120"/>
              </a:rPr>
              <a:t>Protected paid capacity, commission-only, or hybrid, and at what figures?</a:t>
            </a:r>
            <a:endParaRPr lang="en-US" sz="1100" dirty="0"/>
          </a:p>
        </p:txBody>
      </p:sp>
      <p:sp>
        <p:nvSpPr>
          <p:cNvPr id="15" name="role:rule-h"/>
          <p:cNvSpPr/>
          <p:nvPr/>
        </p:nvSpPr>
        <p:spPr>
          <a:xfrm>
            <a:off x="713232" y="3582670"/>
            <a:ext cx="10765231" cy="0"/>
          </a:xfrm>
          <a:prstGeom prst="line">
            <a:avLst/>
          </a:prstGeom>
          <a:noFill/>
          <a:ln w="9525">
            <a:solidFill>
              <a:srgbClr val="E2EAF1"/>
            </a:solidFill>
            <a:prstDash val="solid"/>
          </a:ln>
        </p:spPr>
      </p:sp>
      <p:sp>
        <p:nvSpPr>
          <p:cNvPr id="16" name="role:row-head"/>
          <p:cNvSpPr txBox="1"/>
          <p:nvPr/>
        </p:nvSpPr>
        <p:spPr>
          <a:xfrm>
            <a:off x="713232" y="3628390"/>
            <a:ext cx="3291840" cy="424688"/>
          </a:xfrm>
          <a:prstGeom prst="rect">
            <a:avLst/>
          </a:prstGeom>
          <a:noFill/>
          <a:ln/>
        </p:spPr>
        <p:txBody>
          <a:bodyPr wrap="square" lIns="0" tIns="0" rIns="0" bIns="0" rtlCol="0" anchor="t"/>
          <a:lstStyle/>
          <a:p>
            <a:pPr algn="l" indent="0" marL="0">
              <a:lnSpc>
                <a:spcPct val="110000"/>
              </a:lnSpc>
              <a:buNone/>
            </a:pPr>
            <a:r>
              <a:rPr lang="en-US" sz="1300" b="1" dirty="0">
                <a:solidFill>
                  <a:srgbClr val="0F151B"/>
                </a:solidFill>
                <a:latin typeface="Arial" pitchFamily="34" charset="0"/>
                <a:ea typeface="Arial" pitchFamily="34" charset="-122"/>
                <a:cs typeface="Arial" pitchFamily="34" charset="-120"/>
              </a:rPr>
              <a:t>D04  Price: AI Search Readiness sprint</a:t>
            </a:r>
            <a:endParaRPr lang="en-US" sz="1300" dirty="0"/>
          </a:p>
        </p:txBody>
      </p:sp>
      <p:sp>
        <p:nvSpPr>
          <p:cNvPr id="17" name="role:row-body"/>
          <p:cNvSpPr txBox="1"/>
          <p:nvPr/>
        </p:nvSpPr>
        <p:spPr>
          <a:xfrm>
            <a:off x="4416552" y="3628390"/>
            <a:ext cx="7061911" cy="233680"/>
          </a:xfrm>
          <a:prstGeom prst="rect">
            <a:avLst/>
          </a:prstGeom>
          <a:noFill/>
          <a:ln/>
        </p:spPr>
        <p:txBody>
          <a:bodyPr wrap="square" lIns="0" tIns="0" rIns="0" bIns="0" rtlCol="0" anchor="t"/>
          <a:lstStyle/>
          <a:p>
            <a:pPr algn="l" indent="0" marL="0">
              <a:lnSpc>
                <a:spcPct val="128000"/>
              </a:lnSpc>
              <a:buNone/>
            </a:pPr>
            <a:r>
              <a:rPr lang="en-US" sz="1100" dirty="0">
                <a:solidFill>
                  <a:srgbClr val="5A6772"/>
                </a:solidFill>
                <a:latin typeface="Arial" pitchFamily="34" charset="0"/>
                <a:ea typeface="Arial" pitchFamily="34" charset="-122"/>
                <a:cs typeface="Arial" pitchFamily="34" charset="-120"/>
              </a:rPr>
              <a:t>Confirm or change $1,500 setup and $750/month for the 90-day sprint.</a:t>
            </a:r>
            <a:endParaRPr lang="en-US" sz="1100" dirty="0"/>
          </a:p>
        </p:txBody>
      </p:sp>
      <p:sp>
        <p:nvSpPr>
          <p:cNvPr id="18" name="role:rule-h"/>
          <p:cNvSpPr/>
          <p:nvPr/>
        </p:nvSpPr>
        <p:spPr>
          <a:xfrm>
            <a:off x="713232" y="4098798"/>
            <a:ext cx="10765231" cy="0"/>
          </a:xfrm>
          <a:prstGeom prst="line">
            <a:avLst/>
          </a:prstGeom>
          <a:noFill/>
          <a:ln w="9525">
            <a:solidFill>
              <a:srgbClr val="E2EAF1"/>
            </a:solidFill>
            <a:prstDash val="solid"/>
          </a:ln>
        </p:spPr>
      </p:sp>
      <p:sp>
        <p:nvSpPr>
          <p:cNvPr id="19" name="role:row-head"/>
          <p:cNvSpPr txBox="1"/>
          <p:nvPr/>
        </p:nvSpPr>
        <p:spPr>
          <a:xfrm>
            <a:off x="713232" y="4144518"/>
            <a:ext cx="3291840" cy="239776"/>
          </a:xfrm>
          <a:prstGeom prst="rect">
            <a:avLst/>
          </a:prstGeom>
          <a:noFill/>
          <a:ln/>
        </p:spPr>
        <p:txBody>
          <a:bodyPr wrap="square" lIns="0" tIns="0" rIns="0" bIns="0" rtlCol="0" anchor="t"/>
          <a:lstStyle/>
          <a:p>
            <a:pPr algn="l" indent="0" marL="0">
              <a:lnSpc>
                <a:spcPct val="110000"/>
              </a:lnSpc>
              <a:buNone/>
            </a:pPr>
            <a:r>
              <a:rPr lang="en-US" sz="1300" b="1" dirty="0">
                <a:solidFill>
                  <a:srgbClr val="0F151B"/>
                </a:solidFill>
                <a:latin typeface="Arial" pitchFamily="34" charset="0"/>
                <a:ea typeface="Arial" pitchFamily="34" charset="-122"/>
                <a:cs typeface="Arial" pitchFamily="34" charset="-120"/>
              </a:rPr>
              <a:t>D05  Price: Spec build</a:t>
            </a:r>
            <a:endParaRPr lang="en-US" sz="1300" dirty="0"/>
          </a:p>
        </p:txBody>
      </p:sp>
      <p:sp>
        <p:nvSpPr>
          <p:cNvPr id="20" name="role:row-body"/>
          <p:cNvSpPr txBox="1"/>
          <p:nvPr/>
        </p:nvSpPr>
        <p:spPr>
          <a:xfrm>
            <a:off x="4416552" y="4144518"/>
            <a:ext cx="7061911" cy="233680"/>
          </a:xfrm>
          <a:prstGeom prst="rect">
            <a:avLst/>
          </a:prstGeom>
          <a:noFill/>
          <a:ln/>
        </p:spPr>
        <p:txBody>
          <a:bodyPr wrap="square" lIns="0" tIns="0" rIns="0" bIns="0" rtlCol="0" anchor="t"/>
          <a:lstStyle/>
          <a:p>
            <a:pPr algn="l" indent="0" marL="0">
              <a:lnSpc>
                <a:spcPct val="128000"/>
              </a:lnSpc>
              <a:buNone/>
            </a:pPr>
            <a:r>
              <a:rPr lang="en-US" sz="1100" dirty="0">
                <a:solidFill>
                  <a:srgbClr val="5A6772"/>
                </a:solidFill>
                <a:latin typeface="Arial" pitchFamily="34" charset="0"/>
                <a:ea typeface="Arial" pitchFamily="34" charset="-122"/>
                <a:cs typeface="Arial" pitchFamily="34" charset="-120"/>
              </a:rPr>
              <a:t>Confirm or change $3,500 fixed for one prototype in five working days.</a:t>
            </a:r>
            <a:endParaRPr lang="en-US" sz="1100" dirty="0"/>
          </a:p>
        </p:txBody>
      </p:sp>
      <p:sp>
        <p:nvSpPr>
          <p:cNvPr id="21" name="role:rule-h"/>
          <p:cNvSpPr/>
          <p:nvPr/>
        </p:nvSpPr>
        <p:spPr>
          <a:xfrm>
            <a:off x="713232" y="4430014"/>
            <a:ext cx="10765231" cy="0"/>
          </a:xfrm>
          <a:prstGeom prst="line">
            <a:avLst/>
          </a:prstGeom>
          <a:noFill/>
          <a:ln w="9525">
            <a:solidFill>
              <a:srgbClr val="E2EAF1"/>
            </a:solidFill>
            <a:prstDash val="solid"/>
          </a:ln>
        </p:spPr>
      </p:sp>
      <p:sp>
        <p:nvSpPr>
          <p:cNvPr id="22" name="role:row-head"/>
          <p:cNvSpPr txBox="1"/>
          <p:nvPr/>
        </p:nvSpPr>
        <p:spPr>
          <a:xfrm>
            <a:off x="713232" y="4475734"/>
            <a:ext cx="3291840" cy="239776"/>
          </a:xfrm>
          <a:prstGeom prst="rect">
            <a:avLst/>
          </a:prstGeom>
          <a:noFill/>
          <a:ln/>
        </p:spPr>
        <p:txBody>
          <a:bodyPr wrap="square" lIns="0" tIns="0" rIns="0" bIns="0" rtlCol="0" anchor="t"/>
          <a:lstStyle/>
          <a:p>
            <a:pPr algn="l" indent="0" marL="0">
              <a:lnSpc>
                <a:spcPct val="110000"/>
              </a:lnSpc>
              <a:buNone/>
            </a:pPr>
            <a:r>
              <a:rPr lang="en-US" sz="1300" b="1" dirty="0">
                <a:solidFill>
                  <a:srgbClr val="0F151B"/>
                </a:solidFill>
                <a:latin typeface="Arial" pitchFamily="34" charset="0"/>
                <a:ea typeface="Arial" pitchFamily="34" charset="-122"/>
                <a:cs typeface="Arial" pitchFamily="34" charset="-120"/>
              </a:rPr>
              <a:t>D06  Price: Motion and Lead Ops</a:t>
            </a:r>
            <a:endParaRPr lang="en-US" sz="1300" dirty="0"/>
          </a:p>
        </p:txBody>
      </p:sp>
      <p:sp>
        <p:nvSpPr>
          <p:cNvPr id="23" name="role:row-body"/>
          <p:cNvSpPr txBox="1"/>
          <p:nvPr/>
        </p:nvSpPr>
        <p:spPr>
          <a:xfrm>
            <a:off x="4416552" y="4475734"/>
            <a:ext cx="7061911" cy="412496"/>
          </a:xfrm>
          <a:prstGeom prst="rect">
            <a:avLst/>
          </a:prstGeom>
          <a:noFill/>
          <a:ln/>
        </p:spPr>
        <p:txBody>
          <a:bodyPr wrap="square" lIns="0" tIns="0" rIns="0" bIns="0" rtlCol="0" anchor="t"/>
          <a:lstStyle/>
          <a:p>
            <a:pPr algn="l" indent="0" marL="0">
              <a:lnSpc>
                <a:spcPct val="128000"/>
              </a:lnSpc>
              <a:buNone/>
            </a:pPr>
            <a:r>
              <a:rPr lang="en-US" sz="1100" dirty="0">
                <a:solidFill>
                  <a:srgbClr val="5A6772"/>
                </a:solidFill>
                <a:latin typeface="Arial" pitchFamily="34" charset="0"/>
                <a:ea typeface="Arial" pitchFamily="34" charset="-122"/>
                <a:cs typeface="Arial" pitchFamily="34" charset="-120"/>
              </a:rPr>
              <a:t>Confirm or change $1,500 + $1,250/month (Motion, credits at cost) and $3,500 + $1,500/month (Lead Ops).</a:t>
            </a:r>
            <a:endParaRPr lang="en-US" sz="1100" dirty="0"/>
          </a:p>
        </p:txBody>
      </p:sp>
      <p:sp>
        <p:nvSpPr>
          <p:cNvPr id="24" name="role:rule-h"/>
          <p:cNvSpPr/>
          <p:nvPr/>
        </p:nvSpPr>
        <p:spPr>
          <a:xfrm>
            <a:off x="713232" y="4933950"/>
            <a:ext cx="10765231" cy="0"/>
          </a:xfrm>
          <a:prstGeom prst="line">
            <a:avLst/>
          </a:prstGeom>
          <a:noFill/>
          <a:ln w="9525">
            <a:solidFill>
              <a:srgbClr val="E2EAF1"/>
            </a:solidFill>
            <a:prstDash val="solid"/>
          </a:ln>
        </p:spPr>
      </p:sp>
      <p:sp>
        <p:nvSpPr>
          <p:cNvPr id="25" name="role:row-head"/>
          <p:cNvSpPr txBox="1"/>
          <p:nvPr/>
        </p:nvSpPr>
        <p:spPr>
          <a:xfrm>
            <a:off x="713232" y="4979670"/>
            <a:ext cx="3291840" cy="239776"/>
          </a:xfrm>
          <a:prstGeom prst="rect">
            <a:avLst/>
          </a:prstGeom>
          <a:noFill/>
          <a:ln/>
        </p:spPr>
        <p:txBody>
          <a:bodyPr wrap="square" lIns="0" tIns="0" rIns="0" bIns="0" rtlCol="0" anchor="t"/>
          <a:lstStyle/>
          <a:p>
            <a:pPr algn="l" indent="0" marL="0">
              <a:lnSpc>
                <a:spcPct val="110000"/>
              </a:lnSpc>
              <a:buNone/>
            </a:pPr>
            <a:r>
              <a:rPr lang="en-US" sz="1300" b="1" dirty="0">
                <a:solidFill>
                  <a:srgbClr val="0F151B"/>
                </a:solidFill>
                <a:latin typeface="Arial" pitchFamily="34" charset="0"/>
                <a:ea typeface="Arial" pitchFamily="34" charset="-122"/>
                <a:cs typeface="Arial" pitchFamily="34" charset="-120"/>
              </a:rPr>
              <a:t>D07  Support boundary</a:t>
            </a:r>
            <a:endParaRPr lang="en-US" sz="1300" dirty="0"/>
          </a:p>
        </p:txBody>
      </p:sp>
      <p:sp>
        <p:nvSpPr>
          <p:cNvPr id="26" name="role:row-body"/>
          <p:cNvSpPr txBox="1"/>
          <p:nvPr/>
        </p:nvSpPr>
        <p:spPr>
          <a:xfrm>
            <a:off x="4416552" y="4979670"/>
            <a:ext cx="7061911" cy="233680"/>
          </a:xfrm>
          <a:prstGeom prst="rect">
            <a:avLst/>
          </a:prstGeom>
          <a:noFill/>
          <a:ln/>
        </p:spPr>
        <p:txBody>
          <a:bodyPr wrap="square" lIns="0" tIns="0" rIns="0" bIns="0" rtlCol="0" anchor="t"/>
          <a:lstStyle/>
          <a:p>
            <a:pPr algn="l" indent="0" marL="0">
              <a:lnSpc>
                <a:spcPct val="128000"/>
              </a:lnSpc>
              <a:buNone/>
            </a:pPr>
            <a:r>
              <a:rPr lang="en-US" sz="1100" dirty="0">
                <a:solidFill>
                  <a:srgbClr val="5A6772"/>
                </a:solidFill>
                <a:latin typeface="Arial" pitchFamily="34" charset="0"/>
                <a:ea typeface="Arial" pitchFamily="34" charset="-122"/>
                <a:cs typeface="Arial" pitchFamily="34" charset="-120"/>
              </a:rPr>
              <a:t>Confirm the support commitment and name primary and backup coverage.</a:t>
            </a:r>
            <a:endParaRPr lang="en-US" sz="1100" dirty="0"/>
          </a:p>
        </p:txBody>
      </p:sp>
      <p:sp>
        <p:nvSpPr>
          <p:cNvPr id="27" name="role:rule-h"/>
          <p:cNvSpPr/>
          <p:nvPr/>
        </p:nvSpPr>
        <p:spPr>
          <a:xfrm>
            <a:off x="713232" y="5265166"/>
            <a:ext cx="10765231" cy="0"/>
          </a:xfrm>
          <a:prstGeom prst="line">
            <a:avLst/>
          </a:prstGeom>
          <a:noFill/>
          <a:ln w="9525">
            <a:solidFill>
              <a:srgbClr val="E2EAF1"/>
            </a:solidFill>
            <a:prstDash val="solid"/>
          </a:ln>
        </p:spPr>
      </p:sp>
      <p:sp>
        <p:nvSpPr>
          <p:cNvPr id="28" name="role:row-head"/>
          <p:cNvSpPr txBox="1"/>
          <p:nvPr/>
        </p:nvSpPr>
        <p:spPr>
          <a:xfrm>
            <a:off x="713232" y="5310886"/>
            <a:ext cx="3291840" cy="239776"/>
          </a:xfrm>
          <a:prstGeom prst="rect">
            <a:avLst/>
          </a:prstGeom>
          <a:noFill/>
          <a:ln/>
        </p:spPr>
        <p:txBody>
          <a:bodyPr wrap="square" lIns="0" tIns="0" rIns="0" bIns="0" rtlCol="0" anchor="t"/>
          <a:lstStyle/>
          <a:p>
            <a:pPr algn="l" indent="0" marL="0">
              <a:lnSpc>
                <a:spcPct val="110000"/>
              </a:lnSpc>
              <a:buNone/>
            </a:pPr>
            <a:r>
              <a:rPr lang="en-US" sz="1300" b="1" dirty="0">
                <a:solidFill>
                  <a:srgbClr val="0F151B"/>
                </a:solidFill>
                <a:latin typeface="Arial" pitchFamily="34" charset="0"/>
                <a:ea typeface="Arial" pitchFamily="34" charset="-122"/>
                <a:cs typeface="Arial" pitchFamily="34" charset="-120"/>
              </a:rPr>
              <a:t>D19  Division name and lockup</a:t>
            </a:r>
            <a:endParaRPr lang="en-US" sz="1300" dirty="0"/>
          </a:p>
        </p:txBody>
      </p:sp>
      <p:sp>
        <p:nvSpPr>
          <p:cNvPr id="29" name="role:row-body"/>
          <p:cNvSpPr txBox="1"/>
          <p:nvPr/>
        </p:nvSpPr>
        <p:spPr>
          <a:xfrm>
            <a:off x="4416552" y="5310886"/>
            <a:ext cx="7061911" cy="412496"/>
          </a:xfrm>
          <a:prstGeom prst="rect">
            <a:avLst/>
          </a:prstGeom>
          <a:noFill/>
          <a:ln/>
        </p:spPr>
        <p:txBody>
          <a:bodyPr wrap="square" lIns="0" tIns="0" rIns="0" bIns="0" rtlCol="0" anchor="t"/>
          <a:lstStyle/>
          <a:p>
            <a:pPr algn="l" indent="0" marL="0">
              <a:lnSpc>
                <a:spcPct val="128000"/>
              </a:lnSpc>
              <a:buNone/>
            </a:pPr>
            <a:r>
              <a:rPr lang="en-US" sz="1100" dirty="0">
                <a:solidFill>
                  <a:srgbClr val="5A6772"/>
                </a:solidFill>
                <a:latin typeface="Arial" pitchFamily="34" charset="0"/>
                <a:ea typeface="Arial" pitchFamily="34" charset="-122"/>
                <a:cs typeface="Arial" pitchFamily="34" charset="-120"/>
              </a:rPr>
              <a:t>Is the division presented as Momentum AI, lettered as the existing Momentum Digital mark plus the word AI, with no new logo?</a:t>
            </a:r>
            <a:endParaRPr lang="en-US" sz="1100" dirty="0"/>
          </a:p>
        </p:txBody>
      </p:sp>
      <p:sp>
        <p:nvSpPr>
          <p:cNvPr id="30" name="role:foot"/>
          <p:cNvSpPr txBox="1"/>
          <p:nvPr/>
        </p:nvSpPr>
        <p:spPr>
          <a:xfrm>
            <a:off x="713232" y="6400800"/>
            <a:ext cx="9942271" cy="237744"/>
          </a:xfrm>
          <a:prstGeom prst="rect">
            <a:avLst/>
          </a:prstGeom>
          <a:noFill/>
          <a:ln/>
        </p:spPr>
        <p:txBody>
          <a:bodyPr wrap="square" lIns="0" tIns="0" rIns="0" bIns="0" rtlCol="0" anchor="t"/>
          <a:lstStyle/>
          <a:p>
            <a:pPr algn="l" indent="0" marL="0">
              <a:buNone/>
            </a:pPr>
            <a:r>
              <a:rPr lang="en-US" sz="950" i="1" dirty="0">
                <a:solidFill>
                  <a:srgbClr val="8A97A2"/>
                </a:solidFill>
                <a:latin typeface="Arial" pitchFamily="34" charset="0"/>
                <a:ea typeface="Arial" pitchFamily="34" charset="-122"/>
                <a:cs typeface="Arial" pitchFamily="34" charset="-120"/>
              </a:rPr>
              <a:t>Nothing here is agreed. Record declined and deferred items too.</a:t>
            </a:r>
            <a:endParaRPr lang="en-US" sz="9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320" decel="700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322" decel="70000"/>
                                        <p:tgtEl>
                                          <p:spTgt spid="3"/>
                                        </p:tgtEl>
                                      </p:cBhvr>
                                    </p:animEffect>
                                    <p:anim calcmode="lin" valueType="num">
                                      <p:cBhvr additive="base">
                                        <p:cTn id="11" dur="322" decel="70000" fill="hold"/>
                                        <p:tgtEl>
                                          <p:spTgt spid="3"/>
                                        </p:tgtEl>
                                        <p:attrNameLst>
                                          <p:attrName>ppt_y</p:attrName>
                                        </p:attrNameLst>
                                      </p:cBhvr>
                                      <p:tavLst>
                                        <p:tav tm="0">
                                          <p:val>
                                            <p:strVal val="#ppt_y+0.032"/>
                                          </p:val>
                                        </p:tav>
                                        <p:tav tm="100000">
                                          <p:val>
                                            <p:strVal val="#ppt_y"/>
                                          </p:val>
                                        </p:tav>
                                      </p:tavLst>
                                    </p:anim>
                                  </p:childTnLst>
                                </p:cTn>
                              </p:par>
                              <p:par>
                                <p:cTn id="12" presetID="10" presetClass="entr" presetSubtype="0" fill="hold" grpId="0" nodeType="withEffect">
                                  <p:stCondLst>
                                    <p:cond delay="55"/>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482" decel="70000"/>
                                        <p:tgtEl>
                                          <p:spTgt spid="4"/>
                                        </p:tgtEl>
                                      </p:cBhvr>
                                    </p:animEffect>
                                    <p:anim calcmode="lin" valueType="num">
                                      <p:cBhvr additive="base">
                                        <p:cTn id="15" dur="482" decel="70000" fill="hold"/>
                                        <p:tgtEl>
                                          <p:spTgt spid="4"/>
                                        </p:tgtEl>
                                        <p:attrNameLst>
                                          <p:attrName>ppt_y</p:attrName>
                                        </p:attrNameLst>
                                      </p:cBhvr>
                                      <p:tavLst>
                                        <p:tav tm="0">
                                          <p:val>
                                            <p:strVal val="#ppt_y+0.0512"/>
                                          </p:val>
                                        </p:tav>
                                        <p:tav tm="100000">
                                          <p:val>
                                            <p:strVal val="#ppt_y"/>
                                          </p:val>
                                        </p:tav>
                                      </p:tavLst>
                                    </p:anim>
                                  </p:childTnLst>
                                </p:cTn>
                              </p:par>
                              <p:par>
                                <p:cTn id="16" presetID="10" presetClass="entr" presetSubtype="0" fill="hold" grpId="0" nodeType="withEffect">
                                  <p:stCondLst>
                                    <p:cond delay="11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390" decel="70000"/>
                                        <p:tgtEl>
                                          <p:spTgt spid="5"/>
                                        </p:tgtEl>
                                      </p:cBhvr>
                                    </p:animEffect>
                                    <p:anim calcmode="lin" valueType="num">
                                      <p:cBhvr additive="base">
                                        <p:cTn id="19" dur="390" decel="70000" fill="hold"/>
                                        <p:tgtEl>
                                          <p:spTgt spid="5"/>
                                        </p:tgtEl>
                                        <p:attrNameLst>
                                          <p:attrName>ppt_y</p:attrName>
                                        </p:attrNameLst>
                                      </p:cBhvr>
                                      <p:tavLst>
                                        <p:tav tm="0">
                                          <p:val>
                                            <p:strVal val="#ppt_y+0.0384"/>
                                          </p:val>
                                        </p:tav>
                                        <p:tav tm="100000">
                                          <p:val>
                                            <p:strVal val="#ppt_y"/>
                                          </p:val>
                                        </p:tav>
                                      </p:tavLst>
                                    </p:anim>
                                  </p:childTnLst>
                                </p:cTn>
                              </p:par>
                              <p:par>
                                <p:cTn id="20" presetID="10" presetClass="entr" presetSubtype="0" fill="hold" grpId="0" nodeType="withEffect">
                                  <p:stCondLst>
                                    <p:cond delay="165"/>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345" decel="70000"/>
                                        <p:tgtEl>
                                          <p:spTgt spid="7"/>
                                        </p:tgtEl>
                                      </p:cBhvr>
                                    </p:animEffect>
                                    <p:anim calcmode="lin" valueType="num">
                                      <p:cBhvr additive="base">
                                        <p:cTn id="23" dur="345" decel="70000" fill="hold"/>
                                        <p:tgtEl>
                                          <p:spTgt spid="7"/>
                                        </p:tgtEl>
                                        <p:attrNameLst>
                                          <p:attrName>ppt_y</p:attrName>
                                        </p:attrNameLst>
                                      </p:cBhvr>
                                      <p:tavLst>
                                        <p:tav tm="0">
                                          <p:val>
                                            <p:strVal val="#ppt_y+0.0288"/>
                                          </p:val>
                                        </p:tav>
                                        <p:tav tm="100000">
                                          <p:val>
                                            <p:strVal val="#ppt_y"/>
                                          </p:val>
                                        </p:tav>
                                      </p:tavLst>
                                    </p:anim>
                                  </p:childTnLst>
                                </p:cTn>
                              </p:par>
                              <p:par>
                                <p:cTn id="24" presetID="10" presetClass="entr" presetSubtype="0" fill="hold" grpId="0" nodeType="withEffect">
                                  <p:stCondLst>
                                    <p:cond delay="22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322" decel="70000"/>
                                        <p:tgtEl>
                                          <p:spTgt spid="8"/>
                                        </p:tgtEl>
                                      </p:cBhvr>
                                    </p:animEffect>
                                  </p:childTnLst>
                                </p:cTn>
                              </p:par>
                              <p:par>
                                <p:cTn id="27" presetID="22" presetClass="entr" presetSubtype="1" fill="hold" grpId="0" nodeType="withEffect">
                                  <p:stCondLst>
                                    <p:cond delay="275"/>
                                  </p:stCondLst>
                                  <p:childTnLst>
                                    <p:set>
                                      <p:cBhvr>
                                        <p:cTn id="28" dur="1" fill="hold">
                                          <p:stCondLst>
                                            <p:cond delay="0"/>
                                          </p:stCondLst>
                                        </p:cTn>
                                        <p:tgtEl>
                                          <p:spTgt spid="9"/>
                                        </p:tgtEl>
                                        <p:attrNameLst>
                                          <p:attrName>style.visibility</p:attrName>
                                        </p:attrNameLst>
                                      </p:cBhvr>
                                      <p:to>
                                        <p:strVal val="visible"/>
                                      </p:to>
                                    </p:set>
                                    <p:animEffect transition="in" filter="wipe(right)">
                                      <p:cBhvr>
                                        <p:cTn id="29" dur="529"/>
                                        <p:tgtEl>
                                          <p:spTgt spid="9"/>
                                        </p:tgtEl>
                                      </p:cBhvr>
                                    </p:animEffect>
                                  </p:childTnLst>
                                </p:cTn>
                              </p:par>
                              <p:par>
                                <p:cTn id="30" presetID="10" presetClass="entr" presetSubtype="0" fill="hold" grpId="0" nodeType="withEffect">
                                  <p:stCondLst>
                                    <p:cond delay="33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345" decel="70000"/>
                                        <p:tgtEl>
                                          <p:spTgt spid="10"/>
                                        </p:tgtEl>
                                      </p:cBhvr>
                                    </p:animEffect>
                                    <p:anim calcmode="lin" valueType="num">
                                      <p:cBhvr additive="base">
                                        <p:cTn id="33" dur="345" decel="70000" fill="hold"/>
                                        <p:tgtEl>
                                          <p:spTgt spid="10"/>
                                        </p:tgtEl>
                                        <p:attrNameLst>
                                          <p:attrName>ppt_y</p:attrName>
                                        </p:attrNameLst>
                                      </p:cBhvr>
                                      <p:tavLst>
                                        <p:tav tm="0">
                                          <p:val>
                                            <p:strVal val="#ppt_y+0.0288"/>
                                          </p:val>
                                        </p:tav>
                                        <p:tav tm="100000">
                                          <p:val>
                                            <p:strVal val="#ppt_y"/>
                                          </p:val>
                                        </p:tav>
                                      </p:tavLst>
                                    </p:anim>
                                  </p:childTnLst>
                                </p:cTn>
                              </p:par>
                              <p:par>
                                <p:cTn id="34" presetID="10" presetClass="entr" presetSubtype="0" fill="hold" grpId="0" nodeType="withEffect">
                                  <p:stCondLst>
                                    <p:cond delay="385"/>
                                  </p:stCondLst>
                                  <p:childTnLst>
                                    <p:set>
                                      <p:cBhvr>
                                        <p:cTn id="35" dur="1" fill="hold">
                                          <p:stCondLst>
                                            <p:cond delay="0"/>
                                          </p:stCondLst>
                                        </p:cTn>
                                        <p:tgtEl>
                                          <p:spTgt spid="11"/>
                                        </p:tgtEl>
                                        <p:attrNameLst>
                                          <p:attrName>style.visibility</p:attrName>
                                        </p:attrNameLst>
                                      </p:cBhvr>
                                      <p:to>
                                        <p:strVal val="visible"/>
                                      </p:to>
                                    </p:set>
                                    <p:animEffect transition="in" filter="fade">
                                      <p:cBhvr>
                                        <p:cTn id="36" dur="322" decel="70000"/>
                                        <p:tgtEl>
                                          <p:spTgt spid="11"/>
                                        </p:tgtEl>
                                      </p:cBhvr>
                                    </p:animEffect>
                                  </p:childTnLst>
                                </p:cTn>
                              </p:par>
                              <p:par>
                                <p:cTn id="37" presetID="22" presetClass="entr" presetSubtype="1" fill="hold" grpId="0" nodeType="withEffect">
                                  <p:stCondLst>
                                    <p:cond delay="440"/>
                                  </p:stCondLst>
                                  <p:childTnLst>
                                    <p:set>
                                      <p:cBhvr>
                                        <p:cTn id="38" dur="1" fill="hold">
                                          <p:stCondLst>
                                            <p:cond delay="0"/>
                                          </p:stCondLst>
                                        </p:cTn>
                                        <p:tgtEl>
                                          <p:spTgt spid="12"/>
                                        </p:tgtEl>
                                        <p:attrNameLst>
                                          <p:attrName>style.visibility</p:attrName>
                                        </p:attrNameLst>
                                      </p:cBhvr>
                                      <p:to>
                                        <p:strVal val="visible"/>
                                      </p:to>
                                    </p:set>
                                    <p:animEffect transition="in" filter="wipe(right)">
                                      <p:cBhvr>
                                        <p:cTn id="39" dur="529"/>
                                        <p:tgtEl>
                                          <p:spTgt spid="12"/>
                                        </p:tgtEl>
                                      </p:cBhvr>
                                    </p:animEffect>
                                  </p:childTnLst>
                                </p:cTn>
                              </p:par>
                              <p:par>
                                <p:cTn id="40" presetID="10" presetClass="entr" presetSubtype="0" fill="hold" grpId="0" nodeType="withEffect">
                                  <p:stCondLst>
                                    <p:cond delay="495"/>
                                  </p:stCondLst>
                                  <p:childTnLst>
                                    <p:set>
                                      <p:cBhvr>
                                        <p:cTn id="41" dur="1" fill="hold">
                                          <p:stCondLst>
                                            <p:cond delay="0"/>
                                          </p:stCondLst>
                                        </p:cTn>
                                        <p:tgtEl>
                                          <p:spTgt spid="13"/>
                                        </p:tgtEl>
                                        <p:attrNameLst>
                                          <p:attrName>style.visibility</p:attrName>
                                        </p:attrNameLst>
                                      </p:cBhvr>
                                      <p:to>
                                        <p:strVal val="visible"/>
                                      </p:to>
                                    </p:set>
                                    <p:animEffect transition="in" filter="fade">
                                      <p:cBhvr>
                                        <p:cTn id="42" dur="345" decel="70000"/>
                                        <p:tgtEl>
                                          <p:spTgt spid="13"/>
                                        </p:tgtEl>
                                      </p:cBhvr>
                                    </p:animEffect>
                                    <p:anim calcmode="lin" valueType="num">
                                      <p:cBhvr additive="base">
                                        <p:cTn id="43" dur="345" decel="70000" fill="hold"/>
                                        <p:tgtEl>
                                          <p:spTgt spid="13"/>
                                        </p:tgtEl>
                                        <p:attrNameLst>
                                          <p:attrName>ppt_y</p:attrName>
                                        </p:attrNameLst>
                                      </p:cBhvr>
                                      <p:tavLst>
                                        <p:tav tm="0">
                                          <p:val>
                                            <p:strVal val="#ppt_y+0.0288"/>
                                          </p:val>
                                        </p:tav>
                                        <p:tav tm="100000">
                                          <p:val>
                                            <p:strVal val="#ppt_y"/>
                                          </p:val>
                                        </p:tav>
                                      </p:tavLst>
                                    </p:anim>
                                  </p:childTnLst>
                                </p:cTn>
                              </p:par>
                              <p:par>
                                <p:cTn id="44" presetID="10" presetClass="entr" presetSubtype="0" fill="hold" grpId="0" nodeType="withEffect">
                                  <p:stCondLst>
                                    <p:cond delay="550"/>
                                  </p:stCondLst>
                                  <p:childTnLst>
                                    <p:set>
                                      <p:cBhvr>
                                        <p:cTn id="45" dur="1" fill="hold">
                                          <p:stCondLst>
                                            <p:cond delay="0"/>
                                          </p:stCondLst>
                                        </p:cTn>
                                        <p:tgtEl>
                                          <p:spTgt spid="14"/>
                                        </p:tgtEl>
                                        <p:attrNameLst>
                                          <p:attrName>style.visibility</p:attrName>
                                        </p:attrNameLst>
                                      </p:cBhvr>
                                      <p:to>
                                        <p:strVal val="visible"/>
                                      </p:to>
                                    </p:set>
                                    <p:animEffect transition="in" filter="fade">
                                      <p:cBhvr>
                                        <p:cTn id="46" dur="322" decel="70000"/>
                                        <p:tgtEl>
                                          <p:spTgt spid="14"/>
                                        </p:tgtEl>
                                      </p:cBhvr>
                                    </p:animEffect>
                                  </p:childTnLst>
                                </p:cTn>
                              </p:par>
                              <p:par>
                                <p:cTn id="47" presetID="22" presetClass="entr" presetSubtype="1" fill="hold" grpId="0" nodeType="withEffect">
                                  <p:stCondLst>
                                    <p:cond delay="605"/>
                                  </p:stCondLst>
                                  <p:childTnLst>
                                    <p:set>
                                      <p:cBhvr>
                                        <p:cTn id="48" dur="1" fill="hold">
                                          <p:stCondLst>
                                            <p:cond delay="0"/>
                                          </p:stCondLst>
                                        </p:cTn>
                                        <p:tgtEl>
                                          <p:spTgt spid="15"/>
                                        </p:tgtEl>
                                        <p:attrNameLst>
                                          <p:attrName>style.visibility</p:attrName>
                                        </p:attrNameLst>
                                      </p:cBhvr>
                                      <p:to>
                                        <p:strVal val="visible"/>
                                      </p:to>
                                    </p:set>
                                    <p:animEffect transition="in" filter="wipe(right)">
                                      <p:cBhvr>
                                        <p:cTn id="49" dur="529"/>
                                        <p:tgtEl>
                                          <p:spTgt spid="15"/>
                                        </p:tgtEl>
                                      </p:cBhvr>
                                    </p:animEffect>
                                  </p:childTnLst>
                                </p:cTn>
                              </p:par>
                              <p:par>
                                <p:cTn id="50" presetID="10" presetClass="entr" presetSubtype="0" fill="hold" grpId="0" nodeType="withEffect">
                                  <p:stCondLst>
                                    <p:cond delay="660"/>
                                  </p:stCondLst>
                                  <p:childTnLst>
                                    <p:set>
                                      <p:cBhvr>
                                        <p:cTn id="51" dur="1" fill="hold">
                                          <p:stCondLst>
                                            <p:cond delay="0"/>
                                          </p:stCondLst>
                                        </p:cTn>
                                        <p:tgtEl>
                                          <p:spTgt spid="16"/>
                                        </p:tgtEl>
                                        <p:attrNameLst>
                                          <p:attrName>style.visibility</p:attrName>
                                        </p:attrNameLst>
                                      </p:cBhvr>
                                      <p:to>
                                        <p:strVal val="visible"/>
                                      </p:to>
                                    </p:set>
                                    <p:animEffect transition="in" filter="fade">
                                      <p:cBhvr>
                                        <p:cTn id="52" dur="345" decel="70000"/>
                                        <p:tgtEl>
                                          <p:spTgt spid="16"/>
                                        </p:tgtEl>
                                      </p:cBhvr>
                                    </p:animEffect>
                                    <p:anim calcmode="lin" valueType="num">
                                      <p:cBhvr additive="base">
                                        <p:cTn id="53" dur="345" decel="70000" fill="hold"/>
                                        <p:tgtEl>
                                          <p:spTgt spid="16"/>
                                        </p:tgtEl>
                                        <p:attrNameLst>
                                          <p:attrName>ppt_y</p:attrName>
                                        </p:attrNameLst>
                                      </p:cBhvr>
                                      <p:tavLst>
                                        <p:tav tm="0">
                                          <p:val>
                                            <p:strVal val="#ppt_y+0.0288"/>
                                          </p:val>
                                        </p:tav>
                                        <p:tav tm="100000">
                                          <p:val>
                                            <p:strVal val="#ppt_y"/>
                                          </p:val>
                                        </p:tav>
                                      </p:tavLst>
                                    </p:anim>
                                  </p:childTnLst>
                                </p:cTn>
                              </p:par>
                              <p:par>
                                <p:cTn id="54" presetID="10" presetClass="entr" presetSubtype="0" fill="hold" grpId="0" nodeType="withEffect">
                                  <p:stCondLst>
                                    <p:cond delay="715"/>
                                  </p:stCondLst>
                                  <p:childTnLst>
                                    <p:set>
                                      <p:cBhvr>
                                        <p:cTn id="55" dur="1" fill="hold">
                                          <p:stCondLst>
                                            <p:cond delay="0"/>
                                          </p:stCondLst>
                                        </p:cTn>
                                        <p:tgtEl>
                                          <p:spTgt spid="17"/>
                                        </p:tgtEl>
                                        <p:attrNameLst>
                                          <p:attrName>style.visibility</p:attrName>
                                        </p:attrNameLst>
                                      </p:cBhvr>
                                      <p:to>
                                        <p:strVal val="visible"/>
                                      </p:to>
                                    </p:set>
                                    <p:animEffect transition="in" filter="fade">
                                      <p:cBhvr>
                                        <p:cTn id="56" dur="322" decel="70000"/>
                                        <p:tgtEl>
                                          <p:spTgt spid="17"/>
                                        </p:tgtEl>
                                      </p:cBhvr>
                                    </p:animEffect>
                                  </p:childTnLst>
                                </p:cTn>
                              </p:par>
                              <p:par>
                                <p:cTn id="57" presetID="22" presetClass="entr" presetSubtype="1" fill="hold" grpId="0" nodeType="withEffect">
                                  <p:stCondLst>
                                    <p:cond delay="770"/>
                                  </p:stCondLst>
                                  <p:childTnLst>
                                    <p:set>
                                      <p:cBhvr>
                                        <p:cTn id="58" dur="1" fill="hold">
                                          <p:stCondLst>
                                            <p:cond delay="0"/>
                                          </p:stCondLst>
                                        </p:cTn>
                                        <p:tgtEl>
                                          <p:spTgt spid="18"/>
                                        </p:tgtEl>
                                        <p:attrNameLst>
                                          <p:attrName>style.visibility</p:attrName>
                                        </p:attrNameLst>
                                      </p:cBhvr>
                                      <p:to>
                                        <p:strVal val="visible"/>
                                      </p:to>
                                    </p:set>
                                    <p:animEffect transition="in" filter="wipe(right)">
                                      <p:cBhvr>
                                        <p:cTn id="59" dur="529"/>
                                        <p:tgtEl>
                                          <p:spTgt spid="18"/>
                                        </p:tgtEl>
                                      </p:cBhvr>
                                    </p:animEffect>
                                  </p:childTnLst>
                                </p:cTn>
                              </p:par>
                              <p:par>
                                <p:cTn id="60" presetID="10" presetClass="entr" presetSubtype="0" fill="hold" grpId="0" nodeType="withEffect">
                                  <p:stCondLst>
                                    <p:cond delay="825"/>
                                  </p:stCondLst>
                                  <p:childTnLst>
                                    <p:set>
                                      <p:cBhvr>
                                        <p:cTn id="61" dur="1" fill="hold">
                                          <p:stCondLst>
                                            <p:cond delay="0"/>
                                          </p:stCondLst>
                                        </p:cTn>
                                        <p:tgtEl>
                                          <p:spTgt spid="19"/>
                                        </p:tgtEl>
                                        <p:attrNameLst>
                                          <p:attrName>style.visibility</p:attrName>
                                        </p:attrNameLst>
                                      </p:cBhvr>
                                      <p:to>
                                        <p:strVal val="visible"/>
                                      </p:to>
                                    </p:set>
                                    <p:animEffect transition="in" filter="fade">
                                      <p:cBhvr>
                                        <p:cTn id="62" dur="345" decel="70000"/>
                                        <p:tgtEl>
                                          <p:spTgt spid="19"/>
                                        </p:tgtEl>
                                      </p:cBhvr>
                                    </p:animEffect>
                                    <p:anim calcmode="lin" valueType="num">
                                      <p:cBhvr additive="base">
                                        <p:cTn id="63" dur="345" decel="70000" fill="hold"/>
                                        <p:tgtEl>
                                          <p:spTgt spid="19"/>
                                        </p:tgtEl>
                                        <p:attrNameLst>
                                          <p:attrName>ppt_y</p:attrName>
                                        </p:attrNameLst>
                                      </p:cBhvr>
                                      <p:tavLst>
                                        <p:tav tm="0">
                                          <p:val>
                                            <p:strVal val="#ppt_y+0.0288"/>
                                          </p:val>
                                        </p:tav>
                                        <p:tav tm="100000">
                                          <p:val>
                                            <p:strVal val="#ppt_y"/>
                                          </p:val>
                                        </p:tav>
                                      </p:tavLst>
                                    </p:anim>
                                  </p:childTnLst>
                                </p:cTn>
                              </p:par>
                              <p:par>
                                <p:cTn id="64" presetID="10" presetClass="entr" presetSubtype="0" fill="hold" grpId="0" nodeType="withEffect">
                                  <p:stCondLst>
                                    <p:cond delay="880"/>
                                  </p:stCondLst>
                                  <p:childTnLst>
                                    <p:set>
                                      <p:cBhvr>
                                        <p:cTn id="65" dur="1" fill="hold">
                                          <p:stCondLst>
                                            <p:cond delay="0"/>
                                          </p:stCondLst>
                                        </p:cTn>
                                        <p:tgtEl>
                                          <p:spTgt spid="20"/>
                                        </p:tgtEl>
                                        <p:attrNameLst>
                                          <p:attrName>style.visibility</p:attrName>
                                        </p:attrNameLst>
                                      </p:cBhvr>
                                      <p:to>
                                        <p:strVal val="visible"/>
                                      </p:to>
                                    </p:set>
                                    <p:animEffect transition="in" filter="fade">
                                      <p:cBhvr>
                                        <p:cTn id="66" dur="322" decel="70000"/>
                                        <p:tgtEl>
                                          <p:spTgt spid="20"/>
                                        </p:tgtEl>
                                      </p:cBhvr>
                                    </p:animEffect>
                                  </p:childTnLst>
                                </p:cTn>
                              </p:par>
                              <p:par>
                                <p:cTn id="67" presetID="22" presetClass="entr" presetSubtype="1" fill="hold" grpId="0" nodeType="withEffect">
                                  <p:stCondLst>
                                    <p:cond delay="935"/>
                                  </p:stCondLst>
                                  <p:childTnLst>
                                    <p:set>
                                      <p:cBhvr>
                                        <p:cTn id="68" dur="1" fill="hold">
                                          <p:stCondLst>
                                            <p:cond delay="0"/>
                                          </p:stCondLst>
                                        </p:cTn>
                                        <p:tgtEl>
                                          <p:spTgt spid="21"/>
                                        </p:tgtEl>
                                        <p:attrNameLst>
                                          <p:attrName>style.visibility</p:attrName>
                                        </p:attrNameLst>
                                      </p:cBhvr>
                                      <p:to>
                                        <p:strVal val="visible"/>
                                      </p:to>
                                    </p:set>
                                    <p:animEffect transition="in" filter="wipe(right)">
                                      <p:cBhvr>
                                        <p:cTn id="69" dur="529"/>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Momentum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Momentum AI: the division</dc:title>
  <dc:subject>Addendum for the Friday conversation. Every figure is a proposal.</dc:subject>
  <dc:creator>Momentum Digital</dc:creator>
  <cp:lastModifiedBy>Momentum Digital</cp:lastModifiedBy>
  <cp:revision>1</cp:revision>
  <dcterms:created xsi:type="dcterms:W3CDTF">2026-09-05T19:36:43Z</dcterms:created>
  <dcterms:modified xsi:type="dcterms:W3CDTF">2026-09-05T19:36:43Z</dcterms:modified>
</cp:coreProperties>
</file>