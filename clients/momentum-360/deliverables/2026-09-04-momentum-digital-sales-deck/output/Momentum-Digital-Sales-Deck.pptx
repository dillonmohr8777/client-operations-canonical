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service list. Momentum sells measurable local demand: calls, forms and booked appointments. Every claim in this deck traces to a published Momentum source.
[Sources]
needmomentum.com, captured September 4,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founder story: Google experience applied to businesses Google's own sales org never had time for. The 1,000+ figure and the $500 to $5,000 range are both published on the site.
[Sources]
needmomentum.com/about-us/
needmomentum.com/marketing-case-studies/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slide. Do not add badges Momentum has not published. Every name here appears as a badge or in copy on needmomentum.com.
[Sources]
needmomentum.com, captured September 4,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menu slide. Ask which two lines are already running and which are not, then jump straight to the matching service slide.
[Sources]
needmomentum.com, captured September 4,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SEO is the anchor line. Both proof points are non branded search, which answers the objection most prospects raise: we already rank for our own name.
[Sources]
needmomentum.com/marketing-case-studies/it-services-seo-microtech-systems-boise/
needmomentum.com/marketing-case-studies/on-page-seo-case-study/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Kind Insurance number is the headline: phone calls went from 154 in 2024 to 638 in 2025. Cost per conversion rose to $42.09 because the account stopped optimizing for cheap non call conversions.
[Sources]
needmomentum.com/marketing-case-studies/ppc-phone-call-lead-generation/
needmomentum.com/marketing-case-studies/google-ads-case-study/
needmomentum.com/marketing-case-studies/freight-company-google-ads/
needmomentum.com/marketing-case-studies/med-spa-google-ads-case-study/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Grand Entry Doors is the strongest organic social proof: 775,990 impressions in September 2025 alone. Good answer to whether organic social actually does anything.
[Sources]
needmomentum.com/marketing-case-studies/pinterest-organic-case-study/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Conversions rose by up to 816% and sessions by 66%. Say up to, exactly as the case study does. The performance scores are before and after samples, not permanent scores.
[Sources]
needmomentum.com/marketing-case-studies/wordpress-website-redesign/
needmomentum.com/marketing-prices/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Momentum 360 is the differentiator against pure play SEO shops: the same agency shoots the media that makes the local listing work. momentumvirtualtours.com
[Sources]
needmomentum.com, captured September 4,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numbers, told honestly. Five conversations and one closed policy in the first thirty days is a real result for an insurance brokerage, and more credible than a vague automation promise.
[Sources]
needmomentum.com/ai-powered-marketing-automation/
needmomentum.com/marketing-case-studies/lead-automation/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in the deck not built from published Momentum material. It carries no invented metrics: the only figure on it, AI visibility 35, comes from the Detroit Dispensing Solutions case study. Do not quote a price until Mac sets one.
[Sources]
needmomentum.com/marketing-case-studies/b2b-seo-lead-generation/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grid. Point at the prospect's industry and move to the matching case study.
[Sources]
needmomentum.com, captured September 4,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 version for a short meeting. Each figure has a full slide behind it. Nothing here is an average or a blended agency claim; every number belongs to one named client.
[Sources]
needmomentum.com, captured September 4,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one is that SEO was measured on revenue, not sessions. First measurable movement inside three months, full result over twelve.
[Sources]
needmomentum.com/ecommerce-seo-case-study-underx/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best AEO story Momentum has today. AI visibility grew to 35 and ChatGPT shows up as a named source in the December lead mix. Use it when a prospect asks about AI search. LinkedIn retargeting CTR was 2.92%, up 356% on prospecting.
[Sources]
needmomentum.com/marketing-case-studies/b2b-seo-lead-generation/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the CPA objection before the prospect raises it. $13.27 to $42.09 looks like a regression until you say what was being counted. Call conversion rate went 10.91% to 33.06%.
[Sources]
needmomentum.com/marketing-case-studies/ppc-phone-call-lead-generation/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for a prospect who says their ads bring the wrong people. The fix was changing what the account optimizes toward, then scaling.
[Sources]
needmomentum.com/marketing-case-studies/google-ads-case-study/
needmomentum.com/marketing-case-studies/corporate-housing-marketing-bedford/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multi location story. Three profiles, three ad campaigns, one funnel. The next phase on the case study page is concierge medicine plus email and SMS retention.
[Sources]
needmomentum.com/drip-iv-case-study/
needmomentum.com/marketing-case-studies/iv-therapy-paid-ads/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 fire. Alex Mika ran four years and the page is honest that traffic declined 40% after the contract ended, which is a useful retention argument if a prospect asks what happens when they stop.
[Sources]
needmomentum.com/marketing-case-studies/home-services-lead-generation/
needmomentum.com/marketing-case-studies/freight-company-google-ads/
needmomentum.com/marketing-case-studies/site-migration-case-study/
needmomentum.com/marketing-case-studies/med-spa-google-ads-case-study/
needmomentum.com/ecommerce-jewelry-marketing-case-study/
needmomentum.com/shopify-seo-case-study/
needmomentum.com/marketing-case-studies/legal-seo-mosser-legal/
needmomentum.com/nightclub-marketing-case-study/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guarantee wording exactly as published. Do not paraphrase it into a stronger promise, and do not extend it to packages that do not carry it. Individual packages carry their own: guaranteed growth on Kickstart, first page of Google on the twelve month SEO package, a rank increase on GBP management. Confirm with Mac that the language is current.
[Sources]
needmomentum.com/marketing-prices/
needmomentum.com/marketing-case-studies/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prices are published on needmomentum.com/marketing-prices/. The middle card is the one to anchor on. Custom or specific projects are quoted on a call.
[Sources]
needmomentum.com/marketing-prices/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rows, all published. If a prospect wants to mix services, the answer is the custom package at a $1,000 monthly floor, or $3,000 for a genuinely custom build.
[Sources]
needmomentum.com/marketing-prices/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booking the audit, not by sending pricing. The audit is the qualification step and it is already published as free. Office: 1635 Market St. #1601, Philadelphia PA 19103, Mon to Fri 9:00am to 7:00pm.
[Sources]
needmomentum.com/marketing-prices/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25"/>
        </a:solidFill>
      </p:bgPr>
    </p:bg>
    <p:spTree>
      <p:nvGrpSpPr>
        <p:cNvPr id="1" name=""/>
        <p:cNvGrpSpPr/>
        <p:nvPr/>
      </p:nvGrpSpPr>
      <p:grpSpPr>
        <a:xfrm>
          <a:off x="0" y="0"/>
          <a:ext cx="0" cy="0"/>
          <a:chOff x="0" y="0"/>
          <a:chExt cx="0" cy="0"/>
        </a:xfrm>
      </p:grpSpPr>
      <p:sp>
        <p:nvSpPr>
          <p:cNvPr id="2" name="role:panel-right"/>
          <p:cNvSpPr/>
          <p:nvPr/>
        </p:nvSpPr>
        <p:spPr>
          <a:xfrm>
            <a:off x="7086600" y="0"/>
            <a:ext cx="5105095" cy="6858000"/>
          </a:xfrm>
          <a:prstGeom prst="rect">
            <a:avLst/>
          </a:prstGeom>
          <a:solidFill>
            <a:srgbClr val="112B3F"/>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10000"/>
          </a:blip>
          <a:stretch>
            <a:fillRect/>
          </a:stretch>
        </p:blipFill>
        <p:spPr>
          <a:xfrm>
            <a:off x="8686800" y="1051560"/>
            <a:ext cx="5852160" cy="6942064"/>
          </a:xfrm>
          <a:prstGeom prst="rect">
            <a:avLst/>
          </a:prstGeom>
        </p:spPr>
      </p:pic>
      <p:pic>
        <p:nvPicPr>
          <p:cNvPr id="4" name="role:logo" descr="Momentum Digital logo">    </p:cNvPr>
          <p:cNvPicPr>
            <a:picLocks noChangeAspect="1"/>
          </p:cNvPicPr>
          <p:nvPr/>
        </p:nvPicPr>
        <p:blipFill>
          <a:blip r:embed="rId2"/>
          <a:stretch>
            <a:fillRect/>
          </a:stretch>
        </p:blipFill>
        <p:spPr>
          <a:xfrm>
            <a:off x="713232" y="658368"/>
            <a:ext cx="2880360" cy="619299"/>
          </a:xfrm>
          <a:prstGeom prst="rect">
            <a:avLst/>
          </a:prstGeom>
        </p:spPr>
      </p:pic>
      <p:sp>
        <p:nvSpPr>
          <p:cNvPr id="5" name="role:kicker"/>
          <p:cNvSpPr txBox="1"/>
          <p:nvPr/>
        </p:nvSpPr>
        <p:spPr>
          <a:xfrm>
            <a:off x="713232" y="1810512"/>
            <a:ext cx="603504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PHILADELPHIA · SINCE 2015</a:t>
            </a:r>
            <a:endParaRPr lang="en-US" sz="1050" dirty="0"/>
          </a:p>
        </p:txBody>
      </p:sp>
      <p:sp>
        <p:nvSpPr>
          <p:cNvPr id="6" name="role:display"/>
          <p:cNvSpPr txBox="1"/>
          <p:nvPr/>
        </p:nvSpPr>
        <p:spPr>
          <a:xfrm>
            <a:off x="713232" y="2139696"/>
            <a:ext cx="6309360" cy="2121408"/>
          </a:xfrm>
          <a:prstGeom prst="rect">
            <a:avLst/>
          </a:prstGeom>
          <a:noFill/>
          <a:ln/>
        </p:spPr>
        <p:txBody>
          <a:bodyPr wrap="square" lIns="0" tIns="0" rIns="0" bIns="0" rtlCol="0" anchor="t"/>
          <a:lstStyle/>
          <a:p>
            <a:pPr algn="l" indent="0" marL="0">
              <a:lnSpc>
                <a:spcPct val="100000"/>
              </a:lnSpc>
              <a:buNone/>
            </a:pPr>
            <a:r>
              <a:rPr lang="en-US" sz="5400" b="1" dirty="0">
                <a:solidFill>
                  <a:srgbClr val="FFFFFF"/>
                </a:solidFill>
                <a:latin typeface="Arial" pitchFamily="34" charset="0"/>
                <a:ea typeface="Arial" pitchFamily="34" charset="-122"/>
                <a:cs typeface="Arial" pitchFamily="34" charset="-120"/>
              </a:rPr>
              <a:t>Marketing that</a:t>
            </a:r>
            <a:endParaRPr lang="en-US" sz="5400" dirty="0"/>
          </a:p>
          <a:p>
            <a:pPr algn="l" indent="0" marL="0">
              <a:lnSpc>
                <a:spcPct val="100000"/>
              </a:lnSpc>
              <a:buNone/>
            </a:pPr>
            <a:r>
              <a:rPr lang="en-US" sz="5400" b="1" dirty="0">
                <a:solidFill>
                  <a:srgbClr val="FFFFFF"/>
                </a:solidFill>
                <a:latin typeface="Arial" pitchFamily="34" charset="0"/>
                <a:ea typeface="Arial" pitchFamily="34" charset="-122"/>
                <a:cs typeface="Arial" pitchFamily="34" charset="-120"/>
              </a:rPr>
              <a:t>makes the</a:t>
            </a:r>
            <a:endParaRPr lang="en-US" sz="5400" dirty="0"/>
          </a:p>
          <a:p>
            <a:pPr algn="l" indent="0" marL="0">
              <a:lnSpc>
                <a:spcPct val="100000"/>
              </a:lnSpc>
              <a:buNone/>
            </a:pPr>
            <a:r>
              <a:rPr lang="en-US" sz="5400" b="1" dirty="0">
                <a:solidFill>
                  <a:srgbClr val="FFFFFF"/>
                </a:solidFill>
                <a:latin typeface="Arial" pitchFamily="34" charset="0"/>
                <a:ea typeface="Arial" pitchFamily="34" charset="-122"/>
                <a:cs typeface="Arial" pitchFamily="34" charset="-120"/>
              </a:rPr>
              <a:t>phone ring.</a:t>
            </a:r>
            <a:endParaRPr lang="en-US" sz="5400" dirty="0"/>
          </a:p>
        </p:txBody>
      </p:sp>
      <p:sp>
        <p:nvSpPr>
          <p:cNvPr id="7" name="role:sub"/>
          <p:cNvSpPr txBox="1"/>
          <p:nvPr/>
        </p:nvSpPr>
        <p:spPr>
          <a:xfrm>
            <a:off x="713232" y="4681728"/>
            <a:ext cx="5852160" cy="1019556"/>
          </a:xfrm>
          <a:prstGeom prst="rect">
            <a:avLst/>
          </a:prstGeom>
          <a:noFill/>
          <a:ln/>
        </p:spPr>
        <p:txBody>
          <a:bodyPr wrap="square" lIns="0" tIns="0" rIns="0" bIns="0" rtlCol="0" anchor="t"/>
          <a:lstStyle/>
          <a:p>
            <a:pPr algn="l" indent="0" marL="0">
              <a:lnSpc>
                <a:spcPct val="132000"/>
              </a:lnSpc>
              <a:buNone/>
            </a:pPr>
            <a:r>
              <a:rPr lang="en-US" sz="1900" dirty="0">
                <a:solidFill>
                  <a:srgbClr val="9DB5C8"/>
                </a:solidFill>
                <a:latin typeface="Arial" pitchFamily="34" charset="0"/>
                <a:ea typeface="Arial" pitchFamily="34" charset="-122"/>
                <a:cs typeface="Arial" pitchFamily="34" charset="-120"/>
              </a:rPr>
              <a:t>SEO, paid media, social, design, content and AI automation for small and local businesses, run by a team that shows you the numbers.</a:t>
            </a:r>
            <a:endParaRPr lang="en-US" sz="1900" dirty="0"/>
          </a:p>
        </p:txBody>
      </p:sp>
      <p:sp>
        <p:nvSpPr>
          <p:cNvPr id="8" name="role:foot"/>
          <p:cNvSpPr txBox="1"/>
          <p:nvPr/>
        </p:nvSpPr>
        <p:spPr>
          <a:xfrm>
            <a:off x="713232" y="6016752"/>
            <a:ext cx="6400800" cy="237744"/>
          </a:xfrm>
          <a:prstGeom prst="rect">
            <a:avLst/>
          </a:prstGeom>
          <a:noFill/>
          <a:ln/>
        </p:spPr>
        <p:txBody>
          <a:bodyPr wrap="square" lIns="0" tIns="0" rIns="0" bIns="0" rtlCol="0" anchor="t"/>
          <a:lstStyle/>
          <a:p>
            <a:pPr algn="l" indent="0" marL="0">
              <a:buNone/>
            </a:pPr>
            <a:r>
              <a:rPr lang="en-US" sz="1100" b="1" spc="120" kern="0" dirty="0">
                <a:solidFill>
                  <a:srgbClr val="9DB5C8"/>
                </a:solidFill>
                <a:latin typeface="Arial" pitchFamily="34" charset="0"/>
                <a:ea typeface="Arial" pitchFamily="34" charset="-122"/>
                <a:cs typeface="Arial" pitchFamily="34" charset="-120"/>
              </a:rPr>
              <a:t>needmomentum.com   ·   (215) 876-2954   ·   hi@needmomentum.com</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52" decel="70000"/>
                                        <p:tgtEl>
                                          <p:spTgt spid="6"/>
                                        </p:tgtEl>
                                      </p:cBhvr>
                                    </p:animEffect>
                                    <p:anim calcmode="lin" valueType="num">
                                      <p:cBhvr additive="base">
                                        <p:cTn id="21" dur="552" decel="70000" fill="hold"/>
                                        <p:tgtEl>
                                          <p:spTgt spid="6"/>
                                        </p:tgtEl>
                                        <p:attrNameLst>
                                          <p:attrName>ppt_y</p:attrName>
                                        </p:attrNameLst>
                                      </p:cBhvr>
                                      <p:tavLst>
                                        <p:tav tm="0">
                                          <p:val>
                                            <p:strVal val="#ppt_y+0.0608"/>
                                          </p:val>
                                        </p:tav>
                                        <p:tav tm="100000">
                                          <p:val>
                                            <p:strVal val="#ppt_y"/>
                                          </p:val>
                                        </p:tav>
                                      </p:tavLst>
                                    </p:anim>
                                  </p:childTnLst>
                                </p:cTn>
                              </p:par>
                              <p:par>
                                <p:cTn id="22" presetID="10" presetClass="entr" presetSubtype="0" fill="hold" grpId="0" nodeType="withEffect">
                                  <p:stCondLst>
                                    <p:cond delay="11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390" decel="70000"/>
                                        <p:tgtEl>
                                          <p:spTgt spid="7"/>
                                        </p:tgtEl>
                                      </p:cBhvr>
                                    </p:animEffect>
                                    <p:anim calcmode="lin" valueType="num">
                                      <p:cBhvr additive="base">
                                        <p:cTn id="25" dur="390" decel="70000" fill="hold"/>
                                        <p:tgtEl>
                                          <p:spTgt spid="7"/>
                                        </p:tgtEl>
                                        <p:attrNameLst>
                                          <p:attrName>ppt_y</p:attrName>
                                        </p:attrNameLst>
                                      </p:cBhvr>
                                      <p:tavLst>
                                        <p:tav tm="0">
                                          <p:val>
                                            <p:strVal val="#ppt_y+0.038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role:panel-right"/>
          <p:cNvSpPr/>
          <p:nvPr/>
        </p:nvSpPr>
        <p:spPr>
          <a:xfrm>
            <a:off x="8214055" y="0"/>
            <a:ext cx="3977640" cy="6858000"/>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10000"/>
          </a:blip>
          <a:stretch>
            <a:fillRect/>
          </a:stretch>
        </p:blipFill>
        <p:spPr>
          <a:xfrm>
            <a:off x="9601200" y="4114800"/>
            <a:ext cx="3931920" cy="4664199"/>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658368"/>
            <a:ext cx="1371600" cy="294904"/>
          </a:xfrm>
          <a:prstGeom prst="rect">
            <a:avLst/>
          </a:prstGeom>
        </p:spPr>
      </p:pic>
      <p:sp>
        <p:nvSpPr>
          <p:cNvPr id="5"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WHO WE ARE</a:t>
            </a:r>
            <a:endParaRPr lang="en-US" sz="1050" dirty="0"/>
          </a:p>
        </p:txBody>
      </p:sp>
      <p:sp>
        <p:nvSpPr>
          <p:cNvPr id="6" name="role:title"/>
          <p:cNvSpPr txBox="1"/>
          <p:nvPr/>
        </p:nvSpPr>
        <p:spPr>
          <a:xfrm>
            <a:off x="713232" y="987552"/>
            <a:ext cx="6766560" cy="1074420"/>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A Philadelphia agency</a:t>
            </a:r>
            <a:endParaRPr lang="en-US" sz="3900" dirty="0"/>
          </a:p>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built for small business</a:t>
            </a:r>
            <a:endParaRPr lang="en-US" sz="3900" dirty="0"/>
          </a:p>
        </p:txBody>
      </p:sp>
      <p:sp>
        <p:nvSpPr>
          <p:cNvPr id="7"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01</a:t>
            </a:r>
            <a:endParaRPr lang="en-US" sz="1050" dirty="0"/>
          </a:p>
        </p:txBody>
      </p:sp>
      <p:sp>
        <p:nvSpPr>
          <p:cNvPr id="8" name="role:figure"/>
          <p:cNvSpPr txBox="1"/>
          <p:nvPr/>
        </p:nvSpPr>
        <p:spPr>
          <a:xfrm>
            <a:off x="713232" y="2788920"/>
            <a:ext cx="1956816" cy="519176"/>
          </a:xfrm>
          <a:prstGeom prst="rect">
            <a:avLst/>
          </a:prstGeom>
          <a:noFill/>
          <a:ln/>
        </p:spPr>
        <p:txBody>
          <a:bodyPr wrap="square" lIns="0" tIns="0" rIns="0" bIns="0" rtlCol="0" anchor="t"/>
          <a:lstStyle/>
          <a:p>
            <a:pPr algn="l" indent="0" marL="0">
              <a:lnSpc>
                <a:spcPct val="100000"/>
              </a:lnSpc>
              <a:buNone/>
            </a:pPr>
            <a:r>
              <a:rPr lang="en-US" sz="3800" b="1" dirty="0">
                <a:solidFill>
                  <a:srgbClr val="2A80C2"/>
                </a:solidFill>
                <a:latin typeface="Arial" pitchFamily="34" charset="0"/>
                <a:ea typeface="Arial" pitchFamily="34" charset="-122"/>
                <a:cs typeface="Arial" pitchFamily="34" charset="-120"/>
              </a:rPr>
              <a:t>1,000+</a:t>
            </a:r>
            <a:endParaRPr lang="en-US" sz="3800" dirty="0"/>
          </a:p>
        </p:txBody>
      </p:sp>
      <p:sp>
        <p:nvSpPr>
          <p:cNvPr id="9" name="role:figure-label"/>
          <p:cNvSpPr txBox="1"/>
          <p:nvPr/>
        </p:nvSpPr>
        <p:spPr>
          <a:xfrm>
            <a:off x="713232" y="3362960"/>
            <a:ext cx="1956816"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Small businesses served</a:t>
            </a:r>
            <a:endParaRPr lang="en-US" sz="1200" dirty="0"/>
          </a:p>
        </p:txBody>
      </p:sp>
      <p:sp>
        <p:nvSpPr>
          <p:cNvPr id="10" name="role:figure-label"/>
          <p:cNvSpPr txBox="1"/>
          <p:nvPr/>
        </p:nvSpPr>
        <p:spPr>
          <a:xfrm>
            <a:off x="713232" y="3664712"/>
            <a:ext cx="1956816" cy="37490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Philadelphia region, since 2015</a:t>
            </a:r>
            <a:endParaRPr lang="en-US" sz="1050" dirty="0"/>
          </a:p>
        </p:txBody>
      </p:sp>
      <p:sp>
        <p:nvSpPr>
          <p:cNvPr id="11" name="role:rule-v"/>
          <p:cNvSpPr/>
          <p:nvPr/>
        </p:nvSpPr>
        <p:spPr>
          <a:xfrm>
            <a:off x="2944368" y="2788920"/>
            <a:ext cx="0" cy="1360424"/>
          </a:xfrm>
          <a:prstGeom prst="line">
            <a:avLst/>
          </a:prstGeom>
          <a:noFill/>
          <a:ln w="9525">
            <a:solidFill>
              <a:srgbClr val="E2EAF1"/>
            </a:solidFill>
            <a:prstDash val="solid"/>
          </a:ln>
        </p:spPr>
      </p:sp>
      <p:sp>
        <p:nvSpPr>
          <p:cNvPr id="12" name="role:figure"/>
          <p:cNvSpPr txBox="1"/>
          <p:nvPr/>
        </p:nvSpPr>
        <p:spPr>
          <a:xfrm>
            <a:off x="3182112" y="2788920"/>
            <a:ext cx="1956816" cy="519176"/>
          </a:xfrm>
          <a:prstGeom prst="rect">
            <a:avLst/>
          </a:prstGeom>
          <a:noFill/>
          <a:ln/>
        </p:spPr>
        <p:txBody>
          <a:bodyPr wrap="square" lIns="0" tIns="0" rIns="0" bIns="0" rtlCol="0" anchor="t"/>
          <a:lstStyle/>
          <a:p>
            <a:pPr algn="l" indent="0" marL="0">
              <a:lnSpc>
                <a:spcPct val="100000"/>
              </a:lnSpc>
              <a:buNone/>
            </a:pPr>
            <a:r>
              <a:rPr lang="en-US" sz="3800" b="1" dirty="0">
                <a:solidFill>
                  <a:srgbClr val="2A80C2"/>
                </a:solidFill>
                <a:latin typeface="Arial" pitchFamily="34" charset="0"/>
                <a:ea typeface="Arial" pitchFamily="34" charset="-122"/>
                <a:cs typeface="Arial" pitchFamily="34" charset="-120"/>
              </a:rPr>
              <a:t>2015</a:t>
            </a:r>
            <a:endParaRPr lang="en-US" sz="3800" dirty="0"/>
          </a:p>
        </p:txBody>
      </p:sp>
      <p:sp>
        <p:nvSpPr>
          <p:cNvPr id="13" name="role:figure-label"/>
          <p:cNvSpPr txBox="1"/>
          <p:nvPr/>
        </p:nvSpPr>
        <p:spPr>
          <a:xfrm>
            <a:off x="3182112" y="3362960"/>
            <a:ext cx="1956816"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Founded in Philadelphia</a:t>
            </a:r>
            <a:endParaRPr lang="en-US" sz="1200" dirty="0"/>
          </a:p>
        </p:txBody>
      </p:sp>
      <p:sp>
        <p:nvSpPr>
          <p:cNvPr id="14" name="role:figure-label"/>
          <p:cNvSpPr txBox="1"/>
          <p:nvPr/>
        </p:nvSpPr>
        <p:spPr>
          <a:xfrm>
            <a:off x="3182112" y="3664712"/>
            <a:ext cx="1956816" cy="37490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1635 Market St. #1601</a:t>
            </a:r>
            <a:endParaRPr lang="en-US" sz="1050" dirty="0"/>
          </a:p>
        </p:txBody>
      </p:sp>
      <p:sp>
        <p:nvSpPr>
          <p:cNvPr id="15" name="role:rule-v"/>
          <p:cNvSpPr/>
          <p:nvPr/>
        </p:nvSpPr>
        <p:spPr>
          <a:xfrm>
            <a:off x="5413248" y="2788920"/>
            <a:ext cx="0" cy="1360424"/>
          </a:xfrm>
          <a:prstGeom prst="line">
            <a:avLst/>
          </a:prstGeom>
          <a:noFill/>
          <a:ln w="9525">
            <a:solidFill>
              <a:srgbClr val="E2EAF1"/>
            </a:solidFill>
            <a:prstDash val="solid"/>
          </a:ln>
        </p:spPr>
      </p:sp>
      <p:sp>
        <p:nvSpPr>
          <p:cNvPr id="16" name="role:figure"/>
          <p:cNvSpPr txBox="1"/>
          <p:nvPr/>
        </p:nvSpPr>
        <p:spPr>
          <a:xfrm>
            <a:off x="5650992" y="2788920"/>
            <a:ext cx="1956816" cy="519176"/>
          </a:xfrm>
          <a:prstGeom prst="rect">
            <a:avLst/>
          </a:prstGeom>
          <a:noFill/>
          <a:ln/>
        </p:spPr>
        <p:txBody>
          <a:bodyPr wrap="square" lIns="0" tIns="0" rIns="0" bIns="0" rtlCol="0" anchor="t"/>
          <a:lstStyle/>
          <a:p>
            <a:pPr algn="l" indent="0" marL="0">
              <a:lnSpc>
                <a:spcPct val="100000"/>
              </a:lnSpc>
              <a:buNone/>
            </a:pPr>
            <a:r>
              <a:rPr lang="en-US" sz="3800" b="1" dirty="0">
                <a:solidFill>
                  <a:srgbClr val="2A80C2"/>
                </a:solidFill>
                <a:latin typeface="Arial" pitchFamily="34" charset="0"/>
                <a:ea typeface="Arial" pitchFamily="34" charset="-122"/>
                <a:cs typeface="Arial" pitchFamily="34" charset="-120"/>
              </a:rPr>
              <a:t>16</a:t>
            </a:r>
            <a:endParaRPr lang="en-US" sz="3800" dirty="0"/>
          </a:p>
        </p:txBody>
      </p:sp>
      <p:sp>
        <p:nvSpPr>
          <p:cNvPr id="17" name="role:figure-label"/>
          <p:cNvSpPr txBox="1"/>
          <p:nvPr/>
        </p:nvSpPr>
        <p:spPr>
          <a:xfrm>
            <a:off x="5650992" y="3362960"/>
            <a:ext cx="1956816"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Clutch reviews</a:t>
            </a:r>
            <a:endParaRPr lang="en-US" sz="1200" dirty="0"/>
          </a:p>
        </p:txBody>
      </p:sp>
      <p:sp>
        <p:nvSpPr>
          <p:cNvPr id="18" name="role:figure-label"/>
          <p:cNvSpPr txBox="1"/>
          <p:nvPr/>
        </p:nvSpPr>
        <p:spPr>
          <a:xfrm>
            <a:off x="5650992" y="3664712"/>
            <a:ext cx="1956816" cy="37490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Verified client feedback</a:t>
            </a:r>
            <a:endParaRPr lang="en-US" sz="1050" dirty="0"/>
          </a:p>
        </p:txBody>
      </p:sp>
      <p:sp>
        <p:nvSpPr>
          <p:cNvPr id="19" name="role:rule-h"/>
          <p:cNvSpPr/>
          <p:nvPr/>
        </p:nvSpPr>
        <p:spPr>
          <a:xfrm>
            <a:off x="713232" y="4754880"/>
            <a:ext cx="7406640" cy="0"/>
          </a:xfrm>
          <a:prstGeom prst="line">
            <a:avLst/>
          </a:prstGeom>
          <a:noFill/>
          <a:ln w="9525">
            <a:solidFill>
              <a:srgbClr val="E2EAF1"/>
            </a:solidFill>
            <a:prstDash val="solid"/>
          </a:ln>
        </p:spPr>
      </p:sp>
      <p:sp>
        <p:nvSpPr>
          <p:cNvPr id="20" name="role:body"/>
          <p:cNvSpPr txBox="1"/>
          <p:nvPr/>
        </p:nvSpPr>
        <p:spPr>
          <a:xfrm>
            <a:off x="713232" y="4983480"/>
            <a:ext cx="7223760" cy="753237"/>
          </a:xfrm>
          <a:prstGeom prst="rect">
            <a:avLst/>
          </a:prstGeom>
          <a:noFill/>
          <a:ln/>
        </p:spPr>
        <p:txBody>
          <a:bodyPr wrap="square" lIns="0" tIns="0" rIns="0" bIns="0" rtlCol="0" anchor="t"/>
          <a:lstStyle/>
          <a:p>
            <a:pPr algn="l" indent="0" marL="0">
              <a:lnSpc>
                <a:spcPct val="134000"/>
              </a:lnSpc>
              <a:buNone/>
            </a:pPr>
            <a:r>
              <a:rPr lang="en-US" sz="1350" dirty="0">
                <a:solidFill>
                  <a:srgbClr val="5A6772"/>
                </a:solidFill>
                <a:latin typeface="Arial" pitchFamily="34" charset="0"/>
                <a:ea typeface="Arial" pitchFamily="34" charset="-122"/>
                <a:cs typeface="Arial" pitchFamily="34" charset="-120"/>
              </a:rPr>
              <a:t>Momentum Digital was founded in 2015 to help small businesses grow online without breaking the bank. Mac Frederick started his career at Google, working directly with small and medium businesses, and built Momentum around that experience.</a:t>
            </a:r>
            <a:endParaRPr lang="en-US" sz="1350" dirty="0"/>
          </a:p>
        </p:txBody>
      </p:sp>
      <p:sp>
        <p:nvSpPr>
          <p:cNvPr id="21" name="role:kicker"/>
          <p:cNvSpPr txBox="1"/>
          <p:nvPr/>
        </p:nvSpPr>
        <p:spPr>
          <a:xfrm>
            <a:off x="8549640" y="1417320"/>
            <a:ext cx="310896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WHO WE WORK WITH</a:t>
            </a:r>
            <a:endParaRPr lang="en-US" sz="1050" dirty="0"/>
          </a:p>
        </p:txBody>
      </p:sp>
      <p:sp>
        <p:nvSpPr>
          <p:cNvPr id="22" name="role:body"/>
          <p:cNvSpPr txBox="1"/>
          <p:nvPr/>
        </p:nvSpPr>
        <p:spPr>
          <a:xfrm>
            <a:off x="8549640" y="1746504"/>
            <a:ext cx="3108960" cy="658368"/>
          </a:xfrm>
          <a:prstGeom prst="rect">
            <a:avLst/>
          </a:prstGeom>
          <a:noFill/>
          <a:ln/>
        </p:spPr>
        <p:txBody>
          <a:bodyPr wrap="square" lIns="0" tIns="0" rIns="0" bIns="0" rtlCol="0" anchor="t"/>
          <a:lstStyle/>
          <a:p>
            <a:pPr algn="l" indent="0" marL="0">
              <a:lnSpc>
                <a:spcPct val="105000"/>
              </a:lnSpc>
              <a:buNone/>
            </a:pPr>
            <a:r>
              <a:rPr lang="en-US" sz="2200" b="1" dirty="0">
                <a:solidFill>
                  <a:srgbClr val="FFFFFF"/>
                </a:solidFill>
                <a:latin typeface="Arial" pitchFamily="34" charset="0"/>
                <a:ea typeface="Arial" pitchFamily="34" charset="-122"/>
                <a:cs typeface="Arial" pitchFamily="34" charset="-120"/>
              </a:rPr>
              <a:t>Local, and</a:t>
            </a:r>
            <a:endParaRPr lang="en-US" sz="2200" dirty="0"/>
          </a:p>
          <a:p>
            <a:pPr algn="l" indent="0" marL="0">
              <a:lnSpc>
                <a:spcPct val="105000"/>
              </a:lnSpc>
              <a:buNone/>
            </a:pPr>
            <a:r>
              <a:rPr lang="en-US" sz="2200" b="1" dirty="0">
                <a:solidFill>
                  <a:srgbClr val="FFFFFF"/>
                </a:solidFill>
                <a:latin typeface="Arial" pitchFamily="34" charset="0"/>
                <a:ea typeface="Arial" pitchFamily="34" charset="-122"/>
                <a:cs typeface="Arial" pitchFamily="34" charset="-120"/>
              </a:rPr>
              <a:t>staying local</a:t>
            </a:r>
            <a:endParaRPr lang="en-US" sz="2200" dirty="0"/>
          </a:p>
        </p:txBody>
      </p:sp>
      <p:sp>
        <p:nvSpPr>
          <p:cNvPr id="23" name="Text 19"/>
          <p:cNvSpPr txBox="1"/>
          <p:nvPr/>
        </p:nvSpPr>
        <p:spPr>
          <a:xfrm>
            <a:off x="8549640" y="2551176"/>
            <a:ext cx="3108960" cy="3145536"/>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Small businesses building a digital presence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Local service providers and trades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Entrepreneurs and startups that need affordable scale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Healthcare, construction, real estate and retail</a:t>
            </a:r>
            <a:endParaRPr lang="en-US" sz="1200" dirty="0"/>
          </a:p>
        </p:txBody>
      </p:sp>
      <p:sp>
        <p:nvSpPr>
          <p:cNvPr id="24"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Typical projects and retainers run $500 to $5,000 and last one to twelve months.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10" presetClass="entr" presetSubtype="0" fill="hold" grpId="0" nodeType="withEffect">
                                  <p:stCondLst>
                                    <p:cond delay="11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322" decel="70000"/>
                                        <p:tgtEl>
                                          <p:spTgt spid="21"/>
                                        </p:tgtEl>
                                      </p:cBhvr>
                                    </p:animEffect>
                                    <p:anim calcmode="lin" valueType="num">
                                      <p:cBhvr additive="base">
                                        <p:cTn id="25" dur="322" decel="70000" fill="hold"/>
                                        <p:tgtEl>
                                          <p:spTgt spid="21"/>
                                        </p:tgtEl>
                                        <p:attrNameLst>
                                          <p:attrName>ppt_y</p:attrName>
                                        </p:attrNameLst>
                                      </p:cBhvr>
                                      <p:tavLst>
                                        <p:tav tm="0">
                                          <p:val>
                                            <p:strVal val="#ppt_y+0.032"/>
                                          </p:val>
                                        </p:tav>
                                        <p:tav tm="100000">
                                          <p:val>
                                            <p:strVal val="#ppt_y"/>
                                          </p:val>
                                        </p:tav>
                                      </p:tavLst>
                                    </p:anim>
                                  </p:childTnLst>
                                </p:cTn>
                              </p:par>
                              <p:par>
                                <p:cTn id="26" presetID="10" presetClass="entr" presetSubtype="0" fill="hold" grpId="0" nodeType="withEffect">
                                  <p:stCondLst>
                                    <p:cond delay="165"/>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322" decel="70000"/>
                                        <p:tgtEl>
                                          <p:spTgt spid="22"/>
                                        </p:tgtEl>
                                      </p:cBhvr>
                                    </p:animEffect>
                                  </p:childTnLst>
                                </p:cTn>
                              </p:par>
                              <p:par>
                                <p:cTn id="29" presetID="23" presetClass="entr" presetSubtype="0" fill="hold" grpId="0" nodeType="withEffect">
                                  <p:stCondLst>
                                    <p:cond delay="22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482" decel="70000"/>
                                        <p:tgtEl>
                                          <p:spTgt spid="8"/>
                                        </p:tgtEl>
                                      </p:cBhvr>
                                    </p:animEffect>
                                    <p:animScale>
                                      <p:cBhvr>
                                        <p:cTn id="32" dur="482" decel="70000" fill="hold"/>
                                        <p:tgtEl>
                                          <p:spTgt spid="8"/>
                                        </p:tgtEl>
                                      </p:cBhvr>
                                      <p:from x="82000" y="82000"/>
                                      <p:to x="100000" y="100000"/>
                                    </p:animScale>
                                  </p:childTnLst>
                                </p:cTn>
                              </p:par>
                              <p:par>
                                <p:cTn id="33" presetID="22" presetClass="entr" presetSubtype="1" fill="hold" grpId="0" nodeType="withEffect">
                                  <p:stCondLst>
                                    <p:cond delay="275"/>
                                  </p:stCondLst>
                                  <p:childTnLst>
                                    <p:set>
                                      <p:cBhvr>
                                        <p:cTn id="34" dur="1" fill="hold">
                                          <p:stCondLst>
                                            <p:cond delay="0"/>
                                          </p:stCondLst>
                                        </p:cTn>
                                        <p:tgtEl>
                                          <p:spTgt spid="11"/>
                                        </p:tgtEl>
                                        <p:attrNameLst>
                                          <p:attrName>style.visibility</p:attrName>
                                        </p:attrNameLst>
                                      </p:cBhvr>
                                      <p:to>
                                        <p:strVal val="visible"/>
                                      </p:to>
                                    </p:set>
                                    <p:animEffect transition="in" filter="wipe(down)">
                                      <p:cBhvr>
                                        <p:cTn id="35" dur="390"/>
                                        <p:tgtEl>
                                          <p:spTgt spid="11"/>
                                        </p:tgtEl>
                                      </p:cBhvr>
                                    </p:animEffect>
                                  </p:childTnLst>
                                </p:cTn>
                              </p:par>
                              <p:par>
                                <p:cTn id="36" presetID="23" presetClass="entr" presetSubtype="0" fill="hold" grpId="0" nodeType="withEffect">
                                  <p:stCondLst>
                                    <p:cond delay="33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482" decel="70000"/>
                                        <p:tgtEl>
                                          <p:spTgt spid="12"/>
                                        </p:tgtEl>
                                      </p:cBhvr>
                                    </p:animEffect>
                                    <p:animScale>
                                      <p:cBhvr>
                                        <p:cTn id="39" dur="482" decel="70000" fill="hold"/>
                                        <p:tgtEl>
                                          <p:spTgt spid="12"/>
                                        </p:tgtEl>
                                      </p:cBhvr>
                                      <p:from x="82000" y="82000"/>
                                      <p:to x="100000" y="100000"/>
                                    </p:animScale>
                                  </p:childTnLst>
                                </p:cTn>
                              </p:par>
                              <p:par>
                                <p:cTn id="40" presetID="22" presetClass="entr" presetSubtype="1" fill="hold" grpId="0" nodeType="withEffect">
                                  <p:stCondLst>
                                    <p:cond delay="385"/>
                                  </p:stCondLst>
                                  <p:childTnLst>
                                    <p:set>
                                      <p:cBhvr>
                                        <p:cTn id="41" dur="1" fill="hold">
                                          <p:stCondLst>
                                            <p:cond delay="0"/>
                                          </p:stCondLst>
                                        </p:cTn>
                                        <p:tgtEl>
                                          <p:spTgt spid="15"/>
                                        </p:tgtEl>
                                        <p:attrNameLst>
                                          <p:attrName>style.visibility</p:attrName>
                                        </p:attrNameLst>
                                      </p:cBhvr>
                                      <p:to>
                                        <p:strVal val="visible"/>
                                      </p:to>
                                    </p:set>
                                    <p:animEffect transition="in" filter="wipe(down)">
                                      <p:cBhvr>
                                        <p:cTn id="42" dur="390"/>
                                        <p:tgtEl>
                                          <p:spTgt spid="15"/>
                                        </p:tgtEl>
                                      </p:cBhvr>
                                    </p:animEffect>
                                  </p:childTnLst>
                                </p:cTn>
                              </p:par>
                              <p:par>
                                <p:cTn id="43" presetID="23" presetClass="entr" presetSubtype="0" fill="hold" grpId="0" nodeType="withEffect">
                                  <p:stCondLst>
                                    <p:cond delay="44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82" decel="70000"/>
                                        <p:tgtEl>
                                          <p:spTgt spid="16"/>
                                        </p:tgtEl>
                                      </p:cBhvr>
                                    </p:animEffect>
                                    <p:animScale>
                                      <p:cBhvr>
                                        <p:cTn id="46" dur="482" decel="70000" fill="hold"/>
                                        <p:tgtEl>
                                          <p:spTgt spid="16"/>
                                        </p:tgtEl>
                                      </p:cBhvr>
                                      <p:from x="82000" y="82000"/>
                                      <p:to x="100000" y="100000"/>
                                    </p:animScale>
                                  </p:childTnLst>
                                </p:cTn>
                              </p:par>
                              <p:par>
                                <p:cTn id="47" presetID="10" presetClass="entr" presetSubtype="0" fill="hold" grpId="0" nodeType="withEffect">
                                  <p:stCondLst>
                                    <p:cond delay="495"/>
                                  </p:stCondLst>
                                  <p:childTnLst>
                                    <p:set>
                                      <p:cBhvr>
                                        <p:cTn id="48" dur="1" fill="hold">
                                          <p:stCondLst>
                                            <p:cond delay="0"/>
                                          </p:stCondLst>
                                        </p:cTn>
                                        <p:tgtEl>
                                          <p:spTgt spid="9"/>
                                        </p:tgtEl>
                                        <p:attrNameLst>
                                          <p:attrName>style.visibility</p:attrName>
                                        </p:attrNameLst>
                                      </p:cBhvr>
                                      <p:to>
                                        <p:strVal val="visible"/>
                                      </p:to>
                                    </p:set>
                                    <p:animEffect transition="in" filter="fade">
                                      <p:cBhvr>
                                        <p:cTn id="49" dur="299" decel="70000"/>
                                        <p:tgtEl>
                                          <p:spTgt spid="9"/>
                                        </p:tgtEl>
                                      </p:cBhvr>
                                    </p:animEffect>
                                  </p:childTnLst>
                                </p:cTn>
                              </p:par>
                              <p:par>
                                <p:cTn id="50" presetID="10" presetClass="entr" presetSubtype="0" fill="hold" grpId="0" nodeType="withEffect">
                                  <p:stCondLst>
                                    <p:cond delay="55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299" decel="70000"/>
                                        <p:tgtEl>
                                          <p:spTgt spid="13"/>
                                        </p:tgtEl>
                                      </p:cBhvr>
                                    </p:animEffect>
                                  </p:childTnLst>
                                </p:cTn>
                              </p:par>
                              <p:par>
                                <p:cTn id="53" presetID="10" presetClass="entr" presetSubtype="0" fill="hold" grpId="0" nodeType="withEffect">
                                  <p:stCondLst>
                                    <p:cond delay="605"/>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299" decel="70000"/>
                                        <p:tgtEl>
                                          <p:spTgt spid="17"/>
                                        </p:tgtEl>
                                      </p:cBhvr>
                                    </p:animEffect>
                                  </p:childTnLst>
                                </p:cTn>
                              </p:par>
                              <p:par>
                                <p:cTn id="56" presetID="10" presetClass="entr" presetSubtype="0" fill="hold" grpId="0" nodeType="withEffect">
                                  <p:stCondLst>
                                    <p:cond delay="660"/>
                                  </p:stCondLst>
                                  <p:childTnLst>
                                    <p:set>
                                      <p:cBhvr>
                                        <p:cTn id="57" dur="1" fill="hold">
                                          <p:stCondLst>
                                            <p:cond delay="0"/>
                                          </p:stCondLst>
                                        </p:cTn>
                                        <p:tgtEl>
                                          <p:spTgt spid="10"/>
                                        </p:tgtEl>
                                        <p:attrNameLst>
                                          <p:attrName>style.visibility</p:attrName>
                                        </p:attrNameLst>
                                      </p:cBhvr>
                                      <p:to>
                                        <p:strVal val="visible"/>
                                      </p:to>
                                    </p:set>
                                    <p:animEffect transition="in" filter="fade">
                                      <p:cBhvr>
                                        <p:cTn id="58" dur="299" decel="70000"/>
                                        <p:tgtEl>
                                          <p:spTgt spid="10"/>
                                        </p:tgtEl>
                                      </p:cBhvr>
                                    </p:animEffect>
                                  </p:childTnLst>
                                </p:cTn>
                              </p:par>
                              <p:par>
                                <p:cTn id="59" presetID="10" presetClass="entr" presetSubtype="0" fill="hold" grpId="0" nodeType="withEffect">
                                  <p:stCondLst>
                                    <p:cond delay="715"/>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299" decel="70000"/>
                                        <p:tgtEl>
                                          <p:spTgt spid="14"/>
                                        </p:tgtEl>
                                      </p:cBhvr>
                                    </p:animEffect>
                                  </p:childTnLst>
                                </p:cTn>
                              </p:par>
                              <p:par>
                                <p:cTn id="62" presetID="10" presetClass="entr" presetSubtype="0" fill="hold" grpId="0" nodeType="withEffect">
                                  <p:stCondLst>
                                    <p:cond delay="77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299" decel="70000"/>
                                        <p:tgtEl>
                                          <p:spTgt spid="18"/>
                                        </p:tgtEl>
                                      </p:cBhvr>
                                    </p:animEffect>
                                  </p:childTnLst>
                                </p:cTn>
                              </p:par>
                              <p:par>
                                <p:cTn id="65" presetID="22" presetClass="entr" presetSubtype="1" fill="hold" grpId="0" nodeType="withEffect">
                                  <p:stCondLst>
                                    <p:cond delay="825"/>
                                  </p:stCondLst>
                                  <p:childTnLst>
                                    <p:set>
                                      <p:cBhvr>
                                        <p:cTn id="66" dur="1" fill="hold">
                                          <p:stCondLst>
                                            <p:cond delay="0"/>
                                          </p:stCondLst>
                                        </p:cTn>
                                        <p:tgtEl>
                                          <p:spTgt spid="19"/>
                                        </p:tgtEl>
                                        <p:attrNameLst>
                                          <p:attrName>style.visibility</p:attrName>
                                        </p:attrNameLst>
                                      </p:cBhvr>
                                      <p:to>
                                        <p:strVal val="visible"/>
                                      </p:to>
                                    </p:set>
                                    <p:animEffect transition="in" filter="wipe(right)">
                                      <p:cBhvr>
                                        <p:cTn id="67" dur="529"/>
                                        <p:tgtEl>
                                          <p:spTgt spid="19"/>
                                        </p:tgtEl>
                                      </p:cBhvr>
                                    </p:animEffect>
                                  </p:childTnLst>
                                </p:cTn>
                              </p:par>
                              <p:par>
                                <p:cTn id="68" presetID="10" presetClass="entr" presetSubtype="0" fill="hold" grpId="0" nodeType="withEffect">
                                  <p:stCondLst>
                                    <p:cond delay="88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322" decel="70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CREDENTIALS</a:t>
            </a:r>
            <a:endParaRPr lang="en-US" sz="1050" dirty="0"/>
          </a:p>
        </p:txBody>
      </p:sp>
      <p:sp>
        <p:nvSpPr>
          <p:cNvPr id="4" name="role:title"/>
          <p:cNvSpPr txBox="1"/>
          <p:nvPr/>
        </p:nvSpPr>
        <p:spPr>
          <a:xfrm>
            <a:off x="713232" y="987552"/>
            <a:ext cx="8570671" cy="1074420"/>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Recognized by the platforms we run on</a:t>
            </a:r>
            <a:endParaRPr lang="en-US" sz="3900" dirty="0"/>
          </a:p>
        </p:txBody>
      </p:sp>
      <p:sp>
        <p:nvSpPr>
          <p:cNvPr id="5"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02</a:t>
            </a:r>
            <a:endParaRPr lang="en-US" sz="1050" dirty="0"/>
          </a:p>
        </p:txBody>
      </p:sp>
      <p:sp>
        <p:nvSpPr>
          <p:cNvPr id="6" name="role:row-head"/>
          <p:cNvSpPr txBox="1"/>
          <p:nvPr/>
        </p:nvSpPr>
        <p:spPr>
          <a:xfrm>
            <a:off x="713232" y="2331720"/>
            <a:ext cx="320040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Google Partner</a:t>
            </a:r>
            <a:endParaRPr lang="en-US" sz="1700" dirty="0"/>
          </a:p>
        </p:txBody>
      </p:sp>
      <p:sp>
        <p:nvSpPr>
          <p:cNvPr id="7" name="role:row-body"/>
          <p:cNvSpPr txBox="1"/>
          <p:nvPr/>
        </p:nvSpPr>
        <p:spPr>
          <a:xfrm>
            <a:off x="4325112" y="2331720"/>
            <a:ext cx="7153351" cy="266192"/>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Certified on Google Ads and Google Business Profile.</a:t>
            </a:r>
            <a:endParaRPr lang="en-US" sz="1300" dirty="0"/>
          </a:p>
        </p:txBody>
      </p:sp>
      <p:sp>
        <p:nvSpPr>
          <p:cNvPr id="8" name="role:rule-h"/>
          <p:cNvSpPr/>
          <p:nvPr/>
        </p:nvSpPr>
        <p:spPr>
          <a:xfrm>
            <a:off x="713232" y="2783840"/>
            <a:ext cx="10765231" cy="0"/>
          </a:xfrm>
          <a:prstGeom prst="line">
            <a:avLst/>
          </a:prstGeom>
          <a:noFill/>
          <a:ln w="9525">
            <a:solidFill>
              <a:srgbClr val="E2EAF1"/>
            </a:solidFill>
            <a:prstDash val="solid"/>
          </a:ln>
        </p:spPr>
      </p:sp>
      <p:sp>
        <p:nvSpPr>
          <p:cNvPr id="9" name="role:row-head"/>
          <p:cNvSpPr txBox="1"/>
          <p:nvPr/>
        </p:nvSpPr>
        <p:spPr>
          <a:xfrm>
            <a:off x="713232" y="2939288"/>
            <a:ext cx="320040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Meta Business Partner</a:t>
            </a:r>
            <a:endParaRPr lang="en-US" sz="1700" dirty="0"/>
          </a:p>
        </p:txBody>
      </p:sp>
      <p:sp>
        <p:nvSpPr>
          <p:cNvPr id="10" name="role:row-body"/>
          <p:cNvSpPr txBox="1"/>
          <p:nvPr/>
        </p:nvSpPr>
        <p:spPr>
          <a:xfrm>
            <a:off x="4325112" y="2939288"/>
            <a:ext cx="7153351" cy="266192"/>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Certified on Facebook and Instagram advertising.</a:t>
            </a:r>
            <a:endParaRPr lang="en-US" sz="1300" dirty="0"/>
          </a:p>
        </p:txBody>
      </p:sp>
      <p:sp>
        <p:nvSpPr>
          <p:cNvPr id="11" name="role:rule-h"/>
          <p:cNvSpPr/>
          <p:nvPr/>
        </p:nvSpPr>
        <p:spPr>
          <a:xfrm>
            <a:off x="713232" y="3391408"/>
            <a:ext cx="10765231" cy="0"/>
          </a:xfrm>
          <a:prstGeom prst="line">
            <a:avLst/>
          </a:prstGeom>
          <a:noFill/>
          <a:ln w="9525">
            <a:solidFill>
              <a:srgbClr val="E2EAF1"/>
            </a:solidFill>
            <a:prstDash val="solid"/>
          </a:ln>
        </p:spPr>
      </p:sp>
      <p:sp>
        <p:nvSpPr>
          <p:cNvPr id="12" name="role:row-head"/>
          <p:cNvSpPr txBox="1"/>
          <p:nvPr/>
        </p:nvSpPr>
        <p:spPr>
          <a:xfrm>
            <a:off x="713232" y="3546856"/>
            <a:ext cx="320040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HubSpot</a:t>
            </a:r>
            <a:endParaRPr lang="en-US" sz="1700" dirty="0"/>
          </a:p>
        </p:txBody>
      </p:sp>
      <p:sp>
        <p:nvSpPr>
          <p:cNvPr id="13" name="role:row-body"/>
          <p:cNvSpPr txBox="1"/>
          <p:nvPr/>
        </p:nvSpPr>
        <p:spPr>
          <a:xfrm>
            <a:off x="4325112" y="3546856"/>
            <a:ext cx="7153351" cy="266192"/>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CRM, lifecycle and marketing automation.</a:t>
            </a:r>
            <a:endParaRPr lang="en-US" sz="1300" dirty="0"/>
          </a:p>
        </p:txBody>
      </p:sp>
      <p:sp>
        <p:nvSpPr>
          <p:cNvPr id="14" name="role:rule-h"/>
          <p:cNvSpPr/>
          <p:nvPr/>
        </p:nvSpPr>
        <p:spPr>
          <a:xfrm>
            <a:off x="713232" y="3998976"/>
            <a:ext cx="10765231" cy="0"/>
          </a:xfrm>
          <a:prstGeom prst="line">
            <a:avLst/>
          </a:prstGeom>
          <a:noFill/>
          <a:ln w="9525">
            <a:solidFill>
              <a:srgbClr val="E2EAF1"/>
            </a:solidFill>
            <a:prstDash val="solid"/>
          </a:ln>
        </p:spPr>
      </p:sp>
      <p:sp>
        <p:nvSpPr>
          <p:cNvPr id="15" name="role:row-head"/>
          <p:cNvSpPr txBox="1"/>
          <p:nvPr/>
        </p:nvSpPr>
        <p:spPr>
          <a:xfrm>
            <a:off x="713232" y="4154424"/>
            <a:ext cx="320040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Inc. 5000 Regionals</a:t>
            </a:r>
            <a:endParaRPr lang="en-US" sz="1700" dirty="0"/>
          </a:p>
        </p:txBody>
      </p:sp>
      <p:sp>
        <p:nvSpPr>
          <p:cNvPr id="16" name="role:row-body"/>
          <p:cNvSpPr txBox="1"/>
          <p:nvPr/>
        </p:nvSpPr>
        <p:spPr>
          <a:xfrm>
            <a:off x="4325112" y="4154424"/>
            <a:ext cx="7153351" cy="266192"/>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Recognized among the fastest growing regional companies.</a:t>
            </a:r>
            <a:endParaRPr lang="en-US" sz="1300" dirty="0"/>
          </a:p>
        </p:txBody>
      </p:sp>
      <p:sp>
        <p:nvSpPr>
          <p:cNvPr id="17" name="role:rule-h"/>
          <p:cNvSpPr/>
          <p:nvPr/>
        </p:nvSpPr>
        <p:spPr>
          <a:xfrm>
            <a:off x="713232" y="4606544"/>
            <a:ext cx="10765231" cy="0"/>
          </a:xfrm>
          <a:prstGeom prst="line">
            <a:avLst/>
          </a:prstGeom>
          <a:noFill/>
          <a:ln w="9525">
            <a:solidFill>
              <a:srgbClr val="E2EAF1"/>
            </a:solidFill>
            <a:prstDash val="solid"/>
          </a:ln>
        </p:spPr>
      </p:sp>
      <p:sp>
        <p:nvSpPr>
          <p:cNvPr id="18" name="role:row-head"/>
          <p:cNvSpPr txBox="1"/>
          <p:nvPr/>
        </p:nvSpPr>
        <p:spPr>
          <a:xfrm>
            <a:off x="713232" y="4761992"/>
            <a:ext cx="320040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ThreeBestRated</a:t>
            </a:r>
            <a:endParaRPr lang="en-US" sz="1700" dirty="0"/>
          </a:p>
        </p:txBody>
      </p:sp>
      <p:sp>
        <p:nvSpPr>
          <p:cNvPr id="19" name="role:row-body"/>
          <p:cNvSpPr txBox="1"/>
          <p:nvPr/>
        </p:nvSpPr>
        <p:spPr>
          <a:xfrm>
            <a:off x="4325112" y="4761992"/>
            <a:ext cx="7153351" cy="266192"/>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Independently ranked among the top local agencies.</a:t>
            </a:r>
            <a:endParaRPr lang="en-US" sz="1300" dirty="0"/>
          </a:p>
        </p:txBody>
      </p:sp>
      <p:sp>
        <p:nvSpPr>
          <p:cNvPr id="20" name="role:rule-h"/>
          <p:cNvSpPr/>
          <p:nvPr/>
        </p:nvSpPr>
        <p:spPr>
          <a:xfrm>
            <a:off x="713232" y="5214112"/>
            <a:ext cx="10765231" cy="0"/>
          </a:xfrm>
          <a:prstGeom prst="line">
            <a:avLst/>
          </a:prstGeom>
          <a:noFill/>
          <a:ln w="9525">
            <a:solidFill>
              <a:srgbClr val="E2EAF1"/>
            </a:solidFill>
            <a:prstDash val="solid"/>
          </a:ln>
        </p:spPr>
      </p:sp>
      <p:sp>
        <p:nvSpPr>
          <p:cNvPr id="21" name="role:row-head"/>
          <p:cNvSpPr txBox="1"/>
          <p:nvPr/>
        </p:nvSpPr>
        <p:spPr>
          <a:xfrm>
            <a:off x="713232" y="5369560"/>
            <a:ext cx="320040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RankWatch</a:t>
            </a:r>
            <a:endParaRPr lang="en-US" sz="1700" dirty="0"/>
          </a:p>
        </p:txBody>
      </p:sp>
      <p:sp>
        <p:nvSpPr>
          <p:cNvPr id="22" name="role:row-body"/>
          <p:cNvSpPr txBox="1"/>
          <p:nvPr/>
        </p:nvSpPr>
        <p:spPr>
          <a:xfrm>
            <a:off x="4325112" y="5369560"/>
            <a:ext cx="7153351" cy="266192"/>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Recognized for search performance.</a:t>
            </a:r>
            <a:endParaRPr lang="en-US" sz="1300" dirty="0"/>
          </a:p>
        </p:txBody>
      </p:sp>
      <p:sp>
        <p:nvSpPr>
          <p:cNvPr id="23"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Momentum Digital is also ranked among Philadelphia's top PPC agencies on its own published awards page.</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345" decel="70000"/>
                                        <p:tgtEl>
                                          <p:spTgt spid="6"/>
                                        </p:tgtEl>
                                      </p:cBhvr>
                                    </p:animEffect>
                                    <p:anim calcmode="lin" valueType="num">
                                      <p:cBhvr additive="base">
                                        <p:cTn id="19" dur="345" decel="70000" fill="hold"/>
                                        <p:tgtEl>
                                          <p:spTgt spid="6"/>
                                        </p:tgtEl>
                                        <p:attrNameLst>
                                          <p:attrName>ppt_y</p:attrName>
                                        </p:attrNameLst>
                                      </p:cBhvr>
                                      <p:tavLst>
                                        <p:tav tm="0">
                                          <p:val>
                                            <p:strVal val="#ppt_y+0.0288"/>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22" decel="70000"/>
                                        <p:tgtEl>
                                          <p:spTgt spid="7"/>
                                        </p:tgtEl>
                                      </p:cBhvr>
                                    </p:animEffect>
                                  </p:childTnLst>
                                </p:cTn>
                              </p:par>
                              <p:par>
                                <p:cTn id="23" presetID="22" presetClass="entr" presetSubtype="1" fill="hold" grpId="0" nodeType="withEffect">
                                  <p:stCondLst>
                                    <p:cond delay="22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529"/>
                                        <p:tgtEl>
                                          <p:spTgt spid="8"/>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45" decel="70000"/>
                                        <p:tgtEl>
                                          <p:spTgt spid="9"/>
                                        </p:tgtEl>
                                      </p:cBhvr>
                                    </p:animEffect>
                                    <p:anim calcmode="lin" valueType="num">
                                      <p:cBhvr additive="base">
                                        <p:cTn id="29" dur="345" decel="70000" fill="hold"/>
                                        <p:tgtEl>
                                          <p:spTgt spid="9"/>
                                        </p:tgtEl>
                                        <p:attrNameLst>
                                          <p:attrName>ppt_y</p:attrName>
                                        </p:attrNameLst>
                                      </p:cBhvr>
                                      <p:tavLst>
                                        <p:tav tm="0">
                                          <p:val>
                                            <p:strVal val="#ppt_y+0.0288"/>
                                          </p:val>
                                        </p:tav>
                                        <p:tav tm="100000">
                                          <p:val>
                                            <p:strVal val="#ppt_y"/>
                                          </p:val>
                                        </p:tav>
                                      </p:tavLst>
                                    </p:anim>
                                  </p:childTnLst>
                                </p:cTn>
                              </p:par>
                              <p:par>
                                <p:cTn id="30" presetID="10" presetClass="entr" presetSubtype="0" fill="hold" grpId="0" nodeType="withEffect">
                                  <p:stCondLst>
                                    <p:cond delay="33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322" decel="70000"/>
                                        <p:tgtEl>
                                          <p:spTgt spid="10"/>
                                        </p:tgtEl>
                                      </p:cBhvr>
                                    </p:animEffect>
                                  </p:childTnLst>
                                </p:cTn>
                              </p:par>
                              <p:par>
                                <p:cTn id="33" presetID="22" presetClass="entr" presetSubtype="1" fill="hold" grpId="0" nodeType="withEffect">
                                  <p:stCondLst>
                                    <p:cond delay="385"/>
                                  </p:stCondLst>
                                  <p:childTnLst>
                                    <p:set>
                                      <p:cBhvr>
                                        <p:cTn id="34" dur="1" fill="hold">
                                          <p:stCondLst>
                                            <p:cond delay="0"/>
                                          </p:stCondLst>
                                        </p:cTn>
                                        <p:tgtEl>
                                          <p:spTgt spid="11"/>
                                        </p:tgtEl>
                                        <p:attrNameLst>
                                          <p:attrName>style.visibility</p:attrName>
                                        </p:attrNameLst>
                                      </p:cBhvr>
                                      <p:to>
                                        <p:strVal val="visible"/>
                                      </p:to>
                                    </p:set>
                                    <p:animEffect transition="in" filter="wipe(right)">
                                      <p:cBhvr>
                                        <p:cTn id="35" dur="529"/>
                                        <p:tgtEl>
                                          <p:spTgt spid="11"/>
                                        </p:tgtEl>
                                      </p:cBhvr>
                                    </p:animEffect>
                                  </p:childTnLst>
                                </p:cTn>
                              </p:par>
                              <p:par>
                                <p:cTn id="36" presetID="10" presetClass="entr" presetSubtype="0" fill="hold" grpId="0" nodeType="withEffect">
                                  <p:stCondLst>
                                    <p:cond delay="4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345" decel="70000"/>
                                        <p:tgtEl>
                                          <p:spTgt spid="12"/>
                                        </p:tgtEl>
                                      </p:cBhvr>
                                    </p:animEffect>
                                    <p:anim calcmode="lin" valueType="num">
                                      <p:cBhvr additive="base">
                                        <p:cTn id="39" dur="345" decel="70000" fill="hold"/>
                                        <p:tgtEl>
                                          <p:spTgt spid="12"/>
                                        </p:tgtEl>
                                        <p:attrNameLst>
                                          <p:attrName>ppt_y</p:attrName>
                                        </p:attrNameLst>
                                      </p:cBhvr>
                                      <p:tavLst>
                                        <p:tav tm="0">
                                          <p:val>
                                            <p:strVal val="#ppt_y+0.0288"/>
                                          </p:val>
                                        </p:tav>
                                        <p:tav tm="100000">
                                          <p:val>
                                            <p:strVal val="#ppt_y"/>
                                          </p:val>
                                        </p:tav>
                                      </p:tavLst>
                                    </p:anim>
                                  </p:childTnLst>
                                </p:cTn>
                              </p:par>
                              <p:par>
                                <p:cTn id="40" presetID="10" presetClass="entr" presetSubtype="0" fill="hold" grpId="0" nodeType="withEffect">
                                  <p:stCondLst>
                                    <p:cond delay="495"/>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322" decel="70000"/>
                                        <p:tgtEl>
                                          <p:spTgt spid="13"/>
                                        </p:tgtEl>
                                      </p:cBhvr>
                                    </p:animEffect>
                                  </p:childTnLst>
                                </p:cTn>
                              </p:par>
                              <p:par>
                                <p:cTn id="43" presetID="22" presetClass="entr" presetSubtype="1" fill="hold" grpId="0" nodeType="withEffect">
                                  <p:stCondLst>
                                    <p:cond delay="550"/>
                                  </p:stCondLst>
                                  <p:childTnLst>
                                    <p:set>
                                      <p:cBhvr>
                                        <p:cTn id="44" dur="1" fill="hold">
                                          <p:stCondLst>
                                            <p:cond delay="0"/>
                                          </p:stCondLst>
                                        </p:cTn>
                                        <p:tgtEl>
                                          <p:spTgt spid="14"/>
                                        </p:tgtEl>
                                        <p:attrNameLst>
                                          <p:attrName>style.visibility</p:attrName>
                                        </p:attrNameLst>
                                      </p:cBhvr>
                                      <p:to>
                                        <p:strVal val="visible"/>
                                      </p:to>
                                    </p:set>
                                    <p:animEffect transition="in" filter="wipe(right)">
                                      <p:cBhvr>
                                        <p:cTn id="45" dur="529"/>
                                        <p:tgtEl>
                                          <p:spTgt spid="14"/>
                                        </p:tgtEl>
                                      </p:cBhvr>
                                    </p:animEffect>
                                  </p:childTnLst>
                                </p:cTn>
                              </p:par>
                              <p:par>
                                <p:cTn id="46" presetID="10" presetClass="entr" presetSubtype="0" fill="hold" grpId="0" nodeType="withEffect">
                                  <p:stCondLst>
                                    <p:cond delay="605"/>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345" decel="70000"/>
                                        <p:tgtEl>
                                          <p:spTgt spid="15"/>
                                        </p:tgtEl>
                                      </p:cBhvr>
                                    </p:animEffect>
                                    <p:anim calcmode="lin" valueType="num">
                                      <p:cBhvr additive="base">
                                        <p:cTn id="49" dur="345" decel="70000" fill="hold"/>
                                        <p:tgtEl>
                                          <p:spTgt spid="15"/>
                                        </p:tgtEl>
                                        <p:attrNameLst>
                                          <p:attrName>ppt_y</p:attrName>
                                        </p:attrNameLst>
                                      </p:cBhvr>
                                      <p:tavLst>
                                        <p:tav tm="0">
                                          <p:val>
                                            <p:strVal val="#ppt_y+0.0288"/>
                                          </p:val>
                                        </p:tav>
                                        <p:tav tm="100000">
                                          <p:val>
                                            <p:strVal val="#ppt_y"/>
                                          </p:val>
                                        </p:tav>
                                      </p:tavLst>
                                    </p:anim>
                                  </p:childTnLst>
                                </p:cTn>
                              </p:par>
                              <p:par>
                                <p:cTn id="50" presetID="10" presetClass="entr" presetSubtype="0" fill="hold" grpId="0" nodeType="withEffect">
                                  <p:stCondLst>
                                    <p:cond delay="66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322" decel="70000"/>
                                        <p:tgtEl>
                                          <p:spTgt spid="16"/>
                                        </p:tgtEl>
                                      </p:cBhvr>
                                    </p:animEffect>
                                  </p:childTnLst>
                                </p:cTn>
                              </p:par>
                              <p:par>
                                <p:cTn id="53" presetID="22" presetClass="entr" presetSubtype="1" fill="hold" grpId="0" nodeType="withEffect">
                                  <p:stCondLst>
                                    <p:cond delay="715"/>
                                  </p:stCondLst>
                                  <p:childTnLst>
                                    <p:set>
                                      <p:cBhvr>
                                        <p:cTn id="54" dur="1" fill="hold">
                                          <p:stCondLst>
                                            <p:cond delay="0"/>
                                          </p:stCondLst>
                                        </p:cTn>
                                        <p:tgtEl>
                                          <p:spTgt spid="17"/>
                                        </p:tgtEl>
                                        <p:attrNameLst>
                                          <p:attrName>style.visibility</p:attrName>
                                        </p:attrNameLst>
                                      </p:cBhvr>
                                      <p:to>
                                        <p:strVal val="visible"/>
                                      </p:to>
                                    </p:set>
                                    <p:animEffect transition="in" filter="wipe(right)">
                                      <p:cBhvr>
                                        <p:cTn id="55" dur="529"/>
                                        <p:tgtEl>
                                          <p:spTgt spid="17"/>
                                        </p:tgtEl>
                                      </p:cBhvr>
                                    </p:animEffect>
                                  </p:childTnLst>
                                </p:cTn>
                              </p:par>
                              <p:par>
                                <p:cTn id="56" presetID="10" presetClass="entr" presetSubtype="0" fill="hold" grpId="0" nodeType="withEffect">
                                  <p:stCondLst>
                                    <p:cond delay="7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345" decel="70000"/>
                                        <p:tgtEl>
                                          <p:spTgt spid="18"/>
                                        </p:tgtEl>
                                      </p:cBhvr>
                                    </p:animEffect>
                                    <p:anim calcmode="lin" valueType="num">
                                      <p:cBhvr additive="base">
                                        <p:cTn id="59" dur="345" decel="70000" fill="hold"/>
                                        <p:tgtEl>
                                          <p:spTgt spid="18"/>
                                        </p:tgtEl>
                                        <p:attrNameLst>
                                          <p:attrName>ppt_y</p:attrName>
                                        </p:attrNameLst>
                                      </p:cBhvr>
                                      <p:tavLst>
                                        <p:tav tm="0">
                                          <p:val>
                                            <p:strVal val="#ppt_y+0.0288"/>
                                          </p:val>
                                        </p:tav>
                                        <p:tav tm="100000">
                                          <p:val>
                                            <p:strVal val="#ppt_y"/>
                                          </p:val>
                                        </p:tav>
                                      </p:tavLst>
                                    </p:anim>
                                  </p:childTnLst>
                                </p:cTn>
                              </p:par>
                              <p:par>
                                <p:cTn id="60" presetID="10" presetClass="entr" presetSubtype="0" fill="hold" grpId="0" nodeType="withEffect">
                                  <p:stCondLst>
                                    <p:cond delay="825"/>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322" decel="70000"/>
                                        <p:tgtEl>
                                          <p:spTgt spid="19"/>
                                        </p:tgtEl>
                                      </p:cBhvr>
                                    </p:animEffect>
                                  </p:childTnLst>
                                </p:cTn>
                              </p:par>
                              <p:par>
                                <p:cTn id="63" presetID="22" presetClass="entr" presetSubtype="1" fill="hold" grpId="0" nodeType="withEffect">
                                  <p:stCondLst>
                                    <p:cond delay="880"/>
                                  </p:stCondLst>
                                  <p:childTnLst>
                                    <p:set>
                                      <p:cBhvr>
                                        <p:cTn id="64" dur="1" fill="hold">
                                          <p:stCondLst>
                                            <p:cond delay="0"/>
                                          </p:stCondLst>
                                        </p:cTn>
                                        <p:tgtEl>
                                          <p:spTgt spid="20"/>
                                        </p:tgtEl>
                                        <p:attrNameLst>
                                          <p:attrName>style.visibility</p:attrName>
                                        </p:attrNameLst>
                                      </p:cBhvr>
                                      <p:to>
                                        <p:strVal val="visible"/>
                                      </p:to>
                                    </p:set>
                                    <p:animEffect transition="in" filter="wipe(right)">
                                      <p:cBhvr>
                                        <p:cTn id="65" dur="529"/>
                                        <p:tgtEl>
                                          <p:spTgt spid="20"/>
                                        </p:tgtEl>
                                      </p:cBhvr>
                                    </p:animEffect>
                                  </p:childTnLst>
                                </p:cTn>
                              </p:par>
                              <p:par>
                                <p:cTn id="66" presetID="10" presetClass="entr" presetSubtype="0" fill="hold" grpId="0" nodeType="withEffect">
                                  <p:stCondLst>
                                    <p:cond delay="935"/>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345" decel="70000"/>
                                        <p:tgtEl>
                                          <p:spTgt spid="21"/>
                                        </p:tgtEl>
                                      </p:cBhvr>
                                    </p:animEffect>
                                    <p:anim calcmode="lin" valueType="num">
                                      <p:cBhvr additive="base">
                                        <p:cTn id="69" dur="345" decel="70000" fill="hold"/>
                                        <p:tgtEl>
                                          <p:spTgt spid="21"/>
                                        </p:tgtEl>
                                        <p:attrNameLst>
                                          <p:attrName>ppt_y</p:attrName>
                                        </p:attrNameLst>
                                      </p:cBhvr>
                                      <p:tavLst>
                                        <p:tav tm="0">
                                          <p:val>
                                            <p:strVal val="#ppt_y+0.028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825"/>
        </a:solidFill>
      </p:bgPr>
    </p:bg>
    <p:spTree>
      <p:nvGrpSpPr>
        <p:cNvPr id="1" name=""/>
        <p:cNvGrpSpPr/>
        <p:nvPr/>
      </p:nvGrpSpPr>
      <p:grpSpPr>
        <a:xfrm>
          <a:off x="0" y="0"/>
          <a:ext cx="0" cy="0"/>
          <a:chOff x="0" y="0"/>
          <a:chExt cx="0" cy="0"/>
        </a:xfrm>
      </p:grpSpPr>
      <p:sp>
        <p:nvSpPr>
          <p:cNvPr id="2" name="role:numeral"/>
          <p:cNvSpPr txBox="1"/>
          <p:nvPr/>
        </p:nvSpPr>
        <p:spPr>
          <a:xfrm>
            <a:off x="4480560" y="502920"/>
            <a:ext cx="8138160" cy="6949440"/>
          </a:xfrm>
          <a:prstGeom prst="rect">
            <a:avLst/>
          </a:prstGeom>
          <a:noFill/>
          <a:ln/>
        </p:spPr>
        <p:txBody>
          <a:bodyPr wrap="square" lIns="0" tIns="0" rIns="0" bIns="0" rtlCol="0" anchor="t"/>
          <a:lstStyle/>
          <a:p>
            <a:pPr algn="r" indent="0" marL="0">
              <a:lnSpc>
                <a:spcPct val="100000"/>
              </a:lnSpc>
              <a:buNone/>
            </a:pPr>
            <a:r>
              <a:rPr lang="en-US" sz="43000" b="1" dirty="0">
                <a:solidFill>
                  <a:srgbClr val="112B3F"/>
                </a:solidFill>
                <a:latin typeface="Arial" pitchFamily="34" charset="0"/>
                <a:ea typeface="Arial" pitchFamily="34" charset="-122"/>
                <a:cs typeface="Arial" pitchFamily="34" charset="-120"/>
              </a:rPr>
              <a:t>01</a:t>
            </a:r>
            <a:endParaRPr lang="en-US" sz="43000" dirty="0"/>
          </a:p>
        </p:txBody>
      </p:sp>
      <p:pic>
        <p:nvPicPr>
          <p:cNvPr id="3"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4" name="role:kicker"/>
          <p:cNvSpPr txBox="1"/>
          <p:nvPr/>
        </p:nvSpPr>
        <p:spPr>
          <a:xfrm>
            <a:off x="713232" y="3063240"/>
            <a:ext cx="676656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SECTION ONE</a:t>
            </a:r>
            <a:endParaRPr lang="en-US" sz="1050" dirty="0"/>
          </a:p>
        </p:txBody>
      </p:sp>
      <p:sp>
        <p:nvSpPr>
          <p:cNvPr id="5" name="role:title"/>
          <p:cNvSpPr txBox="1"/>
          <p:nvPr/>
        </p:nvSpPr>
        <p:spPr>
          <a:xfrm>
            <a:off x="713232" y="3392424"/>
            <a:ext cx="7498080" cy="633984"/>
          </a:xfrm>
          <a:prstGeom prst="rect">
            <a:avLst/>
          </a:prstGeom>
          <a:noFill/>
          <a:ln/>
        </p:spPr>
        <p:txBody>
          <a:bodyPr wrap="square" lIns="0" tIns="0" rIns="0" bIns="0" rtlCol="0" anchor="t"/>
          <a:lstStyle/>
          <a:p>
            <a:pPr algn="l" indent="0" marL="0">
              <a:lnSpc>
                <a:spcPct val="102000"/>
              </a:lnSpc>
              <a:buNone/>
            </a:pPr>
            <a:r>
              <a:rPr lang="en-US" sz="4400" b="1" dirty="0">
                <a:solidFill>
                  <a:srgbClr val="FFFFFF"/>
                </a:solidFill>
                <a:latin typeface="Arial" pitchFamily="34" charset="0"/>
                <a:ea typeface="Arial" pitchFamily="34" charset="-122"/>
                <a:cs typeface="Arial" pitchFamily="34" charset="-120"/>
              </a:rPr>
              <a:t>What we do</a:t>
            </a:r>
            <a:endParaRPr lang="en-US" sz="4400" dirty="0"/>
          </a:p>
        </p:txBody>
      </p:sp>
      <p:sp>
        <p:nvSpPr>
          <p:cNvPr id="6" name="role:sub"/>
          <p:cNvSpPr txBox="1"/>
          <p:nvPr/>
        </p:nvSpPr>
        <p:spPr>
          <a:xfrm>
            <a:off x="713232" y="4282440"/>
            <a:ext cx="6766560" cy="559308"/>
          </a:xfrm>
          <a:prstGeom prst="rect">
            <a:avLst/>
          </a:prstGeom>
          <a:noFill/>
          <a:ln/>
        </p:spPr>
        <p:txBody>
          <a:bodyPr wrap="square" lIns="0" tIns="0" rIns="0" bIns="0" rtlCol="0" anchor="t"/>
          <a:lstStyle/>
          <a:p>
            <a:pPr algn="l" indent="0" marL="0">
              <a:lnSpc>
                <a:spcPct val="130000"/>
              </a:lnSpc>
              <a:buNone/>
            </a:pPr>
            <a:r>
              <a:rPr lang="en-US" sz="1500" dirty="0">
                <a:solidFill>
                  <a:srgbClr val="9DB5C8"/>
                </a:solidFill>
                <a:latin typeface="Arial" pitchFamily="34" charset="0"/>
                <a:ea typeface="Arial" pitchFamily="34" charset="-122"/>
                <a:cs typeface="Arial" pitchFamily="34" charset="-120"/>
              </a:rPr>
              <a:t>Seven service lines that share one strategy, one measurement system and one team.</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20" decel="70000"/>
                                        <p:tgtEl>
                                          <p:spTgt spid="3"/>
                                        </p:tgtEl>
                                      </p:cBhvr>
                                    </p:animEffect>
                                  </p:childTnLst>
                                </p:cTn>
                              </p:par>
                              <p:par>
                                <p:cTn id="8" presetID="23"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1035" decel="70000"/>
                                        <p:tgtEl>
                                          <p:spTgt spid="2"/>
                                        </p:tgtEl>
                                      </p:cBhvr>
                                    </p:animEffect>
                                    <p:animScale>
                                      <p:cBhvr>
                                        <p:cTn id="11" dur="1035" decel="70000" fill="hold"/>
                                        <p:tgtEl>
                                          <p:spTgt spid="2"/>
                                        </p:tgtEl>
                                      </p:cBhvr>
                                      <p:from x="106000" y="106000"/>
                                      <p:to x="100000" y="100000"/>
                                    </p:animScale>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22" decel="70000"/>
                                        <p:tgtEl>
                                          <p:spTgt spid="4"/>
                                        </p:tgtEl>
                                      </p:cBhvr>
                                    </p:animEffect>
                                    <p:anim calcmode="lin" valueType="num">
                                      <p:cBhvr additive="base">
                                        <p:cTn id="15" dur="322" decel="70000" fill="hold"/>
                                        <p:tgtEl>
                                          <p:spTgt spid="4"/>
                                        </p:tgtEl>
                                        <p:attrNameLst>
                                          <p:attrName>ppt_y</p:attrName>
                                        </p:attrNameLst>
                                      </p:cBhvr>
                                      <p:tavLst>
                                        <p:tav tm="0">
                                          <p:val>
                                            <p:strVal val="#ppt_y+0.03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482" decel="70000"/>
                                        <p:tgtEl>
                                          <p:spTgt spid="5"/>
                                        </p:tgtEl>
                                      </p:cBhvr>
                                    </p:animEffect>
                                    <p:anim calcmode="lin" valueType="num">
                                      <p:cBhvr additive="base">
                                        <p:cTn id="19" dur="482" decel="70000" fill="hold"/>
                                        <p:tgtEl>
                                          <p:spTgt spid="5"/>
                                        </p:tgtEl>
                                        <p:attrNameLst>
                                          <p:attrName>ppt_y</p:attrName>
                                        </p:attrNameLst>
                                      </p:cBhvr>
                                      <p:tavLst>
                                        <p:tav tm="0">
                                          <p:val>
                                            <p:strVal val="#ppt_y+0.0512"/>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390" decel="70000"/>
                                        <p:tgtEl>
                                          <p:spTgt spid="6"/>
                                        </p:tgtEl>
                                      </p:cBhvr>
                                    </p:animEffect>
                                    <p:anim calcmode="lin" valueType="num">
                                      <p:cBhvr additive="base">
                                        <p:cTn id="23" dur="390" decel="70000" fill="hold"/>
                                        <p:tgtEl>
                                          <p:spTgt spid="6"/>
                                        </p:tgtEl>
                                        <p:attrNameLst>
                                          <p:attrName>ppt_y</p:attrName>
                                        </p:attrNameLst>
                                      </p:cBhvr>
                                      <p:tavLst>
                                        <p:tav tm="0">
                                          <p:val>
                                            <p:strVal val="#ppt_y+0.038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CAPABILITIES</a:t>
            </a:r>
            <a:endParaRPr lang="en-US" sz="1050" dirty="0"/>
          </a:p>
        </p:txBody>
      </p:sp>
      <p:sp>
        <p:nvSpPr>
          <p:cNvPr id="4" name="role:title"/>
          <p:cNvSpPr txBox="1"/>
          <p:nvPr/>
        </p:nvSpPr>
        <p:spPr>
          <a:xfrm>
            <a:off x="713232" y="987552"/>
            <a:ext cx="8570671"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Seven lines, one growth system</a:t>
            </a:r>
            <a:endParaRPr lang="en-US" sz="3900" dirty="0"/>
          </a:p>
        </p:txBody>
      </p:sp>
      <p:sp>
        <p:nvSpPr>
          <p:cNvPr id="5"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03</a:t>
            </a:r>
            <a:endParaRPr lang="en-US" sz="1050" dirty="0"/>
          </a:p>
        </p:txBody>
      </p:sp>
      <p:sp>
        <p:nvSpPr>
          <p:cNvPr id="6" name="role:row-head"/>
          <p:cNvSpPr txBox="1"/>
          <p:nvPr/>
        </p:nvSpPr>
        <p:spPr>
          <a:xfrm>
            <a:off x="713232" y="2011680"/>
            <a:ext cx="310896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SEO</a:t>
            </a:r>
            <a:endParaRPr lang="en-US" sz="1600" dirty="0"/>
          </a:p>
        </p:txBody>
      </p:sp>
      <p:sp>
        <p:nvSpPr>
          <p:cNvPr id="7" name="role:row-body"/>
          <p:cNvSpPr txBox="1"/>
          <p:nvPr/>
        </p:nvSpPr>
        <p:spPr>
          <a:xfrm>
            <a:off x="4233672" y="2011680"/>
            <a:ext cx="7244791" cy="4612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Local, technical and ecommerce SEO, Google Business Profile, audits, and programs built by industry and by city.</a:t>
            </a:r>
            <a:endParaRPr lang="en-US" sz="1250" dirty="0"/>
          </a:p>
        </p:txBody>
      </p:sp>
      <p:sp>
        <p:nvSpPr>
          <p:cNvPr id="8" name="role:rule-h"/>
          <p:cNvSpPr/>
          <p:nvPr/>
        </p:nvSpPr>
        <p:spPr>
          <a:xfrm>
            <a:off x="713232" y="2564384"/>
            <a:ext cx="10765231" cy="0"/>
          </a:xfrm>
          <a:prstGeom prst="line">
            <a:avLst/>
          </a:prstGeom>
          <a:noFill/>
          <a:ln w="9525">
            <a:solidFill>
              <a:srgbClr val="E2EAF1"/>
            </a:solidFill>
            <a:prstDash val="solid"/>
          </a:ln>
        </p:spPr>
      </p:sp>
      <p:sp>
        <p:nvSpPr>
          <p:cNvPr id="9" name="role:row-head"/>
          <p:cNvSpPr txBox="1"/>
          <p:nvPr/>
        </p:nvSpPr>
        <p:spPr>
          <a:xfrm>
            <a:off x="713232" y="2655824"/>
            <a:ext cx="310896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PPC and paid social</a:t>
            </a:r>
            <a:endParaRPr lang="en-US" sz="1600" dirty="0"/>
          </a:p>
        </p:txBody>
      </p:sp>
      <p:sp>
        <p:nvSpPr>
          <p:cNvPr id="10" name="role:row-body"/>
          <p:cNvSpPr txBox="1"/>
          <p:nvPr/>
        </p:nvSpPr>
        <p:spPr>
          <a:xfrm>
            <a:off x="4233672" y="2655824"/>
            <a:ext cx="7244791" cy="2580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Google, Microsoft, Amazon, Facebook and Instagram, managed against calls and forms.</a:t>
            </a:r>
            <a:endParaRPr lang="en-US" sz="1250" dirty="0"/>
          </a:p>
        </p:txBody>
      </p:sp>
      <p:sp>
        <p:nvSpPr>
          <p:cNvPr id="11" name="role:rule-h"/>
          <p:cNvSpPr/>
          <p:nvPr/>
        </p:nvSpPr>
        <p:spPr>
          <a:xfrm>
            <a:off x="713232" y="3029712"/>
            <a:ext cx="10765231" cy="0"/>
          </a:xfrm>
          <a:prstGeom prst="line">
            <a:avLst/>
          </a:prstGeom>
          <a:noFill/>
          <a:ln w="9525">
            <a:solidFill>
              <a:srgbClr val="E2EAF1"/>
            </a:solidFill>
            <a:prstDash val="solid"/>
          </a:ln>
        </p:spPr>
      </p:sp>
      <p:sp>
        <p:nvSpPr>
          <p:cNvPr id="12" name="role:row-head"/>
          <p:cNvSpPr txBox="1"/>
          <p:nvPr/>
        </p:nvSpPr>
        <p:spPr>
          <a:xfrm>
            <a:off x="713232" y="3121152"/>
            <a:ext cx="310896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Social media</a:t>
            </a:r>
            <a:endParaRPr lang="en-US" sz="1600" dirty="0"/>
          </a:p>
        </p:txBody>
      </p:sp>
      <p:sp>
        <p:nvSpPr>
          <p:cNvPr id="13" name="role:row-body"/>
          <p:cNvSpPr txBox="1"/>
          <p:nvPr/>
        </p:nvSpPr>
        <p:spPr>
          <a:xfrm>
            <a:off x="4233672" y="3121152"/>
            <a:ext cx="7244791" cy="4612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Facebook, Instagram, TikTok, Pinterest and LinkedIn, posted and grown on a real calendar.</a:t>
            </a:r>
            <a:endParaRPr lang="en-US" sz="1250" dirty="0"/>
          </a:p>
        </p:txBody>
      </p:sp>
      <p:sp>
        <p:nvSpPr>
          <p:cNvPr id="14" name="role:rule-h"/>
          <p:cNvSpPr/>
          <p:nvPr/>
        </p:nvSpPr>
        <p:spPr>
          <a:xfrm>
            <a:off x="713232" y="3673856"/>
            <a:ext cx="10765231" cy="0"/>
          </a:xfrm>
          <a:prstGeom prst="line">
            <a:avLst/>
          </a:prstGeom>
          <a:noFill/>
          <a:ln w="9525">
            <a:solidFill>
              <a:srgbClr val="E2EAF1"/>
            </a:solidFill>
            <a:prstDash val="solid"/>
          </a:ln>
        </p:spPr>
      </p:sp>
      <p:sp>
        <p:nvSpPr>
          <p:cNvPr id="15" name="role:row-head"/>
          <p:cNvSpPr txBox="1"/>
          <p:nvPr/>
        </p:nvSpPr>
        <p:spPr>
          <a:xfrm>
            <a:off x="713232" y="3765296"/>
            <a:ext cx="310896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Design and web</a:t>
            </a:r>
            <a:endParaRPr lang="en-US" sz="1600" dirty="0"/>
          </a:p>
        </p:txBody>
      </p:sp>
      <p:sp>
        <p:nvSpPr>
          <p:cNvPr id="16" name="role:row-body"/>
          <p:cNvSpPr txBox="1"/>
          <p:nvPr/>
        </p:nvSpPr>
        <p:spPr>
          <a:xfrm>
            <a:off x="4233672" y="3765296"/>
            <a:ext cx="7244791" cy="2580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WordPress and Shopify builds, UI and UX, logo, graphic and brochure design.</a:t>
            </a:r>
            <a:endParaRPr lang="en-US" sz="1250" dirty="0"/>
          </a:p>
        </p:txBody>
      </p:sp>
      <p:sp>
        <p:nvSpPr>
          <p:cNvPr id="17" name="role:rule-h"/>
          <p:cNvSpPr/>
          <p:nvPr/>
        </p:nvSpPr>
        <p:spPr>
          <a:xfrm>
            <a:off x="713232" y="4139184"/>
            <a:ext cx="10765231" cy="0"/>
          </a:xfrm>
          <a:prstGeom prst="line">
            <a:avLst/>
          </a:prstGeom>
          <a:noFill/>
          <a:ln w="9525">
            <a:solidFill>
              <a:srgbClr val="E2EAF1"/>
            </a:solidFill>
            <a:prstDash val="solid"/>
          </a:ln>
        </p:spPr>
      </p:sp>
      <p:sp>
        <p:nvSpPr>
          <p:cNvPr id="18" name="role:row-head"/>
          <p:cNvSpPr txBox="1"/>
          <p:nvPr/>
        </p:nvSpPr>
        <p:spPr>
          <a:xfrm>
            <a:off x="713232" y="4230624"/>
            <a:ext cx="310896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Content and video</a:t>
            </a:r>
            <a:endParaRPr lang="en-US" sz="1600" dirty="0"/>
          </a:p>
        </p:txBody>
      </p:sp>
      <p:sp>
        <p:nvSpPr>
          <p:cNvPr id="19" name="role:row-body"/>
          <p:cNvSpPr txBox="1"/>
          <p:nvPr/>
        </p:nvSpPr>
        <p:spPr>
          <a:xfrm>
            <a:off x="4233672" y="4230624"/>
            <a:ext cx="7244791" cy="2580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Blogging, email, HD photography, drone video and 360 virtual tours.</a:t>
            </a:r>
            <a:endParaRPr lang="en-US" sz="1250" dirty="0"/>
          </a:p>
        </p:txBody>
      </p:sp>
      <p:sp>
        <p:nvSpPr>
          <p:cNvPr id="20" name="role:rule-h"/>
          <p:cNvSpPr/>
          <p:nvPr/>
        </p:nvSpPr>
        <p:spPr>
          <a:xfrm>
            <a:off x="713232" y="4604512"/>
            <a:ext cx="10765231" cy="0"/>
          </a:xfrm>
          <a:prstGeom prst="line">
            <a:avLst/>
          </a:prstGeom>
          <a:noFill/>
          <a:ln w="9525">
            <a:solidFill>
              <a:srgbClr val="E2EAF1"/>
            </a:solidFill>
            <a:prstDash val="solid"/>
          </a:ln>
        </p:spPr>
      </p:sp>
      <p:sp>
        <p:nvSpPr>
          <p:cNvPr id="21" name="role:row-head"/>
          <p:cNvSpPr txBox="1"/>
          <p:nvPr/>
        </p:nvSpPr>
        <p:spPr>
          <a:xfrm>
            <a:off x="713232" y="4695952"/>
            <a:ext cx="310896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AI marketing and automation</a:t>
            </a:r>
            <a:endParaRPr lang="en-US" sz="1600" dirty="0"/>
          </a:p>
        </p:txBody>
      </p:sp>
      <p:sp>
        <p:nvSpPr>
          <p:cNvPr id="22" name="role:row-body"/>
          <p:cNvSpPr txBox="1"/>
          <p:nvPr/>
        </p:nvSpPr>
        <p:spPr>
          <a:xfrm>
            <a:off x="4233672" y="4695952"/>
            <a:ext cx="7244791" cy="2580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Workflow automation, AI chat and lead routing, wired into your CRM.</a:t>
            </a:r>
            <a:endParaRPr lang="en-US" sz="1250" dirty="0"/>
          </a:p>
        </p:txBody>
      </p:sp>
      <p:sp>
        <p:nvSpPr>
          <p:cNvPr id="23" name="role:rule-h"/>
          <p:cNvSpPr/>
          <p:nvPr/>
        </p:nvSpPr>
        <p:spPr>
          <a:xfrm>
            <a:off x="713232" y="5069840"/>
            <a:ext cx="10765231" cy="0"/>
          </a:xfrm>
          <a:prstGeom prst="line">
            <a:avLst/>
          </a:prstGeom>
          <a:noFill/>
          <a:ln w="9525">
            <a:solidFill>
              <a:srgbClr val="E2EAF1"/>
            </a:solidFill>
            <a:prstDash val="solid"/>
          </a:ln>
        </p:spPr>
      </p:sp>
      <p:sp>
        <p:nvSpPr>
          <p:cNvPr id="24" name="role:row-head"/>
          <p:cNvSpPr txBox="1"/>
          <p:nvPr/>
        </p:nvSpPr>
        <p:spPr>
          <a:xfrm>
            <a:off x="713232" y="5161280"/>
            <a:ext cx="310896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Fractional CMO</a:t>
            </a:r>
            <a:endParaRPr lang="en-US" sz="1600" dirty="0"/>
          </a:p>
        </p:txBody>
      </p:sp>
      <p:sp>
        <p:nvSpPr>
          <p:cNvPr id="25" name="role:row-body"/>
          <p:cNvSpPr txBox="1"/>
          <p:nvPr/>
        </p:nvSpPr>
        <p:spPr>
          <a:xfrm>
            <a:off x="4233672" y="5161280"/>
            <a:ext cx="7244791" cy="2580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Senior marketing leadership on retainer, for when you are not ready to hire one.</a:t>
            </a:r>
            <a:endParaRPr lang="en-US" sz="1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345" decel="70000"/>
                                        <p:tgtEl>
                                          <p:spTgt spid="6"/>
                                        </p:tgtEl>
                                      </p:cBhvr>
                                    </p:animEffect>
                                    <p:anim calcmode="lin" valueType="num">
                                      <p:cBhvr additive="base">
                                        <p:cTn id="19" dur="345" decel="70000" fill="hold"/>
                                        <p:tgtEl>
                                          <p:spTgt spid="6"/>
                                        </p:tgtEl>
                                        <p:attrNameLst>
                                          <p:attrName>ppt_y</p:attrName>
                                        </p:attrNameLst>
                                      </p:cBhvr>
                                      <p:tavLst>
                                        <p:tav tm="0">
                                          <p:val>
                                            <p:strVal val="#ppt_y+0.0288"/>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22" decel="70000"/>
                                        <p:tgtEl>
                                          <p:spTgt spid="7"/>
                                        </p:tgtEl>
                                      </p:cBhvr>
                                    </p:animEffect>
                                  </p:childTnLst>
                                </p:cTn>
                              </p:par>
                              <p:par>
                                <p:cTn id="23" presetID="22" presetClass="entr" presetSubtype="1" fill="hold" grpId="0" nodeType="withEffect">
                                  <p:stCondLst>
                                    <p:cond delay="22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529"/>
                                        <p:tgtEl>
                                          <p:spTgt spid="8"/>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45" decel="70000"/>
                                        <p:tgtEl>
                                          <p:spTgt spid="9"/>
                                        </p:tgtEl>
                                      </p:cBhvr>
                                    </p:animEffect>
                                    <p:anim calcmode="lin" valueType="num">
                                      <p:cBhvr additive="base">
                                        <p:cTn id="29" dur="345" decel="70000" fill="hold"/>
                                        <p:tgtEl>
                                          <p:spTgt spid="9"/>
                                        </p:tgtEl>
                                        <p:attrNameLst>
                                          <p:attrName>ppt_y</p:attrName>
                                        </p:attrNameLst>
                                      </p:cBhvr>
                                      <p:tavLst>
                                        <p:tav tm="0">
                                          <p:val>
                                            <p:strVal val="#ppt_y+0.0288"/>
                                          </p:val>
                                        </p:tav>
                                        <p:tav tm="100000">
                                          <p:val>
                                            <p:strVal val="#ppt_y"/>
                                          </p:val>
                                        </p:tav>
                                      </p:tavLst>
                                    </p:anim>
                                  </p:childTnLst>
                                </p:cTn>
                              </p:par>
                              <p:par>
                                <p:cTn id="30" presetID="10" presetClass="entr" presetSubtype="0" fill="hold" grpId="0" nodeType="withEffect">
                                  <p:stCondLst>
                                    <p:cond delay="33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322" decel="70000"/>
                                        <p:tgtEl>
                                          <p:spTgt spid="10"/>
                                        </p:tgtEl>
                                      </p:cBhvr>
                                    </p:animEffect>
                                  </p:childTnLst>
                                </p:cTn>
                              </p:par>
                              <p:par>
                                <p:cTn id="33" presetID="22" presetClass="entr" presetSubtype="1" fill="hold" grpId="0" nodeType="withEffect">
                                  <p:stCondLst>
                                    <p:cond delay="385"/>
                                  </p:stCondLst>
                                  <p:childTnLst>
                                    <p:set>
                                      <p:cBhvr>
                                        <p:cTn id="34" dur="1" fill="hold">
                                          <p:stCondLst>
                                            <p:cond delay="0"/>
                                          </p:stCondLst>
                                        </p:cTn>
                                        <p:tgtEl>
                                          <p:spTgt spid="11"/>
                                        </p:tgtEl>
                                        <p:attrNameLst>
                                          <p:attrName>style.visibility</p:attrName>
                                        </p:attrNameLst>
                                      </p:cBhvr>
                                      <p:to>
                                        <p:strVal val="visible"/>
                                      </p:to>
                                    </p:set>
                                    <p:animEffect transition="in" filter="wipe(right)">
                                      <p:cBhvr>
                                        <p:cTn id="35" dur="529"/>
                                        <p:tgtEl>
                                          <p:spTgt spid="11"/>
                                        </p:tgtEl>
                                      </p:cBhvr>
                                    </p:animEffect>
                                  </p:childTnLst>
                                </p:cTn>
                              </p:par>
                              <p:par>
                                <p:cTn id="36" presetID="10" presetClass="entr" presetSubtype="0" fill="hold" grpId="0" nodeType="withEffect">
                                  <p:stCondLst>
                                    <p:cond delay="4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345" decel="70000"/>
                                        <p:tgtEl>
                                          <p:spTgt spid="12"/>
                                        </p:tgtEl>
                                      </p:cBhvr>
                                    </p:animEffect>
                                    <p:anim calcmode="lin" valueType="num">
                                      <p:cBhvr additive="base">
                                        <p:cTn id="39" dur="345" decel="70000" fill="hold"/>
                                        <p:tgtEl>
                                          <p:spTgt spid="12"/>
                                        </p:tgtEl>
                                        <p:attrNameLst>
                                          <p:attrName>ppt_y</p:attrName>
                                        </p:attrNameLst>
                                      </p:cBhvr>
                                      <p:tavLst>
                                        <p:tav tm="0">
                                          <p:val>
                                            <p:strVal val="#ppt_y+0.0288"/>
                                          </p:val>
                                        </p:tav>
                                        <p:tav tm="100000">
                                          <p:val>
                                            <p:strVal val="#ppt_y"/>
                                          </p:val>
                                        </p:tav>
                                      </p:tavLst>
                                    </p:anim>
                                  </p:childTnLst>
                                </p:cTn>
                              </p:par>
                              <p:par>
                                <p:cTn id="40" presetID="10" presetClass="entr" presetSubtype="0" fill="hold" grpId="0" nodeType="withEffect">
                                  <p:stCondLst>
                                    <p:cond delay="495"/>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322" decel="70000"/>
                                        <p:tgtEl>
                                          <p:spTgt spid="13"/>
                                        </p:tgtEl>
                                      </p:cBhvr>
                                    </p:animEffect>
                                  </p:childTnLst>
                                </p:cTn>
                              </p:par>
                              <p:par>
                                <p:cTn id="43" presetID="22" presetClass="entr" presetSubtype="1" fill="hold" grpId="0" nodeType="withEffect">
                                  <p:stCondLst>
                                    <p:cond delay="550"/>
                                  </p:stCondLst>
                                  <p:childTnLst>
                                    <p:set>
                                      <p:cBhvr>
                                        <p:cTn id="44" dur="1" fill="hold">
                                          <p:stCondLst>
                                            <p:cond delay="0"/>
                                          </p:stCondLst>
                                        </p:cTn>
                                        <p:tgtEl>
                                          <p:spTgt spid="14"/>
                                        </p:tgtEl>
                                        <p:attrNameLst>
                                          <p:attrName>style.visibility</p:attrName>
                                        </p:attrNameLst>
                                      </p:cBhvr>
                                      <p:to>
                                        <p:strVal val="visible"/>
                                      </p:to>
                                    </p:set>
                                    <p:animEffect transition="in" filter="wipe(right)">
                                      <p:cBhvr>
                                        <p:cTn id="45" dur="529"/>
                                        <p:tgtEl>
                                          <p:spTgt spid="14"/>
                                        </p:tgtEl>
                                      </p:cBhvr>
                                    </p:animEffect>
                                  </p:childTnLst>
                                </p:cTn>
                              </p:par>
                              <p:par>
                                <p:cTn id="46" presetID="10" presetClass="entr" presetSubtype="0" fill="hold" grpId="0" nodeType="withEffect">
                                  <p:stCondLst>
                                    <p:cond delay="605"/>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345" decel="70000"/>
                                        <p:tgtEl>
                                          <p:spTgt spid="15"/>
                                        </p:tgtEl>
                                      </p:cBhvr>
                                    </p:animEffect>
                                    <p:anim calcmode="lin" valueType="num">
                                      <p:cBhvr additive="base">
                                        <p:cTn id="49" dur="345" decel="70000" fill="hold"/>
                                        <p:tgtEl>
                                          <p:spTgt spid="15"/>
                                        </p:tgtEl>
                                        <p:attrNameLst>
                                          <p:attrName>ppt_y</p:attrName>
                                        </p:attrNameLst>
                                      </p:cBhvr>
                                      <p:tavLst>
                                        <p:tav tm="0">
                                          <p:val>
                                            <p:strVal val="#ppt_y+0.0288"/>
                                          </p:val>
                                        </p:tav>
                                        <p:tav tm="100000">
                                          <p:val>
                                            <p:strVal val="#ppt_y"/>
                                          </p:val>
                                        </p:tav>
                                      </p:tavLst>
                                    </p:anim>
                                  </p:childTnLst>
                                </p:cTn>
                              </p:par>
                              <p:par>
                                <p:cTn id="50" presetID="10" presetClass="entr" presetSubtype="0" fill="hold" grpId="0" nodeType="withEffect">
                                  <p:stCondLst>
                                    <p:cond delay="66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322" decel="70000"/>
                                        <p:tgtEl>
                                          <p:spTgt spid="16"/>
                                        </p:tgtEl>
                                      </p:cBhvr>
                                    </p:animEffect>
                                  </p:childTnLst>
                                </p:cTn>
                              </p:par>
                              <p:par>
                                <p:cTn id="53" presetID="22" presetClass="entr" presetSubtype="1" fill="hold" grpId="0" nodeType="withEffect">
                                  <p:stCondLst>
                                    <p:cond delay="715"/>
                                  </p:stCondLst>
                                  <p:childTnLst>
                                    <p:set>
                                      <p:cBhvr>
                                        <p:cTn id="54" dur="1" fill="hold">
                                          <p:stCondLst>
                                            <p:cond delay="0"/>
                                          </p:stCondLst>
                                        </p:cTn>
                                        <p:tgtEl>
                                          <p:spTgt spid="17"/>
                                        </p:tgtEl>
                                        <p:attrNameLst>
                                          <p:attrName>style.visibility</p:attrName>
                                        </p:attrNameLst>
                                      </p:cBhvr>
                                      <p:to>
                                        <p:strVal val="visible"/>
                                      </p:to>
                                    </p:set>
                                    <p:animEffect transition="in" filter="wipe(right)">
                                      <p:cBhvr>
                                        <p:cTn id="55" dur="529"/>
                                        <p:tgtEl>
                                          <p:spTgt spid="17"/>
                                        </p:tgtEl>
                                      </p:cBhvr>
                                    </p:animEffect>
                                  </p:childTnLst>
                                </p:cTn>
                              </p:par>
                              <p:par>
                                <p:cTn id="56" presetID="10" presetClass="entr" presetSubtype="0" fill="hold" grpId="0" nodeType="withEffect">
                                  <p:stCondLst>
                                    <p:cond delay="7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345" decel="70000"/>
                                        <p:tgtEl>
                                          <p:spTgt spid="18"/>
                                        </p:tgtEl>
                                      </p:cBhvr>
                                    </p:animEffect>
                                    <p:anim calcmode="lin" valueType="num">
                                      <p:cBhvr additive="base">
                                        <p:cTn id="59" dur="345" decel="70000" fill="hold"/>
                                        <p:tgtEl>
                                          <p:spTgt spid="18"/>
                                        </p:tgtEl>
                                        <p:attrNameLst>
                                          <p:attrName>ppt_y</p:attrName>
                                        </p:attrNameLst>
                                      </p:cBhvr>
                                      <p:tavLst>
                                        <p:tav tm="0">
                                          <p:val>
                                            <p:strVal val="#ppt_y+0.0288"/>
                                          </p:val>
                                        </p:tav>
                                        <p:tav tm="100000">
                                          <p:val>
                                            <p:strVal val="#ppt_y"/>
                                          </p:val>
                                        </p:tav>
                                      </p:tavLst>
                                    </p:anim>
                                  </p:childTnLst>
                                </p:cTn>
                              </p:par>
                              <p:par>
                                <p:cTn id="60" presetID="10" presetClass="entr" presetSubtype="0" fill="hold" grpId="0" nodeType="withEffect">
                                  <p:stCondLst>
                                    <p:cond delay="825"/>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322" decel="70000"/>
                                        <p:tgtEl>
                                          <p:spTgt spid="19"/>
                                        </p:tgtEl>
                                      </p:cBhvr>
                                    </p:animEffect>
                                  </p:childTnLst>
                                </p:cTn>
                              </p:par>
                              <p:par>
                                <p:cTn id="63" presetID="22" presetClass="entr" presetSubtype="1" fill="hold" grpId="0" nodeType="withEffect">
                                  <p:stCondLst>
                                    <p:cond delay="880"/>
                                  </p:stCondLst>
                                  <p:childTnLst>
                                    <p:set>
                                      <p:cBhvr>
                                        <p:cTn id="64" dur="1" fill="hold">
                                          <p:stCondLst>
                                            <p:cond delay="0"/>
                                          </p:stCondLst>
                                        </p:cTn>
                                        <p:tgtEl>
                                          <p:spTgt spid="20"/>
                                        </p:tgtEl>
                                        <p:attrNameLst>
                                          <p:attrName>style.visibility</p:attrName>
                                        </p:attrNameLst>
                                      </p:cBhvr>
                                      <p:to>
                                        <p:strVal val="visible"/>
                                      </p:to>
                                    </p:set>
                                    <p:animEffect transition="in" filter="wipe(right)">
                                      <p:cBhvr>
                                        <p:cTn id="65" dur="529"/>
                                        <p:tgtEl>
                                          <p:spTgt spid="20"/>
                                        </p:tgtEl>
                                      </p:cBhvr>
                                    </p:animEffect>
                                  </p:childTnLst>
                                </p:cTn>
                              </p:par>
                              <p:par>
                                <p:cTn id="66" presetID="10" presetClass="entr" presetSubtype="0" fill="hold" grpId="0" nodeType="withEffect">
                                  <p:stCondLst>
                                    <p:cond delay="935"/>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345" decel="70000"/>
                                        <p:tgtEl>
                                          <p:spTgt spid="21"/>
                                        </p:tgtEl>
                                      </p:cBhvr>
                                    </p:animEffect>
                                    <p:anim calcmode="lin" valueType="num">
                                      <p:cBhvr additive="base">
                                        <p:cTn id="69" dur="345" decel="70000" fill="hold"/>
                                        <p:tgtEl>
                                          <p:spTgt spid="21"/>
                                        </p:tgtEl>
                                        <p:attrNameLst>
                                          <p:attrName>ppt_y</p:attrName>
                                        </p:attrNameLst>
                                      </p:cBhvr>
                                      <p:tavLst>
                                        <p:tav tm="0">
                                          <p:val>
                                            <p:strVal val="#ppt_y+0.028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role:panel-right"/>
          <p:cNvSpPr/>
          <p:nvPr/>
        </p:nvSpPr>
        <p:spPr>
          <a:xfrm>
            <a:off x="7619695" y="0"/>
            <a:ext cx="4572000" cy="6858000"/>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8595360" y="-1005840"/>
            <a:ext cx="4206240" cy="4989609"/>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658368"/>
            <a:ext cx="1371600" cy="294904"/>
          </a:xfrm>
          <a:prstGeom prst="rect">
            <a:avLst/>
          </a:prstGeom>
        </p:spPr>
      </p:pic>
      <p:sp>
        <p:nvSpPr>
          <p:cNvPr id="5"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SERVICE LINE</a:t>
            </a:r>
            <a:endParaRPr lang="en-US" sz="1050" dirty="0"/>
          </a:p>
        </p:txBody>
      </p:sp>
      <p:sp>
        <p:nvSpPr>
          <p:cNvPr id="6" name="role:title"/>
          <p:cNvSpPr txBox="1"/>
          <p:nvPr/>
        </p:nvSpPr>
        <p:spPr>
          <a:xfrm>
            <a:off x="713232" y="987552"/>
            <a:ext cx="6400800"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SEO</a:t>
            </a:r>
            <a:endParaRPr lang="en-US" sz="3900" dirty="0"/>
          </a:p>
        </p:txBody>
      </p:sp>
      <p:sp>
        <p:nvSpPr>
          <p:cNvPr id="7" name="role:sub"/>
          <p:cNvSpPr txBox="1"/>
          <p:nvPr/>
        </p:nvSpPr>
        <p:spPr>
          <a:xfrm>
            <a:off x="713232" y="1703070"/>
            <a:ext cx="6400800" cy="649224"/>
          </a:xfrm>
          <a:prstGeom prst="rect">
            <a:avLst/>
          </a:prstGeom>
          <a:noFill/>
          <a:ln/>
        </p:spPr>
        <p:txBody>
          <a:bodyPr wrap="square" lIns="0" tIns="0" rIns="0" bIns="0" rtlCol="0" anchor="t"/>
          <a:lstStyle/>
          <a:p>
            <a:pPr algn="l" indent="0" marL="0">
              <a:lnSpc>
                <a:spcPct val="128000"/>
              </a:lnSpc>
              <a:buNone/>
            </a:pPr>
            <a:r>
              <a:rPr lang="en-US" sz="1800" dirty="0">
                <a:solidFill>
                  <a:srgbClr val="5A6772"/>
                </a:solidFill>
                <a:latin typeface="Arial" pitchFamily="34" charset="0"/>
                <a:ea typeface="Arial" pitchFamily="34" charset="-122"/>
                <a:cs typeface="Arial" pitchFamily="34" charset="-120"/>
              </a:rPr>
              <a:t>Get found by the people already searching for what you sell.</a:t>
            </a:r>
            <a:endParaRPr lang="en-US" sz="1800" dirty="0"/>
          </a:p>
        </p:txBody>
      </p:sp>
      <p:sp>
        <p:nvSpPr>
          <p:cNvPr id="8"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04</a:t>
            </a:r>
            <a:endParaRPr lang="en-US" sz="1050" dirty="0"/>
          </a:p>
        </p:txBody>
      </p:sp>
      <p:sp>
        <p:nvSpPr>
          <p:cNvPr id="9" name="role:kicker"/>
          <p:cNvSpPr txBox="1"/>
          <p:nvPr/>
        </p:nvSpPr>
        <p:spPr>
          <a:xfrm>
            <a:off x="8138160" y="1371600"/>
            <a:ext cx="352044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WHAT IS INCLUDED</a:t>
            </a:r>
            <a:endParaRPr lang="en-US" sz="1050" dirty="0"/>
          </a:p>
        </p:txBody>
      </p:sp>
      <p:sp>
        <p:nvSpPr>
          <p:cNvPr id="10" name="role:body"/>
          <p:cNvSpPr txBox="1"/>
          <p:nvPr/>
        </p:nvSpPr>
        <p:spPr>
          <a:xfrm>
            <a:off x="8138160" y="1700784"/>
            <a:ext cx="3520440" cy="658368"/>
          </a:xfrm>
          <a:prstGeom prst="rect">
            <a:avLst/>
          </a:prstGeom>
          <a:noFill/>
          <a:ln/>
        </p:spPr>
        <p:txBody>
          <a:bodyPr wrap="square" lIns="0" tIns="0" rIns="0" bIns="0" rtlCol="0" anchor="t"/>
          <a:lstStyle/>
          <a:p>
            <a:pPr algn="l" indent="0" marL="0">
              <a:lnSpc>
                <a:spcPct val="105000"/>
              </a:lnSpc>
              <a:buNone/>
            </a:pPr>
            <a:r>
              <a:rPr lang="en-US" sz="2200" b="1" dirty="0">
                <a:solidFill>
                  <a:srgbClr val="FFFFFF"/>
                </a:solidFill>
                <a:latin typeface="Arial" pitchFamily="34" charset="0"/>
                <a:ea typeface="Arial" pitchFamily="34" charset="-122"/>
                <a:cs typeface="Arial" pitchFamily="34" charset="-120"/>
              </a:rPr>
              <a:t>The full</a:t>
            </a:r>
            <a:endParaRPr lang="en-US" sz="2200" dirty="0"/>
          </a:p>
          <a:p>
            <a:pPr algn="l" indent="0" marL="0">
              <a:lnSpc>
                <a:spcPct val="105000"/>
              </a:lnSpc>
              <a:buNone/>
            </a:pPr>
            <a:r>
              <a:rPr lang="en-US" sz="2200" b="1" dirty="0">
                <a:solidFill>
                  <a:srgbClr val="FFFFFF"/>
                </a:solidFill>
                <a:latin typeface="Arial" pitchFamily="34" charset="0"/>
                <a:ea typeface="Arial" pitchFamily="34" charset="-122"/>
                <a:cs typeface="Arial" pitchFamily="34" charset="-120"/>
              </a:rPr>
              <a:t>search surface</a:t>
            </a:r>
            <a:endParaRPr lang="en-US" sz="2200" dirty="0"/>
          </a:p>
        </p:txBody>
      </p:sp>
      <p:sp>
        <p:nvSpPr>
          <p:cNvPr id="11" name="Text 7"/>
          <p:cNvSpPr txBox="1"/>
          <p:nvPr/>
        </p:nvSpPr>
        <p:spPr>
          <a:xfrm>
            <a:off x="8138160" y="2505456"/>
            <a:ext cx="3520440" cy="3419856"/>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Local SEO and Google Business Profile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Technical SEO, speed and Core Web Vitals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Ecommerce SEO for Shopify and WooCommerce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Free SEO and website audits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Citations, listings and backlinks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Content and page creation</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Programs by industry and by city</a:t>
            </a:r>
            <a:endParaRPr lang="en-US" sz="1200" dirty="0"/>
          </a:p>
        </p:txBody>
      </p:sp>
      <p:sp>
        <p:nvSpPr>
          <p:cNvPr id="12" name="role:figure"/>
          <p:cNvSpPr txBox="1"/>
          <p:nvPr/>
        </p:nvSpPr>
        <p:spPr>
          <a:xfrm>
            <a:off x="713232" y="2834640"/>
            <a:ext cx="6858000" cy="572008"/>
          </a:xfrm>
          <a:prstGeom prst="rect">
            <a:avLst/>
          </a:prstGeom>
          <a:noFill/>
          <a:ln/>
        </p:spPr>
        <p:txBody>
          <a:bodyPr wrap="square" lIns="0" tIns="0" rIns="0" bIns="0" rtlCol="0" anchor="t"/>
          <a:lstStyle/>
          <a:p>
            <a:pPr algn="l" indent="0" marL="0">
              <a:lnSpc>
                <a:spcPct val="100000"/>
              </a:lnSpc>
              <a:buNone/>
            </a:pPr>
            <a:r>
              <a:rPr lang="en-US" sz="4000" b="1" dirty="0">
                <a:solidFill>
                  <a:srgbClr val="2A80C2"/>
                </a:solidFill>
                <a:latin typeface="Arial" pitchFamily="34" charset="0"/>
                <a:ea typeface="Arial" pitchFamily="34" charset="-122"/>
                <a:cs typeface="Arial" pitchFamily="34" charset="-120"/>
              </a:rPr>
              <a:t>2,175 clicks</a:t>
            </a:r>
            <a:endParaRPr lang="en-US" sz="4000" dirty="0"/>
          </a:p>
        </p:txBody>
      </p:sp>
      <p:sp>
        <p:nvSpPr>
          <p:cNvPr id="13" name="role:figure-label"/>
          <p:cNvSpPr txBox="1"/>
          <p:nvPr/>
        </p:nvSpPr>
        <p:spPr>
          <a:xfrm>
            <a:off x="713232" y="3461512"/>
            <a:ext cx="6858000" cy="246888"/>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MicroTech Systems, Boise IT services</a:t>
            </a:r>
            <a:endParaRPr lang="en-US" sz="1200" dirty="0"/>
          </a:p>
        </p:txBody>
      </p:sp>
      <p:sp>
        <p:nvSpPr>
          <p:cNvPr id="14" name="role:figure-label"/>
          <p:cNvSpPr txBox="1"/>
          <p:nvPr/>
        </p:nvSpPr>
        <p:spPr>
          <a:xfrm>
            <a:off x="713232" y="3772408"/>
            <a:ext cx="6858000" cy="384048"/>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765K impressions in ten months. Non branded IT terms taken from invisible to first page, with "Microtech Boise" at position 1.35.</a:t>
            </a:r>
            <a:endParaRPr lang="en-US" sz="1050" dirty="0"/>
          </a:p>
        </p:txBody>
      </p:sp>
      <p:sp>
        <p:nvSpPr>
          <p:cNvPr id="15" name="role:rule-h"/>
          <p:cNvSpPr/>
          <p:nvPr/>
        </p:nvSpPr>
        <p:spPr>
          <a:xfrm>
            <a:off x="713232" y="4590288"/>
            <a:ext cx="6858000" cy="0"/>
          </a:xfrm>
          <a:prstGeom prst="line">
            <a:avLst/>
          </a:prstGeom>
          <a:noFill/>
          <a:ln w="9525">
            <a:solidFill>
              <a:srgbClr val="E2EAF1"/>
            </a:solidFill>
            <a:prstDash val="solid"/>
          </a:ln>
        </p:spPr>
      </p:sp>
      <p:sp>
        <p:nvSpPr>
          <p:cNvPr id="16" name="role:figure"/>
          <p:cNvSpPr txBox="1"/>
          <p:nvPr/>
        </p:nvSpPr>
        <p:spPr>
          <a:xfrm>
            <a:off x="713232" y="4791456"/>
            <a:ext cx="6858000" cy="445008"/>
          </a:xfrm>
          <a:prstGeom prst="rect">
            <a:avLst/>
          </a:prstGeom>
          <a:noFill/>
          <a:ln/>
        </p:spPr>
        <p:txBody>
          <a:bodyPr wrap="square" lIns="0" tIns="0" rIns="0" bIns="0" rtlCol="0" anchor="t"/>
          <a:lstStyle/>
          <a:p>
            <a:pPr algn="l" indent="0" marL="0">
              <a:lnSpc>
                <a:spcPct val="100000"/>
              </a:lnSpc>
              <a:buNone/>
            </a:pPr>
            <a:r>
              <a:rPr lang="en-US" sz="3000" b="1" dirty="0">
                <a:solidFill>
                  <a:srgbClr val="2A80C2"/>
                </a:solidFill>
                <a:latin typeface="Arial" pitchFamily="34" charset="0"/>
                <a:ea typeface="Arial" pitchFamily="34" charset="-122"/>
                <a:cs typeface="Arial" pitchFamily="34" charset="-120"/>
              </a:rPr>
              <a:t>1,180 → 1,374 keywords</a:t>
            </a:r>
            <a:endParaRPr lang="en-US" sz="3000" dirty="0"/>
          </a:p>
        </p:txBody>
      </p:sp>
      <p:sp>
        <p:nvSpPr>
          <p:cNvPr id="17" name="role:figure-label"/>
          <p:cNvSpPr txBox="1"/>
          <p:nvPr/>
        </p:nvSpPr>
        <p:spPr>
          <a:xfrm>
            <a:off x="713232" y="5291328"/>
            <a:ext cx="6858000" cy="246888"/>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Everyday Life Insurance, four months</a:t>
            </a:r>
            <a:endParaRPr lang="en-US" sz="1200" dirty="0"/>
          </a:p>
        </p:txBody>
      </p:sp>
      <p:sp>
        <p:nvSpPr>
          <p:cNvPr id="18" name="role:figure-label"/>
          <p:cNvSpPr txBox="1"/>
          <p:nvPr/>
        </p:nvSpPr>
        <p:spPr>
          <a:xfrm>
            <a:off x="713232" y="5602224"/>
            <a:ext cx="6858000" cy="224028"/>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Top five placements grew from 138 to 169. In the tracked cluster, 63% sit in the top five.</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10" presetClass="entr" presetSubtype="0" fill="hold" grpId="0" nodeType="withEffect">
                                  <p:stCondLst>
                                    <p:cond delay="11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22" decel="70000"/>
                                        <p:tgtEl>
                                          <p:spTgt spid="9"/>
                                        </p:tgtEl>
                                      </p:cBhvr>
                                    </p:animEffect>
                                    <p:anim calcmode="lin" valueType="num">
                                      <p:cBhvr additive="base">
                                        <p:cTn id="25" dur="322" decel="70000" fill="hold"/>
                                        <p:tgtEl>
                                          <p:spTgt spid="9"/>
                                        </p:tgtEl>
                                        <p:attrNameLst>
                                          <p:attrName>ppt_y</p:attrName>
                                        </p:attrNameLst>
                                      </p:cBhvr>
                                      <p:tavLst>
                                        <p:tav tm="0">
                                          <p:val>
                                            <p:strVal val="#ppt_y+0.032"/>
                                          </p:val>
                                        </p:tav>
                                        <p:tav tm="100000">
                                          <p:val>
                                            <p:strVal val="#ppt_y"/>
                                          </p:val>
                                        </p:tav>
                                      </p:tavLst>
                                    </p:anim>
                                  </p:childTnLst>
                                </p:cTn>
                              </p:par>
                              <p:par>
                                <p:cTn id="26" presetID="10" presetClass="entr" presetSubtype="0" fill="hold" grpId="0" nodeType="withEffect">
                                  <p:stCondLst>
                                    <p:cond delay="16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322" decel="70000"/>
                                        <p:tgtEl>
                                          <p:spTgt spid="10"/>
                                        </p:tgtEl>
                                      </p:cBhvr>
                                    </p:animEffect>
                                  </p:childTnLst>
                                </p:cTn>
                              </p:par>
                              <p:par>
                                <p:cTn id="29" presetID="10" presetClass="entr" presetSubtype="0" fill="hold" grpId="0" nodeType="withEffect">
                                  <p:stCondLst>
                                    <p:cond delay="22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90" decel="70000"/>
                                        <p:tgtEl>
                                          <p:spTgt spid="7"/>
                                        </p:tgtEl>
                                      </p:cBhvr>
                                    </p:animEffect>
                                    <p:anim calcmode="lin" valueType="num">
                                      <p:cBhvr additive="base">
                                        <p:cTn id="32" dur="390" decel="70000" fill="hold"/>
                                        <p:tgtEl>
                                          <p:spTgt spid="7"/>
                                        </p:tgtEl>
                                        <p:attrNameLst>
                                          <p:attrName>ppt_y</p:attrName>
                                        </p:attrNameLst>
                                      </p:cBhvr>
                                      <p:tavLst>
                                        <p:tav tm="0">
                                          <p:val>
                                            <p:strVal val="#ppt_y+0.0384"/>
                                          </p:val>
                                        </p:tav>
                                        <p:tav tm="100000">
                                          <p:val>
                                            <p:strVal val="#ppt_y"/>
                                          </p:val>
                                        </p:tav>
                                      </p:tavLst>
                                    </p:anim>
                                  </p:childTnLst>
                                </p:cTn>
                              </p:par>
                              <p:par>
                                <p:cTn id="33" presetID="23" presetClass="entr" presetSubtype="0" fill="hold" grpId="0" nodeType="withEffect">
                                  <p:stCondLst>
                                    <p:cond delay="275"/>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82" decel="70000"/>
                                        <p:tgtEl>
                                          <p:spTgt spid="12"/>
                                        </p:tgtEl>
                                      </p:cBhvr>
                                    </p:animEffect>
                                    <p:animScale>
                                      <p:cBhvr>
                                        <p:cTn id="36" dur="482" decel="70000" fill="hold"/>
                                        <p:tgtEl>
                                          <p:spTgt spid="12"/>
                                        </p:tgtEl>
                                      </p:cBhvr>
                                      <p:from x="82000" y="82000"/>
                                      <p:to x="100000" y="100000"/>
                                    </p:animScale>
                                  </p:childTnLst>
                                </p:cTn>
                              </p:par>
                              <p:par>
                                <p:cTn id="37" presetID="10" presetClass="entr" presetSubtype="0" fill="hold" grpId="0" nodeType="withEffect">
                                  <p:stCondLst>
                                    <p:cond delay="33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299" decel="70000"/>
                                        <p:tgtEl>
                                          <p:spTgt spid="13"/>
                                        </p:tgtEl>
                                      </p:cBhvr>
                                    </p:animEffect>
                                  </p:childTnLst>
                                </p:cTn>
                              </p:par>
                              <p:par>
                                <p:cTn id="40" presetID="10" presetClass="entr" presetSubtype="0" fill="hold" grpId="0" nodeType="withEffect">
                                  <p:stCondLst>
                                    <p:cond delay="385"/>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299" decel="70000"/>
                                        <p:tgtEl>
                                          <p:spTgt spid="14"/>
                                        </p:tgtEl>
                                      </p:cBhvr>
                                    </p:animEffect>
                                  </p:childTnLst>
                                </p:cTn>
                              </p:par>
                              <p:par>
                                <p:cTn id="43" presetID="22" presetClass="entr" presetSubtype="1" fill="hold" grpId="0" nodeType="withEffect">
                                  <p:stCondLst>
                                    <p:cond delay="440"/>
                                  </p:stCondLst>
                                  <p:childTnLst>
                                    <p:set>
                                      <p:cBhvr>
                                        <p:cTn id="44" dur="1" fill="hold">
                                          <p:stCondLst>
                                            <p:cond delay="0"/>
                                          </p:stCondLst>
                                        </p:cTn>
                                        <p:tgtEl>
                                          <p:spTgt spid="15"/>
                                        </p:tgtEl>
                                        <p:attrNameLst>
                                          <p:attrName>style.visibility</p:attrName>
                                        </p:attrNameLst>
                                      </p:cBhvr>
                                      <p:to>
                                        <p:strVal val="visible"/>
                                      </p:to>
                                    </p:set>
                                    <p:animEffect transition="in" filter="wipe(right)">
                                      <p:cBhvr>
                                        <p:cTn id="45" dur="529"/>
                                        <p:tgtEl>
                                          <p:spTgt spid="15"/>
                                        </p:tgtEl>
                                      </p:cBhvr>
                                    </p:animEffect>
                                  </p:childTnLst>
                                </p:cTn>
                              </p:par>
                              <p:par>
                                <p:cTn id="46" presetID="23" presetClass="entr" presetSubtype="0" fill="hold" grpId="0" nodeType="withEffect">
                                  <p:stCondLst>
                                    <p:cond delay="495"/>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82" decel="70000"/>
                                        <p:tgtEl>
                                          <p:spTgt spid="16"/>
                                        </p:tgtEl>
                                      </p:cBhvr>
                                    </p:animEffect>
                                    <p:animScale>
                                      <p:cBhvr>
                                        <p:cTn id="49" dur="482" decel="70000" fill="hold"/>
                                        <p:tgtEl>
                                          <p:spTgt spid="16"/>
                                        </p:tgtEl>
                                      </p:cBhvr>
                                      <p:from x="82000" y="82000"/>
                                      <p:to x="100000" y="100000"/>
                                    </p:animScale>
                                  </p:childTnLst>
                                </p:cTn>
                              </p:par>
                              <p:par>
                                <p:cTn id="50" presetID="10" presetClass="entr" presetSubtype="0" fill="hold" grpId="0" nodeType="withEffect">
                                  <p:stCondLst>
                                    <p:cond delay="5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299" decel="70000"/>
                                        <p:tgtEl>
                                          <p:spTgt spid="17"/>
                                        </p:tgtEl>
                                      </p:cBhvr>
                                    </p:animEffect>
                                  </p:childTnLst>
                                </p:cTn>
                              </p:par>
                              <p:par>
                                <p:cTn id="53" presetID="10" presetClass="entr" presetSubtype="0" fill="hold" grpId="0" nodeType="withEffect">
                                  <p:stCondLst>
                                    <p:cond delay="605"/>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99" decel="70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825"/>
        </a:solidFill>
      </p:bgPr>
    </p:bg>
    <p:spTree>
      <p:nvGrpSpPr>
        <p:cNvPr id="1" name=""/>
        <p:cNvGrpSpPr/>
        <p:nvPr/>
      </p:nvGrpSpPr>
      <p:grpSpPr>
        <a:xfrm>
          <a:off x="0" y="0"/>
          <a:ext cx="0" cy="0"/>
          <a:chOff x="0" y="0"/>
          <a:chExt cx="0" cy="0"/>
        </a:xfrm>
      </p:grpSpPr>
      <p:pic>
        <p:nvPicPr>
          <p:cNvPr id="2" name="role:motif" descr="C:\Users\dillo\.claude\skills\client-deck\assets\momentum-digital\momentum-mark-white.png">    </p:cNvPr>
          <p:cNvPicPr>
            <a:picLocks noChangeAspect="1"/>
          </p:cNvPicPr>
          <p:nvPr/>
        </p:nvPicPr>
        <p:blipFill>
          <a:blip r:embed="rId1">
            <a:alphaModFix amt="9000"/>
          </a:blip>
          <a:stretch>
            <a:fillRect/>
          </a:stretch>
        </p:blipFill>
        <p:spPr>
          <a:xfrm>
            <a:off x="9326880" y="-1188720"/>
            <a:ext cx="3840480" cy="4555730"/>
          </a:xfrm>
          <a:prstGeom prst="rect">
            <a:avLst/>
          </a:prstGeom>
        </p:spPr>
      </p:pic>
      <p:pic>
        <p:nvPicPr>
          <p:cNvPr id="3" name="role:logo" descr="Momentum Digital logo">    </p:cNvPr>
          <p:cNvPicPr>
            <a:picLocks noChangeAspect="1"/>
          </p:cNvPicPr>
          <p:nvPr/>
        </p:nvPicPr>
        <p:blipFill>
          <a:blip r:embed="rId2"/>
          <a:stretch>
            <a:fillRect/>
          </a:stretch>
        </p:blipFill>
        <p:spPr>
          <a:xfrm>
            <a:off x="10106863" y="658368"/>
            <a:ext cx="1371600" cy="294904"/>
          </a:xfrm>
          <a:prstGeom prst="rect">
            <a:avLst/>
          </a:prstGeom>
        </p:spPr>
      </p:pic>
      <p:sp>
        <p:nvSpPr>
          <p:cNvPr id="4"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SERVICE LINE</a:t>
            </a:r>
            <a:endParaRPr lang="en-US" sz="1050" dirty="0"/>
          </a:p>
        </p:txBody>
      </p:sp>
      <p:sp>
        <p:nvSpPr>
          <p:cNvPr id="5" name="role:title"/>
          <p:cNvSpPr txBox="1"/>
          <p:nvPr/>
        </p:nvSpPr>
        <p:spPr>
          <a:xfrm>
            <a:off x="713232" y="987552"/>
            <a:ext cx="6949440" cy="569214"/>
          </a:xfrm>
          <a:prstGeom prst="rect">
            <a:avLst/>
          </a:prstGeom>
          <a:noFill/>
          <a:ln/>
        </p:spPr>
        <p:txBody>
          <a:bodyPr wrap="square" lIns="0" tIns="0" rIns="0" bIns="0" rtlCol="0" anchor="t"/>
          <a:lstStyle/>
          <a:p>
            <a:pPr algn="l" indent="0" marL="0">
              <a:lnSpc>
                <a:spcPct val="102000"/>
              </a:lnSpc>
              <a:buNone/>
            </a:pPr>
            <a:r>
              <a:rPr lang="en-US" sz="3900" b="1" dirty="0">
                <a:solidFill>
                  <a:srgbClr val="FFFFFF"/>
                </a:solidFill>
                <a:latin typeface="Arial" pitchFamily="34" charset="0"/>
                <a:ea typeface="Arial" pitchFamily="34" charset="-122"/>
                <a:cs typeface="Arial" pitchFamily="34" charset="-120"/>
              </a:rPr>
              <a:t>Paid media</a:t>
            </a:r>
            <a:endParaRPr lang="en-US" sz="3900" dirty="0"/>
          </a:p>
        </p:txBody>
      </p:sp>
      <p:sp>
        <p:nvSpPr>
          <p:cNvPr id="6" name="role:sub"/>
          <p:cNvSpPr txBox="1"/>
          <p:nvPr/>
        </p:nvSpPr>
        <p:spPr>
          <a:xfrm>
            <a:off x="713232" y="1703070"/>
            <a:ext cx="6949440" cy="649224"/>
          </a:xfrm>
          <a:prstGeom prst="rect">
            <a:avLst/>
          </a:prstGeom>
          <a:noFill/>
          <a:ln/>
        </p:spPr>
        <p:txBody>
          <a:bodyPr wrap="square" lIns="0" tIns="0" rIns="0" bIns="0" rtlCol="0" anchor="t"/>
          <a:lstStyle/>
          <a:p>
            <a:pPr algn="l" indent="0" marL="0">
              <a:lnSpc>
                <a:spcPct val="128000"/>
              </a:lnSpc>
              <a:buNone/>
            </a:pPr>
            <a:r>
              <a:rPr lang="en-US" sz="1800" dirty="0">
                <a:solidFill>
                  <a:srgbClr val="9DB5C8"/>
                </a:solidFill>
                <a:latin typeface="Arial" pitchFamily="34" charset="0"/>
                <a:ea typeface="Arial" pitchFamily="34" charset="-122"/>
                <a:cs typeface="Arial" pitchFamily="34" charset="-120"/>
              </a:rPr>
              <a:t>Managed against booked calls and qualified forms, not impressions.</a:t>
            </a:r>
            <a:endParaRPr lang="en-US" sz="1800" dirty="0"/>
          </a:p>
        </p:txBody>
      </p:sp>
      <p:sp>
        <p:nvSpPr>
          <p:cNvPr id="7"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1C3D56"/>
                </a:solidFill>
                <a:latin typeface="Arial" pitchFamily="34" charset="0"/>
                <a:ea typeface="Arial" pitchFamily="34" charset="-122"/>
                <a:cs typeface="Arial" pitchFamily="34" charset="-120"/>
              </a:rPr>
              <a:t>05</a:t>
            </a:r>
            <a:endParaRPr lang="en-US" sz="1050" dirty="0"/>
          </a:p>
        </p:txBody>
      </p:sp>
      <p:sp>
        <p:nvSpPr>
          <p:cNvPr id="8" name="role:row-head"/>
          <p:cNvSpPr txBox="1"/>
          <p:nvPr/>
        </p:nvSpPr>
        <p:spPr>
          <a:xfrm>
            <a:off x="713232" y="2834640"/>
            <a:ext cx="3200400" cy="282448"/>
          </a:xfrm>
          <a:prstGeom prst="rect">
            <a:avLst/>
          </a:prstGeom>
          <a:noFill/>
          <a:ln/>
        </p:spPr>
        <p:txBody>
          <a:bodyPr wrap="square" lIns="0" tIns="0" rIns="0" bIns="0" rtlCol="0" anchor="t"/>
          <a:lstStyle/>
          <a:p>
            <a:pPr algn="l" indent="0" marL="0">
              <a:lnSpc>
                <a:spcPct val="110000"/>
              </a:lnSpc>
              <a:buNone/>
            </a:pPr>
            <a:r>
              <a:rPr lang="en-US" sz="1600" b="1" dirty="0">
                <a:solidFill>
                  <a:srgbClr val="FFFFFF"/>
                </a:solidFill>
                <a:latin typeface="Arial" pitchFamily="34" charset="0"/>
                <a:ea typeface="Arial" pitchFamily="34" charset="-122"/>
                <a:cs typeface="Arial" pitchFamily="34" charset="-120"/>
              </a:rPr>
              <a:t>Where we buy</a:t>
            </a:r>
            <a:endParaRPr lang="en-US" sz="1600" dirty="0"/>
          </a:p>
        </p:txBody>
      </p:sp>
      <p:sp>
        <p:nvSpPr>
          <p:cNvPr id="9" name="role:row-body"/>
          <p:cNvSpPr txBox="1"/>
          <p:nvPr/>
        </p:nvSpPr>
        <p:spPr>
          <a:xfrm>
            <a:off x="4325112" y="2834640"/>
            <a:ext cx="7153351" cy="266192"/>
          </a:xfrm>
          <a:prstGeom prst="rect">
            <a:avLst/>
          </a:prstGeom>
          <a:noFill/>
          <a:ln/>
        </p:spPr>
        <p:txBody>
          <a:bodyPr wrap="square" lIns="0" tIns="0" rIns="0" bIns="0" rtlCol="0" anchor="t"/>
          <a:lstStyle/>
          <a:p>
            <a:pPr algn="l" indent="0" marL="0">
              <a:lnSpc>
                <a:spcPct val="128000"/>
              </a:lnSpc>
              <a:buNone/>
            </a:pPr>
            <a:r>
              <a:rPr lang="en-US" sz="1300" dirty="0">
                <a:solidFill>
                  <a:srgbClr val="9DB5C8"/>
                </a:solidFill>
                <a:latin typeface="Arial" pitchFamily="34" charset="0"/>
                <a:ea typeface="Arial" pitchFamily="34" charset="-122"/>
                <a:cs typeface="Arial" pitchFamily="34" charset="-120"/>
              </a:rPr>
              <a:t>Google Ads, Microsoft Ads, Amazon Ads, Facebook Ads and Instagram Ads.</a:t>
            </a:r>
            <a:endParaRPr lang="en-US" sz="1300" dirty="0"/>
          </a:p>
        </p:txBody>
      </p:sp>
      <p:sp>
        <p:nvSpPr>
          <p:cNvPr id="10" name="role:rule-h"/>
          <p:cNvSpPr/>
          <p:nvPr/>
        </p:nvSpPr>
        <p:spPr>
          <a:xfrm>
            <a:off x="713232" y="3235960"/>
            <a:ext cx="10765231" cy="0"/>
          </a:xfrm>
          <a:prstGeom prst="line">
            <a:avLst/>
          </a:prstGeom>
          <a:noFill/>
          <a:ln w="9525">
            <a:solidFill>
              <a:srgbClr val="1E4460"/>
            </a:solidFill>
            <a:prstDash val="solid"/>
          </a:ln>
        </p:spPr>
      </p:sp>
      <p:sp>
        <p:nvSpPr>
          <p:cNvPr id="11" name="role:row-head"/>
          <p:cNvSpPr txBox="1"/>
          <p:nvPr/>
        </p:nvSpPr>
        <p:spPr>
          <a:xfrm>
            <a:off x="713232" y="3354832"/>
            <a:ext cx="3200400" cy="282448"/>
          </a:xfrm>
          <a:prstGeom prst="rect">
            <a:avLst/>
          </a:prstGeom>
          <a:noFill/>
          <a:ln/>
        </p:spPr>
        <p:txBody>
          <a:bodyPr wrap="square" lIns="0" tIns="0" rIns="0" bIns="0" rtlCol="0" anchor="t"/>
          <a:lstStyle/>
          <a:p>
            <a:pPr algn="l" indent="0" marL="0">
              <a:lnSpc>
                <a:spcPct val="110000"/>
              </a:lnSpc>
              <a:buNone/>
            </a:pPr>
            <a:r>
              <a:rPr lang="en-US" sz="1600" b="1" dirty="0">
                <a:solidFill>
                  <a:srgbClr val="FFFFFF"/>
                </a:solidFill>
                <a:latin typeface="Arial" pitchFamily="34" charset="0"/>
                <a:ea typeface="Arial" pitchFamily="34" charset="-122"/>
                <a:cs typeface="Arial" pitchFamily="34" charset="-120"/>
              </a:rPr>
              <a:t>How the account is run</a:t>
            </a:r>
            <a:endParaRPr lang="en-US" sz="1600" dirty="0"/>
          </a:p>
        </p:txBody>
      </p:sp>
      <p:sp>
        <p:nvSpPr>
          <p:cNvPr id="12" name="role:row-body"/>
          <p:cNvSpPr txBox="1"/>
          <p:nvPr/>
        </p:nvSpPr>
        <p:spPr>
          <a:xfrm>
            <a:off x="4325112" y="3354832"/>
            <a:ext cx="7153351" cy="477520"/>
          </a:xfrm>
          <a:prstGeom prst="rect">
            <a:avLst/>
          </a:prstGeom>
          <a:noFill/>
          <a:ln/>
        </p:spPr>
        <p:txBody>
          <a:bodyPr wrap="square" lIns="0" tIns="0" rIns="0" bIns="0" rtlCol="0" anchor="t"/>
          <a:lstStyle/>
          <a:p>
            <a:pPr algn="l" indent="0" marL="0">
              <a:lnSpc>
                <a:spcPct val="128000"/>
              </a:lnSpc>
              <a:buNone/>
            </a:pPr>
            <a:r>
              <a:rPr lang="en-US" sz="1300" dirty="0">
                <a:solidFill>
                  <a:srgbClr val="9DB5C8"/>
                </a:solidFill>
                <a:latin typeface="Arial" pitchFamily="34" charset="0"/>
                <a:ea typeface="Arial" pitchFamily="34" charset="-122"/>
                <a:cs typeface="Arial" pitchFamily="34" charset="-120"/>
              </a:rPr>
              <a:t>Audit and rebuild, conversion tracking through Google Tag Manager, search term review with negatives, budget shifted to winners.</a:t>
            </a:r>
            <a:endParaRPr lang="en-US" sz="1300" dirty="0"/>
          </a:p>
        </p:txBody>
      </p:sp>
      <p:sp>
        <p:nvSpPr>
          <p:cNvPr id="13" name="role:figure"/>
          <p:cNvSpPr txBox="1"/>
          <p:nvPr/>
        </p:nvSpPr>
        <p:spPr>
          <a:xfrm>
            <a:off x="713232" y="470916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+314%</a:t>
            </a:r>
            <a:endParaRPr lang="en-US" sz="3400" dirty="0"/>
          </a:p>
        </p:txBody>
      </p:sp>
      <p:sp>
        <p:nvSpPr>
          <p:cNvPr id="14" name="role:figure-label"/>
          <p:cNvSpPr txBox="1"/>
          <p:nvPr/>
        </p:nvSpPr>
        <p:spPr>
          <a:xfrm>
            <a:off x="713232" y="523240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Phone call conversions</a:t>
            </a:r>
            <a:endParaRPr lang="en-US" sz="1200" dirty="0"/>
          </a:p>
        </p:txBody>
      </p:sp>
      <p:sp>
        <p:nvSpPr>
          <p:cNvPr id="15" name="role:figure-label"/>
          <p:cNvSpPr txBox="1"/>
          <p:nvPr/>
        </p:nvSpPr>
        <p:spPr>
          <a:xfrm>
            <a:off x="713232" y="5717032"/>
            <a:ext cx="2179244" cy="37490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The Kind Insurance, 2025 vs 2024</a:t>
            </a:r>
            <a:endParaRPr lang="en-US" sz="1050" dirty="0"/>
          </a:p>
        </p:txBody>
      </p:sp>
      <p:sp>
        <p:nvSpPr>
          <p:cNvPr id="16" name="role:rule-v"/>
          <p:cNvSpPr/>
          <p:nvPr/>
        </p:nvSpPr>
        <p:spPr>
          <a:xfrm>
            <a:off x="3166796" y="4709160"/>
            <a:ext cx="0" cy="1492504"/>
          </a:xfrm>
          <a:prstGeom prst="line">
            <a:avLst/>
          </a:prstGeom>
          <a:noFill/>
          <a:ln w="9525">
            <a:solidFill>
              <a:srgbClr val="1E4460"/>
            </a:solidFill>
            <a:prstDash val="solid"/>
          </a:ln>
        </p:spPr>
      </p:sp>
      <p:sp>
        <p:nvSpPr>
          <p:cNvPr id="17" name="role:figure"/>
          <p:cNvSpPr txBox="1"/>
          <p:nvPr/>
        </p:nvSpPr>
        <p:spPr>
          <a:xfrm>
            <a:off x="3404540" y="470916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$38.88</a:t>
            </a:r>
            <a:endParaRPr lang="en-US" sz="3400" dirty="0"/>
          </a:p>
        </p:txBody>
      </p:sp>
      <p:sp>
        <p:nvSpPr>
          <p:cNvPr id="18" name="role:figure-label"/>
          <p:cNvSpPr txBox="1"/>
          <p:nvPr/>
        </p:nvSpPr>
        <p:spPr>
          <a:xfrm>
            <a:off x="3404540" y="523240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Average cost per lead</a:t>
            </a:r>
            <a:endParaRPr lang="en-US" sz="1200" dirty="0"/>
          </a:p>
        </p:txBody>
      </p:sp>
      <p:sp>
        <p:nvSpPr>
          <p:cNvPr id="19" name="role:figure-label"/>
          <p:cNvSpPr txBox="1"/>
          <p:nvPr/>
        </p:nvSpPr>
        <p:spPr>
          <a:xfrm>
            <a:off x="3404540" y="5717032"/>
            <a:ext cx="2179244" cy="37490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Bedford Housing, 1,130 form conversions</a:t>
            </a:r>
            <a:endParaRPr lang="en-US" sz="1050" dirty="0"/>
          </a:p>
        </p:txBody>
      </p:sp>
      <p:sp>
        <p:nvSpPr>
          <p:cNvPr id="20" name="role:rule-v"/>
          <p:cNvSpPr/>
          <p:nvPr/>
        </p:nvSpPr>
        <p:spPr>
          <a:xfrm>
            <a:off x="5858104" y="4709160"/>
            <a:ext cx="0" cy="1492504"/>
          </a:xfrm>
          <a:prstGeom prst="line">
            <a:avLst/>
          </a:prstGeom>
          <a:noFill/>
          <a:ln w="9525">
            <a:solidFill>
              <a:srgbClr val="1E4460"/>
            </a:solidFill>
            <a:prstDash val="solid"/>
          </a:ln>
        </p:spPr>
      </p:sp>
      <p:sp>
        <p:nvSpPr>
          <p:cNvPr id="21" name="role:figure"/>
          <p:cNvSpPr txBox="1"/>
          <p:nvPr/>
        </p:nvSpPr>
        <p:spPr>
          <a:xfrm>
            <a:off x="6095848" y="470916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$19.58</a:t>
            </a:r>
            <a:endParaRPr lang="en-US" sz="3400" dirty="0"/>
          </a:p>
        </p:txBody>
      </p:sp>
      <p:sp>
        <p:nvSpPr>
          <p:cNvPr id="22" name="role:figure-label"/>
          <p:cNvSpPr txBox="1"/>
          <p:nvPr/>
        </p:nvSpPr>
        <p:spPr>
          <a:xfrm>
            <a:off x="6095848" y="523240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Cost per lead</a:t>
            </a:r>
            <a:endParaRPr lang="en-US" sz="1200" dirty="0"/>
          </a:p>
        </p:txBody>
      </p:sp>
      <p:sp>
        <p:nvSpPr>
          <p:cNvPr id="23" name="role:figure-label"/>
          <p:cNvSpPr txBox="1"/>
          <p:nvPr/>
        </p:nvSpPr>
        <p:spPr>
          <a:xfrm>
            <a:off x="6095848" y="5717032"/>
            <a:ext cx="2179244" cy="37490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Jade International freight</a:t>
            </a:r>
            <a:endParaRPr lang="en-US" sz="1050" dirty="0"/>
          </a:p>
        </p:txBody>
      </p:sp>
      <p:sp>
        <p:nvSpPr>
          <p:cNvPr id="24" name="role:rule-v"/>
          <p:cNvSpPr/>
          <p:nvPr/>
        </p:nvSpPr>
        <p:spPr>
          <a:xfrm>
            <a:off x="8549411" y="4709160"/>
            <a:ext cx="0" cy="1492504"/>
          </a:xfrm>
          <a:prstGeom prst="line">
            <a:avLst/>
          </a:prstGeom>
          <a:noFill/>
          <a:ln w="9525">
            <a:solidFill>
              <a:srgbClr val="1E4460"/>
            </a:solidFill>
            <a:prstDash val="solid"/>
          </a:ln>
        </p:spPr>
      </p:sp>
      <p:sp>
        <p:nvSpPr>
          <p:cNvPr id="25" name="role:figure"/>
          <p:cNvSpPr txBox="1"/>
          <p:nvPr/>
        </p:nvSpPr>
        <p:spPr>
          <a:xfrm>
            <a:off x="8787155" y="470916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4.90%</a:t>
            </a:r>
            <a:endParaRPr lang="en-US" sz="3400" dirty="0"/>
          </a:p>
        </p:txBody>
      </p:sp>
      <p:sp>
        <p:nvSpPr>
          <p:cNvPr id="26" name="role:figure-label"/>
          <p:cNvSpPr txBox="1"/>
          <p:nvPr/>
        </p:nvSpPr>
        <p:spPr>
          <a:xfrm>
            <a:off x="8787155" y="523240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Average click through rate</a:t>
            </a:r>
            <a:endParaRPr lang="en-US" sz="1200" dirty="0"/>
          </a:p>
        </p:txBody>
      </p:sp>
      <p:sp>
        <p:nvSpPr>
          <p:cNvPr id="27" name="role:figure-label"/>
          <p:cNvSpPr txBox="1"/>
          <p:nvPr/>
        </p:nvSpPr>
        <p:spPr>
          <a:xfrm>
            <a:off x="8787155" y="5717032"/>
            <a:ext cx="2179244" cy="37490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LaserSkin MedSpa, Google Ads</a:t>
            </a:r>
            <a:endParaRPr lang="en-US" sz="1050" dirty="0"/>
          </a:p>
        </p:txBody>
      </p:sp>
      <p:sp>
        <p:nvSpPr>
          <p:cNvPr id="28"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9DB5C8"/>
                </a:solidFill>
                <a:latin typeface="Arial" pitchFamily="34" charset="0"/>
                <a:ea typeface="Arial" pitchFamily="34" charset="-122"/>
                <a:cs typeface="Arial" pitchFamily="34" charset="-120"/>
              </a:rPr>
              <a:t>Management is $1,500 per month plus your ad media budget. Media spend is paid to the platform, never to us.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90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2" decel="70000"/>
                                        <p:tgtEl>
                                          <p:spTgt spid="4"/>
                                        </p:tgtEl>
                                      </p:cBhvr>
                                    </p:animEffect>
                                    <p:anim calcmode="lin" valueType="num">
                                      <p:cBhvr additive="base">
                                        <p:cTn id="14" dur="322" decel="70000" fill="hold"/>
                                        <p:tgtEl>
                                          <p:spTgt spid="4"/>
                                        </p:tgtEl>
                                        <p:attrNameLst>
                                          <p:attrName>ppt_y</p:attrName>
                                        </p:attrNameLst>
                                      </p:cBhvr>
                                      <p:tavLst>
                                        <p:tav tm="0">
                                          <p:val>
                                            <p:strVal val="#ppt_y+0.032"/>
                                          </p:val>
                                        </p:tav>
                                        <p:tav tm="100000">
                                          <p:val>
                                            <p:strVal val="#ppt_y"/>
                                          </p:val>
                                        </p:tav>
                                      </p:tavLst>
                                    </p:anim>
                                  </p:childTnLst>
                                </p:cTn>
                              </p:par>
                              <p:par>
                                <p:cTn id="15" presetID="10" presetClass="entr" presetSubtype="0" fill="hold" grpId="0" nodeType="withEffect">
                                  <p:stCondLst>
                                    <p:cond delay="55"/>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82" decel="70000"/>
                                        <p:tgtEl>
                                          <p:spTgt spid="5"/>
                                        </p:tgtEl>
                                      </p:cBhvr>
                                    </p:animEffect>
                                    <p:anim calcmode="lin" valueType="num">
                                      <p:cBhvr additive="base">
                                        <p:cTn id="18" dur="482" decel="70000" fill="hold"/>
                                        <p:tgtEl>
                                          <p:spTgt spid="5"/>
                                        </p:tgtEl>
                                        <p:attrNameLst>
                                          <p:attrName>ppt_y</p:attrName>
                                        </p:attrNameLst>
                                      </p:cBhvr>
                                      <p:tavLst>
                                        <p:tav tm="0">
                                          <p:val>
                                            <p:strVal val="#ppt_y+0.0512"/>
                                          </p:val>
                                        </p:tav>
                                        <p:tav tm="100000">
                                          <p:val>
                                            <p:strVal val="#ppt_y"/>
                                          </p:val>
                                        </p:tav>
                                      </p:tavLst>
                                    </p:anim>
                                  </p:childTnLst>
                                </p:cTn>
                              </p:par>
                              <p:par>
                                <p:cTn id="19" presetID="10" presetClass="entr" presetSubtype="0" fill="hold" grpId="0" nodeType="withEffect">
                                  <p:stCondLst>
                                    <p:cond delay="11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390" decel="70000"/>
                                        <p:tgtEl>
                                          <p:spTgt spid="6"/>
                                        </p:tgtEl>
                                      </p:cBhvr>
                                    </p:animEffect>
                                    <p:anim calcmode="lin" valueType="num">
                                      <p:cBhvr additive="base">
                                        <p:cTn id="22" dur="390" decel="70000" fill="hold"/>
                                        <p:tgtEl>
                                          <p:spTgt spid="6"/>
                                        </p:tgtEl>
                                        <p:attrNameLst>
                                          <p:attrName>ppt_y</p:attrName>
                                        </p:attrNameLst>
                                      </p:cBhvr>
                                      <p:tavLst>
                                        <p:tav tm="0">
                                          <p:val>
                                            <p:strVal val="#ppt_y+0.0384"/>
                                          </p:val>
                                        </p:tav>
                                        <p:tav tm="100000">
                                          <p:val>
                                            <p:strVal val="#ppt_y"/>
                                          </p:val>
                                        </p:tav>
                                      </p:tavLst>
                                    </p:anim>
                                  </p:childTnLst>
                                </p:cTn>
                              </p:par>
                              <p:par>
                                <p:cTn id="23" presetID="10" presetClass="entr" presetSubtype="0" fill="hold" grpId="0" nodeType="withEffect">
                                  <p:stCondLst>
                                    <p:cond delay="165"/>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45" decel="70000"/>
                                        <p:tgtEl>
                                          <p:spTgt spid="8"/>
                                        </p:tgtEl>
                                      </p:cBhvr>
                                    </p:animEffect>
                                    <p:anim calcmode="lin" valueType="num">
                                      <p:cBhvr additive="base">
                                        <p:cTn id="26" dur="345" decel="70000" fill="hold"/>
                                        <p:tgtEl>
                                          <p:spTgt spid="8"/>
                                        </p:tgtEl>
                                        <p:attrNameLst>
                                          <p:attrName>ppt_y</p:attrName>
                                        </p:attrNameLst>
                                      </p:cBhvr>
                                      <p:tavLst>
                                        <p:tav tm="0">
                                          <p:val>
                                            <p:strVal val="#ppt_y+0.0288"/>
                                          </p:val>
                                        </p:tav>
                                        <p:tav tm="100000">
                                          <p:val>
                                            <p:strVal val="#ppt_y"/>
                                          </p:val>
                                        </p:tav>
                                      </p:tavLst>
                                    </p:anim>
                                  </p:childTnLst>
                                </p:cTn>
                              </p:par>
                              <p:par>
                                <p:cTn id="27" presetID="10" presetClass="entr" presetSubtype="0" fill="hold" grpId="0" nodeType="withEffect">
                                  <p:stCondLst>
                                    <p:cond delay="22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322" decel="70000"/>
                                        <p:tgtEl>
                                          <p:spTgt spid="9"/>
                                        </p:tgtEl>
                                      </p:cBhvr>
                                    </p:animEffect>
                                  </p:childTnLst>
                                </p:cTn>
                              </p:par>
                              <p:par>
                                <p:cTn id="30" presetID="22" presetClass="entr" presetSubtype="1" fill="hold" grpId="0" nodeType="withEffect">
                                  <p:stCondLst>
                                    <p:cond delay="275"/>
                                  </p:stCondLst>
                                  <p:childTnLst>
                                    <p:set>
                                      <p:cBhvr>
                                        <p:cTn id="31" dur="1" fill="hold">
                                          <p:stCondLst>
                                            <p:cond delay="0"/>
                                          </p:stCondLst>
                                        </p:cTn>
                                        <p:tgtEl>
                                          <p:spTgt spid="10"/>
                                        </p:tgtEl>
                                        <p:attrNameLst>
                                          <p:attrName>style.visibility</p:attrName>
                                        </p:attrNameLst>
                                      </p:cBhvr>
                                      <p:to>
                                        <p:strVal val="visible"/>
                                      </p:to>
                                    </p:set>
                                    <p:animEffect transition="in" filter="wipe(right)">
                                      <p:cBhvr>
                                        <p:cTn id="32" dur="529"/>
                                        <p:tgtEl>
                                          <p:spTgt spid="10"/>
                                        </p:tgtEl>
                                      </p:cBhvr>
                                    </p:animEffect>
                                  </p:childTnLst>
                                </p:cTn>
                              </p:par>
                              <p:par>
                                <p:cTn id="33" presetID="10" presetClass="entr" presetSubtype="0" fill="hold" grpId="0" nodeType="withEffect">
                                  <p:stCondLst>
                                    <p:cond delay="33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45" decel="70000"/>
                                        <p:tgtEl>
                                          <p:spTgt spid="11"/>
                                        </p:tgtEl>
                                      </p:cBhvr>
                                    </p:animEffect>
                                    <p:anim calcmode="lin" valueType="num">
                                      <p:cBhvr additive="base">
                                        <p:cTn id="36" dur="345" decel="70000" fill="hold"/>
                                        <p:tgtEl>
                                          <p:spTgt spid="11"/>
                                        </p:tgtEl>
                                        <p:attrNameLst>
                                          <p:attrName>ppt_y</p:attrName>
                                        </p:attrNameLst>
                                      </p:cBhvr>
                                      <p:tavLst>
                                        <p:tav tm="0">
                                          <p:val>
                                            <p:strVal val="#ppt_y+0.0288"/>
                                          </p:val>
                                        </p:tav>
                                        <p:tav tm="100000">
                                          <p:val>
                                            <p:strVal val="#ppt_y"/>
                                          </p:val>
                                        </p:tav>
                                      </p:tavLst>
                                    </p:anim>
                                  </p:childTnLst>
                                </p:cTn>
                              </p:par>
                              <p:par>
                                <p:cTn id="37" presetID="10" presetClass="entr" presetSubtype="0" fill="hold" grpId="0" nodeType="withEffect">
                                  <p:stCondLst>
                                    <p:cond delay="385"/>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322" decel="70000"/>
                                        <p:tgtEl>
                                          <p:spTgt spid="12"/>
                                        </p:tgtEl>
                                      </p:cBhvr>
                                    </p:animEffect>
                                  </p:childTnLst>
                                </p:cTn>
                              </p:par>
                              <p:par>
                                <p:cTn id="40" presetID="23" presetClass="entr" presetSubtype="0" fill="hold" grpId="0" nodeType="withEffect">
                                  <p:stCondLst>
                                    <p:cond delay="4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482" decel="70000"/>
                                        <p:tgtEl>
                                          <p:spTgt spid="13"/>
                                        </p:tgtEl>
                                      </p:cBhvr>
                                    </p:animEffect>
                                    <p:animScale>
                                      <p:cBhvr>
                                        <p:cTn id="43" dur="482" decel="70000" fill="hold"/>
                                        <p:tgtEl>
                                          <p:spTgt spid="13"/>
                                        </p:tgtEl>
                                      </p:cBhvr>
                                      <p:from x="82000" y="82000"/>
                                      <p:to x="100000" y="100000"/>
                                    </p:animScale>
                                  </p:childTnLst>
                                </p:cTn>
                              </p:par>
                              <p:par>
                                <p:cTn id="44" presetID="22" presetClass="entr" presetSubtype="1" fill="hold" grpId="0" nodeType="withEffect">
                                  <p:stCondLst>
                                    <p:cond delay="495"/>
                                  </p:stCondLst>
                                  <p:childTnLst>
                                    <p:set>
                                      <p:cBhvr>
                                        <p:cTn id="45" dur="1" fill="hold">
                                          <p:stCondLst>
                                            <p:cond delay="0"/>
                                          </p:stCondLst>
                                        </p:cTn>
                                        <p:tgtEl>
                                          <p:spTgt spid="16"/>
                                        </p:tgtEl>
                                        <p:attrNameLst>
                                          <p:attrName>style.visibility</p:attrName>
                                        </p:attrNameLst>
                                      </p:cBhvr>
                                      <p:to>
                                        <p:strVal val="visible"/>
                                      </p:to>
                                    </p:set>
                                    <p:animEffect transition="in" filter="wipe(down)">
                                      <p:cBhvr>
                                        <p:cTn id="46" dur="390"/>
                                        <p:tgtEl>
                                          <p:spTgt spid="16"/>
                                        </p:tgtEl>
                                      </p:cBhvr>
                                    </p:animEffect>
                                  </p:childTnLst>
                                </p:cTn>
                              </p:par>
                              <p:par>
                                <p:cTn id="47" presetID="23" presetClass="entr" presetSubtype="0" fill="hold" grpId="0" nodeType="withEffect">
                                  <p:stCondLst>
                                    <p:cond delay="55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82" decel="70000"/>
                                        <p:tgtEl>
                                          <p:spTgt spid="17"/>
                                        </p:tgtEl>
                                      </p:cBhvr>
                                    </p:animEffect>
                                    <p:animScale>
                                      <p:cBhvr>
                                        <p:cTn id="50" dur="482" decel="70000" fill="hold"/>
                                        <p:tgtEl>
                                          <p:spTgt spid="17"/>
                                        </p:tgtEl>
                                      </p:cBhvr>
                                      <p:from x="82000" y="82000"/>
                                      <p:to x="100000" y="100000"/>
                                    </p:animScale>
                                  </p:childTnLst>
                                </p:cTn>
                              </p:par>
                              <p:par>
                                <p:cTn id="51" presetID="22" presetClass="entr" presetSubtype="1" fill="hold" grpId="0" nodeType="withEffect">
                                  <p:stCondLst>
                                    <p:cond delay="605"/>
                                  </p:stCondLst>
                                  <p:childTnLst>
                                    <p:set>
                                      <p:cBhvr>
                                        <p:cTn id="52" dur="1" fill="hold">
                                          <p:stCondLst>
                                            <p:cond delay="0"/>
                                          </p:stCondLst>
                                        </p:cTn>
                                        <p:tgtEl>
                                          <p:spTgt spid="20"/>
                                        </p:tgtEl>
                                        <p:attrNameLst>
                                          <p:attrName>style.visibility</p:attrName>
                                        </p:attrNameLst>
                                      </p:cBhvr>
                                      <p:to>
                                        <p:strVal val="visible"/>
                                      </p:to>
                                    </p:set>
                                    <p:animEffect transition="in" filter="wipe(down)">
                                      <p:cBhvr>
                                        <p:cTn id="53" dur="390"/>
                                        <p:tgtEl>
                                          <p:spTgt spid="20"/>
                                        </p:tgtEl>
                                      </p:cBhvr>
                                    </p:animEffect>
                                  </p:childTnLst>
                                </p:cTn>
                              </p:par>
                              <p:par>
                                <p:cTn id="54" presetID="23" presetClass="entr" presetSubtype="0" fill="hold" grpId="0" nodeType="withEffect">
                                  <p:stCondLst>
                                    <p:cond delay="66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82" decel="70000"/>
                                        <p:tgtEl>
                                          <p:spTgt spid="21"/>
                                        </p:tgtEl>
                                      </p:cBhvr>
                                    </p:animEffect>
                                    <p:animScale>
                                      <p:cBhvr>
                                        <p:cTn id="57" dur="482" decel="70000" fill="hold"/>
                                        <p:tgtEl>
                                          <p:spTgt spid="21"/>
                                        </p:tgtEl>
                                      </p:cBhvr>
                                      <p:from x="82000" y="82000"/>
                                      <p:to x="100000" y="100000"/>
                                    </p:animScale>
                                  </p:childTnLst>
                                </p:cTn>
                              </p:par>
                              <p:par>
                                <p:cTn id="58" presetID="22" presetClass="entr" presetSubtype="1" fill="hold" grpId="0" nodeType="withEffect">
                                  <p:stCondLst>
                                    <p:cond delay="715"/>
                                  </p:stCondLst>
                                  <p:childTnLst>
                                    <p:set>
                                      <p:cBhvr>
                                        <p:cTn id="59" dur="1" fill="hold">
                                          <p:stCondLst>
                                            <p:cond delay="0"/>
                                          </p:stCondLst>
                                        </p:cTn>
                                        <p:tgtEl>
                                          <p:spTgt spid="24"/>
                                        </p:tgtEl>
                                        <p:attrNameLst>
                                          <p:attrName>style.visibility</p:attrName>
                                        </p:attrNameLst>
                                      </p:cBhvr>
                                      <p:to>
                                        <p:strVal val="visible"/>
                                      </p:to>
                                    </p:set>
                                    <p:animEffect transition="in" filter="wipe(down)">
                                      <p:cBhvr>
                                        <p:cTn id="60" dur="390"/>
                                        <p:tgtEl>
                                          <p:spTgt spid="24"/>
                                        </p:tgtEl>
                                      </p:cBhvr>
                                    </p:animEffect>
                                  </p:childTnLst>
                                </p:cTn>
                              </p:par>
                              <p:par>
                                <p:cTn id="61" presetID="23" presetClass="entr" presetSubtype="0" fill="hold" grpId="0" nodeType="withEffect">
                                  <p:stCondLst>
                                    <p:cond delay="77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82" decel="70000"/>
                                        <p:tgtEl>
                                          <p:spTgt spid="25"/>
                                        </p:tgtEl>
                                      </p:cBhvr>
                                    </p:animEffect>
                                    <p:animScale>
                                      <p:cBhvr>
                                        <p:cTn id="64" dur="482" decel="70000" fill="hold"/>
                                        <p:tgtEl>
                                          <p:spTgt spid="25"/>
                                        </p:tgtEl>
                                      </p:cBhvr>
                                      <p:from x="82000" y="82000"/>
                                      <p:to x="100000" y="100000"/>
                                    </p:animScale>
                                  </p:childTnLst>
                                </p:cTn>
                              </p:par>
                              <p:par>
                                <p:cTn id="65" presetID="10" presetClass="entr" presetSubtype="0" fill="hold" grpId="0" nodeType="withEffect">
                                  <p:stCondLst>
                                    <p:cond delay="825"/>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299" decel="70000"/>
                                        <p:tgtEl>
                                          <p:spTgt spid="14"/>
                                        </p:tgtEl>
                                      </p:cBhvr>
                                    </p:animEffect>
                                  </p:childTnLst>
                                </p:cTn>
                              </p:par>
                              <p:par>
                                <p:cTn id="68" presetID="10" presetClass="entr" presetSubtype="0" fill="hold" grpId="0" nodeType="withEffect">
                                  <p:stCondLst>
                                    <p:cond delay="88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299" decel="70000"/>
                                        <p:tgtEl>
                                          <p:spTgt spid="18"/>
                                        </p:tgtEl>
                                      </p:cBhvr>
                                    </p:animEffect>
                                  </p:childTnLst>
                                </p:cTn>
                              </p:par>
                              <p:par>
                                <p:cTn id="71" presetID="10" presetClass="entr" presetSubtype="0" fill="hold" grpId="0" nodeType="withEffect">
                                  <p:stCondLst>
                                    <p:cond delay="935"/>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299" decel="70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role:panel-right"/>
          <p:cNvSpPr/>
          <p:nvPr/>
        </p:nvSpPr>
        <p:spPr>
          <a:xfrm>
            <a:off x="7299655" y="0"/>
            <a:ext cx="4892040" cy="6858000"/>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8321040" y="3017520"/>
            <a:ext cx="4937760" cy="5857367"/>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658368"/>
            <a:ext cx="1371600" cy="294904"/>
          </a:xfrm>
          <a:prstGeom prst="rect">
            <a:avLst/>
          </a:prstGeom>
        </p:spPr>
      </p:pic>
      <p:sp>
        <p:nvSpPr>
          <p:cNvPr id="5"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SERVICE LINE</a:t>
            </a:r>
            <a:endParaRPr lang="en-US" sz="1050" dirty="0"/>
          </a:p>
        </p:txBody>
      </p:sp>
      <p:sp>
        <p:nvSpPr>
          <p:cNvPr id="6" name="role:title"/>
          <p:cNvSpPr txBox="1"/>
          <p:nvPr/>
        </p:nvSpPr>
        <p:spPr>
          <a:xfrm>
            <a:off x="713232" y="987552"/>
            <a:ext cx="6583680"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Social media</a:t>
            </a:r>
            <a:endParaRPr lang="en-US" sz="3900" dirty="0"/>
          </a:p>
        </p:txBody>
      </p:sp>
      <p:sp>
        <p:nvSpPr>
          <p:cNvPr id="7" name="role:sub"/>
          <p:cNvSpPr txBox="1"/>
          <p:nvPr/>
        </p:nvSpPr>
        <p:spPr>
          <a:xfrm>
            <a:off x="713232" y="1703070"/>
            <a:ext cx="6583680" cy="649224"/>
          </a:xfrm>
          <a:prstGeom prst="rect">
            <a:avLst/>
          </a:prstGeom>
          <a:noFill/>
          <a:ln/>
        </p:spPr>
        <p:txBody>
          <a:bodyPr wrap="square" lIns="0" tIns="0" rIns="0" bIns="0" rtlCol="0" anchor="t"/>
          <a:lstStyle/>
          <a:p>
            <a:pPr algn="l" indent="0" marL="0">
              <a:lnSpc>
                <a:spcPct val="128000"/>
              </a:lnSpc>
              <a:buNone/>
            </a:pPr>
            <a:r>
              <a:rPr lang="en-US" sz="1800" dirty="0">
                <a:solidFill>
                  <a:srgbClr val="5A6772"/>
                </a:solidFill>
                <a:latin typeface="Arial" pitchFamily="34" charset="0"/>
                <a:ea typeface="Arial" pitchFamily="34" charset="-122"/>
                <a:cs typeface="Arial" pitchFamily="34" charset="-120"/>
              </a:rPr>
              <a:t>A real calendar, real design, and a channel that compounds.</a:t>
            </a:r>
            <a:endParaRPr lang="en-US" sz="1800" dirty="0"/>
          </a:p>
        </p:txBody>
      </p:sp>
      <p:sp>
        <p:nvSpPr>
          <p:cNvPr id="8"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06</a:t>
            </a:r>
            <a:endParaRPr lang="en-US" sz="1050" dirty="0"/>
          </a:p>
        </p:txBody>
      </p:sp>
      <p:sp>
        <p:nvSpPr>
          <p:cNvPr id="9" name="role:row-head"/>
          <p:cNvSpPr txBox="1"/>
          <p:nvPr/>
        </p:nvSpPr>
        <p:spPr>
          <a:xfrm>
            <a:off x="713232" y="2788920"/>
            <a:ext cx="1828800" cy="268224"/>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Channels</a:t>
            </a:r>
            <a:endParaRPr lang="en-US" sz="1500" dirty="0"/>
          </a:p>
        </p:txBody>
      </p:sp>
      <p:sp>
        <p:nvSpPr>
          <p:cNvPr id="10" name="role:row-body"/>
          <p:cNvSpPr txBox="1"/>
          <p:nvPr/>
        </p:nvSpPr>
        <p:spPr>
          <a:xfrm>
            <a:off x="2953512" y="2788920"/>
            <a:ext cx="4069080" cy="4612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Facebook, Instagram, TikTok, Pinterest and LinkedIn.</a:t>
            </a:r>
            <a:endParaRPr lang="en-US" sz="1250" dirty="0"/>
          </a:p>
        </p:txBody>
      </p:sp>
      <p:sp>
        <p:nvSpPr>
          <p:cNvPr id="11" name="role:rule-h"/>
          <p:cNvSpPr/>
          <p:nvPr/>
        </p:nvSpPr>
        <p:spPr>
          <a:xfrm>
            <a:off x="713232" y="3369056"/>
            <a:ext cx="6309360" cy="0"/>
          </a:xfrm>
          <a:prstGeom prst="line">
            <a:avLst/>
          </a:prstGeom>
          <a:noFill/>
          <a:ln w="9525">
            <a:solidFill>
              <a:srgbClr val="E2EAF1"/>
            </a:solidFill>
            <a:prstDash val="solid"/>
          </a:ln>
        </p:spPr>
      </p:sp>
      <p:sp>
        <p:nvSpPr>
          <p:cNvPr id="12" name="role:row-head"/>
          <p:cNvSpPr txBox="1"/>
          <p:nvPr/>
        </p:nvSpPr>
        <p:spPr>
          <a:xfrm>
            <a:off x="713232" y="3487928"/>
            <a:ext cx="1828800" cy="268224"/>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Every month</a:t>
            </a:r>
            <a:endParaRPr lang="en-US" sz="1500" dirty="0"/>
          </a:p>
        </p:txBody>
      </p:sp>
      <p:sp>
        <p:nvSpPr>
          <p:cNvPr id="13" name="role:row-body"/>
          <p:cNvSpPr txBox="1"/>
          <p:nvPr/>
        </p:nvSpPr>
        <p:spPr>
          <a:xfrm>
            <a:off x="2953512" y="3487928"/>
            <a:ext cx="4069080" cy="6644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A content calendar built a month ahead, posts designed in your brand, three posts a week, stories and hashtags.</a:t>
            </a:r>
            <a:endParaRPr lang="en-US" sz="1250" dirty="0"/>
          </a:p>
        </p:txBody>
      </p:sp>
      <p:sp>
        <p:nvSpPr>
          <p:cNvPr id="14" name="role:rule-h"/>
          <p:cNvSpPr/>
          <p:nvPr/>
        </p:nvSpPr>
        <p:spPr>
          <a:xfrm>
            <a:off x="713232" y="4271264"/>
            <a:ext cx="6309360" cy="0"/>
          </a:xfrm>
          <a:prstGeom prst="line">
            <a:avLst/>
          </a:prstGeom>
          <a:noFill/>
          <a:ln w="9525">
            <a:solidFill>
              <a:srgbClr val="E2EAF1"/>
            </a:solidFill>
            <a:prstDash val="solid"/>
          </a:ln>
        </p:spPr>
      </p:sp>
      <p:sp>
        <p:nvSpPr>
          <p:cNvPr id="15" name="role:row-head"/>
          <p:cNvSpPr txBox="1"/>
          <p:nvPr/>
        </p:nvSpPr>
        <p:spPr>
          <a:xfrm>
            <a:off x="713232" y="4390136"/>
            <a:ext cx="1828800" cy="268224"/>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And then</a:t>
            </a:r>
            <a:endParaRPr lang="en-US" sz="1500" dirty="0"/>
          </a:p>
        </p:txBody>
      </p:sp>
      <p:sp>
        <p:nvSpPr>
          <p:cNvPr id="16" name="role:row-body"/>
          <p:cNvSpPr txBox="1"/>
          <p:nvPr/>
        </p:nvSpPr>
        <p:spPr>
          <a:xfrm>
            <a:off x="2953512" y="4390136"/>
            <a:ext cx="4069080" cy="461264"/>
          </a:xfrm>
          <a:prstGeom prst="rect">
            <a:avLst/>
          </a:prstGeom>
          <a:noFill/>
          <a:ln/>
        </p:spPr>
        <p:txBody>
          <a:bodyPr wrap="square" lIns="0" tIns="0" rIns="0" bIns="0" rtlCol="0" anchor="t"/>
          <a:lstStyle/>
          <a:p>
            <a:pPr algn="l" indent="0" marL="0">
              <a:lnSpc>
                <a:spcPct val="128000"/>
              </a:lnSpc>
              <a:buNone/>
            </a:pPr>
            <a:r>
              <a:rPr lang="en-US" sz="1250" dirty="0">
                <a:solidFill>
                  <a:srgbClr val="5A6772"/>
                </a:solidFill>
                <a:latin typeface="Arial" pitchFamily="34" charset="0"/>
                <a:ea typeface="Arial" pitchFamily="34" charset="-122"/>
                <a:cs typeface="Arial" pitchFamily="34" charset="-120"/>
              </a:rPr>
              <a:t>Engagement and follower growth work, with analytics reported every month.</a:t>
            </a:r>
            <a:endParaRPr lang="en-US" sz="1250" dirty="0"/>
          </a:p>
        </p:txBody>
      </p:sp>
      <p:sp>
        <p:nvSpPr>
          <p:cNvPr id="17" name="role:kicker"/>
          <p:cNvSpPr txBox="1"/>
          <p:nvPr/>
        </p:nvSpPr>
        <p:spPr>
          <a:xfrm>
            <a:off x="7726680" y="1371600"/>
            <a:ext cx="374904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PROOF · GRAND ENTRY DOORS</a:t>
            </a:r>
            <a:endParaRPr lang="en-US" sz="1050" dirty="0"/>
          </a:p>
        </p:txBody>
      </p:sp>
      <p:sp>
        <p:nvSpPr>
          <p:cNvPr id="18" name="role:body"/>
          <p:cNvSpPr txBox="1"/>
          <p:nvPr/>
        </p:nvSpPr>
        <p:spPr>
          <a:xfrm>
            <a:off x="7726680" y="1700784"/>
            <a:ext cx="3749040" cy="594868"/>
          </a:xfrm>
          <a:prstGeom prst="rect">
            <a:avLst/>
          </a:prstGeom>
          <a:noFill/>
          <a:ln/>
        </p:spPr>
        <p:txBody>
          <a:bodyPr wrap="square" lIns="0" tIns="0" rIns="0" bIns="0" rtlCol="0" anchor="t"/>
          <a:lstStyle/>
          <a:p>
            <a:pPr algn="l" indent="0" marL="0">
              <a:lnSpc>
                <a:spcPct val="110000"/>
              </a:lnSpc>
              <a:buNone/>
            </a:pPr>
            <a:r>
              <a:rPr lang="en-US" sz="1900" b="1" dirty="0">
                <a:solidFill>
                  <a:srgbClr val="FFFFFF"/>
                </a:solidFill>
                <a:latin typeface="Arial" pitchFamily="34" charset="0"/>
                <a:ea typeface="Arial" pitchFamily="34" charset="-122"/>
                <a:cs typeface="Arial" pitchFamily="34" charset="-120"/>
              </a:rPr>
              <a:t>A dormant Pinterest account turned into a growth channel</a:t>
            </a:r>
            <a:endParaRPr lang="en-US" sz="1900" dirty="0"/>
          </a:p>
        </p:txBody>
      </p:sp>
      <p:sp>
        <p:nvSpPr>
          <p:cNvPr id="19" name="role:figure"/>
          <p:cNvSpPr txBox="1"/>
          <p:nvPr/>
        </p:nvSpPr>
        <p:spPr>
          <a:xfrm>
            <a:off x="7726680" y="2679700"/>
            <a:ext cx="1783080" cy="419608"/>
          </a:xfrm>
          <a:prstGeom prst="rect">
            <a:avLst/>
          </a:prstGeom>
          <a:noFill/>
          <a:ln/>
        </p:spPr>
        <p:txBody>
          <a:bodyPr wrap="square" lIns="0" tIns="0" rIns="0" bIns="0" rtlCol="0" anchor="t"/>
          <a:lstStyle/>
          <a:p>
            <a:pPr algn="l" indent="0" marL="0">
              <a:lnSpc>
                <a:spcPct val="100000"/>
              </a:lnSpc>
              <a:buNone/>
            </a:pPr>
            <a:r>
              <a:rPr lang="en-US" sz="2800" b="1" dirty="0">
                <a:solidFill>
                  <a:srgbClr val="5AA7E0"/>
                </a:solidFill>
                <a:latin typeface="Arial" pitchFamily="34" charset="0"/>
                <a:ea typeface="Arial" pitchFamily="34" charset="-122"/>
                <a:cs typeface="Arial" pitchFamily="34" charset="-120"/>
              </a:rPr>
              <a:t>6.09M</a:t>
            </a:r>
            <a:endParaRPr lang="en-US" sz="2800" dirty="0"/>
          </a:p>
        </p:txBody>
      </p:sp>
      <p:sp>
        <p:nvSpPr>
          <p:cNvPr id="20" name="role:figure-label"/>
          <p:cNvSpPr txBox="1"/>
          <p:nvPr/>
        </p:nvSpPr>
        <p:spPr>
          <a:xfrm>
            <a:off x="7726680" y="3154172"/>
            <a:ext cx="1783080" cy="246888"/>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Impressions in 2025</a:t>
            </a:r>
            <a:endParaRPr lang="en-US" sz="1200" dirty="0"/>
          </a:p>
        </p:txBody>
      </p:sp>
      <p:sp>
        <p:nvSpPr>
          <p:cNvPr id="21" name="role:figure"/>
          <p:cNvSpPr txBox="1"/>
          <p:nvPr/>
        </p:nvSpPr>
        <p:spPr>
          <a:xfrm>
            <a:off x="9692640" y="2679700"/>
            <a:ext cx="1783080" cy="419608"/>
          </a:xfrm>
          <a:prstGeom prst="rect">
            <a:avLst/>
          </a:prstGeom>
          <a:noFill/>
          <a:ln/>
        </p:spPr>
        <p:txBody>
          <a:bodyPr wrap="square" lIns="0" tIns="0" rIns="0" bIns="0" rtlCol="0" anchor="t"/>
          <a:lstStyle/>
          <a:p>
            <a:pPr algn="l" indent="0" marL="0">
              <a:lnSpc>
                <a:spcPct val="100000"/>
              </a:lnSpc>
              <a:buNone/>
            </a:pPr>
            <a:r>
              <a:rPr lang="en-US" sz="2800" b="1" dirty="0">
                <a:solidFill>
                  <a:srgbClr val="5AA7E0"/>
                </a:solidFill>
                <a:latin typeface="Arial" pitchFamily="34" charset="0"/>
                <a:ea typeface="Arial" pitchFamily="34" charset="-122"/>
                <a:cs typeface="Arial" pitchFamily="34" charset="-120"/>
              </a:rPr>
              <a:t>217.59K</a:t>
            </a:r>
            <a:endParaRPr lang="en-US" sz="2800" dirty="0"/>
          </a:p>
        </p:txBody>
      </p:sp>
      <p:sp>
        <p:nvSpPr>
          <p:cNvPr id="22" name="role:figure-label"/>
          <p:cNvSpPr txBox="1"/>
          <p:nvPr/>
        </p:nvSpPr>
        <p:spPr>
          <a:xfrm>
            <a:off x="9692640" y="3154172"/>
            <a:ext cx="1783080" cy="246888"/>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Engagements</a:t>
            </a:r>
            <a:endParaRPr lang="en-US" sz="1200" dirty="0"/>
          </a:p>
        </p:txBody>
      </p:sp>
      <p:sp>
        <p:nvSpPr>
          <p:cNvPr id="23" name="role:figure"/>
          <p:cNvSpPr txBox="1"/>
          <p:nvPr/>
        </p:nvSpPr>
        <p:spPr>
          <a:xfrm>
            <a:off x="7726680" y="3978148"/>
            <a:ext cx="1783080" cy="419608"/>
          </a:xfrm>
          <a:prstGeom prst="rect">
            <a:avLst/>
          </a:prstGeom>
          <a:noFill/>
          <a:ln/>
        </p:spPr>
        <p:txBody>
          <a:bodyPr wrap="square" lIns="0" tIns="0" rIns="0" bIns="0" rtlCol="0" anchor="t"/>
          <a:lstStyle/>
          <a:p>
            <a:pPr algn="l" indent="0" marL="0">
              <a:lnSpc>
                <a:spcPct val="100000"/>
              </a:lnSpc>
              <a:buNone/>
            </a:pPr>
            <a:r>
              <a:rPr lang="en-US" sz="2800" b="1" dirty="0">
                <a:solidFill>
                  <a:srgbClr val="5AA7E0"/>
                </a:solidFill>
                <a:latin typeface="Arial" pitchFamily="34" charset="0"/>
                <a:ea typeface="Arial" pitchFamily="34" charset="-122"/>
                <a:cs typeface="Arial" pitchFamily="34" charset="-120"/>
              </a:rPr>
              <a:t>34.66K</a:t>
            </a:r>
            <a:endParaRPr lang="en-US" sz="2800" dirty="0"/>
          </a:p>
        </p:txBody>
      </p:sp>
      <p:sp>
        <p:nvSpPr>
          <p:cNvPr id="24" name="role:figure-label"/>
          <p:cNvSpPr txBox="1"/>
          <p:nvPr/>
        </p:nvSpPr>
        <p:spPr>
          <a:xfrm>
            <a:off x="7726680" y="4452620"/>
            <a:ext cx="1783080" cy="246888"/>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Saves</a:t>
            </a:r>
            <a:endParaRPr lang="en-US" sz="1200" dirty="0"/>
          </a:p>
        </p:txBody>
      </p:sp>
      <p:sp>
        <p:nvSpPr>
          <p:cNvPr id="25" name="role:figure"/>
          <p:cNvSpPr txBox="1"/>
          <p:nvPr/>
        </p:nvSpPr>
        <p:spPr>
          <a:xfrm>
            <a:off x="9692640" y="3978148"/>
            <a:ext cx="1783080" cy="419608"/>
          </a:xfrm>
          <a:prstGeom prst="rect">
            <a:avLst/>
          </a:prstGeom>
          <a:noFill/>
          <a:ln/>
        </p:spPr>
        <p:txBody>
          <a:bodyPr wrap="square" lIns="0" tIns="0" rIns="0" bIns="0" rtlCol="0" anchor="t"/>
          <a:lstStyle/>
          <a:p>
            <a:pPr algn="l" indent="0" marL="0">
              <a:lnSpc>
                <a:spcPct val="100000"/>
              </a:lnSpc>
              <a:buNone/>
            </a:pPr>
            <a:r>
              <a:rPr lang="en-US" sz="2800" b="1" dirty="0">
                <a:solidFill>
                  <a:srgbClr val="5AA7E0"/>
                </a:solidFill>
                <a:latin typeface="Arial" pitchFamily="34" charset="0"/>
                <a:ea typeface="Arial" pitchFamily="34" charset="-122"/>
                <a:cs typeface="Arial" pitchFamily="34" charset="-120"/>
              </a:rPr>
              <a:t>91.89K</a:t>
            </a:r>
            <a:endParaRPr lang="en-US" sz="2800" dirty="0"/>
          </a:p>
        </p:txBody>
      </p:sp>
      <p:sp>
        <p:nvSpPr>
          <p:cNvPr id="26" name="role:figure-label"/>
          <p:cNvSpPr txBox="1"/>
          <p:nvPr/>
        </p:nvSpPr>
        <p:spPr>
          <a:xfrm>
            <a:off x="9692640" y="4452620"/>
            <a:ext cx="1783080" cy="246888"/>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Engaged audience</a:t>
            </a:r>
            <a:endParaRPr lang="en-US" sz="1200" dirty="0"/>
          </a:p>
        </p:txBody>
      </p:sp>
      <p:sp>
        <p:nvSpPr>
          <p:cNvPr id="27"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Social media management starts at $1,000 per month and scales with post volume.</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10" presetClass="entr" presetSubtype="0" fill="hold" grpId="0" nodeType="withEffect">
                                  <p:stCondLst>
                                    <p:cond delay="11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322" decel="70000"/>
                                        <p:tgtEl>
                                          <p:spTgt spid="17"/>
                                        </p:tgtEl>
                                      </p:cBhvr>
                                    </p:animEffect>
                                    <p:anim calcmode="lin" valueType="num">
                                      <p:cBhvr additive="base">
                                        <p:cTn id="25" dur="322" decel="70000" fill="hold"/>
                                        <p:tgtEl>
                                          <p:spTgt spid="17"/>
                                        </p:tgtEl>
                                        <p:attrNameLst>
                                          <p:attrName>ppt_y</p:attrName>
                                        </p:attrNameLst>
                                      </p:cBhvr>
                                      <p:tavLst>
                                        <p:tav tm="0">
                                          <p:val>
                                            <p:strVal val="#ppt_y+0.032"/>
                                          </p:val>
                                        </p:tav>
                                        <p:tav tm="100000">
                                          <p:val>
                                            <p:strVal val="#ppt_y"/>
                                          </p:val>
                                        </p:tav>
                                      </p:tavLst>
                                    </p:anim>
                                  </p:childTnLst>
                                </p:cTn>
                              </p:par>
                              <p:par>
                                <p:cTn id="26" presetID="10" presetClass="entr" presetSubtype="0" fill="hold" grpId="0" nodeType="withEffect">
                                  <p:stCondLst>
                                    <p:cond delay="165"/>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322" decel="70000"/>
                                        <p:tgtEl>
                                          <p:spTgt spid="18"/>
                                        </p:tgtEl>
                                      </p:cBhvr>
                                    </p:animEffect>
                                  </p:childTnLst>
                                </p:cTn>
                              </p:par>
                              <p:par>
                                <p:cTn id="29" presetID="10" presetClass="entr" presetSubtype="0" fill="hold" grpId="0" nodeType="withEffect">
                                  <p:stCondLst>
                                    <p:cond delay="22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90" decel="70000"/>
                                        <p:tgtEl>
                                          <p:spTgt spid="7"/>
                                        </p:tgtEl>
                                      </p:cBhvr>
                                    </p:animEffect>
                                    <p:anim calcmode="lin" valueType="num">
                                      <p:cBhvr additive="base">
                                        <p:cTn id="32" dur="390" decel="70000" fill="hold"/>
                                        <p:tgtEl>
                                          <p:spTgt spid="7"/>
                                        </p:tgtEl>
                                        <p:attrNameLst>
                                          <p:attrName>ppt_y</p:attrName>
                                        </p:attrNameLst>
                                      </p:cBhvr>
                                      <p:tavLst>
                                        <p:tav tm="0">
                                          <p:val>
                                            <p:strVal val="#ppt_y+0.0384"/>
                                          </p:val>
                                        </p:tav>
                                        <p:tav tm="100000">
                                          <p:val>
                                            <p:strVal val="#ppt_y"/>
                                          </p:val>
                                        </p:tav>
                                      </p:tavLst>
                                    </p:anim>
                                  </p:childTnLst>
                                </p:cTn>
                              </p:par>
                              <p:par>
                                <p:cTn id="33" presetID="23" presetClass="entr" presetSubtype="0" fill="hold" grpId="0" nodeType="withEffect">
                                  <p:stCondLst>
                                    <p:cond delay="275"/>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82" decel="70000"/>
                                        <p:tgtEl>
                                          <p:spTgt spid="19"/>
                                        </p:tgtEl>
                                      </p:cBhvr>
                                    </p:animEffect>
                                    <p:animScale>
                                      <p:cBhvr>
                                        <p:cTn id="36" dur="482" decel="70000" fill="hold"/>
                                        <p:tgtEl>
                                          <p:spTgt spid="19"/>
                                        </p:tgtEl>
                                      </p:cBhvr>
                                      <p:from x="82000" y="82000"/>
                                      <p:to x="100000" y="100000"/>
                                    </p:animScale>
                                  </p:childTnLst>
                                </p:cTn>
                              </p:par>
                              <p:par>
                                <p:cTn id="37" presetID="23" presetClass="entr" presetSubtype="0" fill="hold" grpId="0" nodeType="withEffect">
                                  <p:stCondLst>
                                    <p:cond delay="33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82" decel="70000"/>
                                        <p:tgtEl>
                                          <p:spTgt spid="21"/>
                                        </p:tgtEl>
                                      </p:cBhvr>
                                    </p:animEffect>
                                    <p:animScale>
                                      <p:cBhvr>
                                        <p:cTn id="40" dur="482" decel="70000" fill="hold"/>
                                        <p:tgtEl>
                                          <p:spTgt spid="21"/>
                                        </p:tgtEl>
                                      </p:cBhvr>
                                      <p:from x="82000" y="82000"/>
                                      <p:to x="100000" y="100000"/>
                                    </p:animScale>
                                  </p:childTnLst>
                                </p:cTn>
                              </p:par>
                              <p:par>
                                <p:cTn id="41" presetID="10" presetClass="entr" presetSubtype="0" fill="hold" grpId="0" nodeType="withEffect">
                                  <p:stCondLst>
                                    <p:cond delay="385"/>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345" decel="70000"/>
                                        <p:tgtEl>
                                          <p:spTgt spid="9"/>
                                        </p:tgtEl>
                                      </p:cBhvr>
                                    </p:animEffect>
                                    <p:anim calcmode="lin" valueType="num">
                                      <p:cBhvr additive="base">
                                        <p:cTn id="44" dur="345" decel="70000" fill="hold"/>
                                        <p:tgtEl>
                                          <p:spTgt spid="9"/>
                                        </p:tgtEl>
                                        <p:attrNameLst>
                                          <p:attrName>ppt_y</p:attrName>
                                        </p:attrNameLst>
                                      </p:cBhvr>
                                      <p:tavLst>
                                        <p:tav tm="0">
                                          <p:val>
                                            <p:strVal val="#ppt_y+0.0288"/>
                                          </p:val>
                                        </p:tav>
                                        <p:tav tm="100000">
                                          <p:val>
                                            <p:strVal val="#ppt_y"/>
                                          </p:val>
                                        </p:tav>
                                      </p:tavLst>
                                    </p:anim>
                                  </p:childTnLst>
                                </p:cTn>
                              </p:par>
                              <p:par>
                                <p:cTn id="45" presetID="10" presetClass="entr" presetSubtype="0" fill="hold" grpId="0" nodeType="withEffect">
                                  <p:stCondLst>
                                    <p:cond delay="44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322" decel="70000"/>
                                        <p:tgtEl>
                                          <p:spTgt spid="10"/>
                                        </p:tgtEl>
                                      </p:cBhvr>
                                    </p:animEffect>
                                  </p:childTnLst>
                                </p:cTn>
                              </p:par>
                              <p:par>
                                <p:cTn id="48" presetID="10" presetClass="entr" presetSubtype="0" fill="hold" grpId="0" nodeType="withEffect">
                                  <p:stCondLst>
                                    <p:cond delay="495"/>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299" decel="70000"/>
                                        <p:tgtEl>
                                          <p:spTgt spid="20"/>
                                        </p:tgtEl>
                                      </p:cBhvr>
                                    </p:animEffect>
                                  </p:childTnLst>
                                </p:cTn>
                              </p:par>
                              <p:par>
                                <p:cTn id="51" presetID="10" presetClass="entr" presetSubtype="0" fill="hold" grpId="0" nodeType="withEffect">
                                  <p:stCondLst>
                                    <p:cond delay="5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299" decel="70000"/>
                                        <p:tgtEl>
                                          <p:spTgt spid="22"/>
                                        </p:tgtEl>
                                      </p:cBhvr>
                                    </p:animEffect>
                                  </p:childTnLst>
                                </p:cTn>
                              </p:par>
                              <p:par>
                                <p:cTn id="54" presetID="22" presetClass="entr" presetSubtype="1" fill="hold" grpId="0" nodeType="withEffect">
                                  <p:stCondLst>
                                    <p:cond delay="605"/>
                                  </p:stCondLst>
                                  <p:childTnLst>
                                    <p:set>
                                      <p:cBhvr>
                                        <p:cTn id="55" dur="1" fill="hold">
                                          <p:stCondLst>
                                            <p:cond delay="0"/>
                                          </p:stCondLst>
                                        </p:cTn>
                                        <p:tgtEl>
                                          <p:spTgt spid="11"/>
                                        </p:tgtEl>
                                        <p:attrNameLst>
                                          <p:attrName>style.visibility</p:attrName>
                                        </p:attrNameLst>
                                      </p:cBhvr>
                                      <p:to>
                                        <p:strVal val="visible"/>
                                      </p:to>
                                    </p:set>
                                    <p:animEffect transition="in" filter="wipe(right)">
                                      <p:cBhvr>
                                        <p:cTn id="56" dur="529"/>
                                        <p:tgtEl>
                                          <p:spTgt spid="11"/>
                                        </p:tgtEl>
                                      </p:cBhvr>
                                    </p:animEffect>
                                  </p:childTnLst>
                                </p:cTn>
                              </p:par>
                              <p:par>
                                <p:cTn id="57" presetID="10" presetClass="entr" presetSubtype="0" fill="hold" grpId="0" nodeType="withEffect">
                                  <p:stCondLst>
                                    <p:cond delay="660"/>
                                  </p:stCondLst>
                                  <p:childTnLst>
                                    <p:set>
                                      <p:cBhvr>
                                        <p:cTn id="58" dur="1" fill="hold">
                                          <p:stCondLst>
                                            <p:cond delay="0"/>
                                          </p:stCondLst>
                                        </p:cTn>
                                        <p:tgtEl>
                                          <p:spTgt spid="12"/>
                                        </p:tgtEl>
                                        <p:attrNameLst>
                                          <p:attrName>style.visibility</p:attrName>
                                        </p:attrNameLst>
                                      </p:cBhvr>
                                      <p:to>
                                        <p:strVal val="visible"/>
                                      </p:to>
                                    </p:set>
                                    <p:animEffect transition="in" filter="fade">
                                      <p:cBhvr>
                                        <p:cTn id="59" dur="345" decel="70000"/>
                                        <p:tgtEl>
                                          <p:spTgt spid="12"/>
                                        </p:tgtEl>
                                      </p:cBhvr>
                                    </p:animEffect>
                                    <p:anim calcmode="lin" valueType="num">
                                      <p:cBhvr additive="base">
                                        <p:cTn id="60" dur="345" decel="70000" fill="hold"/>
                                        <p:tgtEl>
                                          <p:spTgt spid="12"/>
                                        </p:tgtEl>
                                        <p:attrNameLst>
                                          <p:attrName>ppt_y</p:attrName>
                                        </p:attrNameLst>
                                      </p:cBhvr>
                                      <p:tavLst>
                                        <p:tav tm="0">
                                          <p:val>
                                            <p:strVal val="#ppt_y+0.0288"/>
                                          </p:val>
                                        </p:tav>
                                        <p:tav tm="100000">
                                          <p:val>
                                            <p:strVal val="#ppt_y"/>
                                          </p:val>
                                        </p:tav>
                                      </p:tavLst>
                                    </p:anim>
                                  </p:childTnLst>
                                </p:cTn>
                              </p:par>
                              <p:par>
                                <p:cTn id="61" presetID="10" presetClass="entr" presetSubtype="0" fill="hold" grpId="0" nodeType="withEffect">
                                  <p:stCondLst>
                                    <p:cond delay="715"/>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322" decel="70000"/>
                                        <p:tgtEl>
                                          <p:spTgt spid="13"/>
                                        </p:tgtEl>
                                      </p:cBhvr>
                                    </p:animEffect>
                                  </p:childTnLst>
                                </p:cTn>
                              </p:par>
                              <p:par>
                                <p:cTn id="64" presetID="23" presetClass="entr" presetSubtype="0" fill="hold" grpId="0" nodeType="withEffect">
                                  <p:stCondLst>
                                    <p:cond delay="77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82" decel="70000"/>
                                        <p:tgtEl>
                                          <p:spTgt spid="23"/>
                                        </p:tgtEl>
                                      </p:cBhvr>
                                    </p:animEffect>
                                    <p:animScale>
                                      <p:cBhvr>
                                        <p:cTn id="67" dur="482" decel="70000" fill="hold"/>
                                        <p:tgtEl>
                                          <p:spTgt spid="23"/>
                                        </p:tgtEl>
                                      </p:cBhvr>
                                      <p:from x="82000" y="82000"/>
                                      <p:to x="100000" y="100000"/>
                                    </p:animScale>
                                  </p:childTnLst>
                                </p:cTn>
                              </p:par>
                              <p:par>
                                <p:cTn id="68" presetID="23" presetClass="entr" presetSubtype="0" fill="hold" grpId="0" nodeType="withEffect">
                                  <p:stCondLst>
                                    <p:cond delay="825"/>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82" decel="70000"/>
                                        <p:tgtEl>
                                          <p:spTgt spid="25"/>
                                        </p:tgtEl>
                                      </p:cBhvr>
                                    </p:animEffect>
                                    <p:animScale>
                                      <p:cBhvr>
                                        <p:cTn id="71" dur="482" decel="70000" fill="hold"/>
                                        <p:tgtEl>
                                          <p:spTgt spid="25"/>
                                        </p:tgtEl>
                                      </p:cBhvr>
                                      <p:from x="82000" y="82000"/>
                                      <p:to x="100000" y="100000"/>
                                    </p:animScale>
                                  </p:childTnLst>
                                </p:cTn>
                              </p:par>
                              <p:par>
                                <p:cTn id="72" presetID="22" presetClass="entr" presetSubtype="1" fill="hold" grpId="0" nodeType="withEffect">
                                  <p:stCondLst>
                                    <p:cond delay="880"/>
                                  </p:stCondLst>
                                  <p:childTnLst>
                                    <p:set>
                                      <p:cBhvr>
                                        <p:cTn id="73" dur="1" fill="hold">
                                          <p:stCondLst>
                                            <p:cond delay="0"/>
                                          </p:stCondLst>
                                        </p:cTn>
                                        <p:tgtEl>
                                          <p:spTgt spid="14"/>
                                        </p:tgtEl>
                                        <p:attrNameLst>
                                          <p:attrName>style.visibility</p:attrName>
                                        </p:attrNameLst>
                                      </p:cBhvr>
                                      <p:to>
                                        <p:strVal val="visible"/>
                                      </p:to>
                                    </p:set>
                                    <p:animEffect transition="in" filter="wipe(right)">
                                      <p:cBhvr>
                                        <p:cTn id="74" dur="529"/>
                                        <p:tgtEl>
                                          <p:spTgt spid="14"/>
                                        </p:tgtEl>
                                      </p:cBhvr>
                                    </p:animEffect>
                                  </p:childTnLst>
                                </p:cTn>
                              </p:par>
                              <p:par>
                                <p:cTn id="75" presetID="10" presetClass="entr" presetSubtype="0" fill="hold" grpId="0" nodeType="withEffect">
                                  <p:stCondLst>
                                    <p:cond delay="935"/>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345" decel="70000"/>
                                        <p:tgtEl>
                                          <p:spTgt spid="15"/>
                                        </p:tgtEl>
                                      </p:cBhvr>
                                    </p:animEffect>
                                    <p:anim calcmode="lin" valueType="num">
                                      <p:cBhvr additive="base">
                                        <p:cTn id="78" dur="345" decel="70000" fill="hold"/>
                                        <p:tgtEl>
                                          <p:spTgt spid="15"/>
                                        </p:tgtEl>
                                        <p:attrNameLst>
                                          <p:attrName>ppt_y</p:attrName>
                                        </p:attrNameLst>
                                      </p:cBhvr>
                                      <p:tavLst>
                                        <p:tav tm="0">
                                          <p:val>
                                            <p:strVal val="#ppt_y+0.028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SERVICE LINE</a:t>
            </a:r>
            <a:endParaRPr lang="en-US" sz="1050" dirty="0"/>
          </a:p>
        </p:txBody>
      </p:sp>
      <p:sp>
        <p:nvSpPr>
          <p:cNvPr id="4" name="role:title"/>
          <p:cNvSpPr txBox="1"/>
          <p:nvPr/>
        </p:nvSpPr>
        <p:spPr>
          <a:xfrm>
            <a:off x="713232" y="987552"/>
            <a:ext cx="8570671"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Design and web</a:t>
            </a:r>
            <a:endParaRPr lang="en-US" sz="3900" dirty="0"/>
          </a:p>
        </p:txBody>
      </p:sp>
      <p:sp>
        <p:nvSpPr>
          <p:cNvPr id="5" name="role:sub"/>
          <p:cNvSpPr txBox="1"/>
          <p:nvPr/>
        </p:nvSpPr>
        <p:spPr>
          <a:xfrm>
            <a:off x="713232" y="1703070"/>
            <a:ext cx="8046720" cy="356616"/>
          </a:xfrm>
          <a:prstGeom prst="rect">
            <a:avLst/>
          </a:prstGeom>
          <a:noFill/>
          <a:ln/>
        </p:spPr>
        <p:txBody>
          <a:bodyPr wrap="square" lIns="0" tIns="0" rIns="0" bIns="0" rtlCol="0" anchor="t"/>
          <a:lstStyle/>
          <a:p>
            <a:pPr algn="l" indent="0" marL="0">
              <a:lnSpc>
                <a:spcPct val="128000"/>
              </a:lnSpc>
              <a:buNone/>
            </a:pPr>
            <a:r>
              <a:rPr lang="en-US" sz="1800" dirty="0">
                <a:solidFill>
                  <a:srgbClr val="5A6772"/>
                </a:solidFill>
                <a:latin typeface="Arial" pitchFamily="34" charset="0"/>
                <a:ea typeface="Arial" pitchFamily="34" charset="-122"/>
                <a:cs typeface="Arial" pitchFamily="34" charset="-120"/>
              </a:rPr>
              <a:t>Sites built to load fast, read well on a phone and convert.</a:t>
            </a:r>
            <a:endParaRPr lang="en-US" sz="1800" dirty="0"/>
          </a:p>
        </p:txBody>
      </p:sp>
      <p:sp>
        <p:nvSpPr>
          <p:cNvPr id="6"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07</a:t>
            </a:r>
            <a:endParaRPr lang="en-US" sz="1050" dirty="0"/>
          </a:p>
        </p:txBody>
      </p:sp>
      <p:sp>
        <p:nvSpPr>
          <p:cNvPr id="7" name="role:row-head"/>
          <p:cNvSpPr txBox="1"/>
          <p:nvPr/>
        </p:nvSpPr>
        <p:spPr>
          <a:xfrm>
            <a:off x="713232" y="2286000"/>
            <a:ext cx="2377440" cy="282448"/>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What we build</a:t>
            </a:r>
            <a:endParaRPr lang="en-US" sz="1600" dirty="0"/>
          </a:p>
        </p:txBody>
      </p:sp>
      <p:sp>
        <p:nvSpPr>
          <p:cNvPr id="8" name="role:row-body"/>
          <p:cNvSpPr txBox="1"/>
          <p:nvPr/>
        </p:nvSpPr>
        <p:spPr>
          <a:xfrm>
            <a:off x="3502152" y="2286000"/>
            <a:ext cx="7976311" cy="477520"/>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Website design and development, WordPress and Shopify builds, UI and UX, logo and brand identity, graphic design and brochures, design for conversions.</a:t>
            </a:r>
            <a:endParaRPr lang="en-US" sz="1300" dirty="0"/>
          </a:p>
        </p:txBody>
      </p:sp>
      <p:sp>
        <p:nvSpPr>
          <p:cNvPr id="9" name="role:rule-h"/>
          <p:cNvSpPr/>
          <p:nvPr/>
        </p:nvSpPr>
        <p:spPr>
          <a:xfrm>
            <a:off x="713232" y="3063240"/>
            <a:ext cx="10765231" cy="0"/>
          </a:xfrm>
          <a:prstGeom prst="line">
            <a:avLst/>
          </a:prstGeom>
          <a:noFill/>
          <a:ln w="9525">
            <a:solidFill>
              <a:srgbClr val="E2EAF1"/>
            </a:solidFill>
            <a:prstDash val="solid"/>
          </a:ln>
        </p:spPr>
      </p:sp>
      <p:sp>
        <p:nvSpPr>
          <p:cNvPr id="10" name="role:kicker"/>
          <p:cNvSpPr txBox="1"/>
          <p:nvPr/>
        </p:nvSpPr>
        <p:spPr>
          <a:xfrm>
            <a:off x="713232" y="3291840"/>
            <a:ext cx="7315200"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PROOF · NENNER LAW, PHILADELPHIA CRIMINAL DEFENSE</a:t>
            </a:r>
            <a:endParaRPr lang="en-US" sz="1050" dirty="0"/>
          </a:p>
        </p:txBody>
      </p:sp>
      <p:sp>
        <p:nvSpPr>
          <p:cNvPr id="11" name="role:body"/>
          <p:cNvSpPr txBox="1"/>
          <p:nvPr/>
        </p:nvSpPr>
        <p:spPr>
          <a:xfrm>
            <a:off x="713232" y="3621024"/>
            <a:ext cx="7863840" cy="379476"/>
          </a:xfrm>
          <a:prstGeom prst="rect">
            <a:avLst/>
          </a:prstGeom>
          <a:noFill/>
          <a:ln/>
        </p:spPr>
        <p:txBody>
          <a:bodyPr wrap="square" lIns="0" tIns="0" rIns="0" bIns="0" rtlCol="0" anchor="t"/>
          <a:lstStyle/>
          <a:p>
            <a:pPr algn="l" indent="0" marL="0">
              <a:lnSpc>
                <a:spcPct val="108000"/>
              </a:lnSpc>
              <a:buNone/>
            </a:pPr>
            <a:r>
              <a:rPr lang="en-US" sz="2300" b="1" dirty="0">
                <a:solidFill>
                  <a:srgbClr val="0F151B"/>
                </a:solidFill>
                <a:latin typeface="Arial" pitchFamily="34" charset="0"/>
                <a:ea typeface="Arial" pitchFamily="34" charset="-122"/>
                <a:cs typeface="Arial" pitchFamily="34" charset="-120"/>
              </a:rPr>
              <a:t>A mobile first rebuild that moved every number</a:t>
            </a:r>
            <a:endParaRPr lang="en-US" sz="2300" dirty="0"/>
          </a:p>
        </p:txBody>
      </p:sp>
      <p:sp>
        <p:nvSpPr>
          <p:cNvPr id="12" name="role:figure"/>
          <p:cNvSpPr txBox="1"/>
          <p:nvPr/>
        </p:nvSpPr>
        <p:spPr>
          <a:xfrm>
            <a:off x="713232" y="452628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24 → 54</a:t>
            </a:r>
            <a:endParaRPr lang="en-US" sz="3400" dirty="0"/>
          </a:p>
        </p:txBody>
      </p:sp>
      <p:sp>
        <p:nvSpPr>
          <p:cNvPr id="13" name="role:figure-label"/>
          <p:cNvSpPr txBox="1"/>
          <p:nvPr/>
        </p:nvSpPr>
        <p:spPr>
          <a:xfrm>
            <a:off x="713232" y="504952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Mobile performance score</a:t>
            </a:r>
            <a:endParaRPr lang="en-US" sz="1200" dirty="0"/>
          </a:p>
        </p:txBody>
      </p:sp>
      <p:sp>
        <p:nvSpPr>
          <p:cNvPr id="14" name="role:rule-v"/>
          <p:cNvSpPr/>
          <p:nvPr/>
        </p:nvSpPr>
        <p:spPr>
          <a:xfrm>
            <a:off x="3166796" y="4526280"/>
            <a:ext cx="0" cy="934720"/>
          </a:xfrm>
          <a:prstGeom prst="line">
            <a:avLst/>
          </a:prstGeom>
          <a:noFill/>
          <a:ln w="9525">
            <a:solidFill>
              <a:srgbClr val="E2EAF1"/>
            </a:solidFill>
            <a:prstDash val="solid"/>
          </a:ln>
        </p:spPr>
      </p:sp>
      <p:sp>
        <p:nvSpPr>
          <p:cNvPr id="15" name="role:figure"/>
          <p:cNvSpPr txBox="1"/>
          <p:nvPr/>
        </p:nvSpPr>
        <p:spPr>
          <a:xfrm>
            <a:off x="3404540" y="452628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50 → 64</a:t>
            </a:r>
            <a:endParaRPr lang="en-US" sz="3400" dirty="0"/>
          </a:p>
        </p:txBody>
      </p:sp>
      <p:sp>
        <p:nvSpPr>
          <p:cNvPr id="16" name="role:figure-label"/>
          <p:cNvSpPr txBox="1"/>
          <p:nvPr/>
        </p:nvSpPr>
        <p:spPr>
          <a:xfrm>
            <a:off x="3404540" y="504952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Desktop performance score</a:t>
            </a:r>
            <a:endParaRPr lang="en-US" sz="1200" dirty="0"/>
          </a:p>
        </p:txBody>
      </p:sp>
      <p:sp>
        <p:nvSpPr>
          <p:cNvPr id="17" name="role:rule-v"/>
          <p:cNvSpPr/>
          <p:nvPr/>
        </p:nvSpPr>
        <p:spPr>
          <a:xfrm>
            <a:off x="5858104" y="4526280"/>
            <a:ext cx="0" cy="934720"/>
          </a:xfrm>
          <a:prstGeom prst="line">
            <a:avLst/>
          </a:prstGeom>
          <a:noFill/>
          <a:ln w="9525">
            <a:solidFill>
              <a:srgbClr val="E2EAF1"/>
            </a:solidFill>
            <a:prstDash val="solid"/>
          </a:ln>
        </p:spPr>
      </p:sp>
      <p:sp>
        <p:nvSpPr>
          <p:cNvPr id="18" name="role:figure"/>
          <p:cNvSpPr txBox="1"/>
          <p:nvPr/>
        </p:nvSpPr>
        <p:spPr>
          <a:xfrm>
            <a:off x="6095848" y="452628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3A455"/>
                </a:solidFill>
                <a:latin typeface="Arial" pitchFamily="34" charset="0"/>
                <a:ea typeface="Arial" pitchFamily="34" charset="-122"/>
                <a:cs typeface="Arial" pitchFamily="34" charset="-120"/>
              </a:rPr>
              <a:t>+816%</a:t>
            </a:r>
            <a:endParaRPr lang="en-US" sz="3400" dirty="0"/>
          </a:p>
        </p:txBody>
      </p:sp>
      <p:sp>
        <p:nvSpPr>
          <p:cNvPr id="19" name="role:figure-label"/>
          <p:cNvSpPr txBox="1"/>
          <p:nvPr/>
        </p:nvSpPr>
        <p:spPr>
          <a:xfrm>
            <a:off x="6095848" y="504952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Conversions</a:t>
            </a:r>
            <a:endParaRPr lang="en-US" sz="1200" dirty="0"/>
          </a:p>
        </p:txBody>
      </p:sp>
      <p:sp>
        <p:nvSpPr>
          <p:cNvPr id="20" name="role:rule-v"/>
          <p:cNvSpPr/>
          <p:nvPr/>
        </p:nvSpPr>
        <p:spPr>
          <a:xfrm>
            <a:off x="8549411" y="4526280"/>
            <a:ext cx="0" cy="934720"/>
          </a:xfrm>
          <a:prstGeom prst="line">
            <a:avLst/>
          </a:prstGeom>
          <a:noFill/>
          <a:ln w="9525">
            <a:solidFill>
              <a:srgbClr val="E2EAF1"/>
            </a:solidFill>
            <a:prstDash val="solid"/>
          </a:ln>
        </p:spPr>
      </p:sp>
      <p:sp>
        <p:nvSpPr>
          <p:cNvPr id="21" name="role:figure"/>
          <p:cNvSpPr txBox="1"/>
          <p:nvPr/>
        </p:nvSpPr>
        <p:spPr>
          <a:xfrm>
            <a:off x="8787155" y="4526280"/>
            <a:ext cx="2179244" cy="468376"/>
          </a:xfrm>
          <a:prstGeom prst="rect">
            <a:avLst/>
          </a:prstGeom>
          <a:noFill/>
          <a:ln/>
        </p:spPr>
        <p:txBody>
          <a:bodyPr wrap="square" lIns="0" tIns="0" rIns="0" bIns="0" rtlCol="0" anchor="t"/>
          <a:lstStyle/>
          <a:p>
            <a:pPr algn="l" indent="0" marL="0">
              <a:lnSpc>
                <a:spcPct val="100000"/>
              </a:lnSpc>
              <a:buNone/>
            </a:pPr>
            <a:r>
              <a:rPr lang="en-US" sz="3400" b="1" dirty="0">
                <a:solidFill>
                  <a:srgbClr val="23A455"/>
                </a:solidFill>
                <a:latin typeface="Arial" pitchFamily="34" charset="0"/>
                <a:ea typeface="Arial" pitchFamily="34" charset="-122"/>
                <a:cs typeface="Arial" pitchFamily="34" charset="-120"/>
              </a:rPr>
              <a:t>+75%</a:t>
            </a:r>
            <a:endParaRPr lang="en-US" sz="3400" dirty="0"/>
          </a:p>
        </p:txBody>
      </p:sp>
      <p:sp>
        <p:nvSpPr>
          <p:cNvPr id="22" name="role:figure-label"/>
          <p:cNvSpPr txBox="1"/>
          <p:nvPr/>
        </p:nvSpPr>
        <p:spPr>
          <a:xfrm>
            <a:off x="8787155" y="504952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Users</a:t>
            </a:r>
            <a:endParaRPr lang="en-US" sz="1200" dirty="0"/>
          </a:p>
        </p:txBody>
      </p:sp>
      <p:sp>
        <p:nvSpPr>
          <p:cNvPr id="23"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Design and branding is a $3,000 one time package, about three months, with unlimited edits and full ownership.</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390" decel="70000"/>
                                        <p:tgtEl>
                                          <p:spTgt spid="5"/>
                                        </p:tgtEl>
                                      </p:cBhvr>
                                    </p:animEffect>
                                    <p:anim calcmode="lin" valueType="num">
                                      <p:cBhvr additive="base">
                                        <p:cTn id="19" dur="390" decel="70000" fill="hold"/>
                                        <p:tgtEl>
                                          <p:spTgt spid="5"/>
                                        </p:tgtEl>
                                        <p:attrNameLst>
                                          <p:attrName>ppt_y</p:attrName>
                                        </p:attrNameLst>
                                      </p:cBhvr>
                                      <p:tavLst>
                                        <p:tav tm="0">
                                          <p:val>
                                            <p:strVal val="#ppt_y+0.0384"/>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45" decel="70000"/>
                                        <p:tgtEl>
                                          <p:spTgt spid="7"/>
                                        </p:tgtEl>
                                      </p:cBhvr>
                                    </p:animEffect>
                                    <p:anim calcmode="lin" valueType="num">
                                      <p:cBhvr additive="base">
                                        <p:cTn id="23" dur="345" decel="70000" fill="hold"/>
                                        <p:tgtEl>
                                          <p:spTgt spid="7"/>
                                        </p:tgtEl>
                                        <p:attrNameLst>
                                          <p:attrName>ppt_y</p:attrName>
                                        </p:attrNameLst>
                                      </p:cBhvr>
                                      <p:tavLst>
                                        <p:tav tm="0">
                                          <p:val>
                                            <p:strVal val="#ppt_y+0.0288"/>
                                          </p:val>
                                        </p:tav>
                                        <p:tav tm="100000">
                                          <p:val>
                                            <p:strVal val="#ppt_y"/>
                                          </p:val>
                                        </p:tav>
                                      </p:tavLst>
                                    </p:anim>
                                  </p:childTnLst>
                                </p:cTn>
                              </p:par>
                              <p:par>
                                <p:cTn id="24" presetID="10" presetClass="entr" presetSubtype="0" fill="hold" grpId="0" nodeType="withEffect">
                                  <p:stCondLst>
                                    <p:cond delay="22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322" decel="70000"/>
                                        <p:tgtEl>
                                          <p:spTgt spid="8"/>
                                        </p:tgtEl>
                                      </p:cBhvr>
                                    </p:animEffect>
                                  </p:childTnLst>
                                </p:cTn>
                              </p:par>
                              <p:par>
                                <p:cTn id="27" presetID="22" presetClass="entr" presetSubtype="1" fill="hold" grpId="0" nodeType="withEffect">
                                  <p:stCondLst>
                                    <p:cond delay="275"/>
                                  </p:stCondLst>
                                  <p:childTnLst>
                                    <p:set>
                                      <p:cBhvr>
                                        <p:cTn id="28" dur="1" fill="hold">
                                          <p:stCondLst>
                                            <p:cond delay="0"/>
                                          </p:stCondLst>
                                        </p:cTn>
                                        <p:tgtEl>
                                          <p:spTgt spid="9"/>
                                        </p:tgtEl>
                                        <p:attrNameLst>
                                          <p:attrName>style.visibility</p:attrName>
                                        </p:attrNameLst>
                                      </p:cBhvr>
                                      <p:to>
                                        <p:strVal val="visible"/>
                                      </p:to>
                                    </p:set>
                                    <p:animEffect transition="in" filter="wipe(right)">
                                      <p:cBhvr>
                                        <p:cTn id="29" dur="529"/>
                                        <p:tgtEl>
                                          <p:spTgt spid="9"/>
                                        </p:tgtEl>
                                      </p:cBhvr>
                                    </p:animEffect>
                                  </p:childTnLst>
                                </p:cTn>
                              </p:par>
                              <p:par>
                                <p:cTn id="30" presetID="10" presetClass="entr" presetSubtype="0" fill="hold" grpId="0" nodeType="withEffect">
                                  <p:stCondLst>
                                    <p:cond delay="33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322" decel="70000"/>
                                        <p:tgtEl>
                                          <p:spTgt spid="10"/>
                                        </p:tgtEl>
                                      </p:cBhvr>
                                    </p:animEffect>
                                    <p:anim calcmode="lin" valueType="num">
                                      <p:cBhvr additive="base">
                                        <p:cTn id="33" dur="322" decel="70000" fill="hold"/>
                                        <p:tgtEl>
                                          <p:spTgt spid="10"/>
                                        </p:tgtEl>
                                        <p:attrNameLst>
                                          <p:attrName>ppt_y</p:attrName>
                                        </p:attrNameLst>
                                      </p:cBhvr>
                                      <p:tavLst>
                                        <p:tav tm="0">
                                          <p:val>
                                            <p:strVal val="#ppt_y+0.032"/>
                                          </p:val>
                                        </p:tav>
                                        <p:tav tm="100000">
                                          <p:val>
                                            <p:strVal val="#ppt_y"/>
                                          </p:val>
                                        </p:tav>
                                      </p:tavLst>
                                    </p:anim>
                                  </p:childTnLst>
                                </p:cTn>
                              </p:par>
                              <p:par>
                                <p:cTn id="34" presetID="10" presetClass="entr" presetSubtype="0" fill="hold" grpId="0" nodeType="withEffect">
                                  <p:stCondLst>
                                    <p:cond delay="385"/>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322" decel="70000"/>
                                        <p:tgtEl>
                                          <p:spTgt spid="11"/>
                                        </p:tgtEl>
                                      </p:cBhvr>
                                    </p:animEffect>
                                  </p:childTnLst>
                                </p:cTn>
                              </p:par>
                              <p:par>
                                <p:cTn id="37" presetID="23" presetClass="entr" presetSubtype="0" fill="hold" grpId="0" nodeType="withEffect">
                                  <p:stCondLst>
                                    <p:cond delay="44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82" decel="70000"/>
                                        <p:tgtEl>
                                          <p:spTgt spid="12"/>
                                        </p:tgtEl>
                                      </p:cBhvr>
                                    </p:animEffect>
                                    <p:animScale>
                                      <p:cBhvr>
                                        <p:cTn id="40" dur="482" decel="70000" fill="hold"/>
                                        <p:tgtEl>
                                          <p:spTgt spid="12"/>
                                        </p:tgtEl>
                                      </p:cBhvr>
                                      <p:from x="82000" y="82000"/>
                                      <p:to x="100000" y="100000"/>
                                    </p:animScale>
                                  </p:childTnLst>
                                </p:cTn>
                              </p:par>
                              <p:par>
                                <p:cTn id="41" presetID="22" presetClass="entr" presetSubtype="1" fill="hold" grpId="0" nodeType="withEffect">
                                  <p:stCondLst>
                                    <p:cond delay="495"/>
                                  </p:stCondLst>
                                  <p:childTnLst>
                                    <p:set>
                                      <p:cBhvr>
                                        <p:cTn id="42" dur="1" fill="hold">
                                          <p:stCondLst>
                                            <p:cond delay="0"/>
                                          </p:stCondLst>
                                        </p:cTn>
                                        <p:tgtEl>
                                          <p:spTgt spid="14"/>
                                        </p:tgtEl>
                                        <p:attrNameLst>
                                          <p:attrName>style.visibility</p:attrName>
                                        </p:attrNameLst>
                                      </p:cBhvr>
                                      <p:to>
                                        <p:strVal val="visible"/>
                                      </p:to>
                                    </p:set>
                                    <p:animEffect transition="in" filter="wipe(down)">
                                      <p:cBhvr>
                                        <p:cTn id="43" dur="390"/>
                                        <p:tgtEl>
                                          <p:spTgt spid="14"/>
                                        </p:tgtEl>
                                      </p:cBhvr>
                                    </p:animEffect>
                                  </p:childTnLst>
                                </p:cTn>
                              </p:par>
                              <p:par>
                                <p:cTn id="44" presetID="23" presetClass="entr" presetSubtype="0" fill="hold" grpId="0" nodeType="withEffect">
                                  <p:stCondLst>
                                    <p:cond delay="5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482" decel="70000"/>
                                        <p:tgtEl>
                                          <p:spTgt spid="15"/>
                                        </p:tgtEl>
                                      </p:cBhvr>
                                    </p:animEffect>
                                    <p:animScale>
                                      <p:cBhvr>
                                        <p:cTn id="47" dur="482" decel="70000" fill="hold"/>
                                        <p:tgtEl>
                                          <p:spTgt spid="15"/>
                                        </p:tgtEl>
                                      </p:cBhvr>
                                      <p:from x="82000" y="82000"/>
                                      <p:to x="100000" y="100000"/>
                                    </p:animScale>
                                  </p:childTnLst>
                                </p:cTn>
                              </p:par>
                              <p:par>
                                <p:cTn id="48" presetID="22" presetClass="entr" presetSubtype="1" fill="hold" grpId="0" nodeType="withEffect">
                                  <p:stCondLst>
                                    <p:cond delay="605"/>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390"/>
                                        <p:tgtEl>
                                          <p:spTgt spid="17"/>
                                        </p:tgtEl>
                                      </p:cBhvr>
                                    </p:animEffect>
                                  </p:childTnLst>
                                </p:cTn>
                              </p:par>
                              <p:par>
                                <p:cTn id="51" presetID="23" presetClass="entr" presetSubtype="0" fill="hold" grpId="0" nodeType="withEffect">
                                  <p:stCondLst>
                                    <p:cond delay="66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82" decel="70000"/>
                                        <p:tgtEl>
                                          <p:spTgt spid="18"/>
                                        </p:tgtEl>
                                      </p:cBhvr>
                                    </p:animEffect>
                                    <p:animScale>
                                      <p:cBhvr>
                                        <p:cTn id="54" dur="482" decel="70000" fill="hold"/>
                                        <p:tgtEl>
                                          <p:spTgt spid="18"/>
                                        </p:tgtEl>
                                      </p:cBhvr>
                                      <p:from x="82000" y="82000"/>
                                      <p:to x="100000" y="100000"/>
                                    </p:animScale>
                                  </p:childTnLst>
                                </p:cTn>
                              </p:par>
                              <p:par>
                                <p:cTn id="55" presetID="22" presetClass="entr" presetSubtype="1" fill="hold" grpId="0" nodeType="withEffect">
                                  <p:stCondLst>
                                    <p:cond delay="715"/>
                                  </p:stCondLst>
                                  <p:childTnLst>
                                    <p:set>
                                      <p:cBhvr>
                                        <p:cTn id="56" dur="1" fill="hold">
                                          <p:stCondLst>
                                            <p:cond delay="0"/>
                                          </p:stCondLst>
                                        </p:cTn>
                                        <p:tgtEl>
                                          <p:spTgt spid="20"/>
                                        </p:tgtEl>
                                        <p:attrNameLst>
                                          <p:attrName>style.visibility</p:attrName>
                                        </p:attrNameLst>
                                      </p:cBhvr>
                                      <p:to>
                                        <p:strVal val="visible"/>
                                      </p:to>
                                    </p:set>
                                    <p:animEffect transition="in" filter="wipe(down)">
                                      <p:cBhvr>
                                        <p:cTn id="57" dur="390"/>
                                        <p:tgtEl>
                                          <p:spTgt spid="20"/>
                                        </p:tgtEl>
                                      </p:cBhvr>
                                    </p:animEffect>
                                  </p:childTnLst>
                                </p:cTn>
                              </p:par>
                              <p:par>
                                <p:cTn id="58" presetID="23" presetClass="entr" presetSubtype="0" fill="hold" grpId="0" nodeType="withEffect">
                                  <p:stCondLst>
                                    <p:cond delay="77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82" decel="70000"/>
                                        <p:tgtEl>
                                          <p:spTgt spid="21"/>
                                        </p:tgtEl>
                                      </p:cBhvr>
                                    </p:animEffect>
                                    <p:animScale>
                                      <p:cBhvr>
                                        <p:cTn id="61" dur="482" decel="70000" fill="hold"/>
                                        <p:tgtEl>
                                          <p:spTgt spid="21"/>
                                        </p:tgtEl>
                                      </p:cBhvr>
                                      <p:from x="82000" y="82000"/>
                                      <p:to x="100000" y="100000"/>
                                    </p:animScale>
                                  </p:childTnLst>
                                </p:cTn>
                              </p:par>
                              <p:par>
                                <p:cTn id="62" presetID="10" presetClass="entr" presetSubtype="0" fill="hold" grpId="0" nodeType="withEffect">
                                  <p:stCondLst>
                                    <p:cond delay="825"/>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299" decel="70000"/>
                                        <p:tgtEl>
                                          <p:spTgt spid="13"/>
                                        </p:tgtEl>
                                      </p:cBhvr>
                                    </p:animEffect>
                                  </p:childTnLst>
                                </p:cTn>
                              </p:par>
                              <p:par>
                                <p:cTn id="65" presetID="10" presetClass="entr" presetSubtype="0" fill="hold" grpId="0" nodeType="withEffect">
                                  <p:stCondLst>
                                    <p:cond delay="88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299" decel="70000"/>
                                        <p:tgtEl>
                                          <p:spTgt spid="16"/>
                                        </p:tgtEl>
                                      </p:cBhvr>
                                    </p:animEffect>
                                  </p:childTnLst>
                                </p:cTn>
                              </p:par>
                              <p:par>
                                <p:cTn id="68" presetID="10" presetClass="entr" presetSubtype="0" fill="hold" grpId="0" nodeType="withEffect">
                                  <p:stCondLst>
                                    <p:cond delay="935"/>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299" decel="70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role:panel-bottom"/>
          <p:cNvSpPr/>
          <p:nvPr/>
        </p:nvSpPr>
        <p:spPr>
          <a:xfrm>
            <a:off x="0" y="4160520"/>
            <a:ext cx="12191695" cy="2697480"/>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9235440" y="3566160"/>
            <a:ext cx="4114800" cy="4881139"/>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658368"/>
            <a:ext cx="1371600" cy="294904"/>
          </a:xfrm>
          <a:prstGeom prst="rect">
            <a:avLst/>
          </a:prstGeom>
        </p:spPr>
      </p:pic>
      <p:sp>
        <p:nvSpPr>
          <p:cNvPr id="5"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SERVICE LINE</a:t>
            </a:r>
            <a:endParaRPr lang="en-US" sz="1050" dirty="0"/>
          </a:p>
        </p:txBody>
      </p:sp>
      <p:sp>
        <p:nvSpPr>
          <p:cNvPr id="6" name="role:title"/>
          <p:cNvSpPr txBox="1"/>
          <p:nvPr/>
        </p:nvSpPr>
        <p:spPr>
          <a:xfrm>
            <a:off x="713232" y="987552"/>
            <a:ext cx="8570671" cy="1074420"/>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Content, video and virtual tours</a:t>
            </a:r>
            <a:endParaRPr lang="en-US" sz="3900" dirty="0"/>
          </a:p>
        </p:txBody>
      </p:sp>
      <p:sp>
        <p:nvSpPr>
          <p:cNvPr id="7"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08</a:t>
            </a:r>
            <a:endParaRPr lang="en-US" sz="1050" dirty="0"/>
          </a:p>
        </p:txBody>
      </p:sp>
      <p:sp>
        <p:nvSpPr>
          <p:cNvPr id="8" name="role:row-head"/>
          <p:cNvSpPr txBox="1"/>
          <p:nvPr/>
        </p:nvSpPr>
        <p:spPr>
          <a:xfrm>
            <a:off x="713232" y="2011680"/>
            <a:ext cx="310896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Content and blogging</a:t>
            </a:r>
            <a:endParaRPr lang="en-US" sz="1700" dirty="0"/>
          </a:p>
        </p:txBody>
      </p:sp>
      <p:sp>
        <p:nvSpPr>
          <p:cNvPr id="9" name="role:row-body"/>
          <p:cNvSpPr txBox="1"/>
          <p:nvPr/>
        </p:nvSpPr>
        <p:spPr>
          <a:xfrm>
            <a:off x="4233672" y="2011680"/>
            <a:ext cx="7244791" cy="688848"/>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Keyword research, four blogs or pages a month, edits and review, optimized for search and internal linking, promoted on your site and reported on. $1,000 per month.</a:t>
            </a:r>
            <a:endParaRPr lang="en-US" sz="1300" dirty="0"/>
          </a:p>
        </p:txBody>
      </p:sp>
      <p:sp>
        <p:nvSpPr>
          <p:cNvPr id="10" name="role:rule-h"/>
          <p:cNvSpPr/>
          <p:nvPr/>
        </p:nvSpPr>
        <p:spPr>
          <a:xfrm>
            <a:off x="713232" y="2855976"/>
            <a:ext cx="10765231" cy="0"/>
          </a:xfrm>
          <a:prstGeom prst="line">
            <a:avLst/>
          </a:prstGeom>
          <a:noFill/>
          <a:ln w="9525">
            <a:solidFill>
              <a:srgbClr val="E2EAF1"/>
            </a:solidFill>
            <a:prstDash val="solid"/>
          </a:ln>
        </p:spPr>
      </p:sp>
      <p:sp>
        <p:nvSpPr>
          <p:cNvPr id="11" name="role:row-head"/>
          <p:cNvSpPr txBox="1"/>
          <p:nvPr/>
        </p:nvSpPr>
        <p:spPr>
          <a:xfrm>
            <a:off x="713232" y="3011424"/>
            <a:ext cx="3108960" cy="296672"/>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Email and lifecycle</a:t>
            </a:r>
            <a:endParaRPr lang="en-US" sz="1700" dirty="0"/>
          </a:p>
        </p:txBody>
      </p:sp>
      <p:sp>
        <p:nvSpPr>
          <p:cNvPr id="12" name="role:row-body"/>
          <p:cNvSpPr txBox="1"/>
          <p:nvPr/>
        </p:nvSpPr>
        <p:spPr>
          <a:xfrm>
            <a:off x="4233672" y="3011424"/>
            <a:ext cx="7244791" cy="477520"/>
          </a:xfrm>
          <a:prstGeom prst="rect">
            <a:avLst/>
          </a:prstGeom>
          <a:noFill/>
          <a:ln/>
        </p:spPr>
        <p:txBody>
          <a:bodyPr wrap="square" lIns="0" tIns="0" rIns="0" bIns="0" rtlCol="0" anchor="t"/>
          <a:lstStyle/>
          <a:p>
            <a:pPr algn="l" indent="0" marL="0">
              <a:lnSpc>
                <a:spcPct val="128000"/>
              </a:lnSpc>
              <a:buNone/>
            </a:pPr>
            <a:r>
              <a:rPr lang="en-US" sz="1300" dirty="0">
                <a:solidFill>
                  <a:srgbClr val="5A6772"/>
                </a:solidFill>
                <a:latin typeface="Arial" pitchFamily="34" charset="0"/>
                <a:ea typeface="Arial" pitchFamily="34" charset="-122"/>
                <a:cs typeface="Arial" pitchFamily="34" charset="-120"/>
              </a:rPr>
              <a:t>Campaign execution, list segmentation and the follow up sequences that turn a first click into a returning customer.</a:t>
            </a:r>
            <a:endParaRPr lang="en-US" sz="1300" dirty="0"/>
          </a:p>
        </p:txBody>
      </p:sp>
      <p:sp>
        <p:nvSpPr>
          <p:cNvPr id="13" name="role:kicker"/>
          <p:cNvSpPr txBox="1"/>
          <p:nvPr/>
        </p:nvSpPr>
        <p:spPr>
          <a:xfrm>
            <a:off x="713232" y="4480560"/>
            <a:ext cx="731520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MOMENTUM 360 · A DIVISION WITHIN MOMENTUM</a:t>
            </a:r>
            <a:endParaRPr lang="en-US" sz="1050" dirty="0"/>
          </a:p>
        </p:txBody>
      </p:sp>
      <p:sp>
        <p:nvSpPr>
          <p:cNvPr id="14" name="role:body"/>
          <p:cNvSpPr txBox="1"/>
          <p:nvPr/>
        </p:nvSpPr>
        <p:spPr>
          <a:xfrm>
            <a:off x="713232" y="4809744"/>
            <a:ext cx="8595360" cy="400558"/>
          </a:xfrm>
          <a:prstGeom prst="rect">
            <a:avLst/>
          </a:prstGeom>
          <a:noFill/>
          <a:ln/>
        </p:spPr>
        <p:txBody>
          <a:bodyPr wrap="square" lIns="0" tIns="0" rIns="0" bIns="0" rtlCol="0" anchor="t"/>
          <a:lstStyle/>
          <a:p>
            <a:pPr algn="l" indent="0" marL="0">
              <a:lnSpc>
                <a:spcPct val="106000"/>
              </a:lnSpc>
              <a:buNone/>
            </a:pPr>
            <a:r>
              <a:rPr lang="en-US" sz="2500" b="1" dirty="0">
                <a:solidFill>
                  <a:srgbClr val="FFFFFF"/>
                </a:solidFill>
                <a:latin typeface="Arial" pitchFamily="34" charset="0"/>
                <a:ea typeface="Arial" pitchFamily="34" charset="-122"/>
                <a:cs typeface="Arial" pitchFamily="34" charset="-120"/>
              </a:rPr>
              <a:t>Virtual tours, HD photography and drone video</a:t>
            </a:r>
            <a:endParaRPr lang="en-US" sz="2500" dirty="0"/>
          </a:p>
        </p:txBody>
      </p:sp>
      <p:sp>
        <p:nvSpPr>
          <p:cNvPr id="15" name="role:body"/>
          <p:cNvSpPr txBox="1"/>
          <p:nvPr/>
        </p:nvSpPr>
        <p:spPr>
          <a:xfrm>
            <a:off x="713232" y="5374894"/>
            <a:ext cx="7863840" cy="658368"/>
          </a:xfrm>
          <a:prstGeom prst="rect">
            <a:avLst/>
          </a:prstGeom>
          <a:noFill/>
          <a:ln/>
        </p:spPr>
        <p:txBody>
          <a:bodyPr wrap="square" lIns="0" tIns="0" rIns="0" bIns="0" rtlCol="0" anchor="t"/>
          <a:lstStyle/>
          <a:p>
            <a:pPr algn="l" indent="0" marL="0">
              <a:lnSpc>
                <a:spcPct val="130000"/>
              </a:lnSpc>
              <a:buNone/>
            </a:pPr>
            <a:r>
              <a:rPr lang="en-US" sz="1200" dirty="0">
                <a:solidFill>
                  <a:srgbClr val="9DB5C8"/>
                </a:solidFill>
                <a:latin typeface="Arial" pitchFamily="34" charset="0"/>
                <a:ea typeface="Arial" pitchFamily="34" charset="-122"/>
                <a:cs typeface="Arial" pitchFamily="34" charset="-120"/>
              </a:rPr>
              <a:t>360 Google virtual tours, professional photography and aerial video for property, retail and hospitality. Tours feed Google Business Profile and local SEO directly, which is why the media team and the search team sit together.</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10" presetClass="entr" presetSubtype="0" fill="hold" grpId="0" nodeType="withEffect">
                                  <p:stCondLst>
                                    <p:cond delay="11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345" decel="70000"/>
                                        <p:tgtEl>
                                          <p:spTgt spid="8"/>
                                        </p:tgtEl>
                                      </p:cBhvr>
                                    </p:animEffect>
                                    <p:anim calcmode="lin" valueType="num">
                                      <p:cBhvr additive="base">
                                        <p:cTn id="25" dur="345" decel="70000" fill="hold"/>
                                        <p:tgtEl>
                                          <p:spTgt spid="8"/>
                                        </p:tgtEl>
                                        <p:attrNameLst>
                                          <p:attrName>ppt_y</p:attrName>
                                        </p:attrNameLst>
                                      </p:cBhvr>
                                      <p:tavLst>
                                        <p:tav tm="0">
                                          <p:val>
                                            <p:strVal val="#ppt_y+0.0288"/>
                                          </p:val>
                                        </p:tav>
                                        <p:tav tm="100000">
                                          <p:val>
                                            <p:strVal val="#ppt_y"/>
                                          </p:val>
                                        </p:tav>
                                      </p:tavLst>
                                    </p:anim>
                                  </p:childTnLst>
                                </p:cTn>
                              </p:par>
                              <p:par>
                                <p:cTn id="26" presetID="10" presetClass="entr" presetSubtype="0" fill="hold" grpId="0" nodeType="withEffect">
                                  <p:stCondLst>
                                    <p:cond delay="165"/>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22" decel="70000"/>
                                        <p:tgtEl>
                                          <p:spTgt spid="9"/>
                                        </p:tgtEl>
                                      </p:cBhvr>
                                    </p:animEffect>
                                  </p:childTnLst>
                                </p:cTn>
                              </p:par>
                              <p:par>
                                <p:cTn id="29" presetID="22" presetClass="entr" presetSubtype="1" fill="hold" grpId="0" nodeType="withEffect">
                                  <p:stCondLst>
                                    <p:cond delay="220"/>
                                  </p:stCondLst>
                                  <p:childTnLst>
                                    <p:set>
                                      <p:cBhvr>
                                        <p:cTn id="30" dur="1" fill="hold">
                                          <p:stCondLst>
                                            <p:cond delay="0"/>
                                          </p:stCondLst>
                                        </p:cTn>
                                        <p:tgtEl>
                                          <p:spTgt spid="10"/>
                                        </p:tgtEl>
                                        <p:attrNameLst>
                                          <p:attrName>style.visibility</p:attrName>
                                        </p:attrNameLst>
                                      </p:cBhvr>
                                      <p:to>
                                        <p:strVal val="visible"/>
                                      </p:to>
                                    </p:set>
                                    <p:animEffect transition="in" filter="wipe(right)">
                                      <p:cBhvr>
                                        <p:cTn id="31" dur="529"/>
                                        <p:tgtEl>
                                          <p:spTgt spid="10"/>
                                        </p:tgtEl>
                                      </p:cBhvr>
                                    </p:animEffect>
                                  </p:childTnLst>
                                </p:cTn>
                              </p:par>
                              <p:par>
                                <p:cTn id="32" presetID="10" presetClass="entr" presetSubtype="0" fill="hold" grpId="0" nodeType="withEffect">
                                  <p:stCondLst>
                                    <p:cond delay="275"/>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45" decel="70000"/>
                                        <p:tgtEl>
                                          <p:spTgt spid="11"/>
                                        </p:tgtEl>
                                      </p:cBhvr>
                                    </p:animEffect>
                                    <p:anim calcmode="lin" valueType="num">
                                      <p:cBhvr additive="base">
                                        <p:cTn id="35" dur="345" decel="70000" fill="hold"/>
                                        <p:tgtEl>
                                          <p:spTgt spid="11"/>
                                        </p:tgtEl>
                                        <p:attrNameLst>
                                          <p:attrName>ppt_y</p:attrName>
                                        </p:attrNameLst>
                                      </p:cBhvr>
                                      <p:tavLst>
                                        <p:tav tm="0">
                                          <p:val>
                                            <p:strVal val="#ppt_y+0.0288"/>
                                          </p:val>
                                        </p:tav>
                                        <p:tav tm="100000">
                                          <p:val>
                                            <p:strVal val="#ppt_y"/>
                                          </p:val>
                                        </p:tav>
                                      </p:tavLst>
                                    </p:anim>
                                  </p:childTnLst>
                                </p:cTn>
                              </p:par>
                              <p:par>
                                <p:cTn id="36" presetID="10" presetClass="entr" presetSubtype="0" fill="hold" grpId="0" nodeType="withEffect">
                                  <p:stCondLst>
                                    <p:cond delay="33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322" decel="70000"/>
                                        <p:tgtEl>
                                          <p:spTgt spid="12"/>
                                        </p:tgtEl>
                                      </p:cBhvr>
                                    </p:animEffect>
                                  </p:childTnLst>
                                </p:cTn>
                              </p:par>
                              <p:par>
                                <p:cTn id="39" presetID="10" presetClass="entr" presetSubtype="0" fill="hold" grpId="0" nodeType="withEffect">
                                  <p:stCondLst>
                                    <p:cond delay="385"/>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322" decel="70000"/>
                                        <p:tgtEl>
                                          <p:spTgt spid="13"/>
                                        </p:tgtEl>
                                      </p:cBhvr>
                                    </p:animEffect>
                                    <p:anim calcmode="lin" valueType="num">
                                      <p:cBhvr additive="base">
                                        <p:cTn id="42" dur="322" decel="70000" fill="hold"/>
                                        <p:tgtEl>
                                          <p:spTgt spid="13"/>
                                        </p:tgtEl>
                                        <p:attrNameLst>
                                          <p:attrName>ppt_y</p:attrName>
                                        </p:attrNameLst>
                                      </p:cBhvr>
                                      <p:tavLst>
                                        <p:tav tm="0">
                                          <p:val>
                                            <p:strVal val="#ppt_y+0.032"/>
                                          </p:val>
                                        </p:tav>
                                        <p:tav tm="100000">
                                          <p:val>
                                            <p:strVal val="#ppt_y"/>
                                          </p:val>
                                        </p:tav>
                                      </p:tavLst>
                                    </p:anim>
                                  </p:childTnLst>
                                </p:cTn>
                              </p:par>
                              <p:par>
                                <p:cTn id="43" presetID="10" presetClass="entr" presetSubtype="0" fill="hold" grpId="0" nodeType="withEffect">
                                  <p:stCondLst>
                                    <p:cond delay="44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322" decel="70000"/>
                                        <p:tgtEl>
                                          <p:spTgt spid="14"/>
                                        </p:tgtEl>
                                      </p:cBhvr>
                                    </p:animEffect>
                                  </p:childTnLst>
                                </p:cTn>
                              </p:par>
                              <p:par>
                                <p:cTn id="46" presetID="10" presetClass="entr" presetSubtype="0" fill="hold" grpId="0" nodeType="withEffect">
                                  <p:stCondLst>
                                    <p:cond delay="495"/>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322" decel="70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SERVICE LINE</a:t>
            </a:r>
            <a:endParaRPr lang="en-US" sz="1050" dirty="0"/>
          </a:p>
        </p:txBody>
      </p:sp>
      <p:sp>
        <p:nvSpPr>
          <p:cNvPr id="4" name="role:title"/>
          <p:cNvSpPr txBox="1"/>
          <p:nvPr/>
        </p:nvSpPr>
        <p:spPr>
          <a:xfrm>
            <a:off x="713232" y="987552"/>
            <a:ext cx="8570671"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AI marketing and automation</a:t>
            </a:r>
            <a:endParaRPr lang="en-US" sz="3900" dirty="0"/>
          </a:p>
        </p:txBody>
      </p:sp>
      <p:sp>
        <p:nvSpPr>
          <p:cNvPr id="5" name="role:sub"/>
          <p:cNvSpPr txBox="1"/>
          <p:nvPr/>
        </p:nvSpPr>
        <p:spPr>
          <a:xfrm>
            <a:off x="713232" y="1703070"/>
            <a:ext cx="8046720" cy="356616"/>
          </a:xfrm>
          <a:prstGeom prst="rect">
            <a:avLst/>
          </a:prstGeom>
          <a:noFill/>
          <a:ln/>
        </p:spPr>
        <p:txBody>
          <a:bodyPr wrap="square" lIns="0" tIns="0" rIns="0" bIns="0" rtlCol="0" anchor="t"/>
          <a:lstStyle/>
          <a:p>
            <a:pPr algn="l" indent="0" marL="0">
              <a:lnSpc>
                <a:spcPct val="128000"/>
              </a:lnSpc>
              <a:buNone/>
            </a:pPr>
            <a:r>
              <a:rPr lang="en-US" sz="1800" dirty="0">
                <a:solidFill>
                  <a:srgbClr val="5A6772"/>
                </a:solidFill>
                <a:latin typeface="Arial" pitchFamily="34" charset="0"/>
                <a:ea typeface="Arial" pitchFamily="34" charset="-122"/>
                <a:cs typeface="Arial" pitchFamily="34" charset="-120"/>
              </a:rPr>
              <a:t>Repetitive marketing work, handed to a system that does not forget.</a:t>
            </a:r>
            <a:endParaRPr lang="en-US" sz="1800" dirty="0"/>
          </a:p>
        </p:txBody>
      </p:sp>
      <p:sp>
        <p:nvSpPr>
          <p:cNvPr id="6"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09</a:t>
            </a:r>
            <a:endParaRPr lang="en-US" sz="1050" dirty="0"/>
          </a:p>
        </p:txBody>
      </p:sp>
      <p:sp>
        <p:nvSpPr>
          <p:cNvPr id="7" name="role:step-num"/>
          <p:cNvSpPr txBox="1"/>
          <p:nvPr/>
        </p:nvSpPr>
        <p:spPr>
          <a:xfrm>
            <a:off x="713232" y="2450592"/>
            <a:ext cx="1245565"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01</a:t>
            </a:r>
            <a:endParaRPr lang="en-US" sz="1500" dirty="0"/>
          </a:p>
        </p:txBody>
      </p:sp>
      <p:sp>
        <p:nvSpPr>
          <p:cNvPr id="8" name="role:step-head"/>
          <p:cNvSpPr txBox="1"/>
          <p:nvPr/>
        </p:nvSpPr>
        <p:spPr>
          <a:xfrm>
            <a:off x="713232" y="2871216"/>
            <a:ext cx="1245565" cy="27355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Discovery</a:t>
            </a:r>
            <a:endParaRPr lang="en-US" sz="1500" dirty="0"/>
          </a:p>
        </p:txBody>
      </p:sp>
      <p:sp>
        <p:nvSpPr>
          <p:cNvPr id="9" name="role:body"/>
          <p:cNvSpPr txBox="1"/>
          <p:nvPr/>
        </p:nvSpPr>
        <p:spPr>
          <a:xfrm>
            <a:off x="713232" y="3254502"/>
            <a:ext cx="1245565" cy="904113"/>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Goals, offers, audiences and the metrics the automation has to move.</a:t>
            </a:r>
            <a:endParaRPr lang="en-US" sz="1050" dirty="0"/>
          </a:p>
        </p:txBody>
      </p:sp>
      <p:sp>
        <p:nvSpPr>
          <p:cNvPr id="10" name="role:rule-v"/>
          <p:cNvSpPr/>
          <p:nvPr/>
        </p:nvSpPr>
        <p:spPr>
          <a:xfrm>
            <a:off x="2251405" y="2450592"/>
            <a:ext cx="0" cy="1554480"/>
          </a:xfrm>
          <a:prstGeom prst="line">
            <a:avLst/>
          </a:prstGeom>
          <a:noFill/>
          <a:ln w="9525">
            <a:solidFill>
              <a:srgbClr val="E2EAF1"/>
            </a:solidFill>
            <a:prstDash val="solid"/>
          </a:ln>
        </p:spPr>
      </p:sp>
      <p:sp>
        <p:nvSpPr>
          <p:cNvPr id="11" name="role:step-num"/>
          <p:cNvSpPr txBox="1"/>
          <p:nvPr/>
        </p:nvSpPr>
        <p:spPr>
          <a:xfrm>
            <a:off x="2507437" y="2450592"/>
            <a:ext cx="1245565"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02</a:t>
            </a:r>
            <a:endParaRPr lang="en-US" sz="1500" dirty="0"/>
          </a:p>
        </p:txBody>
      </p:sp>
      <p:sp>
        <p:nvSpPr>
          <p:cNvPr id="12" name="role:step-head"/>
          <p:cNvSpPr txBox="1"/>
          <p:nvPr/>
        </p:nvSpPr>
        <p:spPr>
          <a:xfrm>
            <a:off x="2507437" y="2871216"/>
            <a:ext cx="1245565" cy="27355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Stack audit</a:t>
            </a:r>
            <a:endParaRPr lang="en-US" sz="1500" dirty="0"/>
          </a:p>
        </p:txBody>
      </p:sp>
      <p:sp>
        <p:nvSpPr>
          <p:cNvPr id="13" name="role:body"/>
          <p:cNvSpPr txBox="1"/>
          <p:nvPr/>
        </p:nvSpPr>
        <p:spPr>
          <a:xfrm>
            <a:off x="2507437" y="3254502"/>
            <a:ext cx="1245565" cy="736092"/>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CRM, forms, ads, email, SMS and tracking reviewed for gaps.</a:t>
            </a:r>
            <a:endParaRPr lang="en-US" sz="1050" dirty="0"/>
          </a:p>
        </p:txBody>
      </p:sp>
      <p:sp>
        <p:nvSpPr>
          <p:cNvPr id="14" name="role:rule-v"/>
          <p:cNvSpPr/>
          <p:nvPr/>
        </p:nvSpPr>
        <p:spPr>
          <a:xfrm>
            <a:off x="4045610" y="2450592"/>
            <a:ext cx="0" cy="1554480"/>
          </a:xfrm>
          <a:prstGeom prst="line">
            <a:avLst/>
          </a:prstGeom>
          <a:noFill/>
          <a:ln w="9525">
            <a:solidFill>
              <a:srgbClr val="E2EAF1"/>
            </a:solidFill>
            <a:prstDash val="solid"/>
          </a:ln>
        </p:spPr>
      </p:sp>
      <p:sp>
        <p:nvSpPr>
          <p:cNvPr id="15" name="role:step-num"/>
          <p:cNvSpPr txBox="1"/>
          <p:nvPr/>
        </p:nvSpPr>
        <p:spPr>
          <a:xfrm>
            <a:off x="4301642" y="2450592"/>
            <a:ext cx="1245565"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03</a:t>
            </a:r>
            <a:endParaRPr lang="en-US" sz="1500" dirty="0"/>
          </a:p>
        </p:txBody>
      </p:sp>
      <p:sp>
        <p:nvSpPr>
          <p:cNvPr id="16" name="role:step-head"/>
          <p:cNvSpPr txBox="1"/>
          <p:nvPr/>
        </p:nvSpPr>
        <p:spPr>
          <a:xfrm>
            <a:off x="4301642" y="2871216"/>
            <a:ext cx="1245565" cy="48310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Build workflows</a:t>
            </a:r>
            <a:endParaRPr lang="en-US" sz="1500" dirty="0"/>
          </a:p>
        </p:txBody>
      </p:sp>
      <p:sp>
        <p:nvSpPr>
          <p:cNvPr id="17" name="role:body"/>
          <p:cNvSpPr txBox="1"/>
          <p:nvPr/>
        </p:nvSpPr>
        <p:spPr>
          <a:xfrm>
            <a:off x="4301642" y="3464052"/>
            <a:ext cx="1245565" cy="904113"/>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Triggers, segments and messages built for each funnel stage.</a:t>
            </a:r>
            <a:endParaRPr lang="en-US" sz="1050" dirty="0"/>
          </a:p>
        </p:txBody>
      </p:sp>
      <p:sp>
        <p:nvSpPr>
          <p:cNvPr id="18" name="role:rule-v"/>
          <p:cNvSpPr/>
          <p:nvPr/>
        </p:nvSpPr>
        <p:spPr>
          <a:xfrm>
            <a:off x="5839816" y="2450592"/>
            <a:ext cx="0" cy="1554480"/>
          </a:xfrm>
          <a:prstGeom prst="line">
            <a:avLst/>
          </a:prstGeom>
          <a:noFill/>
          <a:ln w="9525">
            <a:solidFill>
              <a:srgbClr val="E2EAF1"/>
            </a:solidFill>
            <a:prstDash val="solid"/>
          </a:ln>
        </p:spPr>
      </p:sp>
      <p:sp>
        <p:nvSpPr>
          <p:cNvPr id="19" name="role:step-num"/>
          <p:cNvSpPr txBox="1"/>
          <p:nvPr/>
        </p:nvSpPr>
        <p:spPr>
          <a:xfrm>
            <a:off x="6095848" y="2450592"/>
            <a:ext cx="1245565"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04</a:t>
            </a:r>
            <a:endParaRPr lang="en-US" sz="1500" dirty="0"/>
          </a:p>
        </p:txBody>
      </p:sp>
      <p:sp>
        <p:nvSpPr>
          <p:cNvPr id="20" name="role:step-head"/>
          <p:cNvSpPr txBox="1"/>
          <p:nvPr/>
        </p:nvSpPr>
        <p:spPr>
          <a:xfrm>
            <a:off x="6095848" y="2871216"/>
            <a:ext cx="1245565" cy="27355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QA</a:t>
            </a:r>
            <a:endParaRPr lang="en-US" sz="1500" dirty="0"/>
          </a:p>
        </p:txBody>
      </p:sp>
      <p:sp>
        <p:nvSpPr>
          <p:cNvPr id="21" name="role:body"/>
          <p:cNvSpPr txBox="1"/>
          <p:nvPr/>
        </p:nvSpPr>
        <p:spPr>
          <a:xfrm>
            <a:off x="6095848" y="3254502"/>
            <a:ext cx="1245565" cy="904113"/>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Every path tested, tagging and consent validated, data confirmed.</a:t>
            </a:r>
            <a:endParaRPr lang="en-US" sz="1050" dirty="0"/>
          </a:p>
        </p:txBody>
      </p:sp>
      <p:sp>
        <p:nvSpPr>
          <p:cNvPr id="22" name="role:rule-v"/>
          <p:cNvSpPr/>
          <p:nvPr/>
        </p:nvSpPr>
        <p:spPr>
          <a:xfrm>
            <a:off x="7634021" y="2450592"/>
            <a:ext cx="0" cy="1554480"/>
          </a:xfrm>
          <a:prstGeom prst="line">
            <a:avLst/>
          </a:prstGeom>
          <a:noFill/>
          <a:ln w="9525">
            <a:solidFill>
              <a:srgbClr val="E2EAF1"/>
            </a:solidFill>
            <a:prstDash val="solid"/>
          </a:ln>
        </p:spPr>
      </p:sp>
      <p:sp>
        <p:nvSpPr>
          <p:cNvPr id="23" name="role:step-num"/>
          <p:cNvSpPr txBox="1"/>
          <p:nvPr/>
        </p:nvSpPr>
        <p:spPr>
          <a:xfrm>
            <a:off x="7890053" y="2450592"/>
            <a:ext cx="1245565"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05</a:t>
            </a:r>
            <a:endParaRPr lang="en-US" sz="1500" dirty="0"/>
          </a:p>
        </p:txBody>
      </p:sp>
      <p:sp>
        <p:nvSpPr>
          <p:cNvPr id="24" name="role:step-head"/>
          <p:cNvSpPr txBox="1"/>
          <p:nvPr/>
        </p:nvSpPr>
        <p:spPr>
          <a:xfrm>
            <a:off x="7890053" y="2871216"/>
            <a:ext cx="1245565" cy="27355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Launch</a:t>
            </a:r>
            <a:endParaRPr lang="en-US" sz="1500" dirty="0"/>
          </a:p>
        </p:txBody>
      </p:sp>
      <p:sp>
        <p:nvSpPr>
          <p:cNvPr id="25" name="role:body"/>
          <p:cNvSpPr txBox="1"/>
          <p:nvPr/>
        </p:nvSpPr>
        <p:spPr>
          <a:xfrm>
            <a:off x="7890053" y="3254502"/>
            <a:ext cx="1245565" cy="904113"/>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Published, first runs watched, timing and routing tuned daily.</a:t>
            </a:r>
            <a:endParaRPr lang="en-US" sz="1050" dirty="0"/>
          </a:p>
        </p:txBody>
      </p:sp>
      <p:sp>
        <p:nvSpPr>
          <p:cNvPr id="26" name="role:rule-v"/>
          <p:cNvSpPr/>
          <p:nvPr/>
        </p:nvSpPr>
        <p:spPr>
          <a:xfrm>
            <a:off x="9428226" y="2450592"/>
            <a:ext cx="0" cy="1554480"/>
          </a:xfrm>
          <a:prstGeom prst="line">
            <a:avLst/>
          </a:prstGeom>
          <a:noFill/>
          <a:ln w="9525">
            <a:solidFill>
              <a:srgbClr val="E2EAF1"/>
            </a:solidFill>
            <a:prstDash val="solid"/>
          </a:ln>
        </p:spPr>
      </p:sp>
      <p:sp>
        <p:nvSpPr>
          <p:cNvPr id="27" name="role:step-num"/>
          <p:cNvSpPr txBox="1"/>
          <p:nvPr/>
        </p:nvSpPr>
        <p:spPr>
          <a:xfrm>
            <a:off x="9684258" y="2450592"/>
            <a:ext cx="1245565"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06</a:t>
            </a:r>
            <a:endParaRPr lang="en-US" sz="1500" dirty="0"/>
          </a:p>
        </p:txBody>
      </p:sp>
      <p:sp>
        <p:nvSpPr>
          <p:cNvPr id="28" name="role:step-head"/>
          <p:cNvSpPr txBox="1"/>
          <p:nvPr/>
        </p:nvSpPr>
        <p:spPr>
          <a:xfrm>
            <a:off x="9684258" y="2871216"/>
            <a:ext cx="1245565" cy="27355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Report</a:t>
            </a:r>
            <a:endParaRPr lang="en-US" sz="1500" dirty="0"/>
          </a:p>
        </p:txBody>
      </p:sp>
      <p:sp>
        <p:nvSpPr>
          <p:cNvPr id="29" name="role:body"/>
          <p:cNvSpPr txBox="1"/>
          <p:nvPr/>
        </p:nvSpPr>
        <p:spPr>
          <a:xfrm>
            <a:off x="9684258" y="3254502"/>
            <a:ext cx="1245565" cy="736092"/>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KPIs tracked, copy, rules and steps optimized for ongoing lift.</a:t>
            </a:r>
            <a:endParaRPr lang="en-US" sz="1050" dirty="0"/>
          </a:p>
        </p:txBody>
      </p:sp>
      <p:sp>
        <p:nvSpPr>
          <p:cNvPr id="30" name="role:rule-h"/>
          <p:cNvSpPr/>
          <p:nvPr/>
        </p:nvSpPr>
        <p:spPr>
          <a:xfrm>
            <a:off x="713232" y="4526280"/>
            <a:ext cx="10765231" cy="0"/>
          </a:xfrm>
          <a:prstGeom prst="line">
            <a:avLst/>
          </a:prstGeom>
          <a:noFill/>
          <a:ln w="9525">
            <a:solidFill>
              <a:srgbClr val="E2EAF1"/>
            </a:solidFill>
            <a:prstDash val="solid"/>
          </a:ln>
        </p:spPr>
      </p:sp>
      <p:sp>
        <p:nvSpPr>
          <p:cNvPr id="31" name="role:kicker"/>
          <p:cNvSpPr txBox="1"/>
          <p:nvPr/>
        </p:nvSpPr>
        <p:spPr>
          <a:xfrm>
            <a:off x="713232" y="4754880"/>
            <a:ext cx="5486400"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PROOF · THE KIND INSURANCE</a:t>
            </a:r>
            <a:endParaRPr lang="en-US" sz="1050" dirty="0"/>
          </a:p>
        </p:txBody>
      </p:sp>
      <p:sp>
        <p:nvSpPr>
          <p:cNvPr id="32" name="role:body"/>
          <p:cNvSpPr txBox="1"/>
          <p:nvPr/>
        </p:nvSpPr>
        <p:spPr>
          <a:xfrm>
            <a:off x="713232" y="5084064"/>
            <a:ext cx="7315200" cy="640080"/>
          </a:xfrm>
          <a:prstGeom prst="rect">
            <a:avLst/>
          </a:prstGeom>
          <a:noFill/>
          <a:ln/>
        </p:spPr>
        <p:txBody>
          <a:bodyPr wrap="square" lIns="0" tIns="0" rIns="0" bIns="0" rtlCol="0" anchor="t"/>
          <a:lstStyle/>
          <a:p>
            <a:pPr algn="l" indent="0" marL="0">
              <a:lnSpc>
                <a:spcPct val="108000"/>
              </a:lnSpc>
              <a:buNone/>
            </a:pPr>
            <a:r>
              <a:rPr lang="en-US" sz="2100" b="1" dirty="0">
                <a:solidFill>
                  <a:srgbClr val="0F151B"/>
                </a:solidFill>
                <a:latin typeface="Arial" pitchFamily="34" charset="0"/>
                <a:ea typeface="Arial" pitchFamily="34" charset="-122"/>
                <a:cs typeface="Arial" pitchFamily="34" charset="-120"/>
              </a:rPr>
              <a:t>An AI chatbot and CRM build that closed a policy in month one</a:t>
            </a:r>
            <a:endParaRPr lang="en-US" sz="2100" dirty="0"/>
          </a:p>
        </p:txBody>
      </p:sp>
      <p:sp>
        <p:nvSpPr>
          <p:cNvPr id="33" name="role:body"/>
          <p:cNvSpPr txBox="1"/>
          <p:nvPr/>
        </p:nvSpPr>
        <p:spPr>
          <a:xfrm>
            <a:off x="713232" y="5870448"/>
            <a:ext cx="7315200" cy="460248"/>
          </a:xfrm>
          <a:prstGeom prst="rect">
            <a:avLst/>
          </a:prstGeom>
          <a:noFill/>
          <a:ln/>
        </p:spPr>
        <p:txBody>
          <a:bodyPr wrap="square" lIns="0" tIns="0" rIns="0" bIns="0" rtlCol="0" anchor="t"/>
          <a:lstStyle/>
          <a:p>
            <a:pPr algn="l" indent="0" marL="0">
              <a:lnSpc>
                <a:spcPct val="130000"/>
              </a:lnSpc>
              <a:buNone/>
            </a:pPr>
            <a:r>
              <a:rPr lang="en-US" sz="1200" dirty="0">
                <a:solidFill>
                  <a:srgbClr val="5A6772"/>
                </a:solidFill>
                <a:latin typeface="Arial" pitchFamily="34" charset="0"/>
                <a:ea typeface="Arial" pitchFamily="34" charset="-122"/>
                <a:cs typeface="Arial" pitchFamily="34" charset="-120"/>
              </a:rPr>
              <a:t>Five qualified chatbot conversations and one closed won policy in thirty days, with every lead synced into the CRM and zero manual entry.</a:t>
            </a:r>
            <a:endParaRPr lang="en-US" sz="1200" dirty="0"/>
          </a:p>
        </p:txBody>
      </p:sp>
      <p:sp>
        <p:nvSpPr>
          <p:cNvPr id="34" name="role:kicker"/>
          <p:cNvSpPr txBox="1"/>
          <p:nvPr/>
        </p:nvSpPr>
        <p:spPr>
          <a:xfrm>
            <a:off x="8138160" y="4754880"/>
            <a:ext cx="3520440"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PACKAGED</a:t>
            </a:r>
            <a:endParaRPr lang="en-US" sz="1050" dirty="0"/>
          </a:p>
        </p:txBody>
      </p:sp>
      <p:sp>
        <p:nvSpPr>
          <p:cNvPr id="35" name="role:body"/>
          <p:cNvSpPr txBox="1"/>
          <p:nvPr/>
        </p:nvSpPr>
        <p:spPr>
          <a:xfrm>
            <a:off x="8138160" y="5084064"/>
            <a:ext cx="3520440" cy="301498"/>
          </a:xfrm>
          <a:prstGeom prst="rect">
            <a:avLst/>
          </a:prstGeom>
          <a:noFill/>
          <a:ln/>
        </p:spPr>
        <p:txBody>
          <a:bodyPr wrap="square" lIns="0" tIns="0" rIns="0" bIns="0" rtlCol="0" anchor="t"/>
          <a:lstStyle/>
          <a:p>
            <a:pPr algn="l" indent="0" marL="0">
              <a:lnSpc>
                <a:spcPct val="110000"/>
              </a:lnSpc>
              <a:buNone/>
            </a:pPr>
            <a:r>
              <a:rPr lang="en-US" sz="1700" b="1" dirty="0">
                <a:solidFill>
                  <a:srgbClr val="0F151B"/>
                </a:solidFill>
                <a:latin typeface="Arial" pitchFamily="34" charset="0"/>
                <a:ea typeface="Arial" pitchFamily="34" charset="-122"/>
                <a:cs typeface="Arial" pitchFamily="34" charset="-120"/>
              </a:rPr>
              <a:t>Tiers by business type</a:t>
            </a:r>
            <a:endParaRPr lang="en-US" sz="1700" dirty="0"/>
          </a:p>
        </p:txBody>
      </p:sp>
      <p:sp>
        <p:nvSpPr>
          <p:cNvPr id="36" name="role:body"/>
          <p:cNvSpPr txBox="1"/>
          <p:nvPr/>
        </p:nvSpPr>
        <p:spPr>
          <a:xfrm>
            <a:off x="8138160" y="5513578"/>
            <a:ext cx="3520440" cy="658368"/>
          </a:xfrm>
          <a:prstGeom prst="rect">
            <a:avLst/>
          </a:prstGeom>
          <a:noFill/>
          <a:ln/>
        </p:spPr>
        <p:txBody>
          <a:bodyPr wrap="square" lIns="0" tIns="0" rIns="0" bIns="0" rtlCol="0" anchor="t"/>
          <a:lstStyle/>
          <a:p>
            <a:pPr algn="l" indent="0" marL="0">
              <a:lnSpc>
                <a:spcPct val="130000"/>
              </a:lnSpc>
              <a:buNone/>
            </a:pPr>
            <a:r>
              <a:rPr lang="en-US" sz="1200" dirty="0">
                <a:solidFill>
                  <a:srgbClr val="5A6772"/>
                </a:solidFill>
                <a:latin typeface="Arial" pitchFamily="34" charset="0"/>
                <a:ea typeface="Arial" pitchFamily="34" charset="-122"/>
                <a:cs typeface="Arial" pitchFamily="34" charset="-120"/>
              </a:rPr>
              <a:t>Starter, Growth and Enterprise for ecommerce. Essential, Premium and Elite for real estate.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390" decel="70000"/>
                                        <p:tgtEl>
                                          <p:spTgt spid="5"/>
                                        </p:tgtEl>
                                      </p:cBhvr>
                                    </p:animEffect>
                                    <p:anim calcmode="lin" valueType="num">
                                      <p:cBhvr additive="base">
                                        <p:cTn id="19" dur="390" decel="70000" fill="hold"/>
                                        <p:tgtEl>
                                          <p:spTgt spid="5"/>
                                        </p:tgtEl>
                                        <p:attrNameLst>
                                          <p:attrName>ppt_y</p:attrName>
                                        </p:attrNameLst>
                                      </p:cBhvr>
                                      <p:tavLst>
                                        <p:tav tm="0">
                                          <p:val>
                                            <p:strVal val="#ppt_y+0.0384"/>
                                          </p:val>
                                        </p:tav>
                                        <p:tav tm="100000">
                                          <p:val>
                                            <p:strVal val="#ppt_y"/>
                                          </p:val>
                                        </p:tav>
                                      </p:tavLst>
                                    </p:anim>
                                  </p:childTnLst>
                                </p:cTn>
                              </p:par>
                              <p:par>
                                <p:cTn id="20" presetID="23" presetClass="entr" presetSubtype="0" fill="hold" grpId="0" nodeType="withEffect">
                                  <p:stCondLst>
                                    <p:cond delay="16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68" decel="70000"/>
                                        <p:tgtEl>
                                          <p:spTgt spid="7"/>
                                        </p:tgtEl>
                                      </p:cBhvr>
                                    </p:animEffect>
                                    <p:animScale>
                                      <p:cBhvr>
                                        <p:cTn id="23" dur="368" decel="70000" fill="hold"/>
                                        <p:tgtEl>
                                          <p:spTgt spid="7"/>
                                        </p:tgtEl>
                                      </p:cBhvr>
                                      <p:from x="82000" y="82000"/>
                                      <p:to x="100000" y="100000"/>
                                    </p:animScale>
                                  </p:childTnLst>
                                </p:cTn>
                              </p:par>
                              <p:par>
                                <p:cTn id="24" presetID="22" presetClass="entr" presetSubtype="1" fill="hold" grpId="0" nodeType="withEffect">
                                  <p:stCondLst>
                                    <p:cond delay="220"/>
                                  </p:stCondLst>
                                  <p:childTnLst>
                                    <p:set>
                                      <p:cBhvr>
                                        <p:cTn id="25" dur="1" fill="hold">
                                          <p:stCondLst>
                                            <p:cond delay="0"/>
                                          </p:stCondLst>
                                        </p:cTn>
                                        <p:tgtEl>
                                          <p:spTgt spid="10"/>
                                        </p:tgtEl>
                                        <p:attrNameLst>
                                          <p:attrName>style.visibility</p:attrName>
                                        </p:attrNameLst>
                                      </p:cBhvr>
                                      <p:to>
                                        <p:strVal val="visible"/>
                                      </p:to>
                                    </p:set>
                                    <p:animEffect transition="in" filter="wipe(down)">
                                      <p:cBhvr>
                                        <p:cTn id="26" dur="390"/>
                                        <p:tgtEl>
                                          <p:spTgt spid="10"/>
                                        </p:tgtEl>
                                      </p:cBhvr>
                                    </p:animEffect>
                                  </p:childTnLst>
                                </p:cTn>
                              </p:par>
                              <p:par>
                                <p:cTn id="27" presetID="23" presetClass="entr" presetSubtype="0" fill="hold" grpId="0" nodeType="withEffect">
                                  <p:stCondLst>
                                    <p:cond delay="275"/>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368" decel="70000"/>
                                        <p:tgtEl>
                                          <p:spTgt spid="11"/>
                                        </p:tgtEl>
                                      </p:cBhvr>
                                    </p:animEffect>
                                    <p:animScale>
                                      <p:cBhvr>
                                        <p:cTn id="30" dur="368" decel="70000" fill="hold"/>
                                        <p:tgtEl>
                                          <p:spTgt spid="11"/>
                                        </p:tgtEl>
                                      </p:cBhvr>
                                      <p:from x="82000" y="82000"/>
                                      <p:to x="100000" y="100000"/>
                                    </p:animScale>
                                  </p:childTnLst>
                                </p:cTn>
                              </p:par>
                              <p:par>
                                <p:cTn id="31" presetID="22" presetClass="entr" presetSubtype="1" fill="hold" grpId="0" nodeType="withEffect">
                                  <p:stCondLst>
                                    <p:cond delay="330"/>
                                  </p:stCondLst>
                                  <p:childTnLst>
                                    <p:set>
                                      <p:cBhvr>
                                        <p:cTn id="32" dur="1" fill="hold">
                                          <p:stCondLst>
                                            <p:cond delay="0"/>
                                          </p:stCondLst>
                                        </p:cTn>
                                        <p:tgtEl>
                                          <p:spTgt spid="14"/>
                                        </p:tgtEl>
                                        <p:attrNameLst>
                                          <p:attrName>style.visibility</p:attrName>
                                        </p:attrNameLst>
                                      </p:cBhvr>
                                      <p:to>
                                        <p:strVal val="visible"/>
                                      </p:to>
                                    </p:set>
                                    <p:animEffect transition="in" filter="wipe(down)">
                                      <p:cBhvr>
                                        <p:cTn id="33" dur="390"/>
                                        <p:tgtEl>
                                          <p:spTgt spid="14"/>
                                        </p:tgtEl>
                                      </p:cBhvr>
                                    </p:animEffect>
                                  </p:childTnLst>
                                </p:cTn>
                              </p:par>
                              <p:par>
                                <p:cTn id="34" presetID="23" presetClass="entr" presetSubtype="0" fill="hold" grpId="0" nodeType="withEffect">
                                  <p:stCondLst>
                                    <p:cond delay="385"/>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368" decel="70000"/>
                                        <p:tgtEl>
                                          <p:spTgt spid="15"/>
                                        </p:tgtEl>
                                      </p:cBhvr>
                                    </p:animEffect>
                                    <p:animScale>
                                      <p:cBhvr>
                                        <p:cTn id="37" dur="368" decel="70000" fill="hold"/>
                                        <p:tgtEl>
                                          <p:spTgt spid="15"/>
                                        </p:tgtEl>
                                      </p:cBhvr>
                                      <p:from x="82000" y="82000"/>
                                      <p:to x="100000" y="100000"/>
                                    </p:animScale>
                                  </p:childTnLst>
                                </p:cTn>
                              </p:par>
                              <p:par>
                                <p:cTn id="38" presetID="22" presetClass="entr" presetSubtype="1" fill="hold" grpId="0" nodeType="withEffect">
                                  <p:stCondLst>
                                    <p:cond delay="440"/>
                                  </p:stCondLst>
                                  <p:childTnLst>
                                    <p:set>
                                      <p:cBhvr>
                                        <p:cTn id="39" dur="1" fill="hold">
                                          <p:stCondLst>
                                            <p:cond delay="0"/>
                                          </p:stCondLst>
                                        </p:cTn>
                                        <p:tgtEl>
                                          <p:spTgt spid="18"/>
                                        </p:tgtEl>
                                        <p:attrNameLst>
                                          <p:attrName>style.visibility</p:attrName>
                                        </p:attrNameLst>
                                      </p:cBhvr>
                                      <p:to>
                                        <p:strVal val="visible"/>
                                      </p:to>
                                    </p:set>
                                    <p:animEffect transition="in" filter="wipe(down)">
                                      <p:cBhvr>
                                        <p:cTn id="40" dur="390"/>
                                        <p:tgtEl>
                                          <p:spTgt spid="18"/>
                                        </p:tgtEl>
                                      </p:cBhvr>
                                    </p:animEffect>
                                  </p:childTnLst>
                                </p:cTn>
                              </p:par>
                              <p:par>
                                <p:cTn id="41" presetID="23" presetClass="entr" presetSubtype="0" fill="hold" grpId="0" nodeType="withEffect">
                                  <p:stCondLst>
                                    <p:cond delay="495"/>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368" decel="70000"/>
                                        <p:tgtEl>
                                          <p:spTgt spid="19"/>
                                        </p:tgtEl>
                                      </p:cBhvr>
                                    </p:animEffect>
                                    <p:animScale>
                                      <p:cBhvr>
                                        <p:cTn id="44" dur="368" decel="70000" fill="hold"/>
                                        <p:tgtEl>
                                          <p:spTgt spid="19"/>
                                        </p:tgtEl>
                                      </p:cBhvr>
                                      <p:from x="82000" y="82000"/>
                                      <p:to x="100000" y="100000"/>
                                    </p:animScale>
                                  </p:childTnLst>
                                </p:cTn>
                              </p:par>
                              <p:par>
                                <p:cTn id="45" presetID="22" presetClass="entr" presetSubtype="1" fill="hold" grpId="0" nodeType="withEffect">
                                  <p:stCondLst>
                                    <p:cond delay="550"/>
                                  </p:stCondLst>
                                  <p:childTnLst>
                                    <p:set>
                                      <p:cBhvr>
                                        <p:cTn id="46" dur="1" fill="hold">
                                          <p:stCondLst>
                                            <p:cond delay="0"/>
                                          </p:stCondLst>
                                        </p:cTn>
                                        <p:tgtEl>
                                          <p:spTgt spid="22"/>
                                        </p:tgtEl>
                                        <p:attrNameLst>
                                          <p:attrName>style.visibility</p:attrName>
                                        </p:attrNameLst>
                                      </p:cBhvr>
                                      <p:to>
                                        <p:strVal val="visible"/>
                                      </p:to>
                                    </p:set>
                                    <p:animEffect transition="in" filter="wipe(down)">
                                      <p:cBhvr>
                                        <p:cTn id="47" dur="390"/>
                                        <p:tgtEl>
                                          <p:spTgt spid="22"/>
                                        </p:tgtEl>
                                      </p:cBhvr>
                                    </p:animEffect>
                                  </p:childTnLst>
                                </p:cTn>
                              </p:par>
                              <p:par>
                                <p:cTn id="48" presetID="23" presetClass="entr" presetSubtype="0" fill="hold" grpId="0" nodeType="withEffect">
                                  <p:stCondLst>
                                    <p:cond delay="605"/>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368" decel="70000"/>
                                        <p:tgtEl>
                                          <p:spTgt spid="23"/>
                                        </p:tgtEl>
                                      </p:cBhvr>
                                    </p:animEffect>
                                    <p:animScale>
                                      <p:cBhvr>
                                        <p:cTn id="51" dur="368" decel="70000" fill="hold"/>
                                        <p:tgtEl>
                                          <p:spTgt spid="23"/>
                                        </p:tgtEl>
                                      </p:cBhvr>
                                      <p:from x="82000" y="82000"/>
                                      <p:to x="100000" y="100000"/>
                                    </p:animScale>
                                  </p:childTnLst>
                                </p:cTn>
                              </p:par>
                              <p:par>
                                <p:cTn id="52" presetID="22" presetClass="entr" presetSubtype="1" fill="hold" grpId="0" nodeType="withEffect">
                                  <p:stCondLst>
                                    <p:cond delay="660"/>
                                  </p:stCondLst>
                                  <p:childTnLst>
                                    <p:set>
                                      <p:cBhvr>
                                        <p:cTn id="53" dur="1" fill="hold">
                                          <p:stCondLst>
                                            <p:cond delay="0"/>
                                          </p:stCondLst>
                                        </p:cTn>
                                        <p:tgtEl>
                                          <p:spTgt spid="26"/>
                                        </p:tgtEl>
                                        <p:attrNameLst>
                                          <p:attrName>style.visibility</p:attrName>
                                        </p:attrNameLst>
                                      </p:cBhvr>
                                      <p:to>
                                        <p:strVal val="visible"/>
                                      </p:to>
                                    </p:set>
                                    <p:animEffect transition="in" filter="wipe(down)">
                                      <p:cBhvr>
                                        <p:cTn id="54" dur="390"/>
                                        <p:tgtEl>
                                          <p:spTgt spid="26"/>
                                        </p:tgtEl>
                                      </p:cBhvr>
                                    </p:animEffect>
                                  </p:childTnLst>
                                </p:cTn>
                              </p:par>
                              <p:par>
                                <p:cTn id="55" presetID="23" presetClass="entr" presetSubtype="0" fill="hold" grpId="0" nodeType="withEffect">
                                  <p:stCondLst>
                                    <p:cond delay="715"/>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368" decel="70000"/>
                                        <p:tgtEl>
                                          <p:spTgt spid="27"/>
                                        </p:tgtEl>
                                      </p:cBhvr>
                                    </p:animEffect>
                                    <p:animScale>
                                      <p:cBhvr>
                                        <p:cTn id="58" dur="368" decel="70000" fill="hold"/>
                                        <p:tgtEl>
                                          <p:spTgt spid="27"/>
                                        </p:tgtEl>
                                      </p:cBhvr>
                                      <p:from x="82000" y="82000"/>
                                      <p:to x="100000" y="100000"/>
                                    </p:animScale>
                                  </p:childTnLst>
                                </p:cTn>
                              </p:par>
                              <p:par>
                                <p:cTn id="59" presetID="10" presetClass="entr" presetSubtype="0" fill="hold" grpId="0" nodeType="withEffect">
                                  <p:stCondLst>
                                    <p:cond delay="77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322" decel="70000"/>
                                        <p:tgtEl>
                                          <p:spTgt spid="8"/>
                                        </p:tgtEl>
                                      </p:cBhvr>
                                    </p:animEffect>
                                    <p:anim calcmode="lin" valueType="num">
                                      <p:cBhvr additive="base">
                                        <p:cTn id="62" dur="322" decel="70000" fill="hold"/>
                                        <p:tgtEl>
                                          <p:spTgt spid="8"/>
                                        </p:tgtEl>
                                        <p:attrNameLst>
                                          <p:attrName>ppt_y</p:attrName>
                                        </p:attrNameLst>
                                      </p:cBhvr>
                                      <p:tavLst>
                                        <p:tav tm="0">
                                          <p:val>
                                            <p:strVal val="#ppt_y+0.0288"/>
                                          </p:val>
                                        </p:tav>
                                        <p:tav tm="100000">
                                          <p:val>
                                            <p:strVal val="#ppt_y"/>
                                          </p:val>
                                        </p:tav>
                                      </p:tavLst>
                                    </p:anim>
                                  </p:childTnLst>
                                </p:cTn>
                              </p:par>
                              <p:par>
                                <p:cTn id="63" presetID="10" presetClass="entr" presetSubtype="0" fill="hold" grpId="0" nodeType="withEffect">
                                  <p:stCondLst>
                                    <p:cond delay="825"/>
                                  </p:stCondLst>
                                  <p:childTnLst>
                                    <p:set>
                                      <p:cBhvr>
                                        <p:cTn id="64" dur="1" fill="hold">
                                          <p:stCondLst>
                                            <p:cond delay="0"/>
                                          </p:stCondLst>
                                        </p:cTn>
                                        <p:tgtEl>
                                          <p:spTgt spid="12"/>
                                        </p:tgtEl>
                                        <p:attrNameLst>
                                          <p:attrName>style.visibility</p:attrName>
                                        </p:attrNameLst>
                                      </p:cBhvr>
                                      <p:to>
                                        <p:strVal val="visible"/>
                                      </p:to>
                                    </p:set>
                                    <p:animEffect transition="in" filter="fade">
                                      <p:cBhvr>
                                        <p:cTn id="65" dur="322" decel="70000"/>
                                        <p:tgtEl>
                                          <p:spTgt spid="12"/>
                                        </p:tgtEl>
                                      </p:cBhvr>
                                    </p:animEffect>
                                    <p:anim calcmode="lin" valueType="num">
                                      <p:cBhvr additive="base">
                                        <p:cTn id="66" dur="322" decel="70000" fill="hold"/>
                                        <p:tgtEl>
                                          <p:spTgt spid="12"/>
                                        </p:tgtEl>
                                        <p:attrNameLst>
                                          <p:attrName>ppt_y</p:attrName>
                                        </p:attrNameLst>
                                      </p:cBhvr>
                                      <p:tavLst>
                                        <p:tav tm="0">
                                          <p:val>
                                            <p:strVal val="#ppt_y+0.0288"/>
                                          </p:val>
                                        </p:tav>
                                        <p:tav tm="100000">
                                          <p:val>
                                            <p:strVal val="#ppt_y"/>
                                          </p:val>
                                        </p:tav>
                                      </p:tavLst>
                                    </p:anim>
                                  </p:childTnLst>
                                </p:cTn>
                              </p:par>
                              <p:par>
                                <p:cTn id="67" presetID="10" presetClass="entr" presetSubtype="0" fill="hold" grpId="0" nodeType="withEffect">
                                  <p:stCondLst>
                                    <p:cond delay="88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322" decel="70000"/>
                                        <p:tgtEl>
                                          <p:spTgt spid="16"/>
                                        </p:tgtEl>
                                      </p:cBhvr>
                                    </p:animEffect>
                                    <p:anim calcmode="lin" valueType="num">
                                      <p:cBhvr additive="base">
                                        <p:cTn id="70" dur="322" decel="70000" fill="hold"/>
                                        <p:tgtEl>
                                          <p:spTgt spid="16"/>
                                        </p:tgtEl>
                                        <p:attrNameLst>
                                          <p:attrName>ppt_y</p:attrName>
                                        </p:attrNameLst>
                                      </p:cBhvr>
                                      <p:tavLst>
                                        <p:tav tm="0">
                                          <p:val>
                                            <p:strVal val="#ppt_y+0.0288"/>
                                          </p:val>
                                        </p:tav>
                                        <p:tav tm="100000">
                                          <p:val>
                                            <p:strVal val="#ppt_y"/>
                                          </p:val>
                                        </p:tav>
                                      </p:tavLst>
                                    </p:anim>
                                  </p:childTnLst>
                                </p:cTn>
                              </p:par>
                              <p:par>
                                <p:cTn id="71" presetID="10" presetClass="entr" presetSubtype="0" fill="hold" grpId="0" nodeType="withEffect">
                                  <p:stCondLst>
                                    <p:cond delay="935"/>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22" decel="70000"/>
                                        <p:tgtEl>
                                          <p:spTgt spid="20"/>
                                        </p:tgtEl>
                                      </p:cBhvr>
                                    </p:animEffect>
                                    <p:anim calcmode="lin" valueType="num">
                                      <p:cBhvr additive="base">
                                        <p:cTn id="74" dur="322" decel="70000" fill="hold"/>
                                        <p:tgtEl>
                                          <p:spTgt spid="20"/>
                                        </p:tgtEl>
                                        <p:attrNameLst>
                                          <p:attrName>ppt_y</p:attrName>
                                        </p:attrNameLst>
                                      </p:cBhvr>
                                      <p:tavLst>
                                        <p:tav tm="0">
                                          <p:val>
                                            <p:strVal val="#ppt_y+0.028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role:panel-right"/>
          <p:cNvSpPr/>
          <p:nvPr/>
        </p:nvSpPr>
        <p:spPr>
          <a:xfrm>
            <a:off x="8442655" y="0"/>
            <a:ext cx="3749040" cy="6858000"/>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9692640" y="1280160"/>
            <a:ext cx="3749040" cy="4447260"/>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658368"/>
            <a:ext cx="1371600" cy="294904"/>
          </a:xfrm>
          <a:prstGeom prst="rect">
            <a:avLst/>
          </a:prstGeom>
        </p:spPr>
      </p:pic>
      <p:sp>
        <p:nvSpPr>
          <p:cNvPr id="5"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NEW SERVICE LINE · DRAFT FOR APPROVAL</a:t>
            </a:r>
            <a:endParaRPr lang="en-US" sz="1050" dirty="0"/>
          </a:p>
        </p:txBody>
      </p:sp>
      <p:sp>
        <p:nvSpPr>
          <p:cNvPr id="6" name="role:title"/>
          <p:cNvSpPr txBox="1"/>
          <p:nvPr/>
        </p:nvSpPr>
        <p:spPr>
          <a:xfrm>
            <a:off x="713232" y="987552"/>
            <a:ext cx="7498080"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Answer engine optimization</a:t>
            </a:r>
            <a:endParaRPr lang="en-US" sz="3900" dirty="0"/>
          </a:p>
        </p:txBody>
      </p:sp>
      <p:sp>
        <p:nvSpPr>
          <p:cNvPr id="7" name="role:sub"/>
          <p:cNvSpPr txBox="1"/>
          <p:nvPr/>
        </p:nvSpPr>
        <p:spPr>
          <a:xfrm>
            <a:off x="713232" y="1703070"/>
            <a:ext cx="7498080" cy="941832"/>
          </a:xfrm>
          <a:prstGeom prst="rect">
            <a:avLst/>
          </a:prstGeom>
          <a:noFill/>
          <a:ln/>
        </p:spPr>
        <p:txBody>
          <a:bodyPr wrap="square" lIns="0" tIns="0" rIns="0" bIns="0" rtlCol="0" anchor="t"/>
          <a:lstStyle/>
          <a:p>
            <a:pPr algn="l" indent="0" marL="0">
              <a:lnSpc>
                <a:spcPct val="128000"/>
              </a:lnSpc>
              <a:buNone/>
            </a:pPr>
            <a:r>
              <a:rPr lang="en-US" sz="1800" dirty="0">
                <a:solidFill>
                  <a:srgbClr val="5A6772"/>
                </a:solidFill>
                <a:latin typeface="Arial" pitchFamily="34" charset="0"/>
                <a:ea typeface="Arial" pitchFamily="34" charset="-122"/>
                <a:cs typeface="Arial" pitchFamily="34" charset="-120"/>
              </a:rPr>
              <a:t>A growing share of research happens inside ChatGPT, AI Overviews, Perplexity and Copilot, where there is no blue link to rank for.</a:t>
            </a:r>
            <a:endParaRPr lang="en-US" sz="1800" dirty="0"/>
          </a:p>
        </p:txBody>
      </p:sp>
      <p:sp>
        <p:nvSpPr>
          <p:cNvPr id="8"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10</a:t>
            </a:r>
            <a:endParaRPr lang="en-US" sz="1050" dirty="0"/>
          </a:p>
        </p:txBody>
      </p:sp>
      <p:sp>
        <p:nvSpPr>
          <p:cNvPr id="9" name="role:row-head"/>
          <p:cNvSpPr txBox="1"/>
          <p:nvPr/>
        </p:nvSpPr>
        <p:spPr>
          <a:xfrm>
            <a:off x="713232" y="3193542"/>
            <a:ext cx="2651760" cy="268224"/>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Entity and citation audit</a:t>
            </a:r>
            <a:endParaRPr lang="en-US" sz="1500" dirty="0"/>
          </a:p>
        </p:txBody>
      </p:sp>
      <p:sp>
        <p:nvSpPr>
          <p:cNvPr id="10" name="role:row-body"/>
          <p:cNvSpPr txBox="1"/>
          <p:nvPr/>
        </p:nvSpPr>
        <p:spPr>
          <a:xfrm>
            <a:off x="3776472" y="3193542"/>
            <a:ext cx="4251960" cy="445008"/>
          </a:xfrm>
          <a:prstGeom prst="rect">
            <a:avLst/>
          </a:prstGeom>
          <a:noFill/>
          <a:ln/>
        </p:spPr>
        <p:txBody>
          <a:bodyPr wrap="square" lIns="0" tIns="0" rIns="0" bIns="0" rtlCol="0" anchor="t"/>
          <a:lstStyle/>
          <a:p>
            <a:pPr algn="l" indent="0" marL="0">
              <a:lnSpc>
                <a:spcPct val="128000"/>
              </a:lnSpc>
              <a:buNone/>
            </a:pPr>
            <a:r>
              <a:rPr lang="en-US" sz="1200" dirty="0">
                <a:solidFill>
                  <a:srgbClr val="5A6772"/>
                </a:solidFill>
                <a:latin typeface="Arial" pitchFamily="34" charset="0"/>
                <a:ea typeface="Arial" pitchFamily="34" charset="-122"/>
                <a:cs typeface="Arial" pitchFamily="34" charset="-120"/>
              </a:rPr>
              <a:t>What the models currently say about the business, and which pages they cite.</a:t>
            </a:r>
            <a:endParaRPr lang="en-US" sz="1200" dirty="0"/>
          </a:p>
        </p:txBody>
      </p:sp>
      <p:sp>
        <p:nvSpPr>
          <p:cNvPr id="11" name="role:rule-h"/>
          <p:cNvSpPr/>
          <p:nvPr/>
        </p:nvSpPr>
        <p:spPr>
          <a:xfrm>
            <a:off x="713232" y="3757422"/>
            <a:ext cx="7315200" cy="0"/>
          </a:xfrm>
          <a:prstGeom prst="line">
            <a:avLst/>
          </a:prstGeom>
          <a:noFill/>
          <a:ln w="9525">
            <a:solidFill>
              <a:srgbClr val="E2EAF1"/>
            </a:solidFill>
            <a:prstDash val="solid"/>
          </a:ln>
        </p:spPr>
      </p:sp>
      <p:sp>
        <p:nvSpPr>
          <p:cNvPr id="12" name="role:row-head"/>
          <p:cNvSpPr txBox="1"/>
          <p:nvPr/>
        </p:nvSpPr>
        <p:spPr>
          <a:xfrm>
            <a:off x="713232" y="3876294"/>
            <a:ext cx="2651760" cy="268224"/>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Answer formatting</a:t>
            </a:r>
            <a:endParaRPr lang="en-US" sz="1500" dirty="0"/>
          </a:p>
        </p:txBody>
      </p:sp>
      <p:sp>
        <p:nvSpPr>
          <p:cNvPr id="13" name="role:row-body"/>
          <p:cNvSpPr txBox="1"/>
          <p:nvPr/>
        </p:nvSpPr>
        <p:spPr>
          <a:xfrm>
            <a:off x="3776472" y="3876294"/>
            <a:ext cx="4251960" cy="445008"/>
          </a:xfrm>
          <a:prstGeom prst="rect">
            <a:avLst/>
          </a:prstGeom>
          <a:noFill/>
          <a:ln/>
        </p:spPr>
        <p:txBody>
          <a:bodyPr wrap="square" lIns="0" tIns="0" rIns="0" bIns="0" rtlCol="0" anchor="t"/>
          <a:lstStyle/>
          <a:p>
            <a:pPr algn="l" indent="0" marL="0">
              <a:lnSpc>
                <a:spcPct val="128000"/>
              </a:lnSpc>
              <a:buNone/>
            </a:pPr>
            <a:r>
              <a:rPr lang="en-US" sz="1200" dirty="0">
                <a:solidFill>
                  <a:srgbClr val="5A6772"/>
                </a:solidFill>
                <a:latin typeface="Arial" pitchFamily="34" charset="0"/>
                <a:ea typeface="Arial" pitchFamily="34" charset="-122"/>
                <a:cs typeface="Arial" pitchFamily="34" charset="-120"/>
              </a:rPr>
              <a:t>Direct answers, definitions, FAQs and schema that mirror the visible page.</a:t>
            </a:r>
            <a:endParaRPr lang="en-US" sz="1200" dirty="0"/>
          </a:p>
        </p:txBody>
      </p:sp>
      <p:sp>
        <p:nvSpPr>
          <p:cNvPr id="14" name="role:rule-h"/>
          <p:cNvSpPr/>
          <p:nvPr/>
        </p:nvSpPr>
        <p:spPr>
          <a:xfrm>
            <a:off x="713232" y="4440174"/>
            <a:ext cx="7315200" cy="0"/>
          </a:xfrm>
          <a:prstGeom prst="line">
            <a:avLst/>
          </a:prstGeom>
          <a:noFill/>
          <a:ln w="9525">
            <a:solidFill>
              <a:srgbClr val="E2EAF1"/>
            </a:solidFill>
            <a:prstDash val="solid"/>
          </a:ln>
        </p:spPr>
      </p:sp>
      <p:sp>
        <p:nvSpPr>
          <p:cNvPr id="15" name="role:row-head"/>
          <p:cNvSpPr txBox="1"/>
          <p:nvPr/>
        </p:nvSpPr>
        <p:spPr>
          <a:xfrm>
            <a:off x="713232" y="4559046"/>
            <a:ext cx="2651760" cy="268224"/>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Source authority</a:t>
            </a:r>
            <a:endParaRPr lang="en-US" sz="1500" dirty="0"/>
          </a:p>
        </p:txBody>
      </p:sp>
      <p:sp>
        <p:nvSpPr>
          <p:cNvPr id="16" name="role:row-body"/>
          <p:cNvSpPr txBox="1"/>
          <p:nvPr/>
        </p:nvSpPr>
        <p:spPr>
          <a:xfrm>
            <a:off x="3776472" y="4559046"/>
            <a:ext cx="4251960" cy="445008"/>
          </a:xfrm>
          <a:prstGeom prst="rect">
            <a:avLst/>
          </a:prstGeom>
          <a:noFill/>
          <a:ln/>
        </p:spPr>
        <p:txBody>
          <a:bodyPr wrap="square" lIns="0" tIns="0" rIns="0" bIns="0" rtlCol="0" anchor="t"/>
          <a:lstStyle/>
          <a:p>
            <a:pPr algn="l" indent="0" marL="0">
              <a:lnSpc>
                <a:spcPct val="128000"/>
              </a:lnSpc>
              <a:buNone/>
            </a:pPr>
            <a:r>
              <a:rPr lang="en-US" sz="1200" dirty="0">
                <a:solidFill>
                  <a:srgbClr val="5A6772"/>
                </a:solidFill>
                <a:latin typeface="Arial" pitchFamily="34" charset="0"/>
                <a:ea typeface="Arial" pitchFamily="34" charset="-122"/>
                <a:cs typeface="Arial" pitchFamily="34" charset="-120"/>
              </a:rPr>
              <a:t>Third party citations, reviews and listings the models actually read.</a:t>
            </a:r>
            <a:endParaRPr lang="en-US" sz="1200" dirty="0"/>
          </a:p>
        </p:txBody>
      </p:sp>
      <p:sp>
        <p:nvSpPr>
          <p:cNvPr id="17" name="role:rule-h"/>
          <p:cNvSpPr/>
          <p:nvPr/>
        </p:nvSpPr>
        <p:spPr>
          <a:xfrm>
            <a:off x="713232" y="5122926"/>
            <a:ext cx="7315200" cy="0"/>
          </a:xfrm>
          <a:prstGeom prst="line">
            <a:avLst/>
          </a:prstGeom>
          <a:noFill/>
          <a:ln w="9525">
            <a:solidFill>
              <a:srgbClr val="E2EAF1"/>
            </a:solidFill>
            <a:prstDash val="solid"/>
          </a:ln>
        </p:spPr>
      </p:sp>
      <p:sp>
        <p:nvSpPr>
          <p:cNvPr id="18" name="role:row-head"/>
          <p:cNvSpPr txBox="1"/>
          <p:nvPr/>
        </p:nvSpPr>
        <p:spPr>
          <a:xfrm>
            <a:off x="713232" y="5241798"/>
            <a:ext cx="2651760" cy="268224"/>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AI visibility tracking</a:t>
            </a:r>
            <a:endParaRPr lang="en-US" sz="1500" dirty="0"/>
          </a:p>
        </p:txBody>
      </p:sp>
      <p:sp>
        <p:nvSpPr>
          <p:cNvPr id="19" name="role:row-body"/>
          <p:cNvSpPr txBox="1"/>
          <p:nvPr/>
        </p:nvSpPr>
        <p:spPr>
          <a:xfrm>
            <a:off x="3776472" y="5241798"/>
            <a:ext cx="4251960" cy="445008"/>
          </a:xfrm>
          <a:prstGeom prst="rect">
            <a:avLst/>
          </a:prstGeom>
          <a:noFill/>
          <a:ln/>
        </p:spPr>
        <p:txBody>
          <a:bodyPr wrap="square" lIns="0" tIns="0" rIns="0" bIns="0" rtlCol="0" anchor="t"/>
          <a:lstStyle/>
          <a:p>
            <a:pPr algn="l" indent="0" marL="0">
              <a:lnSpc>
                <a:spcPct val="128000"/>
              </a:lnSpc>
              <a:buNone/>
            </a:pPr>
            <a:r>
              <a:rPr lang="en-US" sz="1200" dirty="0">
                <a:solidFill>
                  <a:srgbClr val="5A6772"/>
                </a:solidFill>
                <a:latin typeface="Arial" pitchFamily="34" charset="0"/>
                <a:ea typeface="Arial" pitchFamily="34" charset="-122"/>
                <a:cs typeface="Arial" pitchFamily="34" charset="-120"/>
              </a:rPr>
              <a:t>Prompt sets tracked monthly across the major assistants, reported like rankings.</a:t>
            </a:r>
            <a:endParaRPr lang="en-US" sz="1200" dirty="0"/>
          </a:p>
        </p:txBody>
      </p:sp>
      <p:sp>
        <p:nvSpPr>
          <p:cNvPr id="20" name="role:kicker"/>
          <p:cNvSpPr txBox="1"/>
          <p:nvPr/>
        </p:nvSpPr>
        <p:spPr>
          <a:xfrm>
            <a:off x="8778240" y="2286000"/>
            <a:ext cx="292608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ALREADY PROVEN IN ONE ACCOUNT</a:t>
            </a:r>
            <a:endParaRPr lang="en-US" sz="1050" dirty="0"/>
          </a:p>
        </p:txBody>
      </p:sp>
      <p:sp>
        <p:nvSpPr>
          <p:cNvPr id="21" name="role:figure"/>
          <p:cNvSpPr txBox="1"/>
          <p:nvPr/>
        </p:nvSpPr>
        <p:spPr>
          <a:xfrm>
            <a:off x="8778240" y="2651760"/>
            <a:ext cx="2926080" cy="978408"/>
          </a:xfrm>
          <a:prstGeom prst="rect">
            <a:avLst/>
          </a:prstGeom>
          <a:noFill/>
          <a:ln/>
        </p:spPr>
        <p:txBody>
          <a:bodyPr wrap="square" lIns="0" tIns="0" rIns="0" bIns="0" rtlCol="0" anchor="t"/>
          <a:lstStyle/>
          <a:p>
            <a:pPr algn="l" indent="0" marL="0">
              <a:lnSpc>
                <a:spcPct val="100000"/>
              </a:lnSpc>
              <a:buNone/>
            </a:pPr>
            <a:r>
              <a:rPr lang="en-US" sz="7200" b="1" dirty="0">
                <a:solidFill>
                  <a:srgbClr val="5AA7E0"/>
                </a:solidFill>
                <a:latin typeface="Arial" pitchFamily="34" charset="0"/>
                <a:ea typeface="Arial" pitchFamily="34" charset="-122"/>
                <a:cs typeface="Arial" pitchFamily="34" charset="-120"/>
              </a:rPr>
              <a:t>35</a:t>
            </a:r>
            <a:endParaRPr lang="en-US" sz="7200" dirty="0"/>
          </a:p>
        </p:txBody>
      </p:sp>
      <p:sp>
        <p:nvSpPr>
          <p:cNvPr id="22" name="role:figure-label"/>
          <p:cNvSpPr txBox="1"/>
          <p:nvPr/>
        </p:nvSpPr>
        <p:spPr>
          <a:xfrm>
            <a:off x="8778240" y="3685032"/>
            <a:ext cx="2926080" cy="429768"/>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AI visibility score, Detroit Dispensing Solutions</a:t>
            </a:r>
            <a:endParaRPr lang="en-US" sz="1200" dirty="0"/>
          </a:p>
        </p:txBody>
      </p:sp>
      <p:sp>
        <p:nvSpPr>
          <p:cNvPr id="23" name="role:figure-label"/>
          <p:cNvSpPr txBox="1"/>
          <p:nvPr/>
        </p:nvSpPr>
        <p:spPr>
          <a:xfrm>
            <a:off x="8778240" y="4178808"/>
            <a:ext cx="2926080" cy="544068"/>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Grown with more cited pages. ChatGPT appears in the December lead mix as a real traffic source.</a:t>
            </a:r>
            <a:endParaRPr lang="en-US" sz="1050" dirty="0"/>
          </a:p>
        </p:txBody>
      </p:sp>
      <p:sp>
        <p:nvSpPr>
          <p:cNvPr id="24"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Draft scope. Momentum has no published AEO page or price. Scope and pricing need Mac's sign off before this slide is used with a prospect.</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10" presetClass="entr" presetSubtype="0" fill="hold" grpId="0" nodeType="withEffect">
                                  <p:stCondLst>
                                    <p:cond delay="11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390" decel="70000"/>
                                        <p:tgtEl>
                                          <p:spTgt spid="7"/>
                                        </p:tgtEl>
                                      </p:cBhvr>
                                    </p:animEffect>
                                    <p:anim calcmode="lin" valueType="num">
                                      <p:cBhvr additive="base">
                                        <p:cTn id="25" dur="390" decel="70000" fill="hold"/>
                                        <p:tgtEl>
                                          <p:spTgt spid="7"/>
                                        </p:tgtEl>
                                        <p:attrNameLst>
                                          <p:attrName>ppt_y</p:attrName>
                                        </p:attrNameLst>
                                      </p:cBhvr>
                                      <p:tavLst>
                                        <p:tav tm="0">
                                          <p:val>
                                            <p:strVal val="#ppt_y+0.0384"/>
                                          </p:val>
                                        </p:tav>
                                        <p:tav tm="100000">
                                          <p:val>
                                            <p:strVal val="#ppt_y"/>
                                          </p:val>
                                        </p:tav>
                                      </p:tavLst>
                                    </p:anim>
                                  </p:childTnLst>
                                </p:cTn>
                              </p:par>
                              <p:par>
                                <p:cTn id="26" presetID="10" presetClass="entr" presetSubtype="0" fill="hold" grpId="0" nodeType="withEffect">
                                  <p:stCondLst>
                                    <p:cond delay="165"/>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322" decel="70000"/>
                                        <p:tgtEl>
                                          <p:spTgt spid="20"/>
                                        </p:tgtEl>
                                      </p:cBhvr>
                                    </p:animEffect>
                                    <p:anim calcmode="lin" valueType="num">
                                      <p:cBhvr additive="base">
                                        <p:cTn id="29" dur="322" decel="70000" fill="hold"/>
                                        <p:tgtEl>
                                          <p:spTgt spid="20"/>
                                        </p:tgtEl>
                                        <p:attrNameLst>
                                          <p:attrName>ppt_y</p:attrName>
                                        </p:attrNameLst>
                                      </p:cBhvr>
                                      <p:tavLst>
                                        <p:tav tm="0">
                                          <p:val>
                                            <p:strVal val="#ppt_y+0.032"/>
                                          </p:val>
                                        </p:tav>
                                        <p:tav tm="100000">
                                          <p:val>
                                            <p:strVal val="#ppt_y"/>
                                          </p:val>
                                        </p:tav>
                                      </p:tavLst>
                                    </p:anim>
                                  </p:childTnLst>
                                </p:cTn>
                              </p:par>
                              <p:par>
                                <p:cTn id="30" presetID="23" presetClass="entr" presetSubtype="0" fill="hold" grpId="0" nodeType="withEffect">
                                  <p:stCondLst>
                                    <p:cond delay="22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482" decel="70000"/>
                                        <p:tgtEl>
                                          <p:spTgt spid="21"/>
                                        </p:tgtEl>
                                      </p:cBhvr>
                                    </p:animEffect>
                                    <p:animScale>
                                      <p:cBhvr>
                                        <p:cTn id="33" dur="482" decel="70000" fill="hold"/>
                                        <p:tgtEl>
                                          <p:spTgt spid="21"/>
                                        </p:tgtEl>
                                      </p:cBhvr>
                                      <p:from x="82000" y="82000"/>
                                      <p:to x="100000" y="100000"/>
                                    </p:animScale>
                                  </p:childTnLst>
                                </p:cTn>
                              </p:par>
                              <p:par>
                                <p:cTn id="34" presetID="10" presetClass="entr" presetSubtype="0" fill="hold" grpId="0" nodeType="withEffect">
                                  <p:stCondLst>
                                    <p:cond delay="275"/>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345" decel="70000"/>
                                        <p:tgtEl>
                                          <p:spTgt spid="9"/>
                                        </p:tgtEl>
                                      </p:cBhvr>
                                    </p:animEffect>
                                    <p:anim calcmode="lin" valueType="num">
                                      <p:cBhvr additive="base">
                                        <p:cTn id="37" dur="345" decel="70000" fill="hold"/>
                                        <p:tgtEl>
                                          <p:spTgt spid="9"/>
                                        </p:tgtEl>
                                        <p:attrNameLst>
                                          <p:attrName>ppt_y</p:attrName>
                                        </p:attrNameLst>
                                      </p:cBhvr>
                                      <p:tavLst>
                                        <p:tav tm="0">
                                          <p:val>
                                            <p:strVal val="#ppt_y+0.0288"/>
                                          </p:val>
                                        </p:tav>
                                        <p:tav tm="100000">
                                          <p:val>
                                            <p:strVal val="#ppt_y"/>
                                          </p:val>
                                        </p:tav>
                                      </p:tavLst>
                                    </p:anim>
                                  </p:childTnLst>
                                </p:cTn>
                              </p:par>
                              <p:par>
                                <p:cTn id="38" presetID="10" presetClass="entr" presetSubtype="0" fill="hold" grpId="0" nodeType="withEffect">
                                  <p:stCondLst>
                                    <p:cond delay="33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322" decel="70000"/>
                                        <p:tgtEl>
                                          <p:spTgt spid="10"/>
                                        </p:tgtEl>
                                      </p:cBhvr>
                                    </p:animEffect>
                                  </p:childTnLst>
                                </p:cTn>
                              </p:par>
                              <p:par>
                                <p:cTn id="41" presetID="10" presetClass="entr" presetSubtype="0" fill="hold" grpId="0" nodeType="withEffect">
                                  <p:stCondLst>
                                    <p:cond delay="385"/>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299" decel="70000"/>
                                        <p:tgtEl>
                                          <p:spTgt spid="22"/>
                                        </p:tgtEl>
                                      </p:cBhvr>
                                    </p:animEffect>
                                  </p:childTnLst>
                                </p:cTn>
                              </p:par>
                              <p:par>
                                <p:cTn id="44" presetID="22" presetClass="entr" presetSubtype="1" fill="hold" grpId="0" nodeType="withEffect">
                                  <p:stCondLst>
                                    <p:cond delay="440"/>
                                  </p:stCondLst>
                                  <p:childTnLst>
                                    <p:set>
                                      <p:cBhvr>
                                        <p:cTn id="45" dur="1" fill="hold">
                                          <p:stCondLst>
                                            <p:cond delay="0"/>
                                          </p:stCondLst>
                                        </p:cTn>
                                        <p:tgtEl>
                                          <p:spTgt spid="11"/>
                                        </p:tgtEl>
                                        <p:attrNameLst>
                                          <p:attrName>style.visibility</p:attrName>
                                        </p:attrNameLst>
                                      </p:cBhvr>
                                      <p:to>
                                        <p:strVal val="visible"/>
                                      </p:to>
                                    </p:set>
                                    <p:animEffect transition="in" filter="wipe(right)">
                                      <p:cBhvr>
                                        <p:cTn id="46" dur="529"/>
                                        <p:tgtEl>
                                          <p:spTgt spid="11"/>
                                        </p:tgtEl>
                                      </p:cBhvr>
                                    </p:animEffect>
                                  </p:childTnLst>
                                </p:cTn>
                              </p:par>
                              <p:par>
                                <p:cTn id="47" presetID="10" presetClass="entr" presetSubtype="0" fill="hold" grpId="0" nodeType="withEffect">
                                  <p:stCondLst>
                                    <p:cond delay="495"/>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345" decel="70000"/>
                                        <p:tgtEl>
                                          <p:spTgt spid="12"/>
                                        </p:tgtEl>
                                      </p:cBhvr>
                                    </p:animEffect>
                                    <p:anim calcmode="lin" valueType="num">
                                      <p:cBhvr additive="base">
                                        <p:cTn id="50" dur="345" decel="70000" fill="hold"/>
                                        <p:tgtEl>
                                          <p:spTgt spid="12"/>
                                        </p:tgtEl>
                                        <p:attrNameLst>
                                          <p:attrName>ppt_y</p:attrName>
                                        </p:attrNameLst>
                                      </p:cBhvr>
                                      <p:tavLst>
                                        <p:tav tm="0">
                                          <p:val>
                                            <p:strVal val="#ppt_y+0.0288"/>
                                          </p:val>
                                        </p:tav>
                                        <p:tav tm="100000">
                                          <p:val>
                                            <p:strVal val="#ppt_y"/>
                                          </p:val>
                                        </p:tav>
                                      </p:tavLst>
                                    </p:anim>
                                  </p:childTnLst>
                                </p:cTn>
                              </p:par>
                              <p:par>
                                <p:cTn id="51" presetID="10" presetClass="entr" presetSubtype="0" fill="hold" grpId="0" nodeType="withEffect">
                                  <p:stCondLst>
                                    <p:cond delay="5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322" decel="70000"/>
                                        <p:tgtEl>
                                          <p:spTgt spid="13"/>
                                        </p:tgtEl>
                                      </p:cBhvr>
                                    </p:animEffect>
                                  </p:childTnLst>
                                </p:cTn>
                              </p:par>
                              <p:par>
                                <p:cTn id="54" presetID="10" presetClass="entr" presetSubtype="0" fill="hold" grpId="0" nodeType="withEffect">
                                  <p:stCondLst>
                                    <p:cond delay="605"/>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299" decel="70000"/>
                                        <p:tgtEl>
                                          <p:spTgt spid="23"/>
                                        </p:tgtEl>
                                      </p:cBhvr>
                                    </p:animEffect>
                                  </p:childTnLst>
                                </p:cTn>
                              </p:par>
                              <p:par>
                                <p:cTn id="57" presetID="22" presetClass="entr" presetSubtype="1" fill="hold" grpId="0" nodeType="withEffect">
                                  <p:stCondLst>
                                    <p:cond delay="660"/>
                                  </p:stCondLst>
                                  <p:childTnLst>
                                    <p:set>
                                      <p:cBhvr>
                                        <p:cTn id="58" dur="1" fill="hold">
                                          <p:stCondLst>
                                            <p:cond delay="0"/>
                                          </p:stCondLst>
                                        </p:cTn>
                                        <p:tgtEl>
                                          <p:spTgt spid="14"/>
                                        </p:tgtEl>
                                        <p:attrNameLst>
                                          <p:attrName>style.visibility</p:attrName>
                                        </p:attrNameLst>
                                      </p:cBhvr>
                                      <p:to>
                                        <p:strVal val="visible"/>
                                      </p:to>
                                    </p:set>
                                    <p:animEffect transition="in" filter="wipe(right)">
                                      <p:cBhvr>
                                        <p:cTn id="59" dur="529"/>
                                        <p:tgtEl>
                                          <p:spTgt spid="14"/>
                                        </p:tgtEl>
                                      </p:cBhvr>
                                    </p:animEffect>
                                  </p:childTnLst>
                                </p:cTn>
                              </p:par>
                              <p:par>
                                <p:cTn id="60" presetID="10" presetClass="entr" presetSubtype="0" fill="hold" grpId="0" nodeType="withEffect">
                                  <p:stCondLst>
                                    <p:cond delay="715"/>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345" decel="70000"/>
                                        <p:tgtEl>
                                          <p:spTgt spid="15"/>
                                        </p:tgtEl>
                                      </p:cBhvr>
                                    </p:animEffect>
                                    <p:anim calcmode="lin" valueType="num">
                                      <p:cBhvr additive="base">
                                        <p:cTn id="63" dur="345" decel="70000" fill="hold"/>
                                        <p:tgtEl>
                                          <p:spTgt spid="15"/>
                                        </p:tgtEl>
                                        <p:attrNameLst>
                                          <p:attrName>ppt_y</p:attrName>
                                        </p:attrNameLst>
                                      </p:cBhvr>
                                      <p:tavLst>
                                        <p:tav tm="0">
                                          <p:val>
                                            <p:strVal val="#ppt_y+0.0288"/>
                                          </p:val>
                                        </p:tav>
                                        <p:tav tm="100000">
                                          <p:val>
                                            <p:strVal val="#ppt_y"/>
                                          </p:val>
                                        </p:tav>
                                      </p:tavLst>
                                    </p:anim>
                                  </p:childTnLst>
                                </p:cTn>
                              </p:par>
                              <p:par>
                                <p:cTn id="64" presetID="10" presetClass="entr" presetSubtype="0" fill="hold" grpId="0" nodeType="withEffect">
                                  <p:stCondLst>
                                    <p:cond delay="77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322" decel="70000"/>
                                        <p:tgtEl>
                                          <p:spTgt spid="16"/>
                                        </p:tgtEl>
                                      </p:cBhvr>
                                    </p:animEffect>
                                  </p:childTnLst>
                                </p:cTn>
                              </p:par>
                              <p:par>
                                <p:cTn id="67" presetID="22" presetClass="entr" presetSubtype="1" fill="hold" grpId="0" nodeType="withEffect">
                                  <p:stCondLst>
                                    <p:cond delay="825"/>
                                  </p:stCondLst>
                                  <p:childTnLst>
                                    <p:set>
                                      <p:cBhvr>
                                        <p:cTn id="68" dur="1" fill="hold">
                                          <p:stCondLst>
                                            <p:cond delay="0"/>
                                          </p:stCondLst>
                                        </p:cTn>
                                        <p:tgtEl>
                                          <p:spTgt spid="17"/>
                                        </p:tgtEl>
                                        <p:attrNameLst>
                                          <p:attrName>style.visibility</p:attrName>
                                        </p:attrNameLst>
                                      </p:cBhvr>
                                      <p:to>
                                        <p:strVal val="visible"/>
                                      </p:to>
                                    </p:set>
                                    <p:animEffect transition="in" filter="wipe(right)">
                                      <p:cBhvr>
                                        <p:cTn id="69" dur="529"/>
                                        <p:tgtEl>
                                          <p:spTgt spid="17"/>
                                        </p:tgtEl>
                                      </p:cBhvr>
                                    </p:animEffect>
                                  </p:childTnLst>
                                </p:cTn>
                              </p:par>
                              <p:par>
                                <p:cTn id="70" presetID="10" presetClass="entr" presetSubtype="0" fill="hold" grpId="0" nodeType="withEffect">
                                  <p:stCondLst>
                                    <p:cond delay="8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345" decel="70000"/>
                                        <p:tgtEl>
                                          <p:spTgt spid="18"/>
                                        </p:tgtEl>
                                      </p:cBhvr>
                                    </p:animEffect>
                                    <p:anim calcmode="lin" valueType="num">
                                      <p:cBhvr additive="base">
                                        <p:cTn id="73" dur="345" decel="70000" fill="hold"/>
                                        <p:tgtEl>
                                          <p:spTgt spid="18"/>
                                        </p:tgtEl>
                                        <p:attrNameLst>
                                          <p:attrName>ppt_y</p:attrName>
                                        </p:attrNameLst>
                                      </p:cBhvr>
                                      <p:tavLst>
                                        <p:tav tm="0">
                                          <p:val>
                                            <p:strVal val="#ppt_y+0.0288"/>
                                          </p:val>
                                        </p:tav>
                                        <p:tav tm="100000">
                                          <p:val>
                                            <p:strVal val="#ppt_y"/>
                                          </p:val>
                                        </p:tav>
                                      </p:tavLst>
                                    </p:anim>
                                  </p:childTnLst>
                                </p:cTn>
                              </p:par>
                              <p:par>
                                <p:cTn id="74" presetID="10" presetClass="entr" presetSubtype="0" fill="hold" grpId="0" nodeType="withEffect">
                                  <p:stCondLst>
                                    <p:cond delay="935"/>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322" decel="70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INDUSTRIES</a:t>
            </a:r>
            <a:endParaRPr lang="en-US" sz="1050" dirty="0"/>
          </a:p>
        </p:txBody>
      </p:sp>
      <p:sp>
        <p:nvSpPr>
          <p:cNvPr id="4" name="role:title"/>
          <p:cNvSpPr txBox="1"/>
          <p:nvPr/>
        </p:nvSpPr>
        <p:spPr>
          <a:xfrm>
            <a:off x="713232" y="987552"/>
            <a:ext cx="8570671" cy="1074420"/>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Twenty industries, a specialist playbook for each</a:t>
            </a:r>
            <a:endParaRPr lang="en-US" sz="3900" dirty="0"/>
          </a:p>
        </p:txBody>
      </p:sp>
      <p:sp>
        <p:nvSpPr>
          <p:cNvPr id="5"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11</a:t>
            </a:r>
            <a:endParaRPr lang="en-US" sz="1050" dirty="0"/>
          </a:p>
        </p:txBody>
      </p:sp>
      <p:sp>
        <p:nvSpPr>
          <p:cNvPr id="6" name="role:rule-v"/>
          <p:cNvSpPr/>
          <p:nvPr/>
        </p:nvSpPr>
        <p:spPr>
          <a:xfrm>
            <a:off x="3130220" y="2542032"/>
            <a:ext cx="0" cy="3291840"/>
          </a:xfrm>
          <a:prstGeom prst="line">
            <a:avLst/>
          </a:prstGeom>
          <a:noFill/>
          <a:ln w="9525">
            <a:solidFill>
              <a:srgbClr val="E2EAF1"/>
            </a:solidFill>
            <a:prstDash val="solid"/>
          </a:ln>
        </p:spPr>
      </p:sp>
      <p:sp>
        <p:nvSpPr>
          <p:cNvPr id="7" name="role:rule-v"/>
          <p:cNvSpPr/>
          <p:nvPr/>
        </p:nvSpPr>
        <p:spPr>
          <a:xfrm>
            <a:off x="5821528" y="2542032"/>
            <a:ext cx="0" cy="3291840"/>
          </a:xfrm>
          <a:prstGeom prst="line">
            <a:avLst/>
          </a:prstGeom>
          <a:noFill/>
          <a:ln w="9525">
            <a:solidFill>
              <a:srgbClr val="E2EAF1"/>
            </a:solidFill>
            <a:prstDash val="solid"/>
          </a:ln>
        </p:spPr>
      </p:sp>
      <p:sp>
        <p:nvSpPr>
          <p:cNvPr id="8" name="role:rule-v"/>
          <p:cNvSpPr/>
          <p:nvPr/>
        </p:nvSpPr>
        <p:spPr>
          <a:xfrm>
            <a:off x="8512835" y="2542032"/>
            <a:ext cx="0" cy="3291840"/>
          </a:xfrm>
          <a:prstGeom prst="line">
            <a:avLst/>
          </a:prstGeom>
          <a:noFill/>
          <a:ln w="9525">
            <a:solidFill>
              <a:srgbClr val="E2EAF1"/>
            </a:solidFill>
            <a:prstDash val="solid"/>
          </a:ln>
        </p:spPr>
      </p:sp>
      <p:sp>
        <p:nvSpPr>
          <p:cNvPr id="9" name="role:body"/>
          <p:cNvSpPr txBox="1"/>
          <p:nvPr/>
        </p:nvSpPr>
        <p:spPr>
          <a:xfrm>
            <a:off x="713232" y="2542032"/>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Beauty and salons</a:t>
            </a:r>
            <a:endParaRPr lang="en-US" sz="1400" dirty="0"/>
          </a:p>
        </p:txBody>
      </p:sp>
      <p:sp>
        <p:nvSpPr>
          <p:cNvPr id="10" name="role:rule-h"/>
          <p:cNvSpPr/>
          <p:nvPr/>
        </p:nvSpPr>
        <p:spPr>
          <a:xfrm>
            <a:off x="713232" y="3108960"/>
            <a:ext cx="2142668" cy="0"/>
          </a:xfrm>
          <a:prstGeom prst="line">
            <a:avLst/>
          </a:prstGeom>
          <a:noFill/>
          <a:ln w="9525">
            <a:solidFill>
              <a:srgbClr val="E2EAF1"/>
            </a:solidFill>
            <a:prstDash val="solid"/>
          </a:ln>
        </p:spPr>
      </p:sp>
      <p:sp>
        <p:nvSpPr>
          <p:cNvPr id="11" name="role:body"/>
          <p:cNvSpPr txBox="1"/>
          <p:nvPr/>
        </p:nvSpPr>
        <p:spPr>
          <a:xfrm>
            <a:off x="713232" y="3200400"/>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Breweries</a:t>
            </a:r>
            <a:endParaRPr lang="en-US" sz="1400" dirty="0"/>
          </a:p>
        </p:txBody>
      </p:sp>
      <p:sp>
        <p:nvSpPr>
          <p:cNvPr id="12" name="role:rule-h"/>
          <p:cNvSpPr/>
          <p:nvPr/>
        </p:nvSpPr>
        <p:spPr>
          <a:xfrm>
            <a:off x="713232" y="3767328"/>
            <a:ext cx="2142668" cy="0"/>
          </a:xfrm>
          <a:prstGeom prst="line">
            <a:avLst/>
          </a:prstGeom>
          <a:noFill/>
          <a:ln w="9525">
            <a:solidFill>
              <a:srgbClr val="E2EAF1"/>
            </a:solidFill>
            <a:prstDash val="solid"/>
          </a:ln>
        </p:spPr>
      </p:sp>
      <p:sp>
        <p:nvSpPr>
          <p:cNvPr id="13" name="role:body"/>
          <p:cNvSpPr txBox="1"/>
          <p:nvPr/>
        </p:nvSpPr>
        <p:spPr>
          <a:xfrm>
            <a:off x="713232" y="3858768"/>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Cafes and coffee</a:t>
            </a:r>
            <a:endParaRPr lang="en-US" sz="1400" dirty="0"/>
          </a:p>
        </p:txBody>
      </p:sp>
      <p:sp>
        <p:nvSpPr>
          <p:cNvPr id="14" name="role:rule-h"/>
          <p:cNvSpPr/>
          <p:nvPr/>
        </p:nvSpPr>
        <p:spPr>
          <a:xfrm>
            <a:off x="713232" y="4425696"/>
            <a:ext cx="2142668" cy="0"/>
          </a:xfrm>
          <a:prstGeom prst="line">
            <a:avLst/>
          </a:prstGeom>
          <a:noFill/>
          <a:ln w="9525">
            <a:solidFill>
              <a:srgbClr val="E2EAF1"/>
            </a:solidFill>
            <a:prstDash val="solid"/>
          </a:ln>
        </p:spPr>
      </p:sp>
      <p:sp>
        <p:nvSpPr>
          <p:cNvPr id="15" name="role:body"/>
          <p:cNvSpPr txBox="1"/>
          <p:nvPr/>
        </p:nvSpPr>
        <p:spPr>
          <a:xfrm>
            <a:off x="713232" y="4517136"/>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Cannabis</a:t>
            </a:r>
            <a:endParaRPr lang="en-US" sz="1400" dirty="0"/>
          </a:p>
        </p:txBody>
      </p:sp>
      <p:sp>
        <p:nvSpPr>
          <p:cNvPr id="16" name="role:rule-h"/>
          <p:cNvSpPr/>
          <p:nvPr/>
        </p:nvSpPr>
        <p:spPr>
          <a:xfrm>
            <a:off x="713232" y="5084064"/>
            <a:ext cx="2142668" cy="0"/>
          </a:xfrm>
          <a:prstGeom prst="line">
            <a:avLst/>
          </a:prstGeom>
          <a:noFill/>
          <a:ln w="9525">
            <a:solidFill>
              <a:srgbClr val="E2EAF1"/>
            </a:solidFill>
            <a:prstDash val="solid"/>
          </a:ln>
        </p:spPr>
      </p:sp>
      <p:sp>
        <p:nvSpPr>
          <p:cNvPr id="17" name="role:body"/>
          <p:cNvSpPr txBox="1"/>
          <p:nvPr/>
        </p:nvSpPr>
        <p:spPr>
          <a:xfrm>
            <a:off x="713232" y="5175504"/>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Car dealerships</a:t>
            </a:r>
            <a:endParaRPr lang="en-US" sz="1400" dirty="0"/>
          </a:p>
        </p:txBody>
      </p:sp>
      <p:sp>
        <p:nvSpPr>
          <p:cNvPr id="18" name="role:body"/>
          <p:cNvSpPr txBox="1"/>
          <p:nvPr/>
        </p:nvSpPr>
        <p:spPr>
          <a:xfrm>
            <a:off x="3404540" y="2542032"/>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Dentists</a:t>
            </a:r>
            <a:endParaRPr lang="en-US" sz="1400" dirty="0"/>
          </a:p>
        </p:txBody>
      </p:sp>
      <p:sp>
        <p:nvSpPr>
          <p:cNvPr id="19" name="role:rule-h"/>
          <p:cNvSpPr/>
          <p:nvPr/>
        </p:nvSpPr>
        <p:spPr>
          <a:xfrm>
            <a:off x="3404540" y="3108960"/>
            <a:ext cx="2142668" cy="0"/>
          </a:xfrm>
          <a:prstGeom prst="line">
            <a:avLst/>
          </a:prstGeom>
          <a:noFill/>
          <a:ln w="9525">
            <a:solidFill>
              <a:srgbClr val="E2EAF1"/>
            </a:solidFill>
            <a:prstDash val="solid"/>
          </a:ln>
        </p:spPr>
      </p:sp>
      <p:sp>
        <p:nvSpPr>
          <p:cNvPr id="20" name="role:body"/>
          <p:cNvSpPr txBox="1"/>
          <p:nvPr/>
        </p:nvSpPr>
        <p:spPr>
          <a:xfrm>
            <a:off x="3404540" y="3200400"/>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Ecommerce</a:t>
            </a:r>
            <a:endParaRPr lang="en-US" sz="1400" dirty="0"/>
          </a:p>
        </p:txBody>
      </p:sp>
      <p:sp>
        <p:nvSpPr>
          <p:cNvPr id="21" name="role:rule-h"/>
          <p:cNvSpPr/>
          <p:nvPr/>
        </p:nvSpPr>
        <p:spPr>
          <a:xfrm>
            <a:off x="3404540" y="3767328"/>
            <a:ext cx="2142668" cy="0"/>
          </a:xfrm>
          <a:prstGeom prst="line">
            <a:avLst/>
          </a:prstGeom>
          <a:noFill/>
          <a:ln w="9525">
            <a:solidFill>
              <a:srgbClr val="E2EAF1"/>
            </a:solidFill>
            <a:prstDash val="solid"/>
          </a:ln>
        </p:spPr>
      </p:sp>
      <p:sp>
        <p:nvSpPr>
          <p:cNvPr id="22" name="role:body"/>
          <p:cNvSpPr txBox="1"/>
          <p:nvPr/>
        </p:nvSpPr>
        <p:spPr>
          <a:xfrm>
            <a:off x="3404540" y="3858768"/>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Flooring</a:t>
            </a:r>
            <a:endParaRPr lang="en-US" sz="1400" dirty="0"/>
          </a:p>
        </p:txBody>
      </p:sp>
      <p:sp>
        <p:nvSpPr>
          <p:cNvPr id="23" name="role:rule-h"/>
          <p:cNvSpPr/>
          <p:nvPr/>
        </p:nvSpPr>
        <p:spPr>
          <a:xfrm>
            <a:off x="3404540" y="4425696"/>
            <a:ext cx="2142668" cy="0"/>
          </a:xfrm>
          <a:prstGeom prst="line">
            <a:avLst/>
          </a:prstGeom>
          <a:noFill/>
          <a:ln w="9525">
            <a:solidFill>
              <a:srgbClr val="E2EAF1"/>
            </a:solidFill>
            <a:prstDash val="solid"/>
          </a:ln>
        </p:spPr>
      </p:sp>
      <p:sp>
        <p:nvSpPr>
          <p:cNvPr id="24" name="role:body"/>
          <p:cNvSpPr txBox="1"/>
          <p:nvPr/>
        </p:nvSpPr>
        <p:spPr>
          <a:xfrm>
            <a:off x="3404540" y="4517136"/>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Gyms and fitness</a:t>
            </a:r>
            <a:endParaRPr lang="en-US" sz="1400" dirty="0"/>
          </a:p>
        </p:txBody>
      </p:sp>
      <p:sp>
        <p:nvSpPr>
          <p:cNvPr id="25" name="role:rule-h"/>
          <p:cNvSpPr/>
          <p:nvPr/>
        </p:nvSpPr>
        <p:spPr>
          <a:xfrm>
            <a:off x="3404540" y="5084064"/>
            <a:ext cx="2142668" cy="0"/>
          </a:xfrm>
          <a:prstGeom prst="line">
            <a:avLst/>
          </a:prstGeom>
          <a:noFill/>
          <a:ln w="9525">
            <a:solidFill>
              <a:srgbClr val="E2EAF1"/>
            </a:solidFill>
            <a:prstDash val="solid"/>
          </a:ln>
        </p:spPr>
      </p:sp>
      <p:sp>
        <p:nvSpPr>
          <p:cNvPr id="26" name="role:body"/>
          <p:cNvSpPr txBox="1"/>
          <p:nvPr/>
        </p:nvSpPr>
        <p:spPr>
          <a:xfrm>
            <a:off x="3404540" y="5175504"/>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Healthcare and hospice</a:t>
            </a:r>
            <a:endParaRPr lang="en-US" sz="1400" dirty="0"/>
          </a:p>
        </p:txBody>
      </p:sp>
      <p:sp>
        <p:nvSpPr>
          <p:cNvPr id="27" name="role:body"/>
          <p:cNvSpPr txBox="1"/>
          <p:nvPr/>
        </p:nvSpPr>
        <p:spPr>
          <a:xfrm>
            <a:off x="6095848" y="2542032"/>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Home contractors</a:t>
            </a:r>
            <a:endParaRPr lang="en-US" sz="1400" dirty="0"/>
          </a:p>
        </p:txBody>
      </p:sp>
      <p:sp>
        <p:nvSpPr>
          <p:cNvPr id="28" name="role:rule-h"/>
          <p:cNvSpPr/>
          <p:nvPr/>
        </p:nvSpPr>
        <p:spPr>
          <a:xfrm>
            <a:off x="6095848" y="3108960"/>
            <a:ext cx="2142668" cy="0"/>
          </a:xfrm>
          <a:prstGeom prst="line">
            <a:avLst/>
          </a:prstGeom>
          <a:noFill/>
          <a:ln w="9525">
            <a:solidFill>
              <a:srgbClr val="E2EAF1"/>
            </a:solidFill>
            <a:prstDash val="solid"/>
          </a:ln>
        </p:spPr>
      </p:sp>
      <p:sp>
        <p:nvSpPr>
          <p:cNvPr id="29" name="role:body"/>
          <p:cNvSpPr txBox="1"/>
          <p:nvPr/>
        </p:nvSpPr>
        <p:spPr>
          <a:xfrm>
            <a:off x="6095848" y="3200400"/>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IT and MSP</a:t>
            </a:r>
            <a:endParaRPr lang="en-US" sz="1400" dirty="0"/>
          </a:p>
        </p:txBody>
      </p:sp>
      <p:sp>
        <p:nvSpPr>
          <p:cNvPr id="30" name="role:rule-h"/>
          <p:cNvSpPr/>
          <p:nvPr/>
        </p:nvSpPr>
        <p:spPr>
          <a:xfrm>
            <a:off x="6095848" y="3767328"/>
            <a:ext cx="2142668" cy="0"/>
          </a:xfrm>
          <a:prstGeom prst="line">
            <a:avLst/>
          </a:prstGeom>
          <a:noFill/>
          <a:ln w="9525">
            <a:solidFill>
              <a:srgbClr val="E2EAF1"/>
            </a:solidFill>
            <a:prstDash val="solid"/>
          </a:ln>
        </p:spPr>
      </p:sp>
      <p:sp>
        <p:nvSpPr>
          <p:cNvPr id="31" name="role:body"/>
          <p:cNvSpPr txBox="1"/>
          <p:nvPr/>
        </p:nvSpPr>
        <p:spPr>
          <a:xfrm>
            <a:off x="6095848" y="3858768"/>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Lawyers</a:t>
            </a:r>
            <a:endParaRPr lang="en-US" sz="1400" dirty="0"/>
          </a:p>
        </p:txBody>
      </p:sp>
      <p:sp>
        <p:nvSpPr>
          <p:cNvPr id="32" name="role:rule-h"/>
          <p:cNvSpPr/>
          <p:nvPr/>
        </p:nvSpPr>
        <p:spPr>
          <a:xfrm>
            <a:off x="6095848" y="4425696"/>
            <a:ext cx="2142668" cy="0"/>
          </a:xfrm>
          <a:prstGeom prst="line">
            <a:avLst/>
          </a:prstGeom>
          <a:noFill/>
          <a:ln w="9525">
            <a:solidFill>
              <a:srgbClr val="E2EAF1"/>
            </a:solidFill>
            <a:prstDash val="solid"/>
          </a:ln>
        </p:spPr>
      </p:sp>
      <p:sp>
        <p:nvSpPr>
          <p:cNvPr id="33" name="role:body"/>
          <p:cNvSpPr txBox="1"/>
          <p:nvPr/>
        </p:nvSpPr>
        <p:spPr>
          <a:xfrm>
            <a:off x="6095848" y="4517136"/>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Mechanics</a:t>
            </a:r>
            <a:endParaRPr lang="en-US" sz="1400" dirty="0"/>
          </a:p>
        </p:txBody>
      </p:sp>
      <p:sp>
        <p:nvSpPr>
          <p:cNvPr id="34" name="role:rule-h"/>
          <p:cNvSpPr/>
          <p:nvPr/>
        </p:nvSpPr>
        <p:spPr>
          <a:xfrm>
            <a:off x="6095848" y="5084064"/>
            <a:ext cx="2142668" cy="0"/>
          </a:xfrm>
          <a:prstGeom prst="line">
            <a:avLst/>
          </a:prstGeom>
          <a:noFill/>
          <a:ln w="9525">
            <a:solidFill>
              <a:srgbClr val="E2EAF1"/>
            </a:solidFill>
            <a:prstDash val="solid"/>
          </a:ln>
        </p:spPr>
      </p:sp>
      <p:sp>
        <p:nvSpPr>
          <p:cNvPr id="35" name="role:body"/>
          <p:cNvSpPr txBox="1"/>
          <p:nvPr/>
        </p:nvSpPr>
        <p:spPr>
          <a:xfrm>
            <a:off x="6095848" y="5175504"/>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Pressure washing</a:t>
            </a:r>
            <a:endParaRPr lang="en-US" sz="1400" dirty="0"/>
          </a:p>
        </p:txBody>
      </p:sp>
      <p:sp>
        <p:nvSpPr>
          <p:cNvPr id="36" name="role:body"/>
          <p:cNvSpPr txBox="1"/>
          <p:nvPr/>
        </p:nvSpPr>
        <p:spPr>
          <a:xfrm>
            <a:off x="8787155" y="2542032"/>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Real estate</a:t>
            </a:r>
            <a:endParaRPr lang="en-US" sz="1400" dirty="0"/>
          </a:p>
        </p:txBody>
      </p:sp>
      <p:sp>
        <p:nvSpPr>
          <p:cNvPr id="37" name="role:rule-h"/>
          <p:cNvSpPr/>
          <p:nvPr/>
        </p:nvSpPr>
        <p:spPr>
          <a:xfrm>
            <a:off x="8787155" y="3108960"/>
            <a:ext cx="2142668" cy="0"/>
          </a:xfrm>
          <a:prstGeom prst="line">
            <a:avLst/>
          </a:prstGeom>
          <a:noFill/>
          <a:ln w="9525">
            <a:solidFill>
              <a:srgbClr val="E2EAF1"/>
            </a:solidFill>
            <a:prstDash val="solid"/>
          </a:ln>
        </p:spPr>
      </p:sp>
      <p:sp>
        <p:nvSpPr>
          <p:cNvPr id="38" name="role:body"/>
          <p:cNvSpPr txBox="1"/>
          <p:nvPr/>
        </p:nvSpPr>
        <p:spPr>
          <a:xfrm>
            <a:off x="8787155" y="3200400"/>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Restaurants</a:t>
            </a:r>
            <a:endParaRPr lang="en-US" sz="1400" dirty="0"/>
          </a:p>
        </p:txBody>
      </p:sp>
      <p:sp>
        <p:nvSpPr>
          <p:cNvPr id="39" name="role:rule-h"/>
          <p:cNvSpPr/>
          <p:nvPr/>
        </p:nvSpPr>
        <p:spPr>
          <a:xfrm>
            <a:off x="8787155" y="3767328"/>
            <a:ext cx="2142668" cy="0"/>
          </a:xfrm>
          <a:prstGeom prst="line">
            <a:avLst/>
          </a:prstGeom>
          <a:noFill/>
          <a:ln w="9525">
            <a:solidFill>
              <a:srgbClr val="E2EAF1"/>
            </a:solidFill>
            <a:prstDash val="solid"/>
          </a:ln>
        </p:spPr>
      </p:sp>
      <p:sp>
        <p:nvSpPr>
          <p:cNvPr id="40" name="role:body"/>
          <p:cNvSpPr txBox="1"/>
          <p:nvPr/>
        </p:nvSpPr>
        <p:spPr>
          <a:xfrm>
            <a:off x="8787155" y="3858768"/>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Retail</a:t>
            </a:r>
            <a:endParaRPr lang="en-US" sz="1400" dirty="0"/>
          </a:p>
        </p:txBody>
      </p:sp>
      <p:sp>
        <p:nvSpPr>
          <p:cNvPr id="41" name="role:rule-h"/>
          <p:cNvSpPr/>
          <p:nvPr/>
        </p:nvSpPr>
        <p:spPr>
          <a:xfrm>
            <a:off x="8787155" y="4425696"/>
            <a:ext cx="2142668" cy="0"/>
          </a:xfrm>
          <a:prstGeom prst="line">
            <a:avLst/>
          </a:prstGeom>
          <a:noFill/>
          <a:ln w="9525">
            <a:solidFill>
              <a:srgbClr val="E2EAF1"/>
            </a:solidFill>
            <a:prstDash val="solid"/>
          </a:ln>
        </p:spPr>
      </p:sp>
      <p:sp>
        <p:nvSpPr>
          <p:cNvPr id="42" name="role:body"/>
          <p:cNvSpPr txBox="1"/>
          <p:nvPr/>
        </p:nvSpPr>
        <p:spPr>
          <a:xfrm>
            <a:off x="8787155" y="4517136"/>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Roofing</a:t>
            </a:r>
            <a:endParaRPr lang="en-US" sz="1400" dirty="0"/>
          </a:p>
        </p:txBody>
      </p:sp>
      <p:sp>
        <p:nvSpPr>
          <p:cNvPr id="43" name="role:rule-h"/>
          <p:cNvSpPr/>
          <p:nvPr/>
        </p:nvSpPr>
        <p:spPr>
          <a:xfrm>
            <a:off x="8787155" y="5084064"/>
            <a:ext cx="2142668" cy="0"/>
          </a:xfrm>
          <a:prstGeom prst="line">
            <a:avLst/>
          </a:prstGeom>
          <a:noFill/>
          <a:ln w="9525">
            <a:solidFill>
              <a:srgbClr val="E2EAF1"/>
            </a:solidFill>
            <a:prstDash val="solid"/>
          </a:ln>
        </p:spPr>
      </p:sp>
      <p:sp>
        <p:nvSpPr>
          <p:cNvPr id="44" name="role:body"/>
          <p:cNvSpPr txBox="1"/>
          <p:nvPr/>
        </p:nvSpPr>
        <p:spPr>
          <a:xfrm>
            <a:off x="8787155" y="5175504"/>
            <a:ext cx="2142668" cy="566928"/>
          </a:xfrm>
          <a:prstGeom prst="rect">
            <a:avLst/>
          </a:prstGeom>
          <a:noFill/>
          <a:ln/>
        </p:spPr>
        <p:txBody>
          <a:bodyPr wrap="square" lIns="0" tIns="0" rIns="0" bIns="0" rtlCol="0" anchor="t"/>
          <a:lstStyle/>
          <a:p>
            <a:pPr algn="l" indent="0" marL="0">
              <a:lnSpc>
                <a:spcPct val="108000"/>
              </a:lnSpc>
              <a:buNone/>
            </a:pPr>
            <a:r>
              <a:rPr lang="en-US" sz="1400" b="1" dirty="0">
                <a:solidFill>
                  <a:srgbClr val="0F151B"/>
                </a:solidFill>
                <a:latin typeface="Arial" pitchFamily="34" charset="0"/>
                <a:ea typeface="Arial" pitchFamily="34" charset="-122"/>
                <a:cs typeface="Arial" pitchFamily="34" charset="-120"/>
              </a:rPr>
              <a:t>Tattoo studios</a:t>
            </a:r>
            <a:endParaRPr lang="en-US" sz="1400" dirty="0"/>
          </a:p>
        </p:txBody>
      </p:sp>
      <p:sp>
        <p:nvSpPr>
          <p:cNvPr id="45"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Momentum also runs an ecommerce partnership with Dutchie for cannabis retailers.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322" decel="70000"/>
                                        <p:tgtEl>
                                          <p:spTgt spid="9"/>
                                        </p:tgtEl>
                                      </p:cBhvr>
                                    </p:animEffect>
                                  </p:childTnLst>
                                </p:cTn>
                              </p:par>
                              <p:par>
                                <p:cTn id="19" presetID="22" presetClass="entr" presetSubtype="1" fill="hold" grpId="0" nodeType="withEffect">
                                  <p:stCondLst>
                                    <p:cond delay="165"/>
                                  </p:stCondLst>
                                  <p:childTnLst>
                                    <p:set>
                                      <p:cBhvr>
                                        <p:cTn id="20" dur="1" fill="hold">
                                          <p:stCondLst>
                                            <p:cond delay="0"/>
                                          </p:stCondLst>
                                        </p:cTn>
                                        <p:tgtEl>
                                          <p:spTgt spid="6"/>
                                        </p:tgtEl>
                                        <p:attrNameLst>
                                          <p:attrName>style.visibility</p:attrName>
                                        </p:attrNameLst>
                                      </p:cBhvr>
                                      <p:to>
                                        <p:strVal val="visible"/>
                                      </p:to>
                                    </p:set>
                                    <p:animEffect transition="in" filter="wipe(down)">
                                      <p:cBhvr>
                                        <p:cTn id="21" dur="390"/>
                                        <p:tgtEl>
                                          <p:spTgt spid="6"/>
                                        </p:tgtEl>
                                      </p:cBhvr>
                                    </p:animEffect>
                                  </p:childTnLst>
                                </p:cTn>
                              </p:par>
                              <p:par>
                                <p:cTn id="22" presetID="10" presetClass="entr" presetSubtype="0" fill="hold" grpId="0" nodeType="withEffect">
                                  <p:stCondLst>
                                    <p:cond delay="22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322" decel="70000"/>
                                        <p:tgtEl>
                                          <p:spTgt spid="18"/>
                                        </p:tgtEl>
                                      </p:cBhvr>
                                    </p:animEffect>
                                  </p:childTnLst>
                                </p:cTn>
                              </p:par>
                              <p:par>
                                <p:cTn id="25" presetID="22" presetClass="entr" presetSubtype="1" fill="hold" grpId="0" nodeType="withEffect">
                                  <p:stCondLst>
                                    <p:cond delay="275"/>
                                  </p:stCondLst>
                                  <p:childTnLst>
                                    <p:set>
                                      <p:cBhvr>
                                        <p:cTn id="26" dur="1" fill="hold">
                                          <p:stCondLst>
                                            <p:cond delay="0"/>
                                          </p:stCondLst>
                                        </p:cTn>
                                        <p:tgtEl>
                                          <p:spTgt spid="7"/>
                                        </p:tgtEl>
                                        <p:attrNameLst>
                                          <p:attrName>style.visibility</p:attrName>
                                        </p:attrNameLst>
                                      </p:cBhvr>
                                      <p:to>
                                        <p:strVal val="visible"/>
                                      </p:to>
                                    </p:set>
                                    <p:animEffect transition="in" filter="wipe(down)">
                                      <p:cBhvr>
                                        <p:cTn id="27" dur="390"/>
                                        <p:tgtEl>
                                          <p:spTgt spid="7"/>
                                        </p:tgtEl>
                                      </p:cBhvr>
                                    </p:animEffect>
                                  </p:childTnLst>
                                </p:cTn>
                              </p:par>
                              <p:par>
                                <p:cTn id="28" presetID="10" presetClass="entr" presetSubtype="0" fill="hold" grpId="0" nodeType="withEffect">
                                  <p:stCondLst>
                                    <p:cond delay="33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322" decel="70000"/>
                                        <p:tgtEl>
                                          <p:spTgt spid="27"/>
                                        </p:tgtEl>
                                      </p:cBhvr>
                                    </p:animEffect>
                                  </p:childTnLst>
                                </p:cTn>
                              </p:par>
                              <p:par>
                                <p:cTn id="31" presetID="22" presetClass="entr" presetSubtype="1" fill="hold" grpId="0" nodeType="withEffect">
                                  <p:stCondLst>
                                    <p:cond delay="385"/>
                                  </p:stCondLst>
                                  <p:childTnLst>
                                    <p:set>
                                      <p:cBhvr>
                                        <p:cTn id="32" dur="1" fill="hold">
                                          <p:stCondLst>
                                            <p:cond delay="0"/>
                                          </p:stCondLst>
                                        </p:cTn>
                                        <p:tgtEl>
                                          <p:spTgt spid="8"/>
                                        </p:tgtEl>
                                        <p:attrNameLst>
                                          <p:attrName>style.visibility</p:attrName>
                                        </p:attrNameLst>
                                      </p:cBhvr>
                                      <p:to>
                                        <p:strVal val="visible"/>
                                      </p:to>
                                    </p:set>
                                    <p:animEffect transition="in" filter="wipe(down)">
                                      <p:cBhvr>
                                        <p:cTn id="33" dur="390"/>
                                        <p:tgtEl>
                                          <p:spTgt spid="8"/>
                                        </p:tgtEl>
                                      </p:cBhvr>
                                    </p:animEffect>
                                  </p:childTnLst>
                                </p:cTn>
                              </p:par>
                              <p:par>
                                <p:cTn id="34" presetID="10" presetClass="entr" presetSubtype="0" fill="hold" grpId="0" nodeType="withEffect">
                                  <p:stCondLst>
                                    <p:cond delay="440"/>
                                  </p:stCondLst>
                                  <p:childTnLst>
                                    <p:set>
                                      <p:cBhvr>
                                        <p:cTn id="35" dur="1" fill="hold">
                                          <p:stCondLst>
                                            <p:cond delay="0"/>
                                          </p:stCondLst>
                                        </p:cTn>
                                        <p:tgtEl>
                                          <p:spTgt spid="36"/>
                                        </p:tgtEl>
                                        <p:attrNameLst>
                                          <p:attrName>style.visibility</p:attrName>
                                        </p:attrNameLst>
                                      </p:cBhvr>
                                      <p:to>
                                        <p:strVal val="visible"/>
                                      </p:to>
                                    </p:set>
                                    <p:animEffect transition="in" filter="fade">
                                      <p:cBhvr>
                                        <p:cTn id="36" dur="322" decel="70000"/>
                                        <p:tgtEl>
                                          <p:spTgt spid="36"/>
                                        </p:tgtEl>
                                      </p:cBhvr>
                                    </p:animEffect>
                                  </p:childTnLst>
                                </p:cTn>
                              </p:par>
                              <p:par>
                                <p:cTn id="37" presetID="22" presetClass="entr" presetSubtype="1" fill="hold" grpId="0" nodeType="withEffect">
                                  <p:stCondLst>
                                    <p:cond delay="495"/>
                                  </p:stCondLst>
                                  <p:childTnLst>
                                    <p:set>
                                      <p:cBhvr>
                                        <p:cTn id="38" dur="1" fill="hold">
                                          <p:stCondLst>
                                            <p:cond delay="0"/>
                                          </p:stCondLst>
                                        </p:cTn>
                                        <p:tgtEl>
                                          <p:spTgt spid="10"/>
                                        </p:tgtEl>
                                        <p:attrNameLst>
                                          <p:attrName>style.visibility</p:attrName>
                                        </p:attrNameLst>
                                      </p:cBhvr>
                                      <p:to>
                                        <p:strVal val="visible"/>
                                      </p:to>
                                    </p:set>
                                    <p:animEffect transition="in" filter="wipe(right)">
                                      <p:cBhvr>
                                        <p:cTn id="39" dur="529"/>
                                        <p:tgtEl>
                                          <p:spTgt spid="10"/>
                                        </p:tgtEl>
                                      </p:cBhvr>
                                    </p:animEffect>
                                  </p:childTnLst>
                                </p:cTn>
                              </p:par>
                              <p:par>
                                <p:cTn id="40" presetID="22" presetClass="entr" presetSubtype="1" fill="hold" grpId="0" nodeType="withEffect">
                                  <p:stCondLst>
                                    <p:cond delay="550"/>
                                  </p:stCondLst>
                                  <p:childTnLst>
                                    <p:set>
                                      <p:cBhvr>
                                        <p:cTn id="41" dur="1" fill="hold">
                                          <p:stCondLst>
                                            <p:cond delay="0"/>
                                          </p:stCondLst>
                                        </p:cTn>
                                        <p:tgtEl>
                                          <p:spTgt spid="19"/>
                                        </p:tgtEl>
                                        <p:attrNameLst>
                                          <p:attrName>style.visibility</p:attrName>
                                        </p:attrNameLst>
                                      </p:cBhvr>
                                      <p:to>
                                        <p:strVal val="visible"/>
                                      </p:to>
                                    </p:set>
                                    <p:animEffect transition="in" filter="wipe(right)">
                                      <p:cBhvr>
                                        <p:cTn id="42" dur="529"/>
                                        <p:tgtEl>
                                          <p:spTgt spid="19"/>
                                        </p:tgtEl>
                                      </p:cBhvr>
                                    </p:animEffect>
                                  </p:childTnLst>
                                </p:cTn>
                              </p:par>
                              <p:par>
                                <p:cTn id="43" presetID="22" presetClass="entr" presetSubtype="1" fill="hold" grpId="0" nodeType="withEffect">
                                  <p:stCondLst>
                                    <p:cond delay="605"/>
                                  </p:stCondLst>
                                  <p:childTnLst>
                                    <p:set>
                                      <p:cBhvr>
                                        <p:cTn id="44" dur="1" fill="hold">
                                          <p:stCondLst>
                                            <p:cond delay="0"/>
                                          </p:stCondLst>
                                        </p:cTn>
                                        <p:tgtEl>
                                          <p:spTgt spid="28"/>
                                        </p:tgtEl>
                                        <p:attrNameLst>
                                          <p:attrName>style.visibility</p:attrName>
                                        </p:attrNameLst>
                                      </p:cBhvr>
                                      <p:to>
                                        <p:strVal val="visible"/>
                                      </p:to>
                                    </p:set>
                                    <p:animEffect transition="in" filter="wipe(right)">
                                      <p:cBhvr>
                                        <p:cTn id="45" dur="529"/>
                                        <p:tgtEl>
                                          <p:spTgt spid="28"/>
                                        </p:tgtEl>
                                      </p:cBhvr>
                                    </p:animEffect>
                                  </p:childTnLst>
                                </p:cTn>
                              </p:par>
                              <p:par>
                                <p:cTn id="46" presetID="22" presetClass="entr" presetSubtype="1" fill="hold" grpId="0" nodeType="withEffect">
                                  <p:stCondLst>
                                    <p:cond delay="660"/>
                                  </p:stCondLst>
                                  <p:childTnLst>
                                    <p:set>
                                      <p:cBhvr>
                                        <p:cTn id="47" dur="1" fill="hold">
                                          <p:stCondLst>
                                            <p:cond delay="0"/>
                                          </p:stCondLst>
                                        </p:cTn>
                                        <p:tgtEl>
                                          <p:spTgt spid="37"/>
                                        </p:tgtEl>
                                        <p:attrNameLst>
                                          <p:attrName>style.visibility</p:attrName>
                                        </p:attrNameLst>
                                      </p:cBhvr>
                                      <p:to>
                                        <p:strVal val="visible"/>
                                      </p:to>
                                    </p:set>
                                    <p:animEffect transition="in" filter="wipe(right)">
                                      <p:cBhvr>
                                        <p:cTn id="48" dur="529"/>
                                        <p:tgtEl>
                                          <p:spTgt spid="37"/>
                                        </p:tgtEl>
                                      </p:cBhvr>
                                    </p:animEffect>
                                  </p:childTnLst>
                                </p:cTn>
                              </p:par>
                              <p:par>
                                <p:cTn id="49" presetID="10" presetClass="entr" presetSubtype="0" fill="hold" grpId="0" nodeType="withEffect">
                                  <p:stCondLst>
                                    <p:cond delay="715"/>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322" decel="70000"/>
                                        <p:tgtEl>
                                          <p:spTgt spid="11"/>
                                        </p:tgtEl>
                                      </p:cBhvr>
                                    </p:animEffect>
                                  </p:childTnLst>
                                </p:cTn>
                              </p:par>
                              <p:par>
                                <p:cTn id="52" presetID="10" presetClass="entr" presetSubtype="0" fill="hold" grpId="0" nodeType="withEffect">
                                  <p:stCondLst>
                                    <p:cond delay="77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322" decel="70000"/>
                                        <p:tgtEl>
                                          <p:spTgt spid="20"/>
                                        </p:tgtEl>
                                      </p:cBhvr>
                                    </p:animEffect>
                                  </p:childTnLst>
                                </p:cTn>
                              </p:par>
                              <p:par>
                                <p:cTn id="55" presetID="10" presetClass="entr" presetSubtype="0" fill="hold" grpId="0" nodeType="withEffect">
                                  <p:stCondLst>
                                    <p:cond delay="825"/>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322" decel="70000"/>
                                        <p:tgtEl>
                                          <p:spTgt spid="29"/>
                                        </p:tgtEl>
                                      </p:cBhvr>
                                    </p:animEffect>
                                  </p:childTnLst>
                                </p:cTn>
                              </p:par>
                              <p:par>
                                <p:cTn id="58" presetID="10" presetClass="entr" presetSubtype="0" fill="hold" grpId="0" nodeType="withEffect">
                                  <p:stCondLst>
                                    <p:cond delay="88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322" decel="70000"/>
                                        <p:tgtEl>
                                          <p:spTgt spid="38"/>
                                        </p:tgtEl>
                                      </p:cBhvr>
                                    </p:animEffect>
                                  </p:childTnLst>
                                </p:cTn>
                              </p:par>
                              <p:par>
                                <p:cTn id="61" presetID="22" presetClass="entr" presetSubtype="1" fill="hold" grpId="0" nodeType="withEffect">
                                  <p:stCondLst>
                                    <p:cond delay="935"/>
                                  </p:stCondLst>
                                  <p:childTnLst>
                                    <p:set>
                                      <p:cBhvr>
                                        <p:cTn id="62" dur="1" fill="hold">
                                          <p:stCondLst>
                                            <p:cond delay="0"/>
                                          </p:stCondLst>
                                        </p:cTn>
                                        <p:tgtEl>
                                          <p:spTgt spid="12"/>
                                        </p:tgtEl>
                                        <p:attrNameLst>
                                          <p:attrName>style.visibility</p:attrName>
                                        </p:attrNameLst>
                                      </p:cBhvr>
                                      <p:to>
                                        <p:strVal val="visible"/>
                                      </p:to>
                                    </p:set>
                                    <p:animEffect transition="in" filter="wipe(right)">
                                      <p:cBhvr>
                                        <p:cTn id="63" dur="529"/>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825"/>
        </a:solidFill>
      </p:bgPr>
    </p:bg>
    <p:spTree>
      <p:nvGrpSpPr>
        <p:cNvPr id="1" name=""/>
        <p:cNvGrpSpPr/>
        <p:nvPr/>
      </p:nvGrpSpPr>
      <p:grpSpPr>
        <a:xfrm>
          <a:off x="0" y="0"/>
          <a:ext cx="0" cy="0"/>
          <a:chOff x="0" y="0"/>
          <a:chExt cx="0" cy="0"/>
        </a:xfrm>
      </p:grpSpPr>
      <p:sp>
        <p:nvSpPr>
          <p:cNvPr id="2" name="role:numeral"/>
          <p:cNvSpPr txBox="1"/>
          <p:nvPr/>
        </p:nvSpPr>
        <p:spPr>
          <a:xfrm>
            <a:off x="4480560" y="502920"/>
            <a:ext cx="8138160" cy="6949440"/>
          </a:xfrm>
          <a:prstGeom prst="rect">
            <a:avLst/>
          </a:prstGeom>
          <a:noFill/>
          <a:ln/>
        </p:spPr>
        <p:txBody>
          <a:bodyPr wrap="square" lIns="0" tIns="0" rIns="0" bIns="0" rtlCol="0" anchor="t"/>
          <a:lstStyle/>
          <a:p>
            <a:pPr algn="r" indent="0" marL="0">
              <a:lnSpc>
                <a:spcPct val="100000"/>
              </a:lnSpc>
              <a:buNone/>
            </a:pPr>
            <a:r>
              <a:rPr lang="en-US" sz="43000" b="1" dirty="0">
                <a:solidFill>
                  <a:srgbClr val="112B3F"/>
                </a:solidFill>
                <a:latin typeface="Arial" pitchFamily="34" charset="0"/>
                <a:ea typeface="Arial" pitchFamily="34" charset="-122"/>
                <a:cs typeface="Arial" pitchFamily="34" charset="-120"/>
              </a:rPr>
              <a:t>02</a:t>
            </a:r>
            <a:endParaRPr lang="en-US" sz="43000" dirty="0"/>
          </a:p>
        </p:txBody>
      </p:sp>
      <p:pic>
        <p:nvPicPr>
          <p:cNvPr id="3"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4" name="role:kicker"/>
          <p:cNvSpPr txBox="1"/>
          <p:nvPr/>
        </p:nvSpPr>
        <p:spPr>
          <a:xfrm>
            <a:off x="713232" y="3063240"/>
            <a:ext cx="676656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SECTION TWO</a:t>
            </a:r>
            <a:endParaRPr lang="en-US" sz="1050" dirty="0"/>
          </a:p>
        </p:txBody>
      </p:sp>
      <p:sp>
        <p:nvSpPr>
          <p:cNvPr id="5" name="role:title"/>
          <p:cNvSpPr txBox="1"/>
          <p:nvPr/>
        </p:nvSpPr>
        <p:spPr>
          <a:xfrm>
            <a:off x="713232" y="3392424"/>
            <a:ext cx="7498080" cy="633984"/>
          </a:xfrm>
          <a:prstGeom prst="rect">
            <a:avLst/>
          </a:prstGeom>
          <a:noFill/>
          <a:ln/>
        </p:spPr>
        <p:txBody>
          <a:bodyPr wrap="square" lIns="0" tIns="0" rIns="0" bIns="0" rtlCol="0" anchor="t"/>
          <a:lstStyle/>
          <a:p>
            <a:pPr algn="l" indent="0" marL="0">
              <a:lnSpc>
                <a:spcPct val="102000"/>
              </a:lnSpc>
              <a:buNone/>
            </a:pPr>
            <a:r>
              <a:rPr lang="en-US" sz="4400" b="1" dirty="0">
                <a:solidFill>
                  <a:srgbClr val="FFFFFF"/>
                </a:solidFill>
                <a:latin typeface="Arial" pitchFamily="34" charset="0"/>
                <a:ea typeface="Arial" pitchFamily="34" charset="-122"/>
                <a:cs typeface="Arial" pitchFamily="34" charset="-120"/>
              </a:rPr>
              <a:t>Proof</a:t>
            </a:r>
            <a:endParaRPr lang="en-US" sz="4400" dirty="0"/>
          </a:p>
        </p:txBody>
      </p:sp>
      <p:sp>
        <p:nvSpPr>
          <p:cNvPr id="6" name="role:sub"/>
          <p:cNvSpPr txBox="1"/>
          <p:nvPr/>
        </p:nvSpPr>
        <p:spPr>
          <a:xfrm>
            <a:off x="713232" y="4282440"/>
            <a:ext cx="6766560" cy="806958"/>
          </a:xfrm>
          <a:prstGeom prst="rect">
            <a:avLst/>
          </a:prstGeom>
          <a:noFill/>
          <a:ln/>
        </p:spPr>
        <p:txBody>
          <a:bodyPr wrap="square" lIns="0" tIns="0" rIns="0" bIns="0" rtlCol="0" anchor="t"/>
          <a:lstStyle/>
          <a:p>
            <a:pPr algn="l" indent="0" marL="0">
              <a:lnSpc>
                <a:spcPct val="130000"/>
              </a:lnSpc>
              <a:buNone/>
            </a:pPr>
            <a:r>
              <a:rPr lang="en-US" sz="1500" dirty="0">
                <a:solidFill>
                  <a:srgbClr val="9DB5C8"/>
                </a:solidFill>
                <a:latin typeface="Arial" pitchFamily="34" charset="0"/>
                <a:ea typeface="Arial" pitchFamily="34" charset="-122"/>
                <a:cs typeface="Arial" pitchFamily="34" charset="-120"/>
              </a:rPr>
              <a:t>Every figure on the next eight slides is published on needmomentum.com, and is repeated in the speaker notes with its source.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20" decel="70000"/>
                                        <p:tgtEl>
                                          <p:spTgt spid="3"/>
                                        </p:tgtEl>
                                      </p:cBhvr>
                                    </p:animEffect>
                                  </p:childTnLst>
                                </p:cTn>
                              </p:par>
                              <p:par>
                                <p:cTn id="8" presetID="23"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1035" decel="70000"/>
                                        <p:tgtEl>
                                          <p:spTgt spid="2"/>
                                        </p:tgtEl>
                                      </p:cBhvr>
                                    </p:animEffect>
                                    <p:animScale>
                                      <p:cBhvr>
                                        <p:cTn id="11" dur="1035" decel="70000" fill="hold"/>
                                        <p:tgtEl>
                                          <p:spTgt spid="2"/>
                                        </p:tgtEl>
                                      </p:cBhvr>
                                      <p:from x="106000" y="106000"/>
                                      <p:to x="100000" y="100000"/>
                                    </p:animScale>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22" decel="70000"/>
                                        <p:tgtEl>
                                          <p:spTgt spid="4"/>
                                        </p:tgtEl>
                                      </p:cBhvr>
                                    </p:animEffect>
                                    <p:anim calcmode="lin" valueType="num">
                                      <p:cBhvr additive="base">
                                        <p:cTn id="15" dur="322" decel="70000" fill="hold"/>
                                        <p:tgtEl>
                                          <p:spTgt spid="4"/>
                                        </p:tgtEl>
                                        <p:attrNameLst>
                                          <p:attrName>ppt_y</p:attrName>
                                        </p:attrNameLst>
                                      </p:cBhvr>
                                      <p:tavLst>
                                        <p:tav tm="0">
                                          <p:val>
                                            <p:strVal val="#ppt_y+0.03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482" decel="70000"/>
                                        <p:tgtEl>
                                          <p:spTgt spid="5"/>
                                        </p:tgtEl>
                                      </p:cBhvr>
                                    </p:animEffect>
                                    <p:anim calcmode="lin" valueType="num">
                                      <p:cBhvr additive="base">
                                        <p:cTn id="19" dur="482" decel="70000" fill="hold"/>
                                        <p:tgtEl>
                                          <p:spTgt spid="5"/>
                                        </p:tgtEl>
                                        <p:attrNameLst>
                                          <p:attrName>ppt_y</p:attrName>
                                        </p:attrNameLst>
                                      </p:cBhvr>
                                      <p:tavLst>
                                        <p:tav tm="0">
                                          <p:val>
                                            <p:strVal val="#ppt_y+0.0512"/>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390" decel="70000"/>
                                        <p:tgtEl>
                                          <p:spTgt spid="6"/>
                                        </p:tgtEl>
                                      </p:cBhvr>
                                    </p:animEffect>
                                    <p:anim calcmode="lin" valueType="num">
                                      <p:cBhvr additive="base">
                                        <p:cTn id="23" dur="390" decel="70000" fill="hold"/>
                                        <p:tgtEl>
                                          <p:spTgt spid="6"/>
                                        </p:tgtEl>
                                        <p:attrNameLst>
                                          <p:attrName>ppt_y</p:attrName>
                                        </p:attrNameLst>
                                      </p:cBhvr>
                                      <p:tavLst>
                                        <p:tav tm="0">
                                          <p:val>
                                            <p:strVal val="#ppt_y+0.038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825"/>
        </a:solidFill>
      </p:bgPr>
    </p:bg>
    <p:spTree>
      <p:nvGrpSpPr>
        <p:cNvPr id="1" name=""/>
        <p:cNvGrpSpPr/>
        <p:nvPr/>
      </p:nvGrpSpPr>
      <p:grpSpPr>
        <a:xfrm>
          <a:off x="0" y="0"/>
          <a:ext cx="0" cy="0"/>
          <a:chOff x="0" y="0"/>
          <a:chExt cx="0" cy="0"/>
        </a:xfrm>
      </p:grpSpPr>
      <p:pic>
        <p:nvPicPr>
          <p:cNvPr id="2" name="role:motif" descr="C:\Users\dillo\.claude\skills\client-deck\assets\momentum-digital\momentum-mark-white.png">    </p:cNvPr>
          <p:cNvPicPr>
            <a:picLocks noChangeAspect="1"/>
          </p:cNvPicPr>
          <p:nvPr/>
        </p:nvPicPr>
        <p:blipFill>
          <a:blip r:embed="rId1">
            <a:alphaModFix amt="9000"/>
          </a:blip>
          <a:stretch>
            <a:fillRect/>
          </a:stretch>
        </p:blipFill>
        <p:spPr>
          <a:xfrm>
            <a:off x="9509760" y="-1463040"/>
            <a:ext cx="3840480" cy="4555730"/>
          </a:xfrm>
          <a:prstGeom prst="rect">
            <a:avLst/>
          </a:prstGeom>
        </p:spPr>
      </p:pic>
      <p:pic>
        <p:nvPicPr>
          <p:cNvPr id="3" name="role:logo" descr="Momentum Digital logo">    </p:cNvPr>
          <p:cNvPicPr>
            <a:picLocks noChangeAspect="1"/>
          </p:cNvPicPr>
          <p:nvPr/>
        </p:nvPicPr>
        <p:blipFill>
          <a:blip r:embed="rId2"/>
          <a:stretch>
            <a:fillRect/>
          </a:stretch>
        </p:blipFill>
        <p:spPr>
          <a:xfrm>
            <a:off x="10106863" y="658368"/>
            <a:ext cx="1371600" cy="294904"/>
          </a:xfrm>
          <a:prstGeom prst="rect">
            <a:avLst/>
          </a:prstGeom>
        </p:spPr>
      </p:pic>
      <p:sp>
        <p:nvSpPr>
          <p:cNvPr id="4"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RESULTS</a:t>
            </a:r>
            <a:endParaRPr lang="en-US" sz="1050" dirty="0"/>
          </a:p>
        </p:txBody>
      </p:sp>
      <p:sp>
        <p:nvSpPr>
          <p:cNvPr id="5" name="role:title"/>
          <p:cNvSpPr txBox="1"/>
          <p:nvPr/>
        </p:nvSpPr>
        <p:spPr>
          <a:xfrm>
            <a:off x="713232" y="987552"/>
            <a:ext cx="8570671" cy="1074420"/>
          </a:xfrm>
          <a:prstGeom prst="rect">
            <a:avLst/>
          </a:prstGeom>
          <a:noFill/>
          <a:ln/>
        </p:spPr>
        <p:txBody>
          <a:bodyPr wrap="square" lIns="0" tIns="0" rIns="0" bIns="0" rtlCol="0" anchor="t"/>
          <a:lstStyle/>
          <a:p>
            <a:pPr algn="l" indent="0" marL="0">
              <a:lnSpc>
                <a:spcPct val="102000"/>
              </a:lnSpc>
              <a:buNone/>
            </a:pPr>
            <a:r>
              <a:rPr lang="en-US" sz="3900" b="1" dirty="0">
                <a:solidFill>
                  <a:srgbClr val="FFFFFF"/>
                </a:solidFill>
                <a:latin typeface="Arial" pitchFamily="34" charset="0"/>
                <a:ea typeface="Arial" pitchFamily="34" charset="-122"/>
                <a:cs typeface="Arial" pitchFamily="34" charset="-120"/>
              </a:rPr>
              <a:t>A year of client outcomes, in eight numbers</a:t>
            </a:r>
            <a:endParaRPr lang="en-US" sz="3900" dirty="0"/>
          </a:p>
        </p:txBody>
      </p:sp>
      <p:sp>
        <p:nvSpPr>
          <p:cNvPr id="6"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1C3D56"/>
                </a:solidFill>
                <a:latin typeface="Arial" pitchFamily="34" charset="0"/>
                <a:ea typeface="Arial" pitchFamily="34" charset="-122"/>
                <a:cs typeface="Arial" pitchFamily="34" charset="-120"/>
              </a:rPr>
              <a:t>12</a:t>
            </a:r>
            <a:endParaRPr lang="en-US" sz="1050" dirty="0"/>
          </a:p>
        </p:txBody>
      </p:sp>
      <p:sp>
        <p:nvSpPr>
          <p:cNvPr id="7" name="role:figure"/>
          <p:cNvSpPr txBox="1"/>
          <p:nvPr/>
        </p:nvSpPr>
        <p:spPr>
          <a:xfrm>
            <a:off x="713232" y="278892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5AA7E0"/>
                </a:solidFill>
                <a:latin typeface="Arial" pitchFamily="34" charset="0"/>
                <a:ea typeface="Arial" pitchFamily="34" charset="-122"/>
                <a:cs typeface="Arial" pitchFamily="34" charset="-120"/>
              </a:rPr>
              <a:t>+314%</a:t>
            </a:r>
            <a:endParaRPr lang="en-US" sz="4000" dirty="0"/>
          </a:p>
        </p:txBody>
      </p:sp>
      <p:sp>
        <p:nvSpPr>
          <p:cNvPr id="8" name="role:figure-label"/>
          <p:cNvSpPr txBox="1"/>
          <p:nvPr/>
        </p:nvSpPr>
        <p:spPr>
          <a:xfrm>
            <a:off x="713232" y="338836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Phone call conversions</a:t>
            </a:r>
            <a:endParaRPr lang="en-US" sz="1200" dirty="0"/>
          </a:p>
        </p:txBody>
      </p:sp>
      <p:sp>
        <p:nvSpPr>
          <p:cNvPr id="9" name="role:figure-label"/>
          <p:cNvSpPr txBox="1"/>
          <p:nvPr/>
        </p:nvSpPr>
        <p:spPr>
          <a:xfrm>
            <a:off x="713232" y="38729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The Kind Insurance</a:t>
            </a:r>
            <a:endParaRPr lang="en-US" sz="1050" dirty="0"/>
          </a:p>
        </p:txBody>
      </p:sp>
      <p:sp>
        <p:nvSpPr>
          <p:cNvPr id="10" name="role:rule-v"/>
          <p:cNvSpPr/>
          <p:nvPr/>
        </p:nvSpPr>
        <p:spPr>
          <a:xfrm>
            <a:off x="3166796" y="2788920"/>
            <a:ext cx="0" cy="1408684"/>
          </a:xfrm>
          <a:prstGeom prst="line">
            <a:avLst/>
          </a:prstGeom>
          <a:noFill/>
          <a:ln w="9525">
            <a:solidFill>
              <a:srgbClr val="1E4460"/>
            </a:solidFill>
            <a:prstDash val="solid"/>
          </a:ln>
        </p:spPr>
      </p:sp>
      <p:sp>
        <p:nvSpPr>
          <p:cNvPr id="11" name="role:figure"/>
          <p:cNvSpPr txBox="1"/>
          <p:nvPr/>
        </p:nvSpPr>
        <p:spPr>
          <a:xfrm>
            <a:off x="3404540" y="278892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5AA7E0"/>
                </a:solidFill>
                <a:latin typeface="Arial" pitchFamily="34" charset="0"/>
                <a:ea typeface="Arial" pitchFamily="34" charset="-122"/>
                <a:cs typeface="Arial" pitchFamily="34" charset="-120"/>
              </a:rPr>
              <a:t>+129%</a:t>
            </a:r>
            <a:endParaRPr lang="en-US" sz="4000" dirty="0"/>
          </a:p>
        </p:txBody>
      </p:sp>
      <p:sp>
        <p:nvSpPr>
          <p:cNvPr id="12" name="role:figure-label"/>
          <p:cNvSpPr txBox="1"/>
          <p:nvPr/>
        </p:nvSpPr>
        <p:spPr>
          <a:xfrm>
            <a:off x="3404540" y="338836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Organic clicks year on year</a:t>
            </a:r>
            <a:endParaRPr lang="en-US" sz="1200" dirty="0"/>
          </a:p>
        </p:txBody>
      </p:sp>
      <p:sp>
        <p:nvSpPr>
          <p:cNvPr id="13" name="role:figure-label"/>
          <p:cNvSpPr txBox="1"/>
          <p:nvPr/>
        </p:nvSpPr>
        <p:spPr>
          <a:xfrm>
            <a:off x="3404540" y="38729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Detroit Dispensing Solutions</a:t>
            </a:r>
            <a:endParaRPr lang="en-US" sz="1050" dirty="0"/>
          </a:p>
        </p:txBody>
      </p:sp>
      <p:sp>
        <p:nvSpPr>
          <p:cNvPr id="14" name="role:rule-v"/>
          <p:cNvSpPr/>
          <p:nvPr/>
        </p:nvSpPr>
        <p:spPr>
          <a:xfrm>
            <a:off x="5858104" y="2788920"/>
            <a:ext cx="0" cy="1408684"/>
          </a:xfrm>
          <a:prstGeom prst="line">
            <a:avLst/>
          </a:prstGeom>
          <a:noFill/>
          <a:ln w="9525">
            <a:solidFill>
              <a:srgbClr val="1E4460"/>
            </a:solidFill>
            <a:prstDash val="solid"/>
          </a:ln>
        </p:spPr>
      </p:sp>
      <p:sp>
        <p:nvSpPr>
          <p:cNvPr id="15" name="role:figure"/>
          <p:cNvSpPr txBox="1"/>
          <p:nvPr/>
        </p:nvSpPr>
        <p:spPr>
          <a:xfrm>
            <a:off x="6095848" y="278892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5AA7E0"/>
                </a:solidFill>
                <a:latin typeface="Arial" pitchFamily="34" charset="0"/>
                <a:ea typeface="Arial" pitchFamily="34" charset="-122"/>
                <a:cs typeface="Arial" pitchFamily="34" charset="-120"/>
              </a:rPr>
              <a:t>+121%</a:t>
            </a:r>
            <a:endParaRPr lang="en-US" sz="4000" dirty="0"/>
          </a:p>
        </p:txBody>
      </p:sp>
      <p:sp>
        <p:nvSpPr>
          <p:cNvPr id="16" name="role:figure-label"/>
          <p:cNvSpPr txBox="1"/>
          <p:nvPr/>
        </p:nvSpPr>
        <p:spPr>
          <a:xfrm>
            <a:off x="6095848" y="338836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Search visibility</a:t>
            </a:r>
            <a:endParaRPr lang="en-US" sz="1200" dirty="0"/>
          </a:p>
        </p:txBody>
      </p:sp>
      <p:sp>
        <p:nvSpPr>
          <p:cNvPr id="17" name="role:figure-label"/>
          <p:cNvSpPr txBox="1"/>
          <p:nvPr/>
        </p:nvSpPr>
        <p:spPr>
          <a:xfrm>
            <a:off x="6095848" y="38729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UnderX ecommerce SEO</a:t>
            </a:r>
            <a:endParaRPr lang="en-US" sz="1050" dirty="0"/>
          </a:p>
        </p:txBody>
      </p:sp>
      <p:sp>
        <p:nvSpPr>
          <p:cNvPr id="18" name="role:rule-v"/>
          <p:cNvSpPr/>
          <p:nvPr/>
        </p:nvSpPr>
        <p:spPr>
          <a:xfrm>
            <a:off x="8549411" y="2788920"/>
            <a:ext cx="0" cy="1408684"/>
          </a:xfrm>
          <a:prstGeom prst="line">
            <a:avLst/>
          </a:prstGeom>
          <a:noFill/>
          <a:ln w="9525">
            <a:solidFill>
              <a:srgbClr val="1E4460"/>
            </a:solidFill>
            <a:prstDash val="solid"/>
          </a:ln>
        </p:spPr>
      </p:sp>
      <p:sp>
        <p:nvSpPr>
          <p:cNvPr id="19" name="role:figure"/>
          <p:cNvSpPr txBox="1"/>
          <p:nvPr/>
        </p:nvSpPr>
        <p:spPr>
          <a:xfrm>
            <a:off x="8787155" y="278892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5AA7E0"/>
                </a:solidFill>
                <a:latin typeface="Arial" pitchFamily="34" charset="0"/>
                <a:ea typeface="Arial" pitchFamily="34" charset="-122"/>
                <a:cs typeface="Arial" pitchFamily="34" charset="-120"/>
              </a:rPr>
              <a:t>+933%</a:t>
            </a:r>
            <a:endParaRPr lang="en-US" sz="4000" dirty="0"/>
          </a:p>
        </p:txBody>
      </p:sp>
      <p:sp>
        <p:nvSpPr>
          <p:cNvPr id="20" name="role:figure-label"/>
          <p:cNvSpPr txBox="1"/>
          <p:nvPr/>
        </p:nvSpPr>
        <p:spPr>
          <a:xfrm>
            <a:off x="8787155" y="338836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Organic sessions</a:t>
            </a:r>
            <a:endParaRPr lang="en-US" sz="1200" dirty="0"/>
          </a:p>
        </p:txBody>
      </p:sp>
      <p:sp>
        <p:nvSpPr>
          <p:cNvPr id="21" name="role:figure-label"/>
          <p:cNvSpPr txBox="1"/>
          <p:nvPr/>
        </p:nvSpPr>
        <p:spPr>
          <a:xfrm>
            <a:off x="8787155" y="38729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Drip IV, Q1 2025</a:t>
            </a:r>
            <a:endParaRPr lang="en-US" sz="1050" dirty="0"/>
          </a:p>
        </p:txBody>
      </p:sp>
      <p:sp>
        <p:nvSpPr>
          <p:cNvPr id="22" name="role:rule-h"/>
          <p:cNvSpPr/>
          <p:nvPr/>
        </p:nvSpPr>
        <p:spPr>
          <a:xfrm>
            <a:off x="713232" y="4553712"/>
            <a:ext cx="10765231" cy="0"/>
          </a:xfrm>
          <a:prstGeom prst="line">
            <a:avLst/>
          </a:prstGeom>
          <a:noFill/>
          <a:ln w="9525">
            <a:solidFill>
              <a:srgbClr val="1E4460"/>
            </a:solidFill>
            <a:prstDash val="solid"/>
          </a:ln>
        </p:spPr>
      </p:sp>
      <p:sp>
        <p:nvSpPr>
          <p:cNvPr id="23" name="role:figure"/>
          <p:cNvSpPr txBox="1"/>
          <p:nvPr/>
        </p:nvSpPr>
        <p:spPr>
          <a:xfrm>
            <a:off x="713232" y="475488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23A455"/>
                </a:solidFill>
                <a:latin typeface="Arial" pitchFamily="34" charset="0"/>
                <a:ea typeface="Arial" pitchFamily="34" charset="-122"/>
                <a:cs typeface="Arial" pitchFamily="34" charset="-120"/>
              </a:rPr>
              <a:t>+816%</a:t>
            </a:r>
            <a:endParaRPr lang="en-US" sz="4000" dirty="0"/>
          </a:p>
        </p:txBody>
      </p:sp>
      <p:sp>
        <p:nvSpPr>
          <p:cNvPr id="24" name="role:figure-label"/>
          <p:cNvSpPr txBox="1"/>
          <p:nvPr/>
        </p:nvSpPr>
        <p:spPr>
          <a:xfrm>
            <a:off x="713232" y="535432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Conversions after redesign</a:t>
            </a:r>
            <a:endParaRPr lang="en-US" sz="1200" dirty="0"/>
          </a:p>
        </p:txBody>
      </p:sp>
      <p:sp>
        <p:nvSpPr>
          <p:cNvPr id="25" name="role:figure-label"/>
          <p:cNvSpPr txBox="1"/>
          <p:nvPr/>
        </p:nvSpPr>
        <p:spPr>
          <a:xfrm>
            <a:off x="713232" y="583895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Nenner Law</a:t>
            </a:r>
            <a:endParaRPr lang="en-US" sz="1050" dirty="0"/>
          </a:p>
        </p:txBody>
      </p:sp>
      <p:sp>
        <p:nvSpPr>
          <p:cNvPr id="26" name="role:rule-v"/>
          <p:cNvSpPr/>
          <p:nvPr/>
        </p:nvSpPr>
        <p:spPr>
          <a:xfrm>
            <a:off x="3166796" y="4754880"/>
            <a:ext cx="0" cy="1408684"/>
          </a:xfrm>
          <a:prstGeom prst="line">
            <a:avLst/>
          </a:prstGeom>
          <a:noFill/>
          <a:ln w="9525">
            <a:solidFill>
              <a:srgbClr val="1E4460"/>
            </a:solidFill>
            <a:prstDash val="solid"/>
          </a:ln>
        </p:spPr>
      </p:sp>
      <p:sp>
        <p:nvSpPr>
          <p:cNvPr id="27" name="role:figure"/>
          <p:cNvSpPr txBox="1"/>
          <p:nvPr/>
        </p:nvSpPr>
        <p:spPr>
          <a:xfrm>
            <a:off x="3404540" y="475488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23A455"/>
                </a:solidFill>
                <a:latin typeface="Arial" pitchFamily="34" charset="0"/>
                <a:ea typeface="Arial" pitchFamily="34" charset="-122"/>
                <a:cs typeface="Arial" pitchFamily="34" charset="-120"/>
              </a:rPr>
              <a:t>3.3x</a:t>
            </a:r>
            <a:endParaRPr lang="en-US" sz="4000" dirty="0"/>
          </a:p>
        </p:txBody>
      </p:sp>
      <p:sp>
        <p:nvSpPr>
          <p:cNvPr id="28" name="role:figure-label"/>
          <p:cNvSpPr txBox="1"/>
          <p:nvPr/>
        </p:nvSpPr>
        <p:spPr>
          <a:xfrm>
            <a:off x="3404540" y="535432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Return on ad spend</a:t>
            </a:r>
            <a:endParaRPr lang="en-US" sz="1200" dirty="0"/>
          </a:p>
        </p:txBody>
      </p:sp>
      <p:sp>
        <p:nvSpPr>
          <p:cNvPr id="29" name="role:figure-label"/>
          <p:cNvSpPr txBox="1"/>
          <p:nvPr/>
        </p:nvSpPr>
        <p:spPr>
          <a:xfrm>
            <a:off x="3404540" y="583895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Drip IV, Google Ads</a:t>
            </a:r>
            <a:endParaRPr lang="en-US" sz="1050" dirty="0"/>
          </a:p>
        </p:txBody>
      </p:sp>
      <p:sp>
        <p:nvSpPr>
          <p:cNvPr id="30" name="role:rule-v"/>
          <p:cNvSpPr/>
          <p:nvPr/>
        </p:nvSpPr>
        <p:spPr>
          <a:xfrm>
            <a:off x="5858104" y="4754880"/>
            <a:ext cx="0" cy="1408684"/>
          </a:xfrm>
          <a:prstGeom prst="line">
            <a:avLst/>
          </a:prstGeom>
          <a:noFill/>
          <a:ln w="9525">
            <a:solidFill>
              <a:srgbClr val="1E4460"/>
            </a:solidFill>
            <a:prstDash val="solid"/>
          </a:ln>
        </p:spPr>
      </p:sp>
      <p:sp>
        <p:nvSpPr>
          <p:cNvPr id="31" name="role:figure"/>
          <p:cNvSpPr txBox="1"/>
          <p:nvPr/>
        </p:nvSpPr>
        <p:spPr>
          <a:xfrm>
            <a:off x="6095848" y="475488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23A455"/>
                </a:solidFill>
                <a:latin typeface="Arial" pitchFamily="34" charset="0"/>
                <a:ea typeface="Arial" pitchFamily="34" charset="-122"/>
                <a:cs typeface="Arial" pitchFamily="34" charset="-120"/>
              </a:rPr>
              <a:t>1,130</a:t>
            </a:r>
            <a:endParaRPr lang="en-US" sz="4000" dirty="0"/>
          </a:p>
        </p:txBody>
      </p:sp>
      <p:sp>
        <p:nvSpPr>
          <p:cNvPr id="32" name="role:figure-label"/>
          <p:cNvSpPr txBox="1"/>
          <p:nvPr/>
        </p:nvSpPr>
        <p:spPr>
          <a:xfrm>
            <a:off x="6095848" y="535432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Form conversions</a:t>
            </a:r>
            <a:endParaRPr lang="en-US" sz="1200" dirty="0"/>
          </a:p>
        </p:txBody>
      </p:sp>
      <p:sp>
        <p:nvSpPr>
          <p:cNvPr id="33" name="role:figure-label"/>
          <p:cNvSpPr txBox="1"/>
          <p:nvPr/>
        </p:nvSpPr>
        <p:spPr>
          <a:xfrm>
            <a:off x="6095848" y="583895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Bedford Housing, $38.88 CPL</a:t>
            </a:r>
            <a:endParaRPr lang="en-US" sz="1050" dirty="0"/>
          </a:p>
        </p:txBody>
      </p:sp>
      <p:sp>
        <p:nvSpPr>
          <p:cNvPr id="34" name="role:rule-v"/>
          <p:cNvSpPr/>
          <p:nvPr/>
        </p:nvSpPr>
        <p:spPr>
          <a:xfrm>
            <a:off x="8549411" y="4754880"/>
            <a:ext cx="0" cy="1408684"/>
          </a:xfrm>
          <a:prstGeom prst="line">
            <a:avLst/>
          </a:prstGeom>
          <a:noFill/>
          <a:ln w="9525">
            <a:solidFill>
              <a:srgbClr val="1E4460"/>
            </a:solidFill>
            <a:prstDash val="solid"/>
          </a:ln>
        </p:spPr>
      </p:sp>
      <p:sp>
        <p:nvSpPr>
          <p:cNvPr id="35" name="role:figure"/>
          <p:cNvSpPr txBox="1"/>
          <p:nvPr/>
        </p:nvSpPr>
        <p:spPr>
          <a:xfrm>
            <a:off x="8787155" y="4754880"/>
            <a:ext cx="2179244" cy="544576"/>
          </a:xfrm>
          <a:prstGeom prst="rect">
            <a:avLst/>
          </a:prstGeom>
          <a:noFill/>
          <a:ln/>
        </p:spPr>
        <p:txBody>
          <a:bodyPr wrap="square" lIns="0" tIns="0" rIns="0" bIns="0" rtlCol="0" anchor="t"/>
          <a:lstStyle/>
          <a:p>
            <a:pPr algn="l" indent="0" marL="0">
              <a:lnSpc>
                <a:spcPct val="100000"/>
              </a:lnSpc>
              <a:buNone/>
            </a:pPr>
            <a:r>
              <a:rPr lang="en-US" sz="4000" b="1" dirty="0">
                <a:solidFill>
                  <a:srgbClr val="23A455"/>
                </a:solidFill>
                <a:latin typeface="Arial" pitchFamily="34" charset="0"/>
                <a:ea typeface="Arial" pitchFamily="34" charset="-122"/>
                <a:cs typeface="Arial" pitchFamily="34" charset="-120"/>
              </a:rPr>
              <a:t>6.09M</a:t>
            </a:r>
            <a:endParaRPr lang="en-US" sz="4000" dirty="0"/>
          </a:p>
        </p:txBody>
      </p:sp>
      <p:sp>
        <p:nvSpPr>
          <p:cNvPr id="36" name="role:figure-label"/>
          <p:cNvSpPr txBox="1"/>
          <p:nvPr/>
        </p:nvSpPr>
        <p:spPr>
          <a:xfrm>
            <a:off x="8787155" y="535432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FFFFFF"/>
                </a:solidFill>
                <a:latin typeface="Arial" pitchFamily="34" charset="0"/>
                <a:ea typeface="Arial" pitchFamily="34" charset="-122"/>
                <a:cs typeface="Arial" pitchFamily="34" charset="-120"/>
              </a:rPr>
              <a:t>Pinterest impressions</a:t>
            </a:r>
            <a:endParaRPr lang="en-US" sz="1200" dirty="0"/>
          </a:p>
        </p:txBody>
      </p:sp>
      <p:sp>
        <p:nvSpPr>
          <p:cNvPr id="37" name="role:figure-label"/>
          <p:cNvSpPr txBox="1"/>
          <p:nvPr/>
        </p:nvSpPr>
        <p:spPr>
          <a:xfrm>
            <a:off x="8787155" y="583895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Grand Entry Doors, 2025</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90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2" decel="70000"/>
                                        <p:tgtEl>
                                          <p:spTgt spid="4"/>
                                        </p:tgtEl>
                                      </p:cBhvr>
                                    </p:animEffect>
                                    <p:anim calcmode="lin" valueType="num">
                                      <p:cBhvr additive="base">
                                        <p:cTn id="14" dur="322" decel="70000" fill="hold"/>
                                        <p:tgtEl>
                                          <p:spTgt spid="4"/>
                                        </p:tgtEl>
                                        <p:attrNameLst>
                                          <p:attrName>ppt_y</p:attrName>
                                        </p:attrNameLst>
                                      </p:cBhvr>
                                      <p:tavLst>
                                        <p:tav tm="0">
                                          <p:val>
                                            <p:strVal val="#ppt_y+0.032"/>
                                          </p:val>
                                        </p:tav>
                                        <p:tav tm="100000">
                                          <p:val>
                                            <p:strVal val="#ppt_y"/>
                                          </p:val>
                                        </p:tav>
                                      </p:tavLst>
                                    </p:anim>
                                  </p:childTnLst>
                                </p:cTn>
                              </p:par>
                              <p:par>
                                <p:cTn id="15" presetID="10" presetClass="entr" presetSubtype="0" fill="hold" grpId="0" nodeType="withEffect">
                                  <p:stCondLst>
                                    <p:cond delay="55"/>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82" decel="70000"/>
                                        <p:tgtEl>
                                          <p:spTgt spid="5"/>
                                        </p:tgtEl>
                                      </p:cBhvr>
                                    </p:animEffect>
                                    <p:anim calcmode="lin" valueType="num">
                                      <p:cBhvr additive="base">
                                        <p:cTn id="18" dur="482" decel="70000" fill="hold"/>
                                        <p:tgtEl>
                                          <p:spTgt spid="5"/>
                                        </p:tgtEl>
                                        <p:attrNameLst>
                                          <p:attrName>ppt_y</p:attrName>
                                        </p:attrNameLst>
                                      </p:cBhvr>
                                      <p:tavLst>
                                        <p:tav tm="0">
                                          <p:val>
                                            <p:strVal val="#ppt_y+0.0512"/>
                                          </p:val>
                                        </p:tav>
                                        <p:tav tm="100000">
                                          <p:val>
                                            <p:strVal val="#ppt_y"/>
                                          </p:val>
                                        </p:tav>
                                      </p:tavLst>
                                    </p:anim>
                                  </p:childTnLst>
                                </p:cTn>
                              </p:par>
                              <p:par>
                                <p:cTn id="19" presetID="23" presetClass="entr" presetSubtype="0" fill="hold" grpId="0" nodeType="withEffect">
                                  <p:stCondLst>
                                    <p:cond delay="11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82" decel="70000"/>
                                        <p:tgtEl>
                                          <p:spTgt spid="7"/>
                                        </p:tgtEl>
                                      </p:cBhvr>
                                    </p:animEffect>
                                    <p:animScale>
                                      <p:cBhvr>
                                        <p:cTn id="22" dur="482" decel="70000" fill="hold"/>
                                        <p:tgtEl>
                                          <p:spTgt spid="7"/>
                                        </p:tgtEl>
                                      </p:cBhvr>
                                      <p:from x="82000" y="82000"/>
                                      <p:to x="100000" y="100000"/>
                                    </p:animScale>
                                  </p:childTnLst>
                                </p:cTn>
                              </p:par>
                              <p:par>
                                <p:cTn id="23" presetID="22" presetClass="entr" presetSubtype="1" fill="hold" grpId="0" nodeType="withEffect">
                                  <p:stCondLst>
                                    <p:cond delay="165"/>
                                  </p:stCondLst>
                                  <p:childTnLst>
                                    <p:set>
                                      <p:cBhvr>
                                        <p:cTn id="24" dur="1" fill="hold">
                                          <p:stCondLst>
                                            <p:cond delay="0"/>
                                          </p:stCondLst>
                                        </p:cTn>
                                        <p:tgtEl>
                                          <p:spTgt spid="10"/>
                                        </p:tgtEl>
                                        <p:attrNameLst>
                                          <p:attrName>style.visibility</p:attrName>
                                        </p:attrNameLst>
                                      </p:cBhvr>
                                      <p:to>
                                        <p:strVal val="visible"/>
                                      </p:to>
                                    </p:set>
                                    <p:animEffect transition="in" filter="wipe(down)">
                                      <p:cBhvr>
                                        <p:cTn id="25" dur="390"/>
                                        <p:tgtEl>
                                          <p:spTgt spid="10"/>
                                        </p:tgtEl>
                                      </p:cBhvr>
                                    </p:animEffect>
                                  </p:childTnLst>
                                </p:cTn>
                              </p:par>
                              <p:par>
                                <p:cTn id="26" presetID="23" presetClass="entr" presetSubtype="0" fill="hold" grpId="0" nodeType="withEffect">
                                  <p:stCondLst>
                                    <p:cond delay="22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82" decel="70000"/>
                                        <p:tgtEl>
                                          <p:spTgt spid="11"/>
                                        </p:tgtEl>
                                      </p:cBhvr>
                                    </p:animEffect>
                                    <p:animScale>
                                      <p:cBhvr>
                                        <p:cTn id="29" dur="482" decel="70000" fill="hold"/>
                                        <p:tgtEl>
                                          <p:spTgt spid="11"/>
                                        </p:tgtEl>
                                      </p:cBhvr>
                                      <p:from x="82000" y="82000"/>
                                      <p:to x="100000" y="100000"/>
                                    </p:animScale>
                                  </p:childTnLst>
                                </p:cTn>
                              </p:par>
                              <p:par>
                                <p:cTn id="30" presetID="22" presetClass="entr" presetSubtype="1" fill="hold" grpId="0" nodeType="withEffect">
                                  <p:stCondLst>
                                    <p:cond delay="275"/>
                                  </p:stCondLst>
                                  <p:childTnLst>
                                    <p:set>
                                      <p:cBhvr>
                                        <p:cTn id="31" dur="1" fill="hold">
                                          <p:stCondLst>
                                            <p:cond delay="0"/>
                                          </p:stCondLst>
                                        </p:cTn>
                                        <p:tgtEl>
                                          <p:spTgt spid="14"/>
                                        </p:tgtEl>
                                        <p:attrNameLst>
                                          <p:attrName>style.visibility</p:attrName>
                                        </p:attrNameLst>
                                      </p:cBhvr>
                                      <p:to>
                                        <p:strVal val="visible"/>
                                      </p:to>
                                    </p:set>
                                    <p:animEffect transition="in" filter="wipe(down)">
                                      <p:cBhvr>
                                        <p:cTn id="32" dur="390"/>
                                        <p:tgtEl>
                                          <p:spTgt spid="14"/>
                                        </p:tgtEl>
                                      </p:cBhvr>
                                    </p:animEffect>
                                  </p:childTnLst>
                                </p:cTn>
                              </p:par>
                              <p:par>
                                <p:cTn id="33" presetID="23" presetClass="entr" presetSubtype="0" fill="hold" grpId="0" nodeType="withEffect">
                                  <p:stCondLst>
                                    <p:cond delay="33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82" decel="70000"/>
                                        <p:tgtEl>
                                          <p:spTgt spid="15"/>
                                        </p:tgtEl>
                                      </p:cBhvr>
                                    </p:animEffect>
                                    <p:animScale>
                                      <p:cBhvr>
                                        <p:cTn id="36" dur="482" decel="70000" fill="hold"/>
                                        <p:tgtEl>
                                          <p:spTgt spid="15"/>
                                        </p:tgtEl>
                                      </p:cBhvr>
                                      <p:from x="82000" y="82000"/>
                                      <p:to x="100000" y="100000"/>
                                    </p:animScale>
                                  </p:childTnLst>
                                </p:cTn>
                              </p:par>
                              <p:par>
                                <p:cTn id="37" presetID="22" presetClass="entr" presetSubtype="1" fill="hold" grpId="0" nodeType="withEffect">
                                  <p:stCondLst>
                                    <p:cond delay="385"/>
                                  </p:stCondLst>
                                  <p:childTnLst>
                                    <p:set>
                                      <p:cBhvr>
                                        <p:cTn id="38" dur="1" fill="hold">
                                          <p:stCondLst>
                                            <p:cond delay="0"/>
                                          </p:stCondLst>
                                        </p:cTn>
                                        <p:tgtEl>
                                          <p:spTgt spid="18"/>
                                        </p:tgtEl>
                                        <p:attrNameLst>
                                          <p:attrName>style.visibility</p:attrName>
                                        </p:attrNameLst>
                                      </p:cBhvr>
                                      <p:to>
                                        <p:strVal val="visible"/>
                                      </p:to>
                                    </p:set>
                                    <p:animEffect transition="in" filter="wipe(down)">
                                      <p:cBhvr>
                                        <p:cTn id="39" dur="390"/>
                                        <p:tgtEl>
                                          <p:spTgt spid="18"/>
                                        </p:tgtEl>
                                      </p:cBhvr>
                                    </p:animEffect>
                                  </p:childTnLst>
                                </p:cTn>
                              </p:par>
                              <p:par>
                                <p:cTn id="40" presetID="23" presetClass="entr" presetSubtype="0" fill="hold" grpId="0" nodeType="withEffect">
                                  <p:stCondLst>
                                    <p:cond delay="44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482" decel="70000"/>
                                        <p:tgtEl>
                                          <p:spTgt spid="19"/>
                                        </p:tgtEl>
                                      </p:cBhvr>
                                    </p:animEffect>
                                    <p:animScale>
                                      <p:cBhvr>
                                        <p:cTn id="43" dur="482" decel="70000" fill="hold"/>
                                        <p:tgtEl>
                                          <p:spTgt spid="19"/>
                                        </p:tgtEl>
                                      </p:cBhvr>
                                      <p:from x="82000" y="82000"/>
                                      <p:to x="100000" y="100000"/>
                                    </p:animScale>
                                  </p:childTnLst>
                                </p:cTn>
                              </p:par>
                              <p:par>
                                <p:cTn id="44" presetID="10" presetClass="entr" presetSubtype="0" fill="hold" grpId="0" nodeType="withEffect">
                                  <p:stCondLst>
                                    <p:cond delay="495"/>
                                  </p:stCondLst>
                                  <p:childTnLst>
                                    <p:set>
                                      <p:cBhvr>
                                        <p:cTn id="45" dur="1" fill="hold">
                                          <p:stCondLst>
                                            <p:cond delay="0"/>
                                          </p:stCondLst>
                                        </p:cTn>
                                        <p:tgtEl>
                                          <p:spTgt spid="8"/>
                                        </p:tgtEl>
                                        <p:attrNameLst>
                                          <p:attrName>style.visibility</p:attrName>
                                        </p:attrNameLst>
                                      </p:cBhvr>
                                      <p:to>
                                        <p:strVal val="visible"/>
                                      </p:to>
                                    </p:set>
                                    <p:animEffect transition="in" filter="fade">
                                      <p:cBhvr>
                                        <p:cTn id="46" dur="299" decel="70000"/>
                                        <p:tgtEl>
                                          <p:spTgt spid="8"/>
                                        </p:tgtEl>
                                      </p:cBhvr>
                                    </p:animEffect>
                                  </p:childTnLst>
                                </p:cTn>
                              </p:par>
                              <p:par>
                                <p:cTn id="47" presetID="10" presetClass="entr" presetSubtype="0" fill="hold" grpId="0" nodeType="withEffect">
                                  <p:stCondLst>
                                    <p:cond delay="55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299" decel="70000"/>
                                        <p:tgtEl>
                                          <p:spTgt spid="12"/>
                                        </p:tgtEl>
                                      </p:cBhvr>
                                    </p:animEffect>
                                  </p:childTnLst>
                                </p:cTn>
                              </p:par>
                              <p:par>
                                <p:cTn id="50" presetID="10" presetClass="entr" presetSubtype="0" fill="hold" grpId="0" nodeType="withEffect">
                                  <p:stCondLst>
                                    <p:cond delay="605"/>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299" decel="70000"/>
                                        <p:tgtEl>
                                          <p:spTgt spid="16"/>
                                        </p:tgtEl>
                                      </p:cBhvr>
                                    </p:animEffect>
                                  </p:childTnLst>
                                </p:cTn>
                              </p:par>
                              <p:par>
                                <p:cTn id="53" presetID="10" presetClass="entr" presetSubtype="0" fill="hold" grpId="0" nodeType="withEffect">
                                  <p:stCondLst>
                                    <p:cond delay="66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99" decel="70000"/>
                                        <p:tgtEl>
                                          <p:spTgt spid="20"/>
                                        </p:tgtEl>
                                      </p:cBhvr>
                                    </p:animEffect>
                                  </p:childTnLst>
                                </p:cTn>
                              </p:par>
                              <p:par>
                                <p:cTn id="56" presetID="10" presetClass="entr" presetSubtype="0" fill="hold" grpId="0" nodeType="withEffect">
                                  <p:stCondLst>
                                    <p:cond delay="715"/>
                                  </p:stCondLst>
                                  <p:childTnLst>
                                    <p:set>
                                      <p:cBhvr>
                                        <p:cTn id="57" dur="1" fill="hold">
                                          <p:stCondLst>
                                            <p:cond delay="0"/>
                                          </p:stCondLst>
                                        </p:cTn>
                                        <p:tgtEl>
                                          <p:spTgt spid="9"/>
                                        </p:tgtEl>
                                        <p:attrNameLst>
                                          <p:attrName>style.visibility</p:attrName>
                                        </p:attrNameLst>
                                      </p:cBhvr>
                                      <p:to>
                                        <p:strVal val="visible"/>
                                      </p:to>
                                    </p:set>
                                    <p:animEffect transition="in" filter="fade">
                                      <p:cBhvr>
                                        <p:cTn id="58" dur="299" decel="70000"/>
                                        <p:tgtEl>
                                          <p:spTgt spid="9"/>
                                        </p:tgtEl>
                                      </p:cBhvr>
                                    </p:animEffect>
                                  </p:childTnLst>
                                </p:cTn>
                              </p:par>
                              <p:par>
                                <p:cTn id="59" presetID="10" presetClass="entr" presetSubtype="0" fill="hold" grpId="0" nodeType="withEffect">
                                  <p:stCondLst>
                                    <p:cond delay="77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299" decel="70000"/>
                                        <p:tgtEl>
                                          <p:spTgt spid="13"/>
                                        </p:tgtEl>
                                      </p:cBhvr>
                                    </p:animEffect>
                                  </p:childTnLst>
                                </p:cTn>
                              </p:par>
                              <p:par>
                                <p:cTn id="62" presetID="10" presetClass="entr" presetSubtype="0" fill="hold" grpId="0" nodeType="withEffect">
                                  <p:stCondLst>
                                    <p:cond delay="825"/>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299" decel="70000"/>
                                        <p:tgtEl>
                                          <p:spTgt spid="17"/>
                                        </p:tgtEl>
                                      </p:cBhvr>
                                    </p:animEffect>
                                  </p:childTnLst>
                                </p:cTn>
                              </p:par>
                              <p:par>
                                <p:cTn id="65" presetID="10" presetClass="entr" presetSubtype="0" fill="hold" grpId="0" nodeType="withEffect">
                                  <p:stCondLst>
                                    <p:cond delay="88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299" decel="70000"/>
                                        <p:tgtEl>
                                          <p:spTgt spid="21"/>
                                        </p:tgtEl>
                                      </p:cBhvr>
                                    </p:animEffect>
                                  </p:childTnLst>
                                </p:cTn>
                              </p:par>
                              <p:par>
                                <p:cTn id="68" presetID="22" presetClass="entr" presetSubtype="1" fill="hold" grpId="0" nodeType="withEffect">
                                  <p:stCondLst>
                                    <p:cond delay="935"/>
                                  </p:stCondLst>
                                  <p:childTnLst>
                                    <p:set>
                                      <p:cBhvr>
                                        <p:cTn id="69" dur="1" fill="hold">
                                          <p:stCondLst>
                                            <p:cond delay="0"/>
                                          </p:stCondLst>
                                        </p:cTn>
                                        <p:tgtEl>
                                          <p:spTgt spid="22"/>
                                        </p:tgtEl>
                                        <p:attrNameLst>
                                          <p:attrName>style.visibility</p:attrName>
                                        </p:attrNameLst>
                                      </p:cBhvr>
                                      <p:to>
                                        <p:strVal val="visible"/>
                                      </p:to>
                                    </p:set>
                                    <p:animEffect transition="in" filter="wipe(right)">
                                      <p:cBhvr>
                                        <p:cTn id="70" dur="529"/>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role:panel-top"/>
          <p:cNvSpPr/>
          <p:nvPr/>
        </p:nvSpPr>
        <p:spPr>
          <a:xfrm>
            <a:off x="0" y="0"/>
            <a:ext cx="12191695" cy="2889504"/>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8732520" y="-1188720"/>
            <a:ext cx="4389120" cy="5206548"/>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502920"/>
            <a:ext cx="1371600" cy="294904"/>
          </a:xfrm>
          <a:prstGeom prst="rect">
            <a:avLst/>
          </a:prstGeom>
        </p:spPr>
      </p:pic>
      <p:sp>
        <p:nvSpPr>
          <p:cNvPr id="5" name="role:kicker"/>
          <p:cNvSpPr txBox="1"/>
          <p:nvPr/>
        </p:nvSpPr>
        <p:spPr>
          <a:xfrm>
            <a:off x="713232" y="548640"/>
            <a:ext cx="548640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role:title"/>
          <p:cNvSpPr txBox="1"/>
          <p:nvPr/>
        </p:nvSpPr>
        <p:spPr>
          <a:xfrm>
            <a:off x="713232" y="877824"/>
            <a:ext cx="5943600" cy="504444"/>
          </a:xfrm>
          <a:prstGeom prst="rect">
            <a:avLst/>
          </a:prstGeom>
          <a:noFill/>
          <a:ln/>
        </p:spPr>
        <p:txBody>
          <a:bodyPr wrap="square" lIns="0" tIns="0" rIns="0" bIns="0" rtlCol="0" anchor="t"/>
          <a:lstStyle/>
          <a:p>
            <a:pPr algn="l" indent="0" marL="0">
              <a:lnSpc>
                <a:spcPct val="102000"/>
              </a:lnSpc>
              <a:buNone/>
            </a:pPr>
            <a:r>
              <a:rPr lang="en-US" sz="3400" b="1" dirty="0">
                <a:solidFill>
                  <a:srgbClr val="FFFFFF"/>
                </a:solidFill>
                <a:latin typeface="Arial" pitchFamily="34" charset="0"/>
                <a:ea typeface="Arial" pitchFamily="34" charset="-122"/>
                <a:cs typeface="Arial" pitchFamily="34" charset="-120"/>
              </a:rPr>
              <a:t>UnderX</a:t>
            </a:r>
            <a:endParaRPr lang="en-US" sz="3400" dirty="0"/>
          </a:p>
        </p:txBody>
      </p:sp>
      <p:sp>
        <p:nvSpPr>
          <p:cNvPr id="7" name="role:body"/>
          <p:cNvSpPr txBox="1"/>
          <p:nvPr/>
        </p:nvSpPr>
        <p:spPr>
          <a:xfrm>
            <a:off x="713232" y="1510284"/>
            <a:ext cx="5760720" cy="664083"/>
          </a:xfrm>
          <a:prstGeom prst="rect">
            <a:avLst/>
          </a:prstGeom>
          <a:noFill/>
          <a:ln/>
        </p:spPr>
        <p:txBody>
          <a:bodyPr wrap="square" lIns="0" tIns="0" rIns="0" bIns="0" rtlCol="0" anchor="t"/>
          <a:lstStyle/>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Ecommerce apparel · twelve months</a:t>
            </a:r>
            <a:endParaRPr lang="en-US" sz="1250" dirty="0"/>
          </a:p>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Keyword clustering, topical mapping, SEO landing pages, schema, GA4 reporting</a:t>
            </a:r>
            <a:endParaRPr lang="en-US" sz="1250" dirty="0"/>
          </a:p>
        </p:txBody>
      </p:sp>
      <p:sp>
        <p:nvSpPr>
          <p:cNvPr id="8" name="role:hero"/>
          <p:cNvSpPr txBox="1"/>
          <p:nvPr/>
        </p:nvSpPr>
        <p:spPr>
          <a:xfrm>
            <a:off x="6583680" y="1060704"/>
            <a:ext cx="4892040" cy="1133856"/>
          </a:xfrm>
          <a:prstGeom prst="rect">
            <a:avLst/>
          </a:prstGeom>
          <a:noFill/>
          <a:ln/>
        </p:spPr>
        <p:txBody>
          <a:bodyPr wrap="square" lIns="0" tIns="0" rIns="0" bIns="0" rtlCol="0" anchor="t"/>
          <a:lstStyle/>
          <a:p>
            <a:pPr algn="r" indent="0" marL="0">
              <a:lnSpc>
                <a:spcPct val="95000"/>
              </a:lnSpc>
              <a:buNone/>
            </a:pPr>
            <a:r>
              <a:rPr lang="en-US" sz="9200" b="1" dirty="0">
                <a:solidFill>
                  <a:srgbClr val="5AA7E0"/>
                </a:solidFill>
                <a:latin typeface="Arial" pitchFamily="34" charset="0"/>
                <a:ea typeface="Arial" pitchFamily="34" charset="-122"/>
                <a:cs typeface="Arial" pitchFamily="34" charset="-120"/>
              </a:rPr>
              <a:t>+121%</a:t>
            </a:r>
            <a:endParaRPr lang="en-US" sz="9200" dirty="0"/>
          </a:p>
        </p:txBody>
      </p:sp>
      <p:sp>
        <p:nvSpPr>
          <p:cNvPr id="9" name="role:figure-label"/>
          <p:cNvSpPr txBox="1"/>
          <p:nvPr/>
        </p:nvSpPr>
        <p:spPr>
          <a:xfrm>
            <a:off x="6583680" y="2231136"/>
            <a:ext cx="4892040" cy="246888"/>
          </a:xfrm>
          <a:prstGeom prst="rect">
            <a:avLst/>
          </a:prstGeom>
          <a:noFill/>
          <a:ln/>
        </p:spPr>
        <p:txBody>
          <a:bodyPr wrap="square" lIns="0" tIns="0" rIns="0" bIns="0" rtlCol="0" anchor="t"/>
          <a:lstStyle/>
          <a:p>
            <a:pPr algn="r" indent="0" marL="0">
              <a:lnSpc>
                <a:spcPct val="120000"/>
              </a:lnSpc>
              <a:buNone/>
            </a:pPr>
            <a:r>
              <a:rPr lang="en-US" sz="1200" b="1" dirty="0">
                <a:solidFill>
                  <a:srgbClr val="FFFFFF"/>
                </a:solidFill>
                <a:latin typeface="Arial" pitchFamily="34" charset="0"/>
                <a:ea typeface="Arial" pitchFamily="34" charset="-122"/>
                <a:cs typeface="Arial" pitchFamily="34" charset="-120"/>
              </a:rPr>
              <a:t>Search visibility, 512K to 1.12M SERP impressions</a:t>
            </a:r>
            <a:endParaRPr lang="en-US" sz="1200" dirty="0"/>
          </a:p>
        </p:txBody>
      </p:sp>
      <p:sp>
        <p:nvSpPr>
          <p:cNvPr id="10" name="role:figure"/>
          <p:cNvSpPr txBox="1"/>
          <p:nvPr/>
        </p:nvSpPr>
        <p:spPr>
          <a:xfrm>
            <a:off x="713232"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+79%</a:t>
            </a:r>
            <a:endParaRPr lang="en-US" sz="3100" dirty="0"/>
          </a:p>
        </p:txBody>
      </p:sp>
      <p:sp>
        <p:nvSpPr>
          <p:cNvPr id="11" name="role:figure-label"/>
          <p:cNvSpPr txBox="1"/>
          <p:nvPr/>
        </p:nvSpPr>
        <p:spPr>
          <a:xfrm>
            <a:off x="713232"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Monthly clicks</a:t>
            </a:r>
            <a:endParaRPr lang="en-US" sz="1200" dirty="0"/>
          </a:p>
        </p:txBody>
      </p:sp>
      <p:sp>
        <p:nvSpPr>
          <p:cNvPr id="12" name="role:figure-label"/>
          <p:cNvSpPr txBox="1"/>
          <p:nvPr/>
        </p:nvSpPr>
        <p:spPr>
          <a:xfrm>
            <a:off x="713232" y="39872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4.24K to 7.6K</a:t>
            </a:r>
            <a:endParaRPr lang="en-US" sz="1050" dirty="0"/>
          </a:p>
        </p:txBody>
      </p:sp>
      <p:sp>
        <p:nvSpPr>
          <p:cNvPr id="13" name="role:rule-v"/>
          <p:cNvSpPr/>
          <p:nvPr/>
        </p:nvSpPr>
        <p:spPr>
          <a:xfrm>
            <a:off x="3166796" y="3200400"/>
            <a:ext cx="0" cy="1111504"/>
          </a:xfrm>
          <a:prstGeom prst="line">
            <a:avLst/>
          </a:prstGeom>
          <a:noFill/>
          <a:ln w="9525">
            <a:solidFill>
              <a:srgbClr val="E2EAF1"/>
            </a:solidFill>
            <a:prstDash val="solid"/>
          </a:ln>
        </p:spPr>
      </p:sp>
      <p:sp>
        <p:nvSpPr>
          <p:cNvPr id="14" name="role:figure"/>
          <p:cNvSpPr txBox="1"/>
          <p:nvPr/>
        </p:nvSpPr>
        <p:spPr>
          <a:xfrm>
            <a:off x="3404540"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3A455"/>
                </a:solidFill>
                <a:latin typeface="Arial" pitchFamily="34" charset="0"/>
                <a:ea typeface="Arial" pitchFamily="34" charset="-122"/>
                <a:cs typeface="Arial" pitchFamily="34" charset="-120"/>
              </a:rPr>
              <a:t>+28%</a:t>
            </a:r>
            <a:endParaRPr lang="en-US" sz="3100" dirty="0"/>
          </a:p>
        </p:txBody>
      </p:sp>
      <p:sp>
        <p:nvSpPr>
          <p:cNvPr id="15" name="role:figure-label"/>
          <p:cNvSpPr txBox="1"/>
          <p:nvPr/>
        </p:nvSpPr>
        <p:spPr>
          <a:xfrm>
            <a:off x="3404540"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Total sales revenue</a:t>
            </a:r>
            <a:endParaRPr lang="en-US" sz="1200" dirty="0"/>
          </a:p>
        </p:txBody>
      </p:sp>
      <p:sp>
        <p:nvSpPr>
          <p:cNvPr id="16" name="role:rule-v"/>
          <p:cNvSpPr/>
          <p:nvPr/>
        </p:nvSpPr>
        <p:spPr>
          <a:xfrm>
            <a:off x="5858104" y="3200400"/>
            <a:ext cx="0" cy="1111504"/>
          </a:xfrm>
          <a:prstGeom prst="line">
            <a:avLst/>
          </a:prstGeom>
          <a:noFill/>
          <a:ln w="9525">
            <a:solidFill>
              <a:srgbClr val="E2EAF1"/>
            </a:solidFill>
            <a:prstDash val="solid"/>
          </a:ln>
        </p:spPr>
      </p:sp>
      <p:sp>
        <p:nvSpPr>
          <p:cNvPr id="17" name="role:figure"/>
          <p:cNvSpPr txBox="1"/>
          <p:nvPr/>
        </p:nvSpPr>
        <p:spPr>
          <a:xfrm>
            <a:off x="6095848"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3A455"/>
                </a:solidFill>
                <a:latin typeface="Arial" pitchFamily="34" charset="0"/>
                <a:ea typeface="Arial" pitchFamily="34" charset="-122"/>
                <a:cs typeface="Arial" pitchFamily="34" charset="-120"/>
              </a:rPr>
              <a:t>+11%</a:t>
            </a:r>
            <a:endParaRPr lang="en-US" sz="3100" dirty="0"/>
          </a:p>
        </p:txBody>
      </p:sp>
      <p:sp>
        <p:nvSpPr>
          <p:cNvPr id="18" name="role:figure-label"/>
          <p:cNvSpPr txBox="1"/>
          <p:nvPr/>
        </p:nvSpPr>
        <p:spPr>
          <a:xfrm>
            <a:off x="6095848"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Conversion rate</a:t>
            </a:r>
            <a:endParaRPr lang="en-US" sz="1200" dirty="0"/>
          </a:p>
        </p:txBody>
      </p:sp>
      <p:sp>
        <p:nvSpPr>
          <p:cNvPr id="19" name="role:rule-v"/>
          <p:cNvSpPr/>
          <p:nvPr/>
        </p:nvSpPr>
        <p:spPr>
          <a:xfrm>
            <a:off x="8549411" y="3200400"/>
            <a:ext cx="0" cy="1111504"/>
          </a:xfrm>
          <a:prstGeom prst="line">
            <a:avLst/>
          </a:prstGeom>
          <a:noFill/>
          <a:ln w="9525">
            <a:solidFill>
              <a:srgbClr val="E2EAF1"/>
            </a:solidFill>
            <a:prstDash val="solid"/>
          </a:ln>
        </p:spPr>
      </p:sp>
      <p:sp>
        <p:nvSpPr>
          <p:cNvPr id="20" name="role:figure"/>
          <p:cNvSpPr txBox="1"/>
          <p:nvPr/>
        </p:nvSpPr>
        <p:spPr>
          <a:xfrm>
            <a:off x="8787155"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3A455"/>
                </a:solidFill>
                <a:latin typeface="Arial" pitchFamily="34" charset="0"/>
                <a:ea typeface="Arial" pitchFamily="34" charset="-122"/>
                <a:cs typeface="Arial" pitchFamily="34" charset="-120"/>
              </a:rPr>
              <a:t>+11.2%</a:t>
            </a:r>
            <a:endParaRPr lang="en-US" sz="3100" dirty="0"/>
          </a:p>
        </p:txBody>
      </p:sp>
      <p:sp>
        <p:nvSpPr>
          <p:cNvPr id="21" name="role:figure-label"/>
          <p:cNvSpPr txBox="1"/>
          <p:nvPr/>
        </p:nvSpPr>
        <p:spPr>
          <a:xfrm>
            <a:off x="8787155"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Purchase revenue</a:t>
            </a:r>
            <a:endParaRPr lang="en-US" sz="1200" dirty="0"/>
          </a:p>
        </p:txBody>
      </p:sp>
      <p:sp>
        <p:nvSpPr>
          <p:cNvPr id="22" name="role:rule-h"/>
          <p:cNvSpPr/>
          <p:nvPr/>
        </p:nvSpPr>
        <p:spPr>
          <a:xfrm>
            <a:off x="713232" y="4257040"/>
            <a:ext cx="10765231" cy="0"/>
          </a:xfrm>
          <a:prstGeom prst="line">
            <a:avLst/>
          </a:prstGeom>
          <a:noFill/>
          <a:ln w="9525">
            <a:solidFill>
              <a:srgbClr val="E2EAF1"/>
            </a:solidFill>
            <a:prstDash val="solid"/>
          </a:ln>
        </p:spPr>
      </p:sp>
      <p:sp>
        <p:nvSpPr>
          <p:cNvPr id="23" name="role:kicker"/>
          <p:cNvSpPr txBox="1"/>
          <p:nvPr/>
        </p:nvSpPr>
        <p:spPr>
          <a:xfrm>
            <a:off x="713232" y="443992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BEFORE</a:t>
            </a:r>
            <a:endParaRPr lang="en-US" sz="1050" dirty="0"/>
          </a:p>
        </p:txBody>
      </p:sp>
      <p:sp>
        <p:nvSpPr>
          <p:cNvPr id="24" name="role:body"/>
          <p:cNvSpPr txBox="1"/>
          <p:nvPr/>
        </p:nvSpPr>
        <p:spPr>
          <a:xfrm>
            <a:off x="713232" y="476910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Traffic that did not translate</a:t>
            </a:r>
            <a:endParaRPr lang="en-US" sz="1700" dirty="0"/>
          </a:p>
        </p:txBody>
      </p:sp>
      <p:sp>
        <p:nvSpPr>
          <p:cNvPr id="25" name="Text 21"/>
          <p:cNvSpPr txBox="1"/>
          <p:nvPr/>
        </p:nvSpPr>
        <p:spPr>
          <a:xfrm>
            <a:off x="71323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Visibility flat across product categories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Thin metadata and weak topical coverage</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No measurement of SEO against revenue</a:t>
            </a:r>
            <a:endParaRPr lang="en-US" sz="1150" dirty="0"/>
          </a:p>
        </p:txBody>
      </p:sp>
      <p:sp>
        <p:nvSpPr>
          <p:cNvPr id="26" name="role:kicker"/>
          <p:cNvSpPr txBox="1"/>
          <p:nvPr/>
        </p:nvSpPr>
        <p:spPr>
          <a:xfrm>
            <a:off x="6379312" y="443992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WHAT CHANGED</a:t>
            </a:r>
            <a:endParaRPr lang="en-US" sz="1050" dirty="0"/>
          </a:p>
        </p:txBody>
      </p:sp>
      <p:sp>
        <p:nvSpPr>
          <p:cNvPr id="27" name="role:body"/>
          <p:cNvSpPr txBox="1"/>
          <p:nvPr/>
        </p:nvSpPr>
        <p:spPr>
          <a:xfrm>
            <a:off x="6379312" y="476910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Search built around what people buy</a:t>
            </a:r>
            <a:endParaRPr lang="en-US" sz="1700" dirty="0"/>
          </a:p>
        </p:txBody>
      </p:sp>
      <p:sp>
        <p:nvSpPr>
          <p:cNvPr id="28" name="Text 24"/>
          <p:cNvSpPr txBox="1"/>
          <p:nvPr/>
        </p:nvSpPr>
        <p:spPr>
          <a:xfrm>
            <a:off x="637931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Keyword clustering and topical mapping by category</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SEO aligned landing pages and rewritten meta content</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Internal linking and schema for crawlability</a:t>
            </a:r>
            <a:endParaRPr lang="en-US" sz="1150" dirty="0"/>
          </a:p>
        </p:txBody>
      </p:sp>
      <p:sp>
        <p:nvSpPr>
          <p:cNvPr id="29"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13</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23" presetClass="entr" presetSubtype="0" fill="hold" grpId="0" nodeType="withEffect">
                                  <p:stCondLst>
                                    <p:cond delay="11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98" decel="70000"/>
                                        <p:tgtEl>
                                          <p:spTgt spid="8"/>
                                        </p:tgtEl>
                                      </p:cBhvr>
                                    </p:animEffect>
                                    <p:animScale>
                                      <p:cBhvr>
                                        <p:cTn id="25" dur="598" decel="70000" fill="hold"/>
                                        <p:tgtEl>
                                          <p:spTgt spid="8"/>
                                        </p:tgtEl>
                                      </p:cBhvr>
                                      <p:from x="78000" y="78000"/>
                                      <p:to x="100000" y="100000"/>
                                    </p:animScale>
                                  </p:childTnLst>
                                </p:cTn>
                              </p:par>
                              <p:par>
                                <p:cTn id="26" presetID="10" presetClass="entr" presetSubtype="0" fill="hold" grpId="0" nodeType="withEffect">
                                  <p:stCondLst>
                                    <p:cond delay="165"/>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322" decel="70000"/>
                                        <p:tgtEl>
                                          <p:spTgt spid="7"/>
                                        </p:tgtEl>
                                      </p:cBhvr>
                                    </p:animEffect>
                                  </p:childTnLst>
                                </p:cTn>
                              </p:par>
                              <p:par>
                                <p:cTn id="29" presetID="10" presetClass="entr" presetSubtype="0" fill="hold" grpId="0" nodeType="withEffect">
                                  <p:stCondLst>
                                    <p:cond delay="22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99" decel="70000"/>
                                        <p:tgtEl>
                                          <p:spTgt spid="9"/>
                                        </p:tgtEl>
                                      </p:cBhvr>
                                    </p:animEffect>
                                  </p:childTnLst>
                                </p:cTn>
                              </p:par>
                              <p:par>
                                <p:cTn id="32" presetID="23" presetClass="entr" presetSubtype="0" fill="hold" grpId="0" nodeType="withEffect">
                                  <p:stCondLst>
                                    <p:cond delay="275"/>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82" decel="70000"/>
                                        <p:tgtEl>
                                          <p:spTgt spid="10"/>
                                        </p:tgtEl>
                                      </p:cBhvr>
                                    </p:animEffect>
                                    <p:animScale>
                                      <p:cBhvr>
                                        <p:cTn id="35" dur="482" decel="70000" fill="hold"/>
                                        <p:tgtEl>
                                          <p:spTgt spid="10"/>
                                        </p:tgtEl>
                                      </p:cBhvr>
                                      <p:from x="82000" y="82000"/>
                                      <p:to x="100000" y="100000"/>
                                    </p:animScale>
                                  </p:childTnLst>
                                </p:cTn>
                              </p:par>
                              <p:par>
                                <p:cTn id="36" presetID="22" presetClass="entr" presetSubtype="1" fill="hold" grpId="0" nodeType="withEffect">
                                  <p:stCondLst>
                                    <p:cond delay="33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390"/>
                                        <p:tgtEl>
                                          <p:spTgt spid="13"/>
                                        </p:tgtEl>
                                      </p:cBhvr>
                                    </p:animEffect>
                                  </p:childTnLst>
                                </p:cTn>
                              </p:par>
                              <p:par>
                                <p:cTn id="39" presetID="23" presetClass="entr" presetSubtype="0" fill="hold" grpId="0" nodeType="withEffect">
                                  <p:stCondLst>
                                    <p:cond delay="385"/>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82" decel="70000"/>
                                        <p:tgtEl>
                                          <p:spTgt spid="14"/>
                                        </p:tgtEl>
                                      </p:cBhvr>
                                    </p:animEffect>
                                    <p:animScale>
                                      <p:cBhvr>
                                        <p:cTn id="42" dur="482" decel="70000" fill="hold"/>
                                        <p:tgtEl>
                                          <p:spTgt spid="14"/>
                                        </p:tgtEl>
                                      </p:cBhvr>
                                      <p:from x="82000" y="82000"/>
                                      <p:to x="100000" y="100000"/>
                                    </p:animScale>
                                  </p:childTnLst>
                                </p:cTn>
                              </p:par>
                              <p:par>
                                <p:cTn id="43" presetID="22" presetClass="entr" presetSubtype="1" fill="hold" grpId="0" nodeType="withEffect">
                                  <p:stCondLst>
                                    <p:cond delay="440"/>
                                  </p:stCondLst>
                                  <p:childTnLst>
                                    <p:set>
                                      <p:cBhvr>
                                        <p:cTn id="44" dur="1" fill="hold">
                                          <p:stCondLst>
                                            <p:cond delay="0"/>
                                          </p:stCondLst>
                                        </p:cTn>
                                        <p:tgtEl>
                                          <p:spTgt spid="16"/>
                                        </p:tgtEl>
                                        <p:attrNameLst>
                                          <p:attrName>style.visibility</p:attrName>
                                        </p:attrNameLst>
                                      </p:cBhvr>
                                      <p:to>
                                        <p:strVal val="visible"/>
                                      </p:to>
                                    </p:set>
                                    <p:animEffect transition="in" filter="wipe(down)">
                                      <p:cBhvr>
                                        <p:cTn id="45" dur="390"/>
                                        <p:tgtEl>
                                          <p:spTgt spid="16"/>
                                        </p:tgtEl>
                                      </p:cBhvr>
                                    </p:animEffect>
                                  </p:childTnLst>
                                </p:cTn>
                              </p:par>
                              <p:par>
                                <p:cTn id="46" presetID="23" presetClass="entr" presetSubtype="0" fill="hold" grpId="0" nodeType="withEffect">
                                  <p:stCondLst>
                                    <p:cond delay="495"/>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82" decel="70000"/>
                                        <p:tgtEl>
                                          <p:spTgt spid="17"/>
                                        </p:tgtEl>
                                      </p:cBhvr>
                                    </p:animEffect>
                                    <p:animScale>
                                      <p:cBhvr>
                                        <p:cTn id="49" dur="482" decel="70000" fill="hold"/>
                                        <p:tgtEl>
                                          <p:spTgt spid="17"/>
                                        </p:tgtEl>
                                      </p:cBhvr>
                                      <p:from x="82000" y="82000"/>
                                      <p:to x="100000" y="100000"/>
                                    </p:animScale>
                                  </p:childTnLst>
                                </p:cTn>
                              </p:par>
                              <p:par>
                                <p:cTn id="50" presetID="22" presetClass="entr" presetSubtype="1" fill="hold" grpId="0" nodeType="withEffect">
                                  <p:stCondLst>
                                    <p:cond delay="550"/>
                                  </p:stCondLst>
                                  <p:childTnLst>
                                    <p:set>
                                      <p:cBhvr>
                                        <p:cTn id="51" dur="1" fill="hold">
                                          <p:stCondLst>
                                            <p:cond delay="0"/>
                                          </p:stCondLst>
                                        </p:cTn>
                                        <p:tgtEl>
                                          <p:spTgt spid="19"/>
                                        </p:tgtEl>
                                        <p:attrNameLst>
                                          <p:attrName>style.visibility</p:attrName>
                                        </p:attrNameLst>
                                      </p:cBhvr>
                                      <p:to>
                                        <p:strVal val="visible"/>
                                      </p:to>
                                    </p:set>
                                    <p:animEffect transition="in" filter="wipe(down)">
                                      <p:cBhvr>
                                        <p:cTn id="52" dur="390"/>
                                        <p:tgtEl>
                                          <p:spTgt spid="19"/>
                                        </p:tgtEl>
                                      </p:cBhvr>
                                    </p:animEffect>
                                  </p:childTnLst>
                                </p:cTn>
                              </p:par>
                              <p:par>
                                <p:cTn id="53" presetID="23" presetClass="entr" presetSubtype="0" fill="hold" grpId="0" nodeType="withEffect">
                                  <p:stCondLst>
                                    <p:cond delay="605"/>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82" decel="70000"/>
                                        <p:tgtEl>
                                          <p:spTgt spid="20"/>
                                        </p:tgtEl>
                                      </p:cBhvr>
                                    </p:animEffect>
                                    <p:animScale>
                                      <p:cBhvr>
                                        <p:cTn id="56" dur="482" decel="70000" fill="hold"/>
                                        <p:tgtEl>
                                          <p:spTgt spid="20"/>
                                        </p:tgtEl>
                                      </p:cBhvr>
                                      <p:from x="82000" y="82000"/>
                                      <p:to x="100000" y="100000"/>
                                    </p:animScale>
                                  </p:childTnLst>
                                </p:cTn>
                              </p:par>
                              <p:par>
                                <p:cTn id="57" presetID="10" presetClass="entr" presetSubtype="0" fill="hold" grpId="0" nodeType="withEffect">
                                  <p:stCondLst>
                                    <p:cond delay="66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299" decel="70000"/>
                                        <p:tgtEl>
                                          <p:spTgt spid="11"/>
                                        </p:tgtEl>
                                      </p:cBhvr>
                                    </p:animEffect>
                                  </p:childTnLst>
                                </p:cTn>
                              </p:par>
                              <p:par>
                                <p:cTn id="60" presetID="10" presetClass="entr" presetSubtype="0" fill="hold" grpId="0" nodeType="withEffect">
                                  <p:stCondLst>
                                    <p:cond delay="715"/>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299" decel="70000"/>
                                        <p:tgtEl>
                                          <p:spTgt spid="15"/>
                                        </p:tgtEl>
                                      </p:cBhvr>
                                    </p:animEffect>
                                  </p:childTnLst>
                                </p:cTn>
                              </p:par>
                              <p:par>
                                <p:cTn id="63" presetID="10" presetClass="entr" presetSubtype="0" fill="hold" grpId="0" nodeType="withEffect">
                                  <p:stCondLst>
                                    <p:cond delay="77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299" decel="70000"/>
                                        <p:tgtEl>
                                          <p:spTgt spid="18"/>
                                        </p:tgtEl>
                                      </p:cBhvr>
                                    </p:animEffect>
                                  </p:childTnLst>
                                </p:cTn>
                              </p:par>
                              <p:par>
                                <p:cTn id="66" presetID="10" presetClass="entr" presetSubtype="0" fill="hold" grpId="0" nodeType="withEffect">
                                  <p:stCondLst>
                                    <p:cond delay="825"/>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299" decel="70000"/>
                                        <p:tgtEl>
                                          <p:spTgt spid="21"/>
                                        </p:tgtEl>
                                      </p:cBhvr>
                                    </p:animEffect>
                                  </p:childTnLst>
                                </p:cTn>
                              </p:par>
                              <p:par>
                                <p:cTn id="69" presetID="10" presetClass="entr" presetSubtype="0" fill="hold" grpId="0" nodeType="withEffect">
                                  <p:stCondLst>
                                    <p:cond delay="8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299" decel="70000"/>
                                        <p:tgtEl>
                                          <p:spTgt spid="12"/>
                                        </p:tgtEl>
                                      </p:cBhvr>
                                    </p:animEffect>
                                  </p:childTnLst>
                                </p:cTn>
                              </p:par>
                              <p:par>
                                <p:cTn id="72" presetID="22" presetClass="entr" presetSubtype="1" fill="hold" grpId="0" nodeType="withEffect">
                                  <p:stCondLst>
                                    <p:cond delay="935"/>
                                  </p:stCondLst>
                                  <p:childTnLst>
                                    <p:set>
                                      <p:cBhvr>
                                        <p:cTn id="73" dur="1" fill="hold">
                                          <p:stCondLst>
                                            <p:cond delay="0"/>
                                          </p:stCondLst>
                                        </p:cTn>
                                        <p:tgtEl>
                                          <p:spTgt spid="22"/>
                                        </p:tgtEl>
                                        <p:attrNameLst>
                                          <p:attrName>style.visibility</p:attrName>
                                        </p:attrNameLst>
                                      </p:cBhvr>
                                      <p:to>
                                        <p:strVal val="visible"/>
                                      </p:to>
                                    </p:set>
                                    <p:animEffect transition="in" filter="wipe(right)">
                                      <p:cBhvr>
                                        <p:cTn id="74" dur="529"/>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role:panel-top"/>
          <p:cNvSpPr/>
          <p:nvPr/>
        </p:nvSpPr>
        <p:spPr>
          <a:xfrm>
            <a:off x="0" y="0"/>
            <a:ext cx="12191695" cy="2889504"/>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8732520" y="-1188720"/>
            <a:ext cx="4389120" cy="5206548"/>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502920"/>
            <a:ext cx="1371600" cy="294904"/>
          </a:xfrm>
          <a:prstGeom prst="rect">
            <a:avLst/>
          </a:prstGeom>
        </p:spPr>
      </p:pic>
      <p:sp>
        <p:nvSpPr>
          <p:cNvPr id="5" name="role:kicker"/>
          <p:cNvSpPr txBox="1"/>
          <p:nvPr/>
        </p:nvSpPr>
        <p:spPr>
          <a:xfrm>
            <a:off x="713232" y="548640"/>
            <a:ext cx="548640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role:title"/>
          <p:cNvSpPr txBox="1"/>
          <p:nvPr/>
        </p:nvSpPr>
        <p:spPr>
          <a:xfrm>
            <a:off x="713232" y="877824"/>
            <a:ext cx="5943600" cy="944880"/>
          </a:xfrm>
          <a:prstGeom prst="rect">
            <a:avLst/>
          </a:prstGeom>
          <a:noFill/>
          <a:ln/>
        </p:spPr>
        <p:txBody>
          <a:bodyPr wrap="square" lIns="0" tIns="0" rIns="0" bIns="0" rtlCol="0" anchor="t"/>
          <a:lstStyle/>
          <a:p>
            <a:pPr algn="l" indent="0" marL="0">
              <a:lnSpc>
                <a:spcPct val="102000"/>
              </a:lnSpc>
              <a:buNone/>
            </a:pPr>
            <a:r>
              <a:rPr lang="en-US" sz="3400" b="1" dirty="0">
                <a:solidFill>
                  <a:srgbClr val="FFFFFF"/>
                </a:solidFill>
                <a:latin typeface="Arial" pitchFamily="34" charset="0"/>
                <a:ea typeface="Arial" pitchFamily="34" charset="-122"/>
                <a:cs typeface="Arial" pitchFamily="34" charset="-120"/>
              </a:rPr>
              <a:t>Detroit Dispensing</a:t>
            </a:r>
            <a:endParaRPr lang="en-US" sz="3400" dirty="0"/>
          </a:p>
          <a:p>
            <a:pPr algn="l" indent="0" marL="0">
              <a:lnSpc>
                <a:spcPct val="102000"/>
              </a:lnSpc>
              <a:buNone/>
            </a:pPr>
            <a:r>
              <a:rPr lang="en-US" sz="3400" b="1" dirty="0">
                <a:solidFill>
                  <a:srgbClr val="FFFFFF"/>
                </a:solidFill>
                <a:latin typeface="Arial" pitchFamily="34" charset="0"/>
                <a:ea typeface="Arial" pitchFamily="34" charset="-122"/>
                <a:cs typeface="Arial" pitchFamily="34" charset="-120"/>
              </a:rPr>
              <a:t>Solutions</a:t>
            </a:r>
            <a:endParaRPr lang="en-US" sz="3400" dirty="0"/>
          </a:p>
        </p:txBody>
      </p:sp>
      <p:sp>
        <p:nvSpPr>
          <p:cNvPr id="7" name="role:body"/>
          <p:cNvSpPr txBox="1"/>
          <p:nvPr/>
        </p:nvSpPr>
        <p:spPr>
          <a:xfrm>
            <a:off x="713232" y="1950720"/>
            <a:ext cx="5760720" cy="664083"/>
          </a:xfrm>
          <a:prstGeom prst="rect">
            <a:avLst/>
          </a:prstGeom>
          <a:noFill/>
          <a:ln/>
        </p:spPr>
        <p:txBody>
          <a:bodyPr wrap="square" lIns="0" tIns="0" rIns="0" bIns="0" rtlCol="0" anchor="t"/>
          <a:lstStyle/>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B2B equipment manufacturer · six months</a:t>
            </a:r>
            <a:endParaRPr lang="en-US" sz="1250" dirty="0"/>
          </a:p>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Non branded SEO, new service pages, AISEO, lead tracking, LinkedIn retargeting</a:t>
            </a:r>
            <a:endParaRPr lang="en-US" sz="1250" dirty="0"/>
          </a:p>
        </p:txBody>
      </p:sp>
      <p:sp>
        <p:nvSpPr>
          <p:cNvPr id="8" name="role:hero"/>
          <p:cNvSpPr txBox="1"/>
          <p:nvPr/>
        </p:nvSpPr>
        <p:spPr>
          <a:xfrm>
            <a:off x="6583680" y="1060704"/>
            <a:ext cx="4892040" cy="1133856"/>
          </a:xfrm>
          <a:prstGeom prst="rect">
            <a:avLst/>
          </a:prstGeom>
          <a:noFill/>
          <a:ln/>
        </p:spPr>
        <p:txBody>
          <a:bodyPr wrap="square" lIns="0" tIns="0" rIns="0" bIns="0" rtlCol="0" anchor="t"/>
          <a:lstStyle/>
          <a:p>
            <a:pPr algn="r" indent="0" marL="0">
              <a:lnSpc>
                <a:spcPct val="95000"/>
              </a:lnSpc>
              <a:buNone/>
            </a:pPr>
            <a:r>
              <a:rPr lang="en-US" sz="9200" b="1" dirty="0">
                <a:solidFill>
                  <a:srgbClr val="5AA7E0"/>
                </a:solidFill>
                <a:latin typeface="Arial" pitchFamily="34" charset="0"/>
                <a:ea typeface="Arial" pitchFamily="34" charset="-122"/>
                <a:cs typeface="Arial" pitchFamily="34" charset="-120"/>
              </a:rPr>
              <a:t>334</a:t>
            </a:r>
            <a:endParaRPr lang="en-US" sz="9200" dirty="0"/>
          </a:p>
        </p:txBody>
      </p:sp>
      <p:sp>
        <p:nvSpPr>
          <p:cNvPr id="9" name="role:figure-label"/>
          <p:cNvSpPr txBox="1"/>
          <p:nvPr/>
        </p:nvSpPr>
        <p:spPr>
          <a:xfrm>
            <a:off x="6583680" y="2231136"/>
            <a:ext cx="4892040" cy="246888"/>
          </a:xfrm>
          <a:prstGeom prst="rect">
            <a:avLst/>
          </a:prstGeom>
          <a:noFill/>
          <a:ln/>
        </p:spPr>
        <p:txBody>
          <a:bodyPr wrap="square" lIns="0" tIns="0" rIns="0" bIns="0" rtlCol="0" anchor="t"/>
          <a:lstStyle/>
          <a:p>
            <a:pPr algn="r" indent="0" marL="0">
              <a:lnSpc>
                <a:spcPct val="120000"/>
              </a:lnSpc>
              <a:buNone/>
            </a:pPr>
            <a:r>
              <a:rPr lang="en-US" sz="1200" b="1" dirty="0">
                <a:solidFill>
                  <a:srgbClr val="FFFFFF"/>
                </a:solidFill>
                <a:latin typeface="Arial" pitchFamily="34" charset="0"/>
                <a:ea typeface="Arial" pitchFamily="34" charset="-122"/>
                <a:cs typeface="Arial" pitchFamily="34" charset="-120"/>
              </a:rPr>
              <a:t>Tracked leads, June to December: 176 calls and 158 forms</a:t>
            </a:r>
            <a:endParaRPr lang="en-US" sz="1200" dirty="0"/>
          </a:p>
        </p:txBody>
      </p:sp>
      <p:sp>
        <p:nvSpPr>
          <p:cNvPr id="10" name="role:figure"/>
          <p:cNvSpPr txBox="1"/>
          <p:nvPr/>
        </p:nvSpPr>
        <p:spPr>
          <a:xfrm>
            <a:off x="713232"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+129%</a:t>
            </a:r>
            <a:endParaRPr lang="en-US" sz="3100" dirty="0"/>
          </a:p>
        </p:txBody>
      </p:sp>
      <p:sp>
        <p:nvSpPr>
          <p:cNvPr id="11" name="role:figure-label"/>
          <p:cNvSpPr txBox="1"/>
          <p:nvPr/>
        </p:nvSpPr>
        <p:spPr>
          <a:xfrm>
            <a:off x="713232"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Organic clicks year on year</a:t>
            </a:r>
            <a:endParaRPr lang="en-US" sz="1200" dirty="0"/>
          </a:p>
        </p:txBody>
      </p:sp>
      <p:sp>
        <p:nvSpPr>
          <p:cNvPr id="12" name="role:figure-label"/>
          <p:cNvSpPr txBox="1"/>
          <p:nvPr/>
        </p:nvSpPr>
        <p:spPr>
          <a:xfrm>
            <a:off x="713232"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3,095 total</a:t>
            </a:r>
            <a:endParaRPr lang="en-US" sz="1050" dirty="0"/>
          </a:p>
        </p:txBody>
      </p:sp>
      <p:sp>
        <p:nvSpPr>
          <p:cNvPr id="13" name="role:rule-v"/>
          <p:cNvSpPr/>
          <p:nvPr/>
        </p:nvSpPr>
        <p:spPr>
          <a:xfrm>
            <a:off x="3166796" y="3200400"/>
            <a:ext cx="0" cy="1294384"/>
          </a:xfrm>
          <a:prstGeom prst="line">
            <a:avLst/>
          </a:prstGeom>
          <a:noFill/>
          <a:ln w="9525">
            <a:solidFill>
              <a:srgbClr val="E2EAF1"/>
            </a:solidFill>
            <a:prstDash val="solid"/>
          </a:ln>
        </p:spPr>
      </p:sp>
      <p:sp>
        <p:nvSpPr>
          <p:cNvPr id="14" name="role:figure"/>
          <p:cNvSpPr txBox="1"/>
          <p:nvPr/>
        </p:nvSpPr>
        <p:spPr>
          <a:xfrm>
            <a:off x="3404540"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+70%</a:t>
            </a:r>
            <a:endParaRPr lang="en-US" sz="3100" dirty="0"/>
          </a:p>
        </p:txBody>
      </p:sp>
      <p:sp>
        <p:nvSpPr>
          <p:cNvPr id="15" name="role:figure-label"/>
          <p:cNvSpPr txBox="1"/>
          <p:nvPr/>
        </p:nvSpPr>
        <p:spPr>
          <a:xfrm>
            <a:off x="3404540"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Impressions year on year</a:t>
            </a:r>
            <a:endParaRPr lang="en-US" sz="1200" dirty="0"/>
          </a:p>
        </p:txBody>
      </p:sp>
      <p:sp>
        <p:nvSpPr>
          <p:cNvPr id="16" name="role:figure-label"/>
          <p:cNvSpPr txBox="1"/>
          <p:nvPr/>
        </p:nvSpPr>
        <p:spPr>
          <a:xfrm>
            <a:off x="3404540"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136,000+</a:t>
            </a:r>
            <a:endParaRPr lang="en-US" sz="1050" dirty="0"/>
          </a:p>
        </p:txBody>
      </p:sp>
      <p:sp>
        <p:nvSpPr>
          <p:cNvPr id="17" name="role:rule-v"/>
          <p:cNvSpPr/>
          <p:nvPr/>
        </p:nvSpPr>
        <p:spPr>
          <a:xfrm>
            <a:off x="5858104" y="3200400"/>
            <a:ext cx="0" cy="1294384"/>
          </a:xfrm>
          <a:prstGeom prst="line">
            <a:avLst/>
          </a:prstGeom>
          <a:noFill/>
          <a:ln w="9525">
            <a:solidFill>
              <a:srgbClr val="E2EAF1"/>
            </a:solidFill>
            <a:prstDash val="solid"/>
          </a:ln>
        </p:spPr>
      </p:sp>
      <p:sp>
        <p:nvSpPr>
          <p:cNvPr id="18" name="role:figure"/>
          <p:cNvSpPr txBox="1"/>
          <p:nvPr/>
        </p:nvSpPr>
        <p:spPr>
          <a:xfrm>
            <a:off x="6095848"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+67%</a:t>
            </a:r>
            <a:endParaRPr lang="en-US" sz="3100" dirty="0"/>
          </a:p>
        </p:txBody>
      </p:sp>
      <p:sp>
        <p:nvSpPr>
          <p:cNvPr id="19" name="role:figure-label"/>
          <p:cNvSpPr txBox="1"/>
          <p:nvPr/>
        </p:nvSpPr>
        <p:spPr>
          <a:xfrm>
            <a:off x="6095848"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New users</a:t>
            </a:r>
            <a:endParaRPr lang="en-US" sz="1200" dirty="0"/>
          </a:p>
        </p:txBody>
      </p:sp>
      <p:sp>
        <p:nvSpPr>
          <p:cNvPr id="20" name="role:figure-label"/>
          <p:cNvSpPr txBox="1"/>
          <p:nvPr/>
        </p:nvSpPr>
        <p:spPr>
          <a:xfrm>
            <a:off x="6095848"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45,740</a:t>
            </a:r>
            <a:endParaRPr lang="en-US" sz="1050" dirty="0"/>
          </a:p>
        </p:txBody>
      </p:sp>
      <p:sp>
        <p:nvSpPr>
          <p:cNvPr id="21" name="role:rule-v"/>
          <p:cNvSpPr/>
          <p:nvPr/>
        </p:nvSpPr>
        <p:spPr>
          <a:xfrm>
            <a:off x="8549411" y="3200400"/>
            <a:ext cx="0" cy="1294384"/>
          </a:xfrm>
          <a:prstGeom prst="line">
            <a:avLst/>
          </a:prstGeom>
          <a:noFill/>
          <a:ln w="9525">
            <a:solidFill>
              <a:srgbClr val="E2EAF1"/>
            </a:solidFill>
            <a:prstDash val="solid"/>
          </a:ln>
        </p:spPr>
      </p:sp>
      <p:sp>
        <p:nvSpPr>
          <p:cNvPr id="22" name="role:figure"/>
          <p:cNvSpPr txBox="1"/>
          <p:nvPr/>
        </p:nvSpPr>
        <p:spPr>
          <a:xfrm>
            <a:off x="8787155"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F58320"/>
                </a:solidFill>
                <a:latin typeface="Arial" pitchFamily="34" charset="0"/>
                <a:ea typeface="Arial" pitchFamily="34" charset="-122"/>
                <a:cs typeface="Arial" pitchFamily="34" charset="-120"/>
              </a:rPr>
              <a:t>35</a:t>
            </a:r>
            <a:endParaRPr lang="en-US" sz="3100" dirty="0"/>
          </a:p>
        </p:txBody>
      </p:sp>
      <p:sp>
        <p:nvSpPr>
          <p:cNvPr id="23" name="role:figure-label"/>
          <p:cNvSpPr txBox="1"/>
          <p:nvPr/>
        </p:nvSpPr>
        <p:spPr>
          <a:xfrm>
            <a:off x="8787155"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AI visibility score</a:t>
            </a:r>
            <a:endParaRPr lang="en-US" sz="1200" dirty="0"/>
          </a:p>
        </p:txBody>
      </p:sp>
      <p:sp>
        <p:nvSpPr>
          <p:cNvPr id="24" name="role:figure-label"/>
          <p:cNvSpPr txBox="1"/>
          <p:nvPr/>
        </p:nvSpPr>
        <p:spPr>
          <a:xfrm>
            <a:off x="8787155"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More cited pages</a:t>
            </a:r>
            <a:endParaRPr lang="en-US" sz="1050" dirty="0"/>
          </a:p>
        </p:txBody>
      </p:sp>
      <p:sp>
        <p:nvSpPr>
          <p:cNvPr id="25" name="role:rule-h"/>
          <p:cNvSpPr/>
          <p:nvPr/>
        </p:nvSpPr>
        <p:spPr>
          <a:xfrm>
            <a:off x="713232" y="4439920"/>
            <a:ext cx="10765231" cy="0"/>
          </a:xfrm>
          <a:prstGeom prst="line">
            <a:avLst/>
          </a:prstGeom>
          <a:noFill/>
          <a:ln w="9525">
            <a:solidFill>
              <a:srgbClr val="E2EAF1"/>
            </a:solidFill>
            <a:prstDash val="solid"/>
          </a:ln>
        </p:spPr>
      </p:sp>
      <p:sp>
        <p:nvSpPr>
          <p:cNvPr id="26" name="role:kicker"/>
          <p:cNvSpPr txBox="1"/>
          <p:nvPr/>
        </p:nvSpPr>
        <p:spPr>
          <a:xfrm>
            <a:off x="713232" y="462280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BEFORE</a:t>
            </a:r>
            <a:endParaRPr lang="en-US" sz="1050" dirty="0"/>
          </a:p>
        </p:txBody>
      </p:sp>
      <p:sp>
        <p:nvSpPr>
          <p:cNvPr id="27" name="role:body"/>
          <p:cNvSpPr txBox="1"/>
          <p:nvPr/>
        </p:nvSpPr>
        <p:spPr>
          <a:xfrm>
            <a:off x="713232" y="495198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Invisible for the searches that matter</a:t>
            </a:r>
            <a:endParaRPr lang="en-US" sz="1700" dirty="0"/>
          </a:p>
        </p:txBody>
      </p:sp>
      <p:sp>
        <p:nvSpPr>
          <p:cNvPr id="28" name="Text 24"/>
          <p:cNvSpPr txBox="1"/>
          <p:nvPr/>
        </p:nvSpPr>
        <p:spPr>
          <a:xfrm>
            <a:off x="71323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Almost no non branded visibility for equipment terms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Content gaps across high intent product searches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Lead attribution unclear across calls and forms</a:t>
            </a:r>
            <a:endParaRPr lang="en-US" sz="1150" dirty="0"/>
          </a:p>
        </p:txBody>
      </p:sp>
      <p:sp>
        <p:nvSpPr>
          <p:cNvPr id="29" name="role:kicker"/>
          <p:cNvSpPr txBox="1"/>
          <p:nvPr/>
        </p:nvSpPr>
        <p:spPr>
          <a:xfrm>
            <a:off x="6379312" y="462280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WHAT CHANGED</a:t>
            </a:r>
            <a:endParaRPr lang="en-US" sz="1050" dirty="0"/>
          </a:p>
        </p:txBody>
      </p:sp>
      <p:sp>
        <p:nvSpPr>
          <p:cNvPr id="30" name="role:body"/>
          <p:cNvSpPr txBox="1"/>
          <p:nvPr/>
        </p:nvSpPr>
        <p:spPr>
          <a:xfrm>
            <a:off x="6379312" y="495198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Product intent search, tracked</a:t>
            </a:r>
            <a:endParaRPr lang="en-US" sz="1700" dirty="0"/>
          </a:p>
        </p:txBody>
      </p:sp>
      <p:sp>
        <p:nvSpPr>
          <p:cNvPr id="31" name="Text 27"/>
          <p:cNvSpPr txBox="1"/>
          <p:nvPr/>
        </p:nvSpPr>
        <p:spPr>
          <a:xfrm>
            <a:off x="637931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cfm 1800 ranks #1, concentrate dispenser machine #3</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December delivered 85 inbound leads, organic and paid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ChatGPT now appears in the monthly lead mix</a:t>
            </a:r>
            <a:endParaRPr lang="en-US" sz="1150" dirty="0"/>
          </a:p>
        </p:txBody>
      </p:sp>
      <p:sp>
        <p:nvSpPr>
          <p:cNvPr id="32"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14</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23" presetClass="entr" presetSubtype="0" fill="hold" grpId="0" nodeType="withEffect">
                                  <p:stCondLst>
                                    <p:cond delay="11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98" decel="70000"/>
                                        <p:tgtEl>
                                          <p:spTgt spid="8"/>
                                        </p:tgtEl>
                                      </p:cBhvr>
                                    </p:animEffect>
                                    <p:animScale>
                                      <p:cBhvr>
                                        <p:cTn id="25" dur="598" decel="70000" fill="hold"/>
                                        <p:tgtEl>
                                          <p:spTgt spid="8"/>
                                        </p:tgtEl>
                                      </p:cBhvr>
                                      <p:from x="78000" y="78000"/>
                                      <p:to x="100000" y="100000"/>
                                    </p:animScale>
                                  </p:childTnLst>
                                </p:cTn>
                              </p:par>
                              <p:par>
                                <p:cTn id="26" presetID="10" presetClass="entr" presetSubtype="0" fill="hold" grpId="0" nodeType="withEffect">
                                  <p:stCondLst>
                                    <p:cond delay="165"/>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322" decel="70000"/>
                                        <p:tgtEl>
                                          <p:spTgt spid="7"/>
                                        </p:tgtEl>
                                      </p:cBhvr>
                                    </p:animEffect>
                                  </p:childTnLst>
                                </p:cTn>
                              </p:par>
                              <p:par>
                                <p:cTn id="29" presetID="10" presetClass="entr" presetSubtype="0" fill="hold" grpId="0" nodeType="withEffect">
                                  <p:stCondLst>
                                    <p:cond delay="22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99" decel="70000"/>
                                        <p:tgtEl>
                                          <p:spTgt spid="9"/>
                                        </p:tgtEl>
                                      </p:cBhvr>
                                    </p:animEffect>
                                  </p:childTnLst>
                                </p:cTn>
                              </p:par>
                              <p:par>
                                <p:cTn id="32" presetID="23" presetClass="entr" presetSubtype="0" fill="hold" grpId="0" nodeType="withEffect">
                                  <p:stCondLst>
                                    <p:cond delay="275"/>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82" decel="70000"/>
                                        <p:tgtEl>
                                          <p:spTgt spid="10"/>
                                        </p:tgtEl>
                                      </p:cBhvr>
                                    </p:animEffect>
                                    <p:animScale>
                                      <p:cBhvr>
                                        <p:cTn id="35" dur="482" decel="70000" fill="hold"/>
                                        <p:tgtEl>
                                          <p:spTgt spid="10"/>
                                        </p:tgtEl>
                                      </p:cBhvr>
                                      <p:from x="82000" y="82000"/>
                                      <p:to x="100000" y="100000"/>
                                    </p:animScale>
                                  </p:childTnLst>
                                </p:cTn>
                              </p:par>
                              <p:par>
                                <p:cTn id="36" presetID="22" presetClass="entr" presetSubtype="1" fill="hold" grpId="0" nodeType="withEffect">
                                  <p:stCondLst>
                                    <p:cond delay="33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390"/>
                                        <p:tgtEl>
                                          <p:spTgt spid="13"/>
                                        </p:tgtEl>
                                      </p:cBhvr>
                                    </p:animEffect>
                                  </p:childTnLst>
                                </p:cTn>
                              </p:par>
                              <p:par>
                                <p:cTn id="39" presetID="23" presetClass="entr" presetSubtype="0" fill="hold" grpId="0" nodeType="withEffect">
                                  <p:stCondLst>
                                    <p:cond delay="385"/>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82" decel="70000"/>
                                        <p:tgtEl>
                                          <p:spTgt spid="14"/>
                                        </p:tgtEl>
                                      </p:cBhvr>
                                    </p:animEffect>
                                    <p:animScale>
                                      <p:cBhvr>
                                        <p:cTn id="42" dur="482" decel="70000" fill="hold"/>
                                        <p:tgtEl>
                                          <p:spTgt spid="14"/>
                                        </p:tgtEl>
                                      </p:cBhvr>
                                      <p:from x="82000" y="82000"/>
                                      <p:to x="100000" y="100000"/>
                                    </p:animScale>
                                  </p:childTnLst>
                                </p:cTn>
                              </p:par>
                              <p:par>
                                <p:cTn id="43" presetID="22" presetClass="entr" presetSubtype="1" fill="hold" grpId="0" nodeType="withEffect">
                                  <p:stCondLst>
                                    <p:cond delay="440"/>
                                  </p:stCondLst>
                                  <p:childTnLst>
                                    <p:set>
                                      <p:cBhvr>
                                        <p:cTn id="44" dur="1" fill="hold">
                                          <p:stCondLst>
                                            <p:cond delay="0"/>
                                          </p:stCondLst>
                                        </p:cTn>
                                        <p:tgtEl>
                                          <p:spTgt spid="17"/>
                                        </p:tgtEl>
                                        <p:attrNameLst>
                                          <p:attrName>style.visibility</p:attrName>
                                        </p:attrNameLst>
                                      </p:cBhvr>
                                      <p:to>
                                        <p:strVal val="visible"/>
                                      </p:to>
                                    </p:set>
                                    <p:animEffect transition="in" filter="wipe(down)">
                                      <p:cBhvr>
                                        <p:cTn id="45" dur="390"/>
                                        <p:tgtEl>
                                          <p:spTgt spid="17"/>
                                        </p:tgtEl>
                                      </p:cBhvr>
                                    </p:animEffect>
                                  </p:childTnLst>
                                </p:cTn>
                              </p:par>
                              <p:par>
                                <p:cTn id="46" presetID="23" presetClass="entr" presetSubtype="0" fill="hold" grpId="0" nodeType="withEffect">
                                  <p:stCondLst>
                                    <p:cond delay="495"/>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82" decel="70000"/>
                                        <p:tgtEl>
                                          <p:spTgt spid="18"/>
                                        </p:tgtEl>
                                      </p:cBhvr>
                                    </p:animEffect>
                                    <p:animScale>
                                      <p:cBhvr>
                                        <p:cTn id="49" dur="482" decel="70000" fill="hold"/>
                                        <p:tgtEl>
                                          <p:spTgt spid="18"/>
                                        </p:tgtEl>
                                      </p:cBhvr>
                                      <p:from x="82000" y="82000"/>
                                      <p:to x="100000" y="100000"/>
                                    </p:animScale>
                                  </p:childTnLst>
                                </p:cTn>
                              </p:par>
                              <p:par>
                                <p:cTn id="50" presetID="22" presetClass="entr" presetSubtype="1" fill="hold" grpId="0" nodeType="withEffect">
                                  <p:stCondLst>
                                    <p:cond delay="550"/>
                                  </p:stCondLst>
                                  <p:childTnLst>
                                    <p:set>
                                      <p:cBhvr>
                                        <p:cTn id="51" dur="1" fill="hold">
                                          <p:stCondLst>
                                            <p:cond delay="0"/>
                                          </p:stCondLst>
                                        </p:cTn>
                                        <p:tgtEl>
                                          <p:spTgt spid="21"/>
                                        </p:tgtEl>
                                        <p:attrNameLst>
                                          <p:attrName>style.visibility</p:attrName>
                                        </p:attrNameLst>
                                      </p:cBhvr>
                                      <p:to>
                                        <p:strVal val="visible"/>
                                      </p:to>
                                    </p:set>
                                    <p:animEffect transition="in" filter="wipe(down)">
                                      <p:cBhvr>
                                        <p:cTn id="52" dur="390"/>
                                        <p:tgtEl>
                                          <p:spTgt spid="21"/>
                                        </p:tgtEl>
                                      </p:cBhvr>
                                    </p:animEffect>
                                  </p:childTnLst>
                                </p:cTn>
                              </p:par>
                              <p:par>
                                <p:cTn id="53" presetID="23" presetClass="entr" presetSubtype="0" fill="hold" grpId="0" nodeType="withEffect">
                                  <p:stCondLst>
                                    <p:cond delay="605"/>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82" decel="70000"/>
                                        <p:tgtEl>
                                          <p:spTgt spid="22"/>
                                        </p:tgtEl>
                                      </p:cBhvr>
                                    </p:animEffect>
                                    <p:animScale>
                                      <p:cBhvr>
                                        <p:cTn id="56" dur="482" decel="70000" fill="hold"/>
                                        <p:tgtEl>
                                          <p:spTgt spid="22"/>
                                        </p:tgtEl>
                                      </p:cBhvr>
                                      <p:from x="82000" y="82000"/>
                                      <p:to x="100000" y="100000"/>
                                    </p:animScale>
                                  </p:childTnLst>
                                </p:cTn>
                              </p:par>
                              <p:par>
                                <p:cTn id="57" presetID="10" presetClass="entr" presetSubtype="0" fill="hold" grpId="0" nodeType="withEffect">
                                  <p:stCondLst>
                                    <p:cond delay="66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299" decel="70000"/>
                                        <p:tgtEl>
                                          <p:spTgt spid="11"/>
                                        </p:tgtEl>
                                      </p:cBhvr>
                                    </p:animEffect>
                                  </p:childTnLst>
                                </p:cTn>
                              </p:par>
                              <p:par>
                                <p:cTn id="60" presetID="10" presetClass="entr" presetSubtype="0" fill="hold" grpId="0" nodeType="withEffect">
                                  <p:stCondLst>
                                    <p:cond delay="715"/>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299" decel="70000"/>
                                        <p:tgtEl>
                                          <p:spTgt spid="15"/>
                                        </p:tgtEl>
                                      </p:cBhvr>
                                    </p:animEffect>
                                  </p:childTnLst>
                                </p:cTn>
                              </p:par>
                              <p:par>
                                <p:cTn id="63" presetID="10" presetClass="entr" presetSubtype="0" fill="hold" grpId="0" nodeType="withEffect">
                                  <p:stCondLst>
                                    <p:cond delay="77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299" decel="70000"/>
                                        <p:tgtEl>
                                          <p:spTgt spid="19"/>
                                        </p:tgtEl>
                                      </p:cBhvr>
                                    </p:animEffect>
                                  </p:childTnLst>
                                </p:cTn>
                              </p:par>
                              <p:par>
                                <p:cTn id="66" presetID="10" presetClass="entr" presetSubtype="0" fill="hold" grpId="0" nodeType="withEffect">
                                  <p:stCondLst>
                                    <p:cond delay="825"/>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299" decel="70000"/>
                                        <p:tgtEl>
                                          <p:spTgt spid="23"/>
                                        </p:tgtEl>
                                      </p:cBhvr>
                                    </p:animEffect>
                                  </p:childTnLst>
                                </p:cTn>
                              </p:par>
                              <p:par>
                                <p:cTn id="69" presetID="10" presetClass="entr" presetSubtype="0" fill="hold" grpId="0" nodeType="withEffect">
                                  <p:stCondLst>
                                    <p:cond delay="8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299" decel="70000"/>
                                        <p:tgtEl>
                                          <p:spTgt spid="12"/>
                                        </p:tgtEl>
                                      </p:cBhvr>
                                    </p:animEffect>
                                  </p:childTnLst>
                                </p:cTn>
                              </p:par>
                              <p:par>
                                <p:cTn id="72" presetID="10" presetClass="entr" presetSubtype="0" fill="hold" grpId="0" nodeType="withEffect">
                                  <p:stCondLst>
                                    <p:cond delay="935"/>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299" decel="70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role:panel-top"/>
          <p:cNvSpPr/>
          <p:nvPr/>
        </p:nvSpPr>
        <p:spPr>
          <a:xfrm>
            <a:off x="0" y="0"/>
            <a:ext cx="12191695" cy="2889504"/>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8732520" y="-1188720"/>
            <a:ext cx="4389120" cy="5206548"/>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502920"/>
            <a:ext cx="1371600" cy="294904"/>
          </a:xfrm>
          <a:prstGeom prst="rect">
            <a:avLst/>
          </a:prstGeom>
        </p:spPr>
      </p:pic>
      <p:sp>
        <p:nvSpPr>
          <p:cNvPr id="5" name="role:kicker"/>
          <p:cNvSpPr txBox="1"/>
          <p:nvPr/>
        </p:nvSpPr>
        <p:spPr>
          <a:xfrm>
            <a:off x="713232" y="548640"/>
            <a:ext cx="548640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role:title"/>
          <p:cNvSpPr txBox="1"/>
          <p:nvPr/>
        </p:nvSpPr>
        <p:spPr>
          <a:xfrm>
            <a:off x="713232" y="877824"/>
            <a:ext cx="5943600" cy="504444"/>
          </a:xfrm>
          <a:prstGeom prst="rect">
            <a:avLst/>
          </a:prstGeom>
          <a:noFill/>
          <a:ln/>
        </p:spPr>
        <p:txBody>
          <a:bodyPr wrap="square" lIns="0" tIns="0" rIns="0" bIns="0" rtlCol="0" anchor="t"/>
          <a:lstStyle/>
          <a:p>
            <a:pPr algn="l" indent="0" marL="0">
              <a:lnSpc>
                <a:spcPct val="102000"/>
              </a:lnSpc>
              <a:buNone/>
            </a:pPr>
            <a:r>
              <a:rPr lang="en-US" sz="3400" b="1" dirty="0">
                <a:solidFill>
                  <a:srgbClr val="FFFFFF"/>
                </a:solidFill>
                <a:latin typeface="Arial" pitchFamily="34" charset="0"/>
                <a:ea typeface="Arial" pitchFamily="34" charset="-122"/>
                <a:cs typeface="Arial" pitchFamily="34" charset="-120"/>
              </a:rPr>
              <a:t>The Kind Insurance</a:t>
            </a:r>
            <a:endParaRPr lang="en-US" sz="3400" dirty="0"/>
          </a:p>
        </p:txBody>
      </p:sp>
      <p:sp>
        <p:nvSpPr>
          <p:cNvPr id="7" name="role:body"/>
          <p:cNvSpPr txBox="1"/>
          <p:nvPr/>
        </p:nvSpPr>
        <p:spPr>
          <a:xfrm>
            <a:off x="713232" y="1510284"/>
            <a:ext cx="5760720" cy="464058"/>
          </a:xfrm>
          <a:prstGeom prst="rect">
            <a:avLst/>
          </a:prstGeom>
          <a:noFill/>
          <a:ln/>
        </p:spPr>
        <p:txBody>
          <a:bodyPr wrap="square" lIns="0" tIns="0" rIns="0" bIns="0" rtlCol="0" anchor="t"/>
          <a:lstStyle/>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Insurance brokerage · 2025 against 2024</a:t>
            </a:r>
            <a:endParaRPr lang="en-US" sz="1250" dirty="0"/>
          </a:p>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Call first conversion setup, budget reallocation, search term control</a:t>
            </a:r>
            <a:endParaRPr lang="en-US" sz="1250" dirty="0"/>
          </a:p>
        </p:txBody>
      </p:sp>
      <p:sp>
        <p:nvSpPr>
          <p:cNvPr id="8" name="role:hero"/>
          <p:cNvSpPr txBox="1"/>
          <p:nvPr/>
        </p:nvSpPr>
        <p:spPr>
          <a:xfrm>
            <a:off x="6583680" y="1060704"/>
            <a:ext cx="4892040" cy="1133856"/>
          </a:xfrm>
          <a:prstGeom prst="rect">
            <a:avLst/>
          </a:prstGeom>
          <a:noFill/>
          <a:ln/>
        </p:spPr>
        <p:txBody>
          <a:bodyPr wrap="square" lIns="0" tIns="0" rIns="0" bIns="0" rtlCol="0" anchor="t"/>
          <a:lstStyle/>
          <a:p>
            <a:pPr algn="r" indent="0" marL="0">
              <a:lnSpc>
                <a:spcPct val="95000"/>
              </a:lnSpc>
              <a:buNone/>
            </a:pPr>
            <a:r>
              <a:rPr lang="en-US" sz="9200" b="1" dirty="0">
                <a:solidFill>
                  <a:srgbClr val="5AA7E0"/>
                </a:solidFill>
                <a:latin typeface="Arial" pitchFamily="34" charset="0"/>
                <a:ea typeface="Arial" pitchFamily="34" charset="-122"/>
                <a:cs typeface="Arial" pitchFamily="34" charset="-120"/>
              </a:rPr>
              <a:t>638</a:t>
            </a:r>
            <a:endParaRPr lang="en-US" sz="9200" dirty="0"/>
          </a:p>
        </p:txBody>
      </p:sp>
      <p:sp>
        <p:nvSpPr>
          <p:cNvPr id="9" name="role:figure-label"/>
          <p:cNvSpPr txBox="1"/>
          <p:nvPr/>
        </p:nvSpPr>
        <p:spPr>
          <a:xfrm>
            <a:off x="6583680" y="2231136"/>
            <a:ext cx="4892040" cy="246888"/>
          </a:xfrm>
          <a:prstGeom prst="rect">
            <a:avLst/>
          </a:prstGeom>
          <a:noFill/>
          <a:ln/>
        </p:spPr>
        <p:txBody>
          <a:bodyPr wrap="square" lIns="0" tIns="0" rIns="0" bIns="0" rtlCol="0" anchor="t"/>
          <a:lstStyle/>
          <a:p>
            <a:pPr algn="r" indent="0" marL="0">
              <a:lnSpc>
                <a:spcPct val="120000"/>
              </a:lnSpc>
              <a:buNone/>
            </a:pPr>
            <a:r>
              <a:rPr lang="en-US" sz="1200" b="1" dirty="0">
                <a:solidFill>
                  <a:srgbClr val="FFFFFF"/>
                </a:solidFill>
                <a:latin typeface="Arial" pitchFamily="34" charset="0"/>
                <a:ea typeface="Arial" pitchFamily="34" charset="-122"/>
                <a:cs typeface="Arial" pitchFamily="34" charset="-120"/>
              </a:rPr>
              <a:t>Phone call conversions in 2025, up 314% from 154</a:t>
            </a:r>
            <a:endParaRPr lang="en-US" sz="1200" dirty="0"/>
          </a:p>
        </p:txBody>
      </p:sp>
      <p:sp>
        <p:nvSpPr>
          <p:cNvPr id="10" name="role:figure"/>
          <p:cNvSpPr txBox="1"/>
          <p:nvPr/>
        </p:nvSpPr>
        <p:spPr>
          <a:xfrm>
            <a:off x="713232"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+37%</a:t>
            </a:r>
            <a:endParaRPr lang="en-US" sz="3100" dirty="0"/>
          </a:p>
        </p:txBody>
      </p:sp>
      <p:sp>
        <p:nvSpPr>
          <p:cNvPr id="11" name="role:figure-label"/>
          <p:cNvSpPr txBox="1"/>
          <p:nvPr/>
        </p:nvSpPr>
        <p:spPr>
          <a:xfrm>
            <a:off x="713232"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Clicks</a:t>
            </a:r>
            <a:endParaRPr lang="en-US" sz="1200" dirty="0"/>
          </a:p>
        </p:txBody>
      </p:sp>
      <p:sp>
        <p:nvSpPr>
          <p:cNvPr id="12" name="role:figure-label"/>
          <p:cNvSpPr txBox="1"/>
          <p:nvPr/>
        </p:nvSpPr>
        <p:spPr>
          <a:xfrm>
            <a:off x="713232" y="39872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14,111 to 19,305</a:t>
            </a:r>
            <a:endParaRPr lang="en-US" sz="1050" dirty="0"/>
          </a:p>
        </p:txBody>
      </p:sp>
      <p:sp>
        <p:nvSpPr>
          <p:cNvPr id="13" name="role:rule-v"/>
          <p:cNvSpPr/>
          <p:nvPr/>
        </p:nvSpPr>
        <p:spPr>
          <a:xfrm>
            <a:off x="3166796" y="3200400"/>
            <a:ext cx="0" cy="1111504"/>
          </a:xfrm>
          <a:prstGeom prst="line">
            <a:avLst/>
          </a:prstGeom>
          <a:noFill/>
          <a:ln w="9525">
            <a:solidFill>
              <a:srgbClr val="E2EAF1"/>
            </a:solidFill>
            <a:prstDash val="solid"/>
          </a:ln>
        </p:spPr>
      </p:sp>
      <p:sp>
        <p:nvSpPr>
          <p:cNvPr id="14" name="role:figure"/>
          <p:cNvSpPr txBox="1"/>
          <p:nvPr/>
        </p:nvSpPr>
        <p:spPr>
          <a:xfrm>
            <a:off x="3404540"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3A455"/>
                </a:solidFill>
                <a:latin typeface="Arial" pitchFamily="34" charset="0"/>
                <a:ea typeface="Arial" pitchFamily="34" charset="-122"/>
                <a:cs typeface="Arial" pitchFamily="34" charset="-120"/>
              </a:rPr>
              <a:t>33.06%</a:t>
            </a:r>
            <a:endParaRPr lang="en-US" sz="3100" dirty="0"/>
          </a:p>
        </p:txBody>
      </p:sp>
      <p:sp>
        <p:nvSpPr>
          <p:cNvPr id="15" name="role:figure-label"/>
          <p:cNvSpPr txBox="1"/>
          <p:nvPr/>
        </p:nvSpPr>
        <p:spPr>
          <a:xfrm>
            <a:off x="3404540"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Call conversion rate</a:t>
            </a:r>
            <a:endParaRPr lang="en-US" sz="1200" dirty="0"/>
          </a:p>
        </p:txBody>
      </p:sp>
      <p:sp>
        <p:nvSpPr>
          <p:cNvPr id="16" name="role:figure-label"/>
          <p:cNvSpPr txBox="1"/>
          <p:nvPr/>
        </p:nvSpPr>
        <p:spPr>
          <a:xfrm>
            <a:off x="3404540" y="39872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Up from 10.91%</a:t>
            </a:r>
            <a:endParaRPr lang="en-US" sz="1050" dirty="0"/>
          </a:p>
        </p:txBody>
      </p:sp>
      <p:sp>
        <p:nvSpPr>
          <p:cNvPr id="17" name="role:rule-v"/>
          <p:cNvSpPr/>
          <p:nvPr/>
        </p:nvSpPr>
        <p:spPr>
          <a:xfrm>
            <a:off x="5858104" y="3200400"/>
            <a:ext cx="0" cy="1111504"/>
          </a:xfrm>
          <a:prstGeom prst="line">
            <a:avLst/>
          </a:prstGeom>
          <a:noFill/>
          <a:ln w="9525">
            <a:solidFill>
              <a:srgbClr val="E2EAF1"/>
            </a:solidFill>
            <a:prstDash val="solid"/>
          </a:ln>
        </p:spPr>
      </p:sp>
      <p:sp>
        <p:nvSpPr>
          <p:cNvPr id="18" name="role:figure"/>
          <p:cNvSpPr txBox="1"/>
          <p:nvPr/>
        </p:nvSpPr>
        <p:spPr>
          <a:xfrm>
            <a:off x="6095848"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$42.09</a:t>
            </a:r>
            <a:endParaRPr lang="en-US" sz="3100" dirty="0"/>
          </a:p>
        </p:txBody>
      </p:sp>
      <p:sp>
        <p:nvSpPr>
          <p:cNvPr id="19" name="role:figure-label"/>
          <p:cNvSpPr txBox="1"/>
          <p:nvPr/>
        </p:nvSpPr>
        <p:spPr>
          <a:xfrm>
            <a:off x="6095848"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Cost per conversion</a:t>
            </a:r>
            <a:endParaRPr lang="en-US" sz="1200" dirty="0"/>
          </a:p>
        </p:txBody>
      </p:sp>
      <p:sp>
        <p:nvSpPr>
          <p:cNvPr id="20" name="role:figure-label"/>
          <p:cNvSpPr txBox="1"/>
          <p:nvPr/>
        </p:nvSpPr>
        <p:spPr>
          <a:xfrm>
            <a:off x="6095848" y="39872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Up from $13.27</a:t>
            </a:r>
            <a:endParaRPr lang="en-US" sz="1050" dirty="0"/>
          </a:p>
        </p:txBody>
      </p:sp>
      <p:sp>
        <p:nvSpPr>
          <p:cNvPr id="21" name="role:rule-v"/>
          <p:cNvSpPr/>
          <p:nvPr/>
        </p:nvSpPr>
        <p:spPr>
          <a:xfrm>
            <a:off x="8549411" y="3200400"/>
            <a:ext cx="0" cy="1111504"/>
          </a:xfrm>
          <a:prstGeom prst="line">
            <a:avLst/>
          </a:prstGeom>
          <a:noFill/>
          <a:ln w="9525">
            <a:solidFill>
              <a:srgbClr val="E2EAF1"/>
            </a:solidFill>
            <a:prstDash val="solid"/>
          </a:ln>
        </p:spPr>
      </p:sp>
      <p:sp>
        <p:nvSpPr>
          <p:cNvPr id="22" name="role:figure"/>
          <p:cNvSpPr txBox="1"/>
          <p:nvPr/>
        </p:nvSpPr>
        <p:spPr>
          <a:xfrm>
            <a:off x="8787155"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10.37%</a:t>
            </a:r>
            <a:endParaRPr lang="en-US" sz="3100" dirty="0"/>
          </a:p>
        </p:txBody>
      </p:sp>
      <p:sp>
        <p:nvSpPr>
          <p:cNvPr id="23" name="role:figure-label"/>
          <p:cNvSpPr txBox="1"/>
          <p:nvPr/>
        </p:nvSpPr>
        <p:spPr>
          <a:xfrm>
            <a:off x="8787155" y="3685540"/>
            <a:ext cx="2179244" cy="23774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Search impression share</a:t>
            </a:r>
            <a:endParaRPr lang="en-US" sz="1200" dirty="0"/>
          </a:p>
        </p:txBody>
      </p:sp>
      <p:sp>
        <p:nvSpPr>
          <p:cNvPr id="24" name="role:figure-label"/>
          <p:cNvSpPr txBox="1"/>
          <p:nvPr/>
        </p:nvSpPr>
        <p:spPr>
          <a:xfrm>
            <a:off x="8787155" y="398729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2025</a:t>
            </a:r>
            <a:endParaRPr lang="en-US" sz="1050" dirty="0"/>
          </a:p>
        </p:txBody>
      </p:sp>
      <p:sp>
        <p:nvSpPr>
          <p:cNvPr id="25" name="role:rule-h"/>
          <p:cNvSpPr/>
          <p:nvPr/>
        </p:nvSpPr>
        <p:spPr>
          <a:xfrm>
            <a:off x="713232" y="4257040"/>
            <a:ext cx="10765231" cy="0"/>
          </a:xfrm>
          <a:prstGeom prst="line">
            <a:avLst/>
          </a:prstGeom>
          <a:noFill/>
          <a:ln w="9525">
            <a:solidFill>
              <a:srgbClr val="E2EAF1"/>
            </a:solidFill>
            <a:prstDash val="solid"/>
          </a:ln>
        </p:spPr>
      </p:sp>
      <p:sp>
        <p:nvSpPr>
          <p:cNvPr id="26" name="role:kicker"/>
          <p:cNvSpPr txBox="1"/>
          <p:nvPr/>
        </p:nvSpPr>
        <p:spPr>
          <a:xfrm>
            <a:off x="713232" y="443992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BEFORE</a:t>
            </a:r>
            <a:endParaRPr lang="en-US" sz="1050" dirty="0"/>
          </a:p>
        </p:txBody>
      </p:sp>
      <p:sp>
        <p:nvSpPr>
          <p:cNvPr id="27" name="role:body"/>
          <p:cNvSpPr txBox="1"/>
          <p:nvPr/>
        </p:nvSpPr>
        <p:spPr>
          <a:xfrm>
            <a:off x="713232" y="476910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Cheap conversions that were not calls</a:t>
            </a:r>
            <a:endParaRPr lang="en-US" sz="1700" dirty="0"/>
          </a:p>
        </p:txBody>
      </p:sp>
      <p:sp>
        <p:nvSpPr>
          <p:cNvPr id="28" name="Text 24"/>
          <p:cNvSpPr txBox="1"/>
          <p:nvPr/>
        </p:nvSpPr>
        <p:spPr>
          <a:xfrm>
            <a:off x="71323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Phone calls were not consistently the goal</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Budget pacing drifted and wasted spend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Too many campaigns slowed optimization</a:t>
            </a:r>
            <a:endParaRPr lang="en-US" sz="1150" dirty="0"/>
          </a:p>
        </p:txBody>
      </p:sp>
      <p:sp>
        <p:nvSpPr>
          <p:cNvPr id="29" name="role:kicker"/>
          <p:cNvSpPr txBox="1"/>
          <p:nvPr/>
        </p:nvSpPr>
        <p:spPr>
          <a:xfrm>
            <a:off x="6379312" y="443992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WHAT CHANGED</a:t>
            </a:r>
            <a:endParaRPr lang="en-US" sz="1050" dirty="0"/>
          </a:p>
        </p:txBody>
      </p:sp>
      <p:sp>
        <p:nvSpPr>
          <p:cNvPr id="30" name="role:body"/>
          <p:cNvSpPr txBox="1"/>
          <p:nvPr/>
        </p:nvSpPr>
        <p:spPr>
          <a:xfrm>
            <a:off x="6379312" y="476910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One KPI, defended every week</a:t>
            </a:r>
            <a:endParaRPr lang="en-US" sz="1700" dirty="0"/>
          </a:p>
        </p:txBody>
      </p:sp>
      <p:sp>
        <p:nvSpPr>
          <p:cNvPr id="31" name="Text 27"/>
          <p:cNvSpPr txBox="1"/>
          <p:nvPr/>
        </p:nvSpPr>
        <p:spPr>
          <a:xfrm>
            <a:off x="637931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Calls set as the main conversion, quality checked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Spend shifted to winners, weak campaigns paused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Search terms reviewed often, negatives added</a:t>
            </a:r>
            <a:endParaRPr lang="en-US" sz="1150" dirty="0"/>
          </a:p>
        </p:txBody>
      </p:sp>
      <p:sp>
        <p:nvSpPr>
          <p:cNvPr id="32" name="role:body"/>
          <p:cNvSpPr txBox="1"/>
          <p:nvPr/>
        </p:nvSpPr>
        <p:spPr>
          <a:xfrm>
            <a:off x="713232" y="6291072"/>
            <a:ext cx="9942271" cy="329184"/>
          </a:xfrm>
          <a:prstGeom prst="rect">
            <a:avLst/>
          </a:prstGeom>
          <a:noFill/>
          <a:ln/>
        </p:spPr>
        <p:txBody>
          <a:bodyPr wrap="square" lIns="0" tIns="0" rIns="0" bIns="0" rtlCol="0" anchor="t"/>
          <a:lstStyle/>
          <a:p>
            <a:pPr algn="l" indent="0" marL="0">
              <a:lnSpc>
                <a:spcPct val="120000"/>
              </a:lnSpc>
              <a:buNone/>
            </a:pPr>
            <a:r>
              <a:rPr lang="en-US" sz="950" i="1" dirty="0">
                <a:solidFill>
                  <a:srgbClr val="5A6772"/>
                </a:solidFill>
                <a:latin typeface="Arial" pitchFamily="34" charset="0"/>
                <a:ea typeface="Arial" pitchFamily="34" charset="-122"/>
                <a:cs typeface="Arial" pitchFamily="34" charset="-120"/>
              </a:rPr>
              <a:t>Cost per conversion rose on purpose. The account stopped buying cheap non call conversions, so call volume more than quadrupled.</a:t>
            </a:r>
            <a:endParaRPr lang="en-US" sz="950" dirty="0"/>
          </a:p>
        </p:txBody>
      </p:sp>
      <p:sp>
        <p:nvSpPr>
          <p:cNvPr id="33"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15</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23" presetClass="entr" presetSubtype="0" fill="hold" grpId="0" nodeType="withEffect">
                                  <p:stCondLst>
                                    <p:cond delay="11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98" decel="70000"/>
                                        <p:tgtEl>
                                          <p:spTgt spid="8"/>
                                        </p:tgtEl>
                                      </p:cBhvr>
                                    </p:animEffect>
                                    <p:animScale>
                                      <p:cBhvr>
                                        <p:cTn id="25" dur="598" decel="70000" fill="hold"/>
                                        <p:tgtEl>
                                          <p:spTgt spid="8"/>
                                        </p:tgtEl>
                                      </p:cBhvr>
                                      <p:from x="78000" y="78000"/>
                                      <p:to x="100000" y="100000"/>
                                    </p:animScale>
                                  </p:childTnLst>
                                </p:cTn>
                              </p:par>
                              <p:par>
                                <p:cTn id="26" presetID="10" presetClass="entr" presetSubtype="0" fill="hold" grpId="0" nodeType="withEffect">
                                  <p:stCondLst>
                                    <p:cond delay="165"/>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322" decel="70000"/>
                                        <p:tgtEl>
                                          <p:spTgt spid="7"/>
                                        </p:tgtEl>
                                      </p:cBhvr>
                                    </p:animEffect>
                                  </p:childTnLst>
                                </p:cTn>
                              </p:par>
                              <p:par>
                                <p:cTn id="29" presetID="10" presetClass="entr" presetSubtype="0" fill="hold" grpId="0" nodeType="withEffect">
                                  <p:stCondLst>
                                    <p:cond delay="22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99" decel="70000"/>
                                        <p:tgtEl>
                                          <p:spTgt spid="9"/>
                                        </p:tgtEl>
                                      </p:cBhvr>
                                    </p:animEffect>
                                  </p:childTnLst>
                                </p:cTn>
                              </p:par>
                              <p:par>
                                <p:cTn id="32" presetID="23" presetClass="entr" presetSubtype="0" fill="hold" grpId="0" nodeType="withEffect">
                                  <p:stCondLst>
                                    <p:cond delay="275"/>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82" decel="70000"/>
                                        <p:tgtEl>
                                          <p:spTgt spid="10"/>
                                        </p:tgtEl>
                                      </p:cBhvr>
                                    </p:animEffect>
                                    <p:animScale>
                                      <p:cBhvr>
                                        <p:cTn id="35" dur="482" decel="70000" fill="hold"/>
                                        <p:tgtEl>
                                          <p:spTgt spid="10"/>
                                        </p:tgtEl>
                                      </p:cBhvr>
                                      <p:from x="82000" y="82000"/>
                                      <p:to x="100000" y="100000"/>
                                    </p:animScale>
                                  </p:childTnLst>
                                </p:cTn>
                              </p:par>
                              <p:par>
                                <p:cTn id="36" presetID="22" presetClass="entr" presetSubtype="1" fill="hold" grpId="0" nodeType="withEffect">
                                  <p:stCondLst>
                                    <p:cond delay="33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390"/>
                                        <p:tgtEl>
                                          <p:spTgt spid="13"/>
                                        </p:tgtEl>
                                      </p:cBhvr>
                                    </p:animEffect>
                                  </p:childTnLst>
                                </p:cTn>
                              </p:par>
                              <p:par>
                                <p:cTn id="39" presetID="23" presetClass="entr" presetSubtype="0" fill="hold" grpId="0" nodeType="withEffect">
                                  <p:stCondLst>
                                    <p:cond delay="385"/>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82" decel="70000"/>
                                        <p:tgtEl>
                                          <p:spTgt spid="14"/>
                                        </p:tgtEl>
                                      </p:cBhvr>
                                    </p:animEffect>
                                    <p:animScale>
                                      <p:cBhvr>
                                        <p:cTn id="42" dur="482" decel="70000" fill="hold"/>
                                        <p:tgtEl>
                                          <p:spTgt spid="14"/>
                                        </p:tgtEl>
                                      </p:cBhvr>
                                      <p:from x="82000" y="82000"/>
                                      <p:to x="100000" y="100000"/>
                                    </p:animScale>
                                  </p:childTnLst>
                                </p:cTn>
                              </p:par>
                              <p:par>
                                <p:cTn id="43" presetID="22" presetClass="entr" presetSubtype="1" fill="hold" grpId="0" nodeType="withEffect">
                                  <p:stCondLst>
                                    <p:cond delay="440"/>
                                  </p:stCondLst>
                                  <p:childTnLst>
                                    <p:set>
                                      <p:cBhvr>
                                        <p:cTn id="44" dur="1" fill="hold">
                                          <p:stCondLst>
                                            <p:cond delay="0"/>
                                          </p:stCondLst>
                                        </p:cTn>
                                        <p:tgtEl>
                                          <p:spTgt spid="17"/>
                                        </p:tgtEl>
                                        <p:attrNameLst>
                                          <p:attrName>style.visibility</p:attrName>
                                        </p:attrNameLst>
                                      </p:cBhvr>
                                      <p:to>
                                        <p:strVal val="visible"/>
                                      </p:to>
                                    </p:set>
                                    <p:animEffect transition="in" filter="wipe(down)">
                                      <p:cBhvr>
                                        <p:cTn id="45" dur="390"/>
                                        <p:tgtEl>
                                          <p:spTgt spid="17"/>
                                        </p:tgtEl>
                                      </p:cBhvr>
                                    </p:animEffect>
                                  </p:childTnLst>
                                </p:cTn>
                              </p:par>
                              <p:par>
                                <p:cTn id="46" presetID="23" presetClass="entr" presetSubtype="0" fill="hold" grpId="0" nodeType="withEffect">
                                  <p:stCondLst>
                                    <p:cond delay="495"/>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82" decel="70000"/>
                                        <p:tgtEl>
                                          <p:spTgt spid="18"/>
                                        </p:tgtEl>
                                      </p:cBhvr>
                                    </p:animEffect>
                                    <p:animScale>
                                      <p:cBhvr>
                                        <p:cTn id="49" dur="482" decel="70000" fill="hold"/>
                                        <p:tgtEl>
                                          <p:spTgt spid="18"/>
                                        </p:tgtEl>
                                      </p:cBhvr>
                                      <p:from x="82000" y="82000"/>
                                      <p:to x="100000" y="100000"/>
                                    </p:animScale>
                                  </p:childTnLst>
                                </p:cTn>
                              </p:par>
                              <p:par>
                                <p:cTn id="50" presetID="22" presetClass="entr" presetSubtype="1" fill="hold" grpId="0" nodeType="withEffect">
                                  <p:stCondLst>
                                    <p:cond delay="550"/>
                                  </p:stCondLst>
                                  <p:childTnLst>
                                    <p:set>
                                      <p:cBhvr>
                                        <p:cTn id="51" dur="1" fill="hold">
                                          <p:stCondLst>
                                            <p:cond delay="0"/>
                                          </p:stCondLst>
                                        </p:cTn>
                                        <p:tgtEl>
                                          <p:spTgt spid="21"/>
                                        </p:tgtEl>
                                        <p:attrNameLst>
                                          <p:attrName>style.visibility</p:attrName>
                                        </p:attrNameLst>
                                      </p:cBhvr>
                                      <p:to>
                                        <p:strVal val="visible"/>
                                      </p:to>
                                    </p:set>
                                    <p:animEffect transition="in" filter="wipe(down)">
                                      <p:cBhvr>
                                        <p:cTn id="52" dur="390"/>
                                        <p:tgtEl>
                                          <p:spTgt spid="21"/>
                                        </p:tgtEl>
                                      </p:cBhvr>
                                    </p:animEffect>
                                  </p:childTnLst>
                                </p:cTn>
                              </p:par>
                              <p:par>
                                <p:cTn id="53" presetID="23" presetClass="entr" presetSubtype="0" fill="hold" grpId="0" nodeType="withEffect">
                                  <p:stCondLst>
                                    <p:cond delay="605"/>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82" decel="70000"/>
                                        <p:tgtEl>
                                          <p:spTgt spid="22"/>
                                        </p:tgtEl>
                                      </p:cBhvr>
                                    </p:animEffect>
                                    <p:animScale>
                                      <p:cBhvr>
                                        <p:cTn id="56" dur="482" decel="70000" fill="hold"/>
                                        <p:tgtEl>
                                          <p:spTgt spid="22"/>
                                        </p:tgtEl>
                                      </p:cBhvr>
                                      <p:from x="82000" y="82000"/>
                                      <p:to x="100000" y="100000"/>
                                    </p:animScale>
                                  </p:childTnLst>
                                </p:cTn>
                              </p:par>
                              <p:par>
                                <p:cTn id="57" presetID="10" presetClass="entr" presetSubtype="0" fill="hold" grpId="0" nodeType="withEffect">
                                  <p:stCondLst>
                                    <p:cond delay="66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299" decel="70000"/>
                                        <p:tgtEl>
                                          <p:spTgt spid="11"/>
                                        </p:tgtEl>
                                      </p:cBhvr>
                                    </p:animEffect>
                                  </p:childTnLst>
                                </p:cTn>
                              </p:par>
                              <p:par>
                                <p:cTn id="60" presetID="10" presetClass="entr" presetSubtype="0" fill="hold" grpId="0" nodeType="withEffect">
                                  <p:stCondLst>
                                    <p:cond delay="715"/>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299" decel="70000"/>
                                        <p:tgtEl>
                                          <p:spTgt spid="15"/>
                                        </p:tgtEl>
                                      </p:cBhvr>
                                    </p:animEffect>
                                  </p:childTnLst>
                                </p:cTn>
                              </p:par>
                              <p:par>
                                <p:cTn id="63" presetID="10" presetClass="entr" presetSubtype="0" fill="hold" grpId="0" nodeType="withEffect">
                                  <p:stCondLst>
                                    <p:cond delay="77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299" decel="70000"/>
                                        <p:tgtEl>
                                          <p:spTgt spid="19"/>
                                        </p:tgtEl>
                                      </p:cBhvr>
                                    </p:animEffect>
                                  </p:childTnLst>
                                </p:cTn>
                              </p:par>
                              <p:par>
                                <p:cTn id="66" presetID="10" presetClass="entr" presetSubtype="0" fill="hold" grpId="0" nodeType="withEffect">
                                  <p:stCondLst>
                                    <p:cond delay="825"/>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299" decel="70000"/>
                                        <p:tgtEl>
                                          <p:spTgt spid="23"/>
                                        </p:tgtEl>
                                      </p:cBhvr>
                                    </p:animEffect>
                                  </p:childTnLst>
                                </p:cTn>
                              </p:par>
                              <p:par>
                                <p:cTn id="69" presetID="10" presetClass="entr" presetSubtype="0" fill="hold" grpId="0" nodeType="withEffect">
                                  <p:stCondLst>
                                    <p:cond delay="8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299" decel="70000"/>
                                        <p:tgtEl>
                                          <p:spTgt spid="12"/>
                                        </p:tgtEl>
                                      </p:cBhvr>
                                    </p:animEffect>
                                  </p:childTnLst>
                                </p:cTn>
                              </p:par>
                              <p:par>
                                <p:cTn id="72" presetID="10" presetClass="entr" presetSubtype="0" fill="hold" grpId="0" nodeType="withEffect">
                                  <p:stCondLst>
                                    <p:cond delay="935"/>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299" decel="70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ole:panel-top"/>
          <p:cNvSpPr/>
          <p:nvPr/>
        </p:nvSpPr>
        <p:spPr>
          <a:xfrm>
            <a:off x="0" y="0"/>
            <a:ext cx="12191695" cy="2889504"/>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8732520" y="-1188720"/>
            <a:ext cx="4389120" cy="5206548"/>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502920"/>
            <a:ext cx="1371600" cy="294904"/>
          </a:xfrm>
          <a:prstGeom prst="rect">
            <a:avLst/>
          </a:prstGeom>
        </p:spPr>
      </p:pic>
      <p:sp>
        <p:nvSpPr>
          <p:cNvPr id="5" name="role:kicker"/>
          <p:cNvSpPr txBox="1"/>
          <p:nvPr/>
        </p:nvSpPr>
        <p:spPr>
          <a:xfrm>
            <a:off x="713232" y="548640"/>
            <a:ext cx="548640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role:title"/>
          <p:cNvSpPr txBox="1"/>
          <p:nvPr/>
        </p:nvSpPr>
        <p:spPr>
          <a:xfrm>
            <a:off x="713232" y="877824"/>
            <a:ext cx="5943600" cy="944880"/>
          </a:xfrm>
          <a:prstGeom prst="rect">
            <a:avLst/>
          </a:prstGeom>
          <a:noFill/>
          <a:ln/>
        </p:spPr>
        <p:txBody>
          <a:bodyPr wrap="square" lIns="0" tIns="0" rIns="0" bIns="0" rtlCol="0" anchor="t"/>
          <a:lstStyle/>
          <a:p>
            <a:pPr algn="l" indent="0" marL="0">
              <a:lnSpc>
                <a:spcPct val="102000"/>
              </a:lnSpc>
              <a:buNone/>
            </a:pPr>
            <a:r>
              <a:rPr lang="en-US" sz="3400" b="1" dirty="0">
                <a:solidFill>
                  <a:srgbClr val="FFFFFF"/>
                </a:solidFill>
                <a:latin typeface="Arial" pitchFamily="34" charset="0"/>
                <a:ea typeface="Arial" pitchFamily="34" charset="-122"/>
                <a:cs typeface="Arial" pitchFamily="34" charset="-120"/>
              </a:rPr>
              <a:t>Bedford Corporate</a:t>
            </a:r>
            <a:endParaRPr lang="en-US" sz="3400" dirty="0"/>
          </a:p>
          <a:p>
            <a:pPr algn="l" indent="0" marL="0">
              <a:lnSpc>
                <a:spcPct val="102000"/>
              </a:lnSpc>
              <a:buNone/>
            </a:pPr>
            <a:r>
              <a:rPr lang="en-US" sz="3400" b="1" dirty="0">
                <a:solidFill>
                  <a:srgbClr val="FFFFFF"/>
                </a:solidFill>
                <a:latin typeface="Arial" pitchFamily="34" charset="0"/>
                <a:ea typeface="Arial" pitchFamily="34" charset="-122"/>
                <a:cs typeface="Arial" pitchFamily="34" charset="-120"/>
              </a:rPr>
              <a:t>Housing</a:t>
            </a:r>
            <a:endParaRPr lang="en-US" sz="3400" dirty="0"/>
          </a:p>
        </p:txBody>
      </p:sp>
      <p:sp>
        <p:nvSpPr>
          <p:cNvPr id="7" name="role:body"/>
          <p:cNvSpPr txBox="1"/>
          <p:nvPr/>
        </p:nvSpPr>
        <p:spPr>
          <a:xfrm>
            <a:off x="713232" y="1950720"/>
            <a:ext cx="5760720" cy="664083"/>
          </a:xfrm>
          <a:prstGeom prst="rect">
            <a:avLst/>
          </a:prstGeom>
          <a:noFill/>
          <a:ln/>
        </p:spPr>
        <p:txBody>
          <a:bodyPr wrap="square" lIns="0" tIns="0" rIns="0" bIns="0" rtlCol="0" anchor="t"/>
          <a:lstStyle/>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Corporate housing, Los Angeles</a:t>
            </a:r>
            <a:endParaRPr lang="en-US" sz="1250" dirty="0"/>
          </a:p>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Google Ads rebuilt around qualified form fills, plus SEO from a standing start</a:t>
            </a:r>
            <a:endParaRPr lang="en-US" sz="1250" dirty="0"/>
          </a:p>
        </p:txBody>
      </p:sp>
      <p:sp>
        <p:nvSpPr>
          <p:cNvPr id="8" name="role:hero"/>
          <p:cNvSpPr txBox="1"/>
          <p:nvPr/>
        </p:nvSpPr>
        <p:spPr>
          <a:xfrm>
            <a:off x="6583680" y="1060704"/>
            <a:ext cx="4892040" cy="1133856"/>
          </a:xfrm>
          <a:prstGeom prst="rect">
            <a:avLst/>
          </a:prstGeom>
          <a:noFill/>
          <a:ln/>
        </p:spPr>
        <p:txBody>
          <a:bodyPr wrap="square" lIns="0" tIns="0" rIns="0" bIns="0" rtlCol="0" anchor="t"/>
          <a:lstStyle/>
          <a:p>
            <a:pPr algn="r" indent="0" marL="0">
              <a:lnSpc>
                <a:spcPct val="95000"/>
              </a:lnSpc>
              <a:buNone/>
            </a:pPr>
            <a:r>
              <a:rPr lang="en-US" sz="9200" b="1" dirty="0">
                <a:solidFill>
                  <a:srgbClr val="5AA7E0"/>
                </a:solidFill>
                <a:latin typeface="Arial" pitchFamily="34" charset="0"/>
                <a:ea typeface="Arial" pitchFamily="34" charset="-122"/>
                <a:cs typeface="Arial" pitchFamily="34" charset="-120"/>
              </a:rPr>
              <a:t>1,130</a:t>
            </a:r>
            <a:endParaRPr lang="en-US" sz="9200" dirty="0"/>
          </a:p>
        </p:txBody>
      </p:sp>
      <p:sp>
        <p:nvSpPr>
          <p:cNvPr id="9" name="role:figure-label"/>
          <p:cNvSpPr txBox="1"/>
          <p:nvPr/>
        </p:nvSpPr>
        <p:spPr>
          <a:xfrm>
            <a:off x="6583680" y="2231136"/>
            <a:ext cx="4892040" cy="246888"/>
          </a:xfrm>
          <a:prstGeom prst="rect">
            <a:avLst/>
          </a:prstGeom>
          <a:noFill/>
          <a:ln/>
        </p:spPr>
        <p:txBody>
          <a:bodyPr wrap="square" lIns="0" tIns="0" rIns="0" bIns="0" rtlCol="0" anchor="t"/>
          <a:lstStyle/>
          <a:p>
            <a:pPr algn="r" indent="0" marL="0">
              <a:lnSpc>
                <a:spcPct val="120000"/>
              </a:lnSpc>
              <a:buNone/>
            </a:pPr>
            <a:r>
              <a:rPr lang="en-US" sz="1200" b="1" dirty="0">
                <a:solidFill>
                  <a:srgbClr val="FFFFFF"/>
                </a:solidFill>
                <a:latin typeface="Arial" pitchFamily="34" charset="0"/>
                <a:ea typeface="Arial" pitchFamily="34" charset="-122"/>
                <a:cs typeface="Arial" pitchFamily="34" charset="-120"/>
              </a:rPr>
              <a:t>Form conversions on $44K of ad spend</a:t>
            </a:r>
            <a:endParaRPr lang="en-US" sz="1200" dirty="0"/>
          </a:p>
        </p:txBody>
      </p:sp>
      <p:sp>
        <p:nvSpPr>
          <p:cNvPr id="10" name="role:figure"/>
          <p:cNvSpPr txBox="1"/>
          <p:nvPr/>
        </p:nvSpPr>
        <p:spPr>
          <a:xfrm>
            <a:off x="713232"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3A455"/>
                </a:solidFill>
                <a:latin typeface="Arial" pitchFamily="34" charset="0"/>
                <a:ea typeface="Arial" pitchFamily="34" charset="-122"/>
                <a:cs typeface="Arial" pitchFamily="34" charset="-120"/>
              </a:rPr>
              <a:t>$38.88</a:t>
            </a:r>
            <a:endParaRPr lang="en-US" sz="3100" dirty="0"/>
          </a:p>
        </p:txBody>
      </p:sp>
      <p:sp>
        <p:nvSpPr>
          <p:cNvPr id="11" name="role:figure-label"/>
          <p:cNvSpPr txBox="1"/>
          <p:nvPr/>
        </p:nvSpPr>
        <p:spPr>
          <a:xfrm>
            <a:off x="713232"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Average cost per lead</a:t>
            </a:r>
            <a:endParaRPr lang="en-US" sz="1200" dirty="0"/>
          </a:p>
        </p:txBody>
      </p:sp>
      <p:sp>
        <p:nvSpPr>
          <p:cNvPr id="12" name="role:figure-label"/>
          <p:cNvSpPr txBox="1"/>
          <p:nvPr/>
        </p:nvSpPr>
        <p:spPr>
          <a:xfrm>
            <a:off x="713232"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About $25 since Aug 2025</a:t>
            </a:r>
            <a:endParaRPr lang="en-US" sz="1050" dirty="0"/>
          </a:p>
        </p:txBody>
      </p:sp>
      <p:sp>
        <p:nvSpPr>
          <p:cNvPr id="13" name="role:rule-v"/>
          <p:cNvSpPr/>
          <p:nvPr/>
        </p:nvSpPr>
        <p:spPr>
          <a:xfrm>
            <a:off x="3166796" y="3200400"/>
            <a:ext cx="0" cy="1294384"/>
          </a:xfrm>
          <a:prstGeom prst="line">
            <a:avLst/>
          </a:prstGeom>
          <a:noFill/>
          <a:ln w="9525">
            <a:solidFill>
              <a:srgbClr val="E2EAF1"/>
            </a:solidFill>
            <a:prstDash val="solid"/>
          </a:ln>
        </p:spPr>
      </p:sp>
      <p:sp>
        <p:nvSpPr>
          <p:cNvPr id="14" name="role:figure"/>
          <p:cNvSpPr txBox="1"/>
          <p:nvPr/>
        </p:nvSpPr>
        <p:spPr>
          <a:xfrm>
            <a:off x="3404540"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10.12%</a:t>
            </a:r>
            <a:endParaRPr lang="en-US" sz="3100" dirty="0"/>
          </a:p>
        </p:txBody>
      </p:sp>
      <p:sp>
        <p:nvSpPr>
          <p:cNvPr id="15" name="role:figure-label"/>
          <p:cNvSpPr txBox="1"/>
          <p:nvPr/>
        </p:nvSpPr>
        <p:spPr>
          <a:xfrm>
            <a:off x="3404540"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Average click through rate</a:t>
            </a:r>
            <a:endParaRPr lang="en-US" sz="1200" dirty="0"/>
          </a:p>
        </p:txBody>
      </p:sp>
      <p:sp>
        <p:nvSpPr>
          <p:cNvPr id="16" name="role:rule-v"/>
          <p:cNvSpPr/>
          <p:nvPr/>
        </p:nvSpPr>
        <p:spPr>
          <a:xfrm>
            <a:off x="5858104" y="3200400"/>
            <a:ext cx="0" cy="1294384"/>
          </a:xfrm>
          <a:prstGeom prst="line">
            <a:avLst/>
          </a:prstGeom>
          <a:noFill/>
          <a:ln w="9525">
            <a:solidFill>
              <a:srgbClr val="E2EAF1"/>
            </a:solidFill>
            <a:prstDash val="solid"/>
          </a:ln>
        </p:spPr>
      </p:sp>
      <p:sp>
        <p:nvSpPr>
          <p:cNvPr id="17" name="role:figure"/>
          <p:cNvSpPr txBox="1"/>
          <p:nvPr/>
        </p:nvSpPr>
        <p:spPr>
          <a:xfrm>
            <a:off x="6095848"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137</a:t>
            </a:r>
            <a:endParaRPr lang="en-US" sz="3100" dirty="0"/>
          </a:p>
        </p:txBody>
      </p:sp>
      <p:sp>
        <p:nvSpPr>
          <p:cNvPr id="18" name="role:figure-label"/>
          <p:cNvSpPr txBox="1"/>
          <p:nvPr/>
        </p:nvSpPr>
        <p:spPr>
          <a:xfrm>
            <a:off x="6095848"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Leads in three weeks</a:t>
            </a:r>
            <a:endParaRPr lang="en-US" sz="1200" dirty="0"/>
          </a:p>
        </p:txBody>
      </p:sp>
      <p:sp>
        <p:nvSpPr>
          <p:cNvPr id="19" name="role:figure-label"/>
          <p:cNvSpPr txBox="1"/>
          <p:nvPr/>
        </p:nvSpPr>
        <p:spPr>
          <a:xfrm>
            <a:off x="6095848"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130 forms and 7 calls</a:t>
            </a:r>
            <a:endParaRPr lang="en-US" sz="1050" dirty="0"/>
          </a:p>
        </p:txBody>
      </p:sp>
      <p:sp>
        <p:nvSpPr>
          <p:cNvPr id="20" name="role:rule-v"/>
          <p:cNvSpPr/>
          <p:nvPr/>
        </p:nvSpPr>
        <p:spPr>
          <a:xfrm>
            <a:off x="8549411" y="3200400"/>
            <a:ext cx="0" cy="1294384"/>
          </a:xfrm>
          <a:prstGeom prst="line">
            <a:avLst/>
          </a:prstGeom>
          <a:noFill/>
          <a:ln w="9525">
            <a:solidFill>
              <a:srgbClr val="E2EAF1"/>
            </a:solidFill>
            <a:prstDash val="solid"/>
          </a:ln>
        </p:spPr>
      </p:sp>
      <p:sp>
        <p:nvSpPr>
          <p:cNvPr id="21" name="role:figure"/>
          <p:cNvSpPr txBox="1"/>
          <p:nvPr/>
        </p:nvSpPr>
        <p:spPr>
          <a:xfrm>
            <a:off x="8787155"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~80</a:t>
            </a:r>
            <a:endParaRPr lang="en-US" sz="3100" dirty="0"/>
          </a:p>
        </p:txBody>
      </p:sp>
      <p:sp>
        <p:nvSpPr>
          <p:cNvPr id="22" name="role:figure-label"/>
          <p:cNvSpPr txBox="1"/>
          <p:nvPr/>
        </p:nvSpPr>
        <p:spPr>
          <a:xfrm>
            <a:off x="8787155"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Forms per month</a:t>
            </a:r>
            <a:endParaRPr lang="en-US" sz="1200" dirty="0"/>
          </a:p>
        </p:txBody>
      </p:sp>
      <p:sp>
        <p:nvSpPr>
          <p:cNvPr id="23" name="role:figure-label"/>
          <p:cNvSpPr txBox="1"/>
          <p:nvPr/>
        </p:nvSpPr>
        <p:spPr>
          <a:xfrm>
            <a:off x="8787155"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Ongoing average</a:t>
            </a:r>
            <a:endParaRPr lang="en-US" sz="1050" dirty="0"/>
          </a:p>
        </p:txBody>
      </p:sp>
      <p:sp>
        <p:nvSpPr>
          <p:cNvPr id="24" name="role:rule-h"/>
          <p:cNvSpPr/>
          <p:nvPr/>
        </p:nvSpPr>
        <p:spPr>
          <a:xfrm>
            <a:off x="713232" y="4439920"/>
            <a:ext cx="10765231" cy="0"/>
          </a:xfrm>
          <a:prstGeom prst="line">
            <a:avLst/>
          </a:prstGeom>
          <a:noFill/>
          <a:ln w="9525">
            <a:solidFill>
              <a:srgbClr val="E2EAF1"/>
            </a:solidFill>
            <a:prstDash val="solid"/>
          </a:ln>
        </p:spPr>
      </p:sp>
      <p:sp>
        <p:nvSpPr>
          <p:cNvPr id="25" name="role:kicker"/>
          <p:cNvSpPr txBox="1"/>
          <p:nvPr/>
        </p:nvSpPr>
        <p:spPr>
          <a:xfrm>
            <a:off x="713232" y="462280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BEFORE</a:t>
            </a:r>
            <a:endParaRPr lang="en-US" sz="1050" dirty="0"/>
          </a:p>
        </p:txBody>
      </p:sp>
      <p:sp>
        <p:nvSpPr>
          <p:cNvPr id="26" name="role:body"/>
          <p:cNvSpPr txBox="1"/>
          <p:nvPr/>
        </p:nvSpPr>
        <p:spPr>
          <a:xfrm>
            <a:off x="713232" y="495198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Calls that were the wrong fit</a:t>
            </a:r>
            <a:endParaRPr lang="en-US" sz="1700" dirty="0"/>
          </a:p>
        </p:txBody>
      </p:sp>
      <p:sp>
        <p:nvSpPr>
          <p:cNvPr id="27" name="Text 23"/>
          <p:cNvSpPr txBox="1"/>
          <p:nvPr/>
        </p:nvSpPr>
        <p:spPr>
          <a:xfrm>
            <a:off x="71323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Built around calls on a $60 to $70 daily budget</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Lead quality and cost both unsatisfactory</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No rankings and no Google Maps local pack presence</a:t>
            </a:r>
            <a:endParaRPr lang="en-US" sz="1150" dirty="0"/>
          </a:p>
        </p:txBody>
      </p:sp>
      <p:sp>
        <p:nvSpPr>
          <p:cNvPr id="28" name="role:kicker"/>
          <p:cNvSpPr txBox="1"/>
          <p:nvPr/>
        </p:nvSpPr>
        <p:spPr>
          <a:xfrm>
            <a:off x="6379312" y="462280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WHAT CHANGED</a:t>
            </a:r>
            <a:endParaRPr lang="en-US" sz="1050" dirty="0"/>
          </a:p>
        </p:txBody>
      </p:sp>
      <p:sp>
        <p:nvSpPr>
          <p:cNvPr id="29" name="role:body"/>
          <p:cNvSpPr txBox="1"/>
          <p:nvPr/>
        </p:nvSpPr>
        <p:spPr>
          <a:xfrm>
            <a:off x="6379312" y="495198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Qualified forms, then scale</a:t>
            </a:r>
            <a:endParaRPr lang="en-US" sz="1700" dirty="0"/>
          </a:p>
        </p:txBody>
      </p:sp>
      <p:sp>
        <p:nvSpPr>
          <p:cNvPr id="30" name="Text 26"/>
          <p:cNvSpPr txBox="1"/>
          <p:nvPr/>
        </p:nvSpPr>
        <p:spPr>
          <a:xfrm>
            <a:off x="637931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Rebuilt for qualified form fills, with clean tracking</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Targeting tightened to Los Angeles high intent search</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48 paid and 48 organic leads in the same three weeks</a:t>
            </a:r>
            <a:endParaRPr lang="en-US" sz="1150" dirty="0"/>
          </a:p>
        </p:txBody>
      </p:sp>
      <p:sp>
        <p:nvSpPr>
          <p:cNvPr id="31"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16</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23" presetClass="entr" presetSubtype="0" fill="hold" grpId="0" nodeType="withEffect">
                                  <p:stCondLst>
                                    <p:cond delay="11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98" decel="70000"/>
                                        <p:tgtEl>
                                          <p:spTgt spid="8"/>
                                        </p:tgtEl>
                                      </p:cBhvr>
                                    </p:animEffect>
                                    <p:animScale>
                                      <p:cBhvr>
                                        <p:cTn id="25" dur="598" decel="70000" fill="hold"/>
                                        <p:tgtEl>
                                          <p:spTgt spid="8"/>
                                        </p:tgtEl>
                                      </p:cBhvr>
                                      <p:from x="78000" y="78000"/>
                                      <p:to x="100000" y="100000"/>
                                    </p:animScale>
                                  </p:childTnLst>
                                </p:cTn>
                              </p:par>
                              <p:par>
                                <p:cTn id="26" presetID="10" presetClass="entr" presetSubtype="0" fill="hold" grpId="0" nodeType="withEffect">
                                  <p:stCondLst>
                                    <p:cond delay="165"/>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322" decel="70000"/>
                                        <p:tgtEl>
                                          <p:spTgt spid="7"/>
                                        </p:tgtEl>
                                      </p:cBhvr>
                                    </p:animEffect>
                                  </p:childTnLst>
                                </p:cTn>
                              </p:par>
                              <p:par>
                                <p:cTn id="29" presetID="10" presetClass="entr" presetSubtype="0" fill="hold" grpId="0" nodeType="withEffect">
                                  <p:stCondLst>
                                    <p:cond delay="22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99" decel="70000"/>
                                        <p:tgtEl>
                                          <p:spTgt spid="9"/>
                                        </p:tgtEl>
                                      </p:cBhvr>
                                    </p:animEffect>
                                  </p:childTnLst>
                                </p:cTn>
                              </p:par>
                              <p:par>
                                <p:cTn id="32" presetID="23" presetClass="entr" presetSubtype="0" fill="hold" grpId="0" nodeType="withEffect">
                                  <p:stCondLst>
                                    <p:cond delay="275"/>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82" decel="70000"/>
                                        <p:tgtEl>
                                          <p:spTgt spid="10"/>
                                        </p:tgtEl>
                                      </p:cBhvr>
                                    </p:animEffect>
                                    <p:animScale>
                                      <p:cBhvr>
                                        <p:cTn id="35" dur="482" decel="70000" fill="hold"/>
                                        <p:tgtEl>
                                          <p:spTgt spid="10"/>
                                        </p:tgtEl>
                                      </p:cBhvr>
                                      <p:from x="82000" y="82000"/>
                                      <p:to x="100000" y="100000"/>
                                    </p:animScale>
                                  </p:childTnLst>
                                </p:cTn>
                              </p:par>
                              <p:par>
                                <p:cTn id="36" presetID="22" presetClass="entr" presetSubtype="1" fill="hold" grpId="0" nodeType="withEffect">
                                  <p:stCondLst>
                                    <p:cond delay="33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390"/>
                                        <p:tgtEl>
                                          <p:spTgt spid="13"/>
                                        </p:tgtEl>
                                      </p:cBhvr>
                                    </p:animEffect>
                                  </p:childTnLst>
                                </p:cTn>
                              </p:par>
                              <p:par>
                                <p:cTn id="39" presetID="23" presetClass="entr" presetSubtype="0" fill="hold" grpId="0" nodeType="withEffect">
                                  <p:stCondLst>
                                    <p:cond delay="385"/>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82" decel="70000"/>
                                        <p:tgtEl>
                                          <p:spTgt spid="14"/>
                                        </p:tgtEl>
                                      </p:cBhvr>
                                    </p:animEffect>
                                    <p:animScale>
                                      <p:cBhvr>
                                        <p:cTn id="42" dur="482" decel="70000" fill="hold"/>
                                        <p:tgtEl>
                                          <p:spTgt spid="14"/>
                                        </p:tgtEl>
                                      </p:cBhvr>
                                      <p:from x="82000" y="82000"/>
                                      <p:to x="100000" y="100000"/>
                                    </p:animScale>
                                  </p:childTnLst>
                                </p:cTn>
                              </p:par>
                              <p:par>
                                <p:cTn id="43" presetID="22" presetClass="entr" presetSubtype="1" fill="hold" grpId="0" nodeType="withEffect">
                                  <p:stCondLst>
                                    <p:cond delay="440"/>
                                  </p:stCondLst>
                                  <p:childTnLst>
                                    <p:set>
                                      <p:cBhvr>
                                        <p:cTn id="44" dur="1" fill="hold">
                                          <p:stCondLst>
                                            <p:cond delay="0"/>
                                          </p:stCondLst>
                                        </p:cTn>
                                        <p:tgtEl>
                                          <p:spTgt spid="16"/>
                                        </p:tgtEl>
                                        <p:attrNameLst>
                                          <p:attrName>style.visibility</p:attrName>
                                        </p:attrNameLst>
                                      </p:cBhvr>
                                      <p:to>
                                        <p:strVal val="visible"/>
                                      </p:to>
                                    </p:set>
                                    <p:animEffect transition="in" filter="wipe(down)">
                                      <p:cBhvr>
                                        <p:cTn id="45" dur="390"/>
                                        <p:tgtEl>
                                          <p:spTgt spid="16"/>
                                        </p:tgtEl>
                                      </p:cBhvr>
                                    </p:animEffect>
                                  </p:childTnLst>
                                </p:cTn>
                              </p:par>
                              <p:par>
                                <p:cTn id="46" presetID="23" presetClass="entr" presetSubtype="0" fill="hold" grpId="0" nodeType="withEffect">
                                  <p:stCondLst>
                                    <p:cond delay="495"/>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82" decel="70000"/>
                                        <p:tgtEl>
                                          <p:spTgt spid="17"/>
                                        </p:tgtEl>
                                      </p:cBhvr>
                                    </p:animEffect>
                                    <p:animScale>
                                      <p:cBhvr>
                                        <p:cTn id="49" dur="482" decel="70000" fill="hold"/>
                                        <p:tgtEl>
                                          <p:spTgt spid="17"/>
                                        </p:tgtEl>
                                      </p:cBhvr>
                                      <p:from x="82000" y="82000"/>
                                      <p:to x="100000" y="100000"/>
                                    </p:animScale>
                                  </p:childTnLst>
                                </p:cTn>
                              </p:par>
                              <p:par>
                                <p:cTn id="50" presetID="22" presetClass="entr" presetSubtype="1" fill="hold" grpId="0" nodeType="withEffect">
                                  <p:stCondLst>
                                    <p:cond delay="550"/>
                                  </p:stCondLst>
                                  <p:childTnLst>
                                    <p:set>
                                      <p:cBhvr>
                                        <p:cTn id="51" dur="1" fill="hold">
                                          <p:stCondLst>
                                            <p:cond delay="0"/>
                                          </p:stCondLst>
                                        </p:cTn>
                                        <p:tgtEl>
                                          <p:spTgt spid="20"/>
                                        </p:tgtEl>
                                        <p:attrNameLst>
                                          <p:attrName>style.visibility</p:attrName>
                                        </p:attrNameLst>
                                      </p:cBhvr>
                                      <p:to>
                                        <p:strVal val="visible"/>
                                      </p:to>
                                    </p:set>
                                    <p:animEffect transition="in" filter="wipe(down)">
                                      <p:cBhvr>
                                        <p:cTn id="52" dur="390"/>
                                        <p:tgtEl>
                                          <p:spTgt spid="20"/>
                                        </p:tgtEl>
                                      </p:cBhvr>
                                    </p:animEffect>
                                  </p:childTnLst>
                                </p:cTn>
                              </p:par>
                              <p:par>
                                <p:cTn id="53" presetID="23" presetClass="entr" presetSubtype="0" fill="hold" grpId="0" nodeType="withEffect">
                                  <p:stCondLst>
                                    <p:cond delay="605"/>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482" decel="70000"/>
                                        <p:tgtEl>
                                          <p:spTgt spid="21"/>
                                        </p:tgtEl>
                                      </p:cBhvr>
                                    </p:animEffect>
                                    <p:animScale>
                                      <p:cBhvr>
                                        <p:cTn id="56" dur="482" decel="70000" fill="hold"/>
                                        <p:tgtEl>
                                          <p:spTgt spid="21"/>
                                        </p:tgtEl>
                                      </p:cBhvr>
                                      <p:from x="82000" y="82000"/>
                                      <p:to x="100000" y="100000"/>
                                    </p:animScale>
                                  </p:childTnLst>
                                </p:cTn>
                              </p:par>
                              <p:par>
                                <p:cTn id="57" presetID="10" presetClass="entr" presetSubtype="0" fill="hold" grpId="0" nodeType="withEffect">
                                  <p:stCondLst>
                                    <p:cond delay="66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299" decel="70000"/>
                                        <p:tgtEl>
                                          <p:spTgt spid="11"/>
                                        </p:tgtEl>
                                      </p:cBhvr>
                                    </p:animEffect>
                                  </p:childTnLst>
                                </p:cTn>
                              </p:par>
                              <p:par>
                                <p:cTn id="60" presetID="10" presetClass="entr" presetSubtype="0" fill="hold" grpId="0" nodeType="withEffect">
                                  <p:stCondLst>
                                    <p:cond delay="715"/>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299" decel="70000"/>
                                        <p:tgtEl>
                                          <p:spTgt spid="15"/>
                                        </p:tgtEl>
                                      </p:cBhvr>
                                    </p:animEffect>
                                  </p:childTnLst>
                                </p:cTn>
                              </p:par>
                              <p:par>
                                <p:cTn id="63" presetID="10" presetClass="entr" presetSubtype="0" fill="hold" grpId="0" nodeType="withEffect">
                                  <p:stCondLst>
                                    <p:cond delay="77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299" decel="70000"/>
                                        <p:tgtEl>
                                          <p:spTgt spid="18"/>
                                        </p:tgtEl>
                                      </p:cBhvr>
                                    </p:animEffect>
                                  </p:childTnLst>
                                </p:cTn>
                              </p:par>
                              <p:par>
                                <p:cTn id="66" presetID="10" presetClass="entr" presetSubtype="0" fill="hold" grpId="0" nodeType="withEffect">
                                  <p:stCondLst>
                                    <p:cond delay="825"/>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299" decel="70000"/>
                                        <p:tgtEl>
                                          <p:spTgt spid="22"/>
                                        </p:tgtEl>
                                      </p:cBhvr>
                                    </p:animEffect>
                                  </p:childTnLst>
                                </p:cTn>
                              </p:par>
                              <p:par>
                                <p:cTn id="69" presetID="10" presetClass="entr" presetSubtype="0" fill="hold" grpId="0" nodeType="withEffect">
                                  <p:stCondLst>
                                    <p:cond delay="8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299" decel="70000"/>
                                        <p:tgtEl>
                                          <p:spTgt spid="12"/>
                                        </p:tgtEl>
                                      </p:cBhvr>
                                    </p:animEffect>
                                  </p:childTnLst>
                                </p:cTn>
                              </p:par>
                              <p:par>
                                <p:cTn id="72" presetID="10" presetClass="entr" presetSubtype="0" fill="hold" grpId="0" nodeType="withEffect">
                                  <p:stCondLst>
                                    <p:cond delay="935"/>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299" decel="70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role:panel-top"/>
          <p:cNvSpPr/>
          <p:nvPr/>
        </p:nvSpPr>
        <p:spPr>
          <a:xfrm>
            <a:off x="0" y="0"/>
            <a:ext cx="12191695" cy="2889504"/>
          </a:xfrm>
          <a:prstGeom prst="rect">
            <a:avLst/>
          </a:prstGeom>
          <a:solidFill>
            <a:srgbClr val="0A1825"/>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9000"/>
          </a:blip>
          <a:stretch>
            <a:fillRect/>
          </a:stretch>
        </p:blipFill>
        <p:spPr>
          <a:xfrm>
            <a:off x="8732520" y="-1188720"/>
            <a:ext cx="4389120" cy="5206548"/>
          </a:xfrm>
          <a:prstGeom prst="rect">
            <a:avLst/>
          </a:prstGeom>
        </p:spPr>
      </p:pic>
      <p:pic>
        <p:nvPicPr>
          <p:cNvPr id="4" name="role:logo" descr="Momentum Digital logo">    </p:cNvPr>
          <p:cNvPicPr>
            <a:picLocks noChangeAspect="1"/>
          </p:cNvPicPr>
          <p:nvPr/>
        </p:nvPicPr>
        <p:blipFill>
          <a:blip r:embed="rId2"/>
          <a:stretch>
            <a:fillRect/>
          </a:stretch>
        </p:blipFill>
        <p:spPr>
          <a:xfrm>
            <a:off x="10106863" y="502920"/>
            <a:ext cx="1371600" cy="294904"/>
          </a:xfrm>
          <a:prstGeom prst="rect">
            <a:avLst/>
          </a:prstGeom>
        </p:spPr>
      </p:pic>
      <p:sp>
        <p:nvSpPr>
          <p:cNvPr id="5" name="role:kicker"/>
          <p:cNvSpPr txBox="1"/>
          <p:nvPr/>
        </p:nvSpPr>
        <p:spPr>
          <a:xfrm>
            <a:off x="713232" y="548640"/>
            <a:ext cx="548640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role:title"/>
          <p:cNvSpPr txBox="1"/>
          <p:nvPr/>
        </p:nvSpPr>
        <p:spPr>
          <a:xfrm>
            <a:off x="713232" y="877824"/>
            <a:ext cx="5943600" cy="504444"/>
          </a:xfrm>
          <a:prstGeom prst="rect">
            <a:avLst/>
          </a:prstGeom>
          <a:noFill/>
          <a:ln/>
        </p:spPr>
        <p:txBody>
          <a:bodyPr wrap="square" lIns="0" tIns="0" rIns="0" bIns="0" rtlCol="0" anchor="t"/>
          <a:lstStyle/>
          <a:p>
            <a:pPr algn="l" indent="0" marL="0">
              <a:lnSpc>
                <a:spcPct val="102000"/>
              </a:lnSpc>
              <a:buNone/>
            </a:pPr>
            <a:r>
              <a:rPr lang="en-US" sz="3400" b="1" dirty="0">
                <a:solidFill>
                  <a:srgbClr val="FFFFFF"/>
                </a:solidFill>
                <a:latin typeface="Arial" pitchFamily="34" charset="0"/>
                <a:ea typeface="Arial" pitchFamily="34" charset="-122"/>
                <a:cs typeface="Arial" pitchFamily="34" charset="-120"/>
              </a:rPr>
              <a:t>Drip IV</a:t>
            </a:r>
            <a:endParaRPr lang="en-US" sz="3400" dirty="0"/>
          </a:p>
        </p:txBody>
      </p:sp>
      <p:sp>
        <p:nvSpPr>
          <p:cNvPr id="7" name="role:body"/>
          <p:cNvSpPr txBox="1"/>
          <p:nvPr/>
        </p:nvSpPr>
        <p:spPr>
          <a:xfrm>
            <a:off x="713232" y="1510284"/>
            <a:ext cx="5760720" cy="664083"/>
          </a:xfrm>
          <a:prstGeom prst="rect">
            <a:avLst/>
          </a:prstGeom>
          <a:noFill/>
          <a:ln/>
        </p:spPr>
        <p:txBody>
          <a:bodyPr wrap="square" lIns="0" tIns="0" rIns="0" bIns="0" rtlCol="0" anchor="t"/>
          <a:lstStyle/>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Med spa and IV lounge, Michigan and Florida</a:t>
            </a:r>
            <a:endParaRPr lang="en-US" sz="1250" dirty="0"/>
          </a:p>
          <a:p>
            <a:pPr algn="l" indent="0" marL="0">
              <a:lnSpc>
                <a:spcPct val="126000"/>
              </a:lnSpc>
              <a:buNone/>
            </a:pPr>
            <a:r>
              <a:rPr lang="en-US" sz="1250" dirty="0">
                <a:solidFill>
                  <a:srgbClr val="9DB5C8"/>
                </a:solidFill>
                <a:latin typeface="Arial" pitchFamily="34" charset="0"/>
                <a:ea typeface="Arial" pitchFamily="34" charset="-122"/>
                <a:cs typeface="Arial" pitchFamily="34" charset="-120"/>
              </a:rPr>
              <a:t>Website redesign, SEO and local SEO, citations, Meta Ads and Google Ads</a:t>
            </a:r>
            <a:endParaRPr lang="en-US" sz="1250" dirty="0"/>
          </a:p>
        </p:txBody>
      </p:sp>
      <p:sp>
        <p:nvSpPr>
          <p:cNvPr id="8" name="role:hero"/>
          <p:cNvSpPr txBox="1"/>
          <p:nvPr/>
        </p:nvSpPr>
        <p:spPr>
          <a:xfrm>
            <a:off x="6583680" y="1060704"/>
            <a:ext cx="4892040" cy="1133856"/>
          </a:xfrm>
          <a:prstGeom prst="rect">
            <a:avLst/>
          </a:prstGeom>
          <a:noFill/>
          <a:ln/>
        </p:spPr>
        <p:txBody>
          <a:bodyPr wrap="square" lIns="0" tIns="0" rIns="0" bIns="0" rtlCol="0" anchor="t"/>
          <a:lstStyle/>
          <a:p>
            <a:pPr algn="r" indent="0" marL="0">
              <a:lnSpc>
                <a:spcPct val="95000"/>
              </a:lnSpc>
              <a:buNone/>
            </a:pPr>
            <a:r>
              <a:rPr lang="en-US" sz="9200" b="1" dirty="0">
                <a:solidFill>
                  <a:srgbClr val="5AA7E0"/>
                </a:solidFill>
                <a:latin typeface="Arial" pitchFamily="34" charset="0"/>
                <a:ea typeface="Arial" pitchFamily="34" charset="-122"/>
                <a:cs typeface="Arial" pitchFamily="34" charset="-120"/>
              </a:rPr>
              <a:t>413</a:t>
            </a:r>
            <a:endParaRPr lang="en-US" sz="9200" dirty="0"/>
          </a:p>
        </p:txBody>
      </p:sp>
      <p:sp>
        <p:nvSpPr>
          <p:cNvPr id="9" name="role:figure-label"/>
          <p:cNvSpPr txBox="1"/>
          <p:nvPr/>
        </p:nvSpPr>
        <p:spPr>
          <a:xfrm>
            <a:off x="6583680" y="2231136"/>
            <a:ext cx="4892040" cy="429768"/>
          </a:xfrm>
          <a:prstGeom prst="rect">
            <a:avLst/>
          </a:prstGeom>
          <a:noFill/>
          <a:ln/>
        </p:spPr>
        <p:txBody>
          <a:bodyPr wrap="square" lIns="0" tIns="0" rIns="0" bIns="0" rtlCol="0" anchor="t"/>
          <a:lstStyle/>
          <a:p>
            <a:pPr algn="r" indent="0" marL="0">
              <a:lnSpc>
                <a:spcPct val="120000"/>
              </a:lnSpc>
              <a:buNone/>
            </a:pPr>
            <a:r>
              <a:rPr lang="en-US" sz="1200" b="1" dirty="0">
                <a:solidFill>
                  <a:srgbClr val="FFFFFF"/>
                </a:solidFill>
                <a:latin typeface="Arial" pitchFamily="34" charset="0"/>
                <a:ea typeface="Arial" pitchFamily="34" charset="-122"/>
                <a:cs typeface="Arial" pitchFamily="34" charset="-120"/>
              </a:rPr>
              <a:t>Booked calls from organic, Google Business Profile and paid</a:t>
            </a:r>
            <a:endParaRPr lang="en-US" sz="1200" dirty="0"/>
          </a:p>
        </p:txBody>
      </p:sp>
      <p:sp>
        <p:nvSpPr>
          <p:cNvPr id="10" name="role:figure"/>
          <p:cNvSpPr txBox="1"/>
          <p:nvPr/>
        </p:nvSpPr>
        <p:spPr>
          <a:xfrm>
            <a:off x="713232"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+933%</a:t>
            </a:r>
            <a:endParaRPr lang="en-US" sz="3100" dirty="0"/>
          </a:p>
        </p:txBody>
      </p:sp>
      <p:sp>
        <p:nvSpPr>
          <p:cNvPr id="11" name="role:figure-label"/>
          <p:cNvSpPr txBox="1"/>
          <p:nvPr/>
        </p:nvSpPr>
        <p:spPr>
          <a:xfrm>
            <a:off x="713232"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Organic sessions</a:t>
            </a:r>
            <a:endParaRPr lang="en-US" sz="1200" dirty="0"/>
          </a:p>
        </p:txBody>
      </p:sp>
      <p:sp>
        <p:nvSpPr>
          <p:cNvPr id="12" name="role:figure-label"/>
          <p:cNvSpPr txBox="1"/>
          <p:nvPr/>
        </p:nvSpPr>
        <p:spPr>
          <a:xfrm>
            <a:off x="713232"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Q1 2025</a:t>
            </a:r>
            <a:endParaRPr lang="en-US" sz="1050" dirty="0"/>
          </a:p>
        </p:txBody>
      </p:sp>
      <p:sp>
        <p:nvSpPr>
          <p:cNvPr id="13" name="role:rule-v"/>
          <p:cNvSpPr/>
          <p:nvPr/>
        </p:nvSpPr>
        <p:spPr>
          <a:xfrm>
            <a:off x="3166796" y="3200400"/>
            <a:ext cx="0" cy="1294384"/>
          </a:xfrm>
          <a:prstGeom prst="line">
            <a:avLst/>
          </a:prstGeom>
          <a:noFill/>
          <a:ln w="9525">
            <a:solidFill>
              <a:srgbClr val="E2EAF1"/>
            </a:solidFill>
            <a:prstDash val="solid"/>
          </a:ln>
        </p:spPr>
      </p:sp>
      <p:sp>
        <p:nvSpPr>
          <p:cNvPr id="14" name="role:figure"/>
          <p:cNvSpPr txBox="1"/>
          <p:nvPr/>
        </p:nvSpPr>
        <p:spPr>
          <a:xfrm>
            <a:off x="3404540"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3A455"/>
                </a:solidFill>
                <a:latin typeface="Arial" pitchFamily="34" charset="0"/>
                <a:ea typeface="Arial" pitchFamily="34" charset="-122"/>
                <a:cs typeface="Arial" pitchFamily="34" charset="-120"/>
              </a:rPr>
              <a:t>3.3x</a:t>
            </a:r>
            <a:endParaRPr lang="en-US" sz="3100" dirty="0"/>
          </a:p>
        </p:txBody>
      </p:sp>
      <p:sp>
        <p:nvSpPr>
          <p:cNvPr id="15" name="role:figure-label"/>
          <p:cNvSpPr txBox="1"/>
          <p:nvPr/>
        </p:nvSpPr>
        <p:spPr>
          <a:xfrm>
            <a:off x="3404540"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Google Ads return on ad spend</a:t>
            </a:r>
            <a:endParaRPr lang="en-US" sz="1200" dirty="0"/>
          </a:p>
        </p:txBody>
      </p:sp>
      <p:sp>
        <p:nvSpPr>
          <p:cNvPr id="16" name="role:figure-label"/>
          <p:cNvSpPr txBox="1"/>
          <p:nvPr/>
        </p:nvSpPr>
        <p:spPr>
          <a:xfrm>
            <a:off x="3404540"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2.07x blended</a:t>
            </a:r>
            <a:endParaRPr lang="en-US" sz="1050" dirty="0"/>
          </a:p>
        </p:txBody>
      </p:sp>
      <p:sp>
        <p:nvSpPr>
          <p:cNvPr id="17" name="role:rule-v"/>
          <p:cNvSpPr/>
          <p:nvPr/>
        </p:nvSpPr>
        <p:spPr>
          <a:xfrm>
            <a:off x="5858104" y="3200400"/>
            <a:ext cx="0" cy="1294384"/>
          </a:xfrm>
          <a:prstGeom prst="line">
            <a:avLst/>
          </a:prstGeom>
          <a:noFill/>
          <a:ln w="9525">
            <a:solidFill>
              <a:srgbClr val="E2EAF1"/>
            </a:solidFill>
            <a:prstDash val="solid"/>
          </a:ln>
        </p:spPr>
      </p:sp>
      <p:sp>
        <p:nvSpPr>
          <p:cNvPr id="18" name="role:figure"/>
          <p:cNvSpPr txBox="1"/>
          <p:nvPr/>
        </p:nvSpPr>
        <p:spPr>
          <a:xfrm>
            <a:off x="6095848"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3A455"/>
                </a:solidFill>
                <a:latin typeface="Arial" pitchFamily="34" charset="0"/>
                <a:ea typeface="Arial" pitchFamily="34" charset="-122"/>
                <a:cs typeface="Arial" pitchFamily="34" charset="-120"/>
              </a:rPr>
              <a:t>$11.88</a:t>
            </a:r>
            <a:endParaRPr lang="en-US" sz="3100" dirty="0"/>
          </a:p>
        </p:txBody>
      </p:sp>
      <p:sp>
        <p:nvSpPr>
          <p:cNvPr id="19" name="role:figure-label"/>
          <p:cNvSpPr txBox="1"/>
          <p:nvPr/>
        </p:nvSpPr>
        <p:spPr>
          <a:xfrm>
            <a:off x="6095848"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Cost per lead</a:t>
            </a:r>
            <a:endParaRPr lang="en-US" sz="1200" dirty="0"/>
          </a:p>
        </p:txBody>
      </p:sp>
      <p:sp>
        <p:nvSpPr>
          <p:cNvPr id="20" name="role:figure-label"/>
          <p:cNvSpPr txBox="1"/>
          <p:nvPr/>
        </p:nvSpPr>
        <p:spPr>
          <a:xfrm>
            <a:off x="6095848"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Healthcare lead generation</a:t>
            </a:r>
            <a:endParaRPr lang="en-US" sz="1050" dirty="0"/>
          </a:p>
        </p:txBody>
      </p:sp>
      <p:sp>
        <p:nvSpPr>
          <p:cNvPr id="21" name="role:rule-v"/>
          <p:cNvSpPr/>
          <p:nvPr/>
        </p:nvSpPr>
        <p:spPr>
          <a:xfrm>
            <a:off x="8549411" y="3200400"/>
            <a:ext cx="0" cy="1294384"/>
          </a:xfrm>
          <a:prstGeom prst="line">
            <a:avLst/>
          </a:prstGeom>
          <a:noFill/>
          <a:ln w="9525">
            <a:solidFill>
              <a:srgbClr val="E2EAF1"/>
            </a:solidFill>
            <a:prstDash val="solid"/>
          </a:ln>
        </p:spPr>
      </p:sp>
      <p:sp>
        <p:nvSpPr>
          <p:cNvPr id="22" name="role:figure"/>
          <p:cNvSpPr txBox="1"/>
          <p:nvPr/>
        </p:nvSpPr>
        <p:spPr>
          <a:xfrm>
            <a:off x="8787155" y="3200400"/>
            <a:ext cx="2179244" cy="430276"/>
          </a:xfrm>
          <a:prstGeom prst="rect">
            <a:avLst/>
          </a:prstGeom>
          <a:noFill/>
          <a:ln/>
        </p:spPr>
        <p:txBody>
          <a:bodyPr wrap="square" lIns="0" tIns="0" rIns="0" bIns="0" rtlCol="0" anchor="t"/>
          <a:lstStyle/>
          <a:p>
            <a:pPr algn="l" indent="0" marL="0">
              <a:lnSpc>
                <a:spcPct val="100000"/>
              </a:lnSpc>
              <a:buNone/>
            </a:pPr>
            <a:r>
              <a:rPr lang="en-US" sz="3100" b="1" dirty="0">
                <a:solidFill>
                  <a:srgbClr val="2A80C2"/>
                </a:solidFill>
                <a:latin typeface="Arial" pitchFamily="34" charset="0"/>
                <a:ea typeface="Arial" pitchFamily="34" charset="-122"/>
                <a:cs typeface="Arial" pitchFamily="34" charset="-120"/>
              </a:rPr>
              <a:t>146</a:t>
            </a:r>
            <a:endParaRPr lang="en-US" sz="3100" dirty="0"/>
          </a:p>
        </p:txBody>
      </p:sp>
      <p:sp>
        <p:nvSpPr>
          <p:cNvPr id="23" name="role:figure-label"/>
          <p:cNvSpPr txBox="1"/>
          <p:nvPr/>
        </p:nvSpPr>
        <p:spPr>
          <a:xfrm>
            <a:off x="8787155" y="3685540"/>
            <a:ext cx="2179244"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Bookings from Meta sale ads</a:t>
            </a:r>
            <a:endParaRPr lang="en-US" sz="1200" dirty="0"/>
          </a:p>
        </p:txBody>
      </p:sp>
      <p:sp>
        <p:nvSpPr>
          <p:cNvPr id="24" name="role:figure-label"/>
          <p:cNvSpPr txBox="1"/>
          <p:nvPr/>
        </p:nvSpPr>
        <p:spPr>
          <a:xfrm>
            <a:off x="8787155" y="4170172"/>
            <a:ext cx="2179244" cy="21488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Plus 73 from Google Ads calls</a:t>
            </a:r>
            <a:endParaRPr lang="en-US" sz="1050" dirty="0"/>
          </a:p>
        </p:txBody>
      </p:sp>
      <p:sp>
        <p:nvSpPr>
          <p:cNvPr id="25" name="role:rule-h"/>
          <p:cNvSpPr/>
          <p:nvPr/>
        </p:nvSpPr>
        <p:spPr>
          <a:xfrm>
            <a:off x="713232" y="4439920"/>
            <a:ext cx="10765231" cy="0"/>
          </a:xfrm>
          <a:prstGeom prst="line">
            <a:avLst/>
          </a:prstGeom>
          <a:noFill/>
          <a:ln w="9525">
            <a:solidFill>
              <a:srgbClr val="E2EAF1"/>
            </a:solidFill>
            <a:prstDash val="solid"/>
          </a:ln>
        </p:spPr>
      </p:sp>
      <p:sp>
        <p:nvSpPr>
          <p:cNvPr id="26" name="role:kicker"/>
          <p:cNvSpPr txBox="1"/>
          <p:nvPr/>
        </p:nvSpPr>
        <p:spPr>
          <a:xfrm>
            <a:off x="713232" y="462280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BEFORE</a:t>
            </a:r>
            <a:endParaRPr lang="en-US" sz="1050" dirty="0"/>
          </a:p>
        </p:txBody>
      </p:sp>
      <p:sp>
        <p:nvSpPr>
          <p:cNvPr id="27" name="role:body"/>
          <p:cNvSpPr txBox="1"/>
          <p:nvPr/>
        </p:nvSpPr>
        <p:spPr>
          <a:xfrm>
            <a:off x="713232" y="495198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Growth ambitions, no system</a:t>
            </a:r>
            <a:endParaRPr lang="en-US" sz="1700" dirty="0"/>
          </a:p>
        </p:txBody>
      </p:sp>
      <p:sp>
        <p:nvSpPr>
          <p:cNvPr id="28" name="Text 24"/>
          <p:cNvSpPr txBox="1"/>
          <p:nvPr/>
        </p:nvSpPr>
        <p:spPr>
          <a:xfrm>
            <a:off x="71323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Expansion planned across two states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Low visibility in competitive local markets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No sustainable way to capture and convert leads</a:t>
            </a:r>
            <a:endParaRPr lang="en-US" sz="1150" dirty="0"/>
          </a:p>
        </p:txBody>
      </p:sp>
      <p:sp>
        <p:nvSpPr>
          <p:cNvPr id="29" name="role:kicker"/>
          <p:cNvSpPr txBox="1"/>
          <p:nvPr/>
        </p:nvSpPr>
        <p:spPr>
          <a:xfrm>
            <a:off x="6379312" y="4622800"/>
            <a:ext cx="5099152"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WHAT CHANGED</a:t>
            </a:r>
            <a:endParaRPr lang="en-US" sz="1050" dirty="0"/>
          </a:p>
        </p:txBody>
      </p:sp>
      <p:sp>
        <p:nvSpPr>
          <p:cNvPr id="30" name="role:body"/>
          <p:cNvSpPr txBox="1"/>
          <p:nvPr/>
        </p:nvSpPr>
        <p:spPr>
          <a:xfrm>
            <a:off x="6379312" y="4951984"/>
            <a:ext cx="5099152" cy="297180"/>
          </a:xfrm>
          <a:prstGeom prst="rect">
            <a:avLst/>
          </a:prstGeom>
          <a:noFill/>
          <a:ln/>
        </p:spPr>
        <p:txBody>
          <a:bodyPr wrap="square" lIns="0" tIns="0" rIns="0" bIns="0" rtlCol="0" anchor="t"/>
          <a:lstStyle/>
          <a:p>
            <a:pPr algn="l" indent="0" marL="0">
              <a:lnSpc>
                <a:spcPct val="108000"/>
              </a:lnSpc>
              <a:buNone/>
            </a:pPr>
            <a:r>
              <a:rPr lang="en-US" sz="1700" b="1" dirty="0">
                <a:solidFill>
                  <a:srgbClr val="0F151B"/>
                </a:solidFill>
                <a:latin typeface="Arial" pitchFamily="34" charset="0"/>
                <a:ea typeface="Arial" pitchFamily="34" charset="-122"/>
                <a:cs typeface="Arial" pitchFamily="34" charset="-120"/>
              </a:rPr>
              <a:t>One funnel, three locations</a:t>
            </a:r>
            <a:endParaRPr lang="en-US" sz="1700" dirty="0"/>
          </a:p>
        </p:txBody>
      </p:sp>
      <p:sp>
        <p:nvSpPr>
          <p:cNvPr id="31" name="Text 27"/>
          <p:cNvSpPr txBox="1"/>
          <p:nvPr/>
        </p:nvSpPr>
        <p:spPr>
          <a:xfrm>
            <a:off x="637931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Separate campaigns and profiles per location</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Conversion focused site with streamlined booking</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$8,035 in tracked revenue from Google Ads</a:t>
            </a:r>
            <a:endParaRPr lang="en-US" sz="1150" dirty="0"/>
          </a:p>
        </p:txBody>
      </p:sp>
      <p:sp>
        <p:nvSpPr>
          <p:cNvPr id="32"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17</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90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0" decel="700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5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82" decel="70000"/>
                                        <p:tgtEl>
                                          <p:spTgt spid="6"/>
                                        </p:tgtEl>
                                      </p:cBhvr>
                                    </p:animEffect>
                                    <p:anim calcmode="lin" valueType="num">
                                      <p:cBhvr additive="base">
                                        <p:cTn id="21" dur="482" decel="70000" fill="hold"/>
                                        <p:tgtEl>
                                          <p:spTgt spid="6"/>
                                        </p:tgtEl>
                                        <p:attrNameLst>
                                          <p:attrName>ppt_y</p:attrName>
                                        </p:attrNameLst>
                                      </p:cBhvr>
                                      <p:tavLst>
                                        <p:tav tm="0">
                                          <p:val>
                                            <p:strVal val="#ppt_y+0.0512"/>
                                          </p:val>
                                        </p:tav>
                                        <p:tav tm="100000">
                                          <p:val>
                                            <p:strVal val="#ppt_y"/>
                                          </p:val>
                                        </p:tav>
                                      </p:tavLst>
                                    </p:anim>
                                  </p:childTnLst>
                                </p:cTn>
                              </p:par>
                              <p:par>
                                <p:cTn id="22" presetID="23" presetClass="entr" presetSubtype="0" fill="hold" grpId="0" nodeType="withEffect">
                                  <p:stCondLst>
                                    <p:cond delay="11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98" decel="70000"/>
                                        <p:tgtEl>
                                          <p:spTgt spid="8"/>
                                        </p:tgtEl>
                                      </p:cBhvr>
                                    </p:animEffect>
                                    <p:animScale>
                                      <p:cBhvr>
                                        <p:cTn id="25" dur="598" decel="70000" fill="hold"/>
                                        <p:tgtEl>
                                          <p:spTgt spid="8"/>
                                        </p:tgtEl>
                                      </p:cBhvr>
                                      <p:from x="78000" y="78000"/>
                                      <p:to x="100000" y="100000"/>
                                    </p:animScale>
                                  </p:childTnLst>
                                </p:cTn>
                              </p:par>
                              <p:par>
                                <p:cTn id="26" presetID="10" presetClass="entr" presetSubtype="0" fill="hold" grpId="0" nodeType="withEffect">
                                  <p:stCondLst>
                                    <p:cond delay="165"/>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322" decel="70000"/>
                                        <p:tgtEl>
                                          <p:spTgt spid="7"/>
                                        </p:tgtEl>
                                      </p:cBhvr>
                                    </p:animEffect>
                                  </p:childTnLst>
                                </p:cTn>
                              </p:par>
                              <p:par>
                                <p:cTn id="29" presetID="10" presetClass="entr" presetSubtype="0" fill="hold" grpId="0" nodeType="withEffect">
                                  <p:stCondLst>
                                    <p:cond delay="22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99" decel="70000"/>
                                        <p:tgtEl>
                                          <p:spTgt spid="9"/>
                                        </p:tgtEl>
                                      </p:cBhvr>
                                    </p:animEffect>
                                  </p:childTnLst>
                                </p:cTn>
                              </p:par>
                              <p:par>
                                <p:cTn id="32" presetID="23" presetClass="entr" presetSubtype="0" fill="hold" grpId="0" nodeType="withEffect">
                                  <p:stCondLst>
                                    <p:cond delay="275"/>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82" decel="70000"/>
                                        <p:tgtEl>
                                          <p:spTgt spid="10"/>
                                        </p:tgtEl>
                                      </p:cBhvr>
                                    </p:animEffect>
                                    <p:animScale>
                                      <p:cBhvr>
                                        <p:cTn id="35" dur="482" decel="70000" fill="hold"/>
                                        <p:tgtEl>
                                          <p:spTgt spid="10"/>
                                        </p:tgtEl>
                                      </p:cBhvr>
                                      <p:from x="82000" y="82000"/>
                                      <p:to x="100000" y="100000"/>
                                    </p:animScale>
                                  </p:childTnLst>
                                </p:cTn>
                              </p:par>
                              <p:par>
                                <p:cTn id="36" presetID="22" presetClass="entr" presetSubtype="1" fill="hold" grpId="0" nodeType="withEffect">
                                  <p:stCondLst>
                                    <p:cond delay="33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390"/>
                                        <p:tgtEl>
                                          <p:spTgt spid="13"/>
                                        </p:tgtEl>
                                      </p:cBhvr>
                                    </p:animEffect>
                                  </p:childTnLst>
                                </p:cTn>
                              </p:par>
                              <p:par>
                                <p:cTn id="39" presetID="23" presetClass="entr" presetSubtype="0" fill="hold" grpId="0" nodeType="withEffect">
                                  <p:stCondLst>
                                    <p:cond delay="385"/>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82" decel="70000"/>
                                        <p:tgtEl>
                                          <p:spTgt spid="14"/>
                                        </p:tgtEl>
                                      </p:cBhvr>
                                    </p:animEffect>
                                    <p:animScale>
                                      <p:cBhvr>
                                        <p:cTn id="42" dur="482" decel="70000" fill="hold"/>
                                        <p:tgtEl>
                                          <p:spTgt spid="14"/>
                                        </p:tgtEl>
                                      </p:cBhvr>
                                      <p:from x="82000" y="82000"/>
                                      <p:to x="100000" y="100000"/>
                                    </p:animScale>
                                  </p:childTnLst>
                                </p:cTn>
                              </p:par>
                              <p:par>
                                <p:cTn id="43" presetID="22" presetClass="entr" presetSubtype="1" fill="hold" grpId="0" nodeType="withEffect">
                                  <p:stCondLst>
                                    <p:cond delay="440"/>
                                  </p:stCondLst>
                                  <p:childTnLst>
                                    <p:set>
                                      <p:cBhvr>
                                        <p:cTn id="44" dur="1" fill="hold">
                                          <p:stCondLst>
                                            <p:cond delay="0"/>
                                          </p:stCondLst>
                                        </p:cTn>
                                        <p:tgtEl>
                                          <p:spTgt spid="17"/>
                                        </p:tgtEl>
                                        <p:attrNameLst>
                                          <p:attrName>style.visibility</p:attrName>
                                        </p:attrNameLst>
                                      </p:cBhvr>
                                      <p:to>
                                        <p:strVal val="visible"/>
                                      </p:to>
                                    </p:set>
                                    <p:animEffect transition="in" filter="wipe(down)">
                                      <p:cBhvr>
                                        <p:cTn id="45" dur="390"/>
                                        <p:tgtEl>
                                          <p:spTgt spid="17"/>
                                        </p:tgtEl>
                                      </p:cBhvr>
                                    </p:animEffect>
                                  </p:childTnLst>
                                </p:cTn>
                              </p:par>
                              <p:par>
                                <p:cTn id="46" presetID="23" presetClass="entr" presetSubtype="0" fill="hold" grpId="0" nodeType="withEffect">
                                  <p:stCondLst>
                                    <p:cond delay="495"/>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82" decel="70000"/>
                                        <p:tgtEl>
                                          <p:spTgt spid="18"/>
                                        </p:tgtEl>
                                      </p:cBhvr>
                                    </p:animEffect>
                                    <p:animScale>
                                      <p:cBhvr>
                                        <p:cTn id="49" dur="482" decel="70000" fill="hold"/>
                                        <p:tgtEl>
                                          <p:spTgt spid="18"/>
                                        </p:tgtEl>
                                      </p:cBhvr>
                                      <p:from x="82000" y="82000"/>
                                      <p:to x="100000" y="100000"/>
                                    </p:animScale>
                                  </p:childTnLst>
                                </p:cTn>
                              </p:par>
                              <p:par>
                                <p:cTn id="50" presetID="22" presetClass="entr" presetSubtype="1" fill="hold" grpId="0" nodeType="withEffect">
                                  <p:stCondLst>
                                    <p:cond delay="550"/>
                                  </p:stCondLst>
                                  <p:childTnLst>
                                    <p:set>
                                      <p:cBhvr>
                                        <p:cTn id="51" dur="1" fill="hold">
                                          <p:stCondLst>
                                            <p:cond delay="0"/>
                                          </p:stCondLst>
                                        </p:cTn>
                                        <p:tgtEl>
                                          <p:spTgt spid="21"/>
                                        </p:tgtEl>
                                        <p:attrNameLst>
                                          <p:attrName>style.visibility</p:attrName>
                                        </p:attrNameLst>
                                      </p:cBhvr>
                                      <p:to>
                                        <p:strVal val="visible"/>
                                      </p:to>
                                    </p:set>
                                    <p:animEffect transition="in" filter="wipe(down)">
                                      <p:cBhvr>
                                        <p:cTn id="52" dur="390"/>
                                        <p:tgtEl>
                                          <p:spTgt spid="21"/>
                                        </p:tgtEl>
                                      </p:cBhvr>
                                    </p:animEffect>
                                  </p:childTnLst>
                                </p:cTn>
                              </p:par>
                              <p:par>
                                <p:cTn id="53" presetID="23" presetClass="entr" presetSubtype="0" fill="hold" grpId="0" nodeType="withEffect">
                                  <p:stCondLst>
                                    <p:cond delay="605"/>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82" decel="70000"/>
                                        <p:tgtEl>
                                          <p:spTgt spid="22"/>
                                        </p:tgtEl>
                                      </p:cBhvr>
                                    </p:animEffect>
                                    <p:animScale>
                                      <p:cBhvr>
                                        <p:cTn id="56" dur="482" decel="70000" fill="hold"/>
                                        <p:tgtEl>
                                          <p:spTgt spid="22"/>
                                        </p:tgtEl>
                                      </p:cBhvr>
                                      <p:from x="82000" y="82000"/>
                                      <p:to x="100000" y="100000"/>
                                    </p:animScale>
                                  </p:childTnLst>
                                </p:cTn>
                              </p:par>
                              <p:par>
                                <p:cTn id="57" presetID="10" presetClass="entr" presetSubtype="0" fill="hold" grpId="0" nodeType="withEffect">
                                  <p:stCondLst>
                                    <p:cond delay="66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299" decel="70000"/>
                                        <p:tgtEl>
                                          <p:spTgt spid="11"/>
                                        </p:tgtEl>
                                      </p:cBhvr>
                                    </p:animEffect>
                                  </p:childTnLst>
                                </p:cTn>
                              </p:par>
                              <p:par>
                                <p:cTn id="60" presetID="10" presetClass="entr" presetSubtype="0" fill="hold" grpId="0" nodeType="withEffect">
                                  <p:stCondLst>
                                    <p:cond delay="715"/>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299" decel="70000"/>
                                        <p:tgtEl>
                                          <p:spTgt spid="15"/>
                                        </p:tgtEl>
                                      </p:cBhvr>
                                    </p:animEffect>
                                  </p:childTnLst>
                                </p:cTn>
                              </p:par>
                              <p:par>
                                <p:cTn id="63" presetID="10" presetClass="entr" presetSubtype="0" fill="hold" grpId="0" nodeType="withEffect">
                                  <p:stCondLst>
                                    <p:cond delay="77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299" decel="70000"/>
                                        <p:tgtEl>
                                          <p:spTgt spid="19"/>
                                        </p:tgtEl>
                                      </p:cBhvr>
                                    </p:animEffect>
                                  </p:childTnLst>
                                </p:cTn>
                              </p:par>
                              <p:par>
                                <p:cTn id="66" presetID="10" presetClass="entr" presetSubtype="0" fill="hold" grpId="0" nodeType="withEffect">
                                  <p:stCondLst>
                                    <p:cond delay="825"/>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299" decel="70000"/>
                                        <p:tgtEl>
                                          <p:spTgt spid="23"/>
                                        </p:tgtEl>
                                      </p:cBhvr>
                                    </p:animEffect>
                                  </p:childTnLst>
                                </p:cTn>
                              </p:par>
                              <p:par>
                                <p:cTn id="69" presetID="10" presetClass="entr" presetSubtype="0" fill="hold" grpId="0" nodeType="withEffect">
                                  <p:stCondLst>
                                    <p:cond delay="8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299" decel="70000"/>
                                        <p:tgtEl>
                                          <p:spTgt spid="12"/>
                                        </p:tgtEl>
                                      </p:cBhvr>
                                    </p:animEffect>
                                  </p:childTnLst>
                                </p:cTn>
                              </p:par>
                              <p:par>
                                <p:cTn id="72" presetID="10" presetClass="entr" presetSubtype="0" fill="hold" grpId="0" nodeType="withEffect">
                                  <p:stCondLst>
                                    <p:cond delay="935"/>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299" decel="70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MORE PROOF</a:t>
            </a:r>
            <a:endParaRPr lang="en-US" sz="1050" dirty="0"/>
          </a:p>
        </p:txBody>
      </p:sp>
      <p:sp>
        <p:nvSpPr>
          <p:cNvPr id="4" name="role:title"/>
          <p:cNvSpPr txBox="1"/>
          <p:nvPr/>
        </p:nvSpPr>
        <p:spPr>
          <a:xfrm>
            <a:off x="713232" y="987552"/>
            <a:ext cx="8570671" cy="1074420"/>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Nine more clients, nine more numbers</a:t>
            </a:r>
            <a:endParaRPr lang="en-US" sz="3900" dirty="0"/>
          </a:p>
        </p:txBody>
      </p:sp>
      <p:sp>
        <p:nvSpPr>
          <p:cNvPr id="5"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18</a:t>
            </a:r>
            <a:endParaRPr lang="en-US" sz="1050" dirty="0"/>
          </a:p>
        </p:txBody>
      </p:sp>
      <p:sp>
        <p:nvSpPr>
          <p:cNvPr id="6" name="role:figure"/>
          <p:cNvSpPr txBox="1"/>
          <p:nvPr/>
        </p:nvSpPr>
        <p:spPr>
          <a:xfrm>
            <a:off x="713232" y="2487168"/>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53</a:t>
            </a:r>
            <a:endParaRPr lang="en-US" sz="3400" dirty="0"/>
          </a:p>
        </p:txBody>
      </p:sp>
      <p:sp>
        <p:nvSpPr>
          <p:cNvPr id="7" name="role:figure-label"/>
          <p:cNvSpPr txBox="1"/>
          <p:nvPr/>
        </p:nvSpPr>
        <p:spPr>
          <a:xfrm>
            <a:off x="713232" y="3010408"/>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Qualified leads in 30 days</a:t>
            </a:r>
            <a:endParaRPr lang="en-US" sz="1200" dirty="0"/>
          </a:p>
        </p:txBody>
      </p:sp>
      <p:sp>
        <p:nvSpPr>
          <p:cNvPr id="8" name="role:figure-label"/>
          <p:cNvSpPr txBox="1"/>
          <p:nvPr/>
        </p:nvSpPr>
        <p:spPr>
          <a:xfrm>
            <a:off x="713232" y="3495040"/>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Tristate Window and Siding, plus 19 booked appointments</a:t>
            </a:r>
            <a:endParaRPr lang="en-US" sz="1050" dirty="0"/>
          </a:p>
        </p:txBody>
      </p:sp>
      <p:sp>
        <p:nvSpPr>
          <p:cNvPr id="9" name="role:rule-v"/>
          <p:cNvSpPr/>
          <p:nvPr/>
        </p:nvSpPr>
        <p:spPr>
          <a:xfrm>
            <a:off x="2628534" y="2487168"/>
            <a:ext cx="0" cy="1652524"/>
          </a:xfrm>
          <a:prstGeom prst="line">
            <a:avLst/>
          </a:prstGeom>
          <a:noFill/>
          <a:ln w="9525">
            <a:solidFill>
              <a:srgbClr val="E2EAF1"/>
            </a:solidFill>
            <a:prstDash val="solid"/>
          </a:ln>
        </p:spPr>
      </p:sp>
      <p:sp>
        <p:nvSpPr>
          <p:cNvPr id="10" name="role:figure"/>
          <p:cNvSpPr txBox="1"/>
          <p:nvPr/>
        </p:nvSpPr>
        <p:spPr>
          <a:xfrm>
            <a:off x="2866278" y="2487168"/>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71</a:t>
            </a:r>
            <a:endParaRPr lang="en-US" sz="3400" dirty="0"/>
          </a:p>
        </p:txBody>
      </p:sp>
      <p:sp>
        <p:nvSpPr>
          <p:cNvPr id="11" name="role:figure-label"/>
          <p:cNvSpPr txBox="1"/>
          <p:nvPr/>
        </p:nvSpPr>
        <p:spPr>
          <a:xfrm>
            <a:off x="2866278" y="3010408"/>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Paid leads</a:t>
            </a:r>
            <a:endParaRPr lang="en-US" sz="1200" dirty="0"/>
          </a:p>
        </p:txBody>
      </p:sp>
      <p:sp>
        <p:nvSpPr>
          <p:cNvPr id="12" name="role:figure-label"/>
          <p:cNvSpPr txBox="1"/>
          <p:nvPr/>
        </p:nvSpPr>
        <p:spPr>
          <a:xfrm>
            <a:off x="2866278" y="3495040"/>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Jade International freight, $19.58 Google CPL</a:t>
            </a:r>
            <a:endParaRPr lang="en-US" sz="1050" dirty="0"/>
          </a:p>
        </p:txBody>
      </p:sp>
      <p:sp>
        <p:nvSpPr>
          <p:cNvPr id="13" name="role:rule-v"/>
          <p:cNvSpPr/>
          <p:nvPr/>
        </p:nvSpPr>
        <p:spPr>
          <a:xfrm>
            <a:off x="4781580" y="2487168"/>
            <a:ext cx="0" cy="1652524"/>
          </a:xfrm>
          <a:prstGeom prst="line">
            <a:avLst/>
          </a:prstGeom>
          <a:noFill/>
          <a:ln w="9525">
            <a:solidFill>
              <a:srgbClr val="E2EAF1"/>
            </a:solidFill>
            <a:prstDash val="solid"/>
          </a:ln>
        </p:spPr>
      </p:sp>
      <p:sp>
        <p:nvSpPr>
          <p:cNvPr id="14" name="role:figure"/>
          <p:cNvSpPr txBox="1"/>
          <p:nvPr/>
        </p:nvSpPr>
        <p:spPr>
          <a:xfrm>
            <a:off x="5019324" y="2487168"/>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7.9K</a:t>
            </a:r>
            <a:endParaRPr lang="en-US" sz="3400" dirty="0"/>
          </a:p>
        </p:txBody>
      </p:sp>
      <p:sp>
        <p:nvSpPr>
          <p:cNvPr id="15" name="role:figure-label"/>
          <p:cNvSpPr txBox="1"/>
          <p:nvPr/>
        </p:nvSpPr>
        <p:spPr>
          <a:xfrm>
            <a:off x="5019324" y="3010408"/>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Organic clicks</a:t>
            </a:r>
            <a:endParaRPr lang="en-US" sz="1200" dirty="0"/>
          </a:p>
        </p:txBody>
      </p:sp>
      <p:sp>
        <p:nvSpPr>
          <p:cNvPr id="16" name="role:figure-label"/>
          <p:cNvSpPr txBox="1"/>
          <p:nvPr/>
        </p:nvSpPr>
        <p:spPr>
          <a:xfrm>
            <a:off x="5019324" y="3495040"/>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Sweetlife NYC, Wix to WordPress with no traffic loss</a:t>
            </a:r>
            <a:endParaRPr lang="en-US" sz="1050" dirty="0"/>
          </a:p>
        </p:txBody>
      </p:sp>
      <p:sp>
        <p:nvSpPr>
          <p:cNvPr id="17" name="role:rule-v"/>
          <p:cNvSpPr/>
          <p:nvPr/>
        </p:nvSpPr>
        <p:spPr>
          <a:xfrm>
            <a:off x="6934627" y="2487168"/>
            <a:ext cx="0" cy="1652524"/>
          </a:xfrm>
          <a:prstGeom prst="line">
            <a:avLst/>
          </a:prstGeom>
          <a:noFill/>
          <a:ln w="9525">
            <a:solidFill>
              <a:srgbClr val="E2EAF1"/>
            </a:solidFill>
            <a:prstDash val="solid"/>
          </a:ln>
        </p:spPr>
      </p:sp>
      <p:sp>
        <p:nvSpPr>
          <p:cNvPr id="18" name="role:figure"/>
          <p:cNvSpPr txBox="1"/>
          <p:nvPr/>
        </p:nvSpPr>
        <p:spPr>
          <a:xfrm>
            <a:off x="7172371" y="2487168"/>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172</a:t>
            </a:r>
            <a:endParaRPr lang="en-US" sz="3400" dirty="0"/>
          </a:p>
        </p:txBody>
      </p:sp>
      <p:sp>
        <p:nvSpPr>
          <p:cNvPr id="19" name="role:figure-label"/>
          <p:cNvSpPr txBox="1"/>
          <p:nvPr/>
        </p:nvSpPr>
        <p:spPr>
          <a:xfrm>
            <a:off x="7172371" y="3010408"/>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Tracked conversions</a:t>
            </a:r>
            <a:endParaRPr lang="en-US" sz="1200" dirty="0"/>
          </a:p>
        </p:txBody>
      </p:sp>
      <p:sp>
        <p:nvSpPr>
          <p:cNvPr id="20" name="role:figure-label"/>
          <p:cNvSpPr txBox="1"/>
          <p:nvPr/>
        </p:nvSpPr>
        <p:spPr>
          <a:xfrm>
            <a:off x="7172371" y="3495040"/>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LaserSkin MedSpa, 21 booked appointments</a:t>
            </a:r>
            <a:endParaRPr lang="en-US" sz="1050" dirty="0"/>
          </a:p>
        </p:txBody>
      </p:sp>
      <p:sp>
        <p:nvSpPr>
          <p:cNvPr id="21" name="role:rule-v"/>
          <p:cNvSpPr/>
          <p:nvPr/>
        </p:nvSpPr>
        <p:spPr>
          <a:xfrm>
            <a:off x="9087673" y="2487168"/>
            <a:ext cx="0" cy="1652524"/>
          </a:xfrm>
          <a:prstGeom prst="line">
            <a:avLst/>
          </a:prstGeom>
          <a:noFill/>
          <a:ln w="9525">
            <a:solidFill>
              <a:srgbClr val="E2EAF1"/>
            </a:solidFill>
            <a:prstDash val="solid"/>
          </a:ln>
        </p:spPr>
      </p:sp>
      <p:sp>
        <p:nvSpPr>
          <p:cNvPr id="22" name="role:figure"/>
          <p:cNvSpPr txBox="1"/>
          <p:nvPr/>
        </p:nvSpPr>
        <p:spPr>
          <a:xfrm>
            <a:off x="9325417" y="2487168"/>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A80C2"/>
                </a:solidFill>
                <a:latin typeface="Arial" pitchFamily="34" charset="0"/>
                <a:ea typeface="Arial" pitchFamily="34" charset="-122"/>
                <a:cs typeface="Arial" pitchFamily="34" charset="-120"/>
              </a:rPr>
              <a:t>24,688</a:t>
            </a:r>
            <a:endParaRPr lang="en-US" sz="3400" dirty="0"/>
          </a:p>
        </p:txBody>
      </p:sp>
      <p:sp>
        <p:nvSpPr>
          <p:cNvPr id="23" name="role:figure-label"/>
          <p:cNvSpPr txBox="1"/>
          <p:nvPr/>
        </p:nvSpPr>
        <p:spPr>
          <a:xfrm>
            <a:off x="9325417" y="3010408"/>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Sessions</a:t>
            </a:r>
            <a:endParaRPr lang="en-US" sz="1200" dirty="0"/>
          </a:p>
        </p:txBody>
      </p:sp>
      <p:sp>
        <p:nvSpPr>
          <p:cNvPr id="24" name="role:figure-label"/>
          <p:cNvSpPr txBox="1"/>
          <p:nvPr/>
        </p:nvSpPr>
        <p:spPr>
          <a:xfrm>
            <a:off x="9325417" y="3495040"/>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Mosser Legal appellate practice</a:t>
            </a:r>
            <a:endParaRPr lang="en-US" sz="1050" dirty="0"/>
          </a:p>
        </p:txBody>
      </p:sp>
      <p:sp>
        <p:nvSpPr>
          <p:cNvPr id="25" name="role:rule-h"/>
          <p:cNvSpPr/>
          <p:nvPr/>
        </p:nvSpPr>
        <p:spPr>
          <a:xfrm>
            <a:off x="713232" y="4224528"/>
            <a:ext cx="10765231" cy="0"/>
          </a:xfrm>
          <a:prstGeom prst="line">
            <a:avLst/>
          </a:prstGeom>
          <a:noFill/>
          <a:ln w="9525">
            <a:solidFill>
              <a:srgbClr val="E2EAF1"/>
            </a:solidFill>
            <a:prstDash val="solid"/>
          </a:ln>
        </p:spPr>
      </p:sp>
      <p:sp>
        <p:nvSpPr>
          <p:cNvPr id="26" name="role:figure"/>
          <p:cNvSpPr txBox="1"/>
          <p:nvPr/>
        </p:nvSpPr>
        <p:spPr>
          <a:xfrm>
            <a:off x="713232" y="4443984"/>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3A455"/>
                </a:solidFill>
                <a:latin typeface="Arial" pitchFamily="34" charset="0"/>
                <a:ea typeface="Arial" pitchFamily="34" charset="-122"/>
                <a:cs typeface="Arial" pitchFamily="34" charset="-120"/>
              </a:rPr>
              <a:t>$594K</a:t>
            </a:r>
            <a:endParaRPr lang="en-US" sz="3400" dirty="0"/>
          </a:p>
        </p:txBody>
      </p:sp>
      <p:sp>
        <p:nvSpPr>
          <p:cNvPr id="27" name="role:figure-label"/>
          <p:cNvSpPr txBox="1"/>
          <p:nvPr/>
        </p:nvSpPr>
        <p:spPr>
          <a:xfrm>
            <a:off x="713232" y="4967224"/>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Annual sales in 2021</a:t>
            </a:r>
            <a:endParaRPr lang="en-US" sz="1200" dirty="0"/>
          </a:p>
        </p:txBody>
      </p:sp>
      <p:sp>
        <p:nvSpPr>
          <p:cNvPr id="28" name="role:figure-label"/>
          <p:cNvSpPr txBox="1"/>
          <p:nvPr/>
        </p:nvSpPr>
        <p:spPr>
          <a:xfrm>
            <a:off x="713232" y="5451856"/>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Alex Mika Jewelry, up from $142K in 2016</a:t>
            </a:r>
            <a:endParaRPr lang="en-US" sz="1050" dirty="0"/>
          </a:p>
        </p:txBody>
      </p:sp>
      <p:sp>
        <p:nvSpPr>
          <p:cNvPr id="29" name="role:rule-v"/>
          <p:cNvSpPr/>
          <p:nvPr/>
        </p:nvSpPr>
        <p:spPr>
          <a:xfrm>
            <a:off x="2628534" y="4443984"/>
            <a:ext cx="0" cy="1652524"/>
          </a:xfrm>
          <a:prstGeom prst="line">
            <a:avLst/>
          </a:prstGeom>
          <a:noFill/>
          <a:ln w="9525">
            <a:solidFill>
              <a:srgbClr val="E2EAF1"/>
            </a:solidFill>
            <a:prstDash val="solid"/>
          </a:ln>
        </p:spPr>
      </p:sp>
      <p:sp>
        <p:nvSpPr>
          <p:cNvPr id="30" name="role:figure"/>
          <p:cNvSpPr txBox="1"/>
          <p:nvPr/>
        </p:nvSpPr>
        <p:spPr>
          <a:xfrm>
            <a:off x="2866278" y="4443984"/>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3A455"/>
                </a:solidFill>
                <a:latin typeface="Arial" pitchFamily="34" charset="0"/>
                <a:ea typeface="Arial" pitchFamily="34" charset="-122"/>
                <a:cs typeface="Arial" pitchFamily="34" charset="-120"/>
              </a:rPr>
              <a:t>5 → 35</a:t>
            </a:r>
            <a:endParaRPr lang="en-US" sz="3400" dirty="0"/>
          </a:p>
        </p:txBody>
      </p:sp>
      <p:sp>
        <p:nvSpPr>
          <p:cNvPr id="31" name="role:figure-label"/>
          <p:cNvSpPr txBox="1"/>
          <p:nvPr/>
        </p:nvSpPr>
        <p:spPr>
          <a:xfrm>
            <a:off x="2866278" y="4967224"/>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Domain authority</a:t>
            </a:r>
            <a:endParaRPr lang="en-US" sz="1200" dirty="0"/>
          </a:p>
        </p:txBody>
      </p:sp>
      <p:sp>
        <p:nvSpPr>
          <p:cNvPr id="32" name="role:figure-label"/>
          <p:cNvSpPr txBox="1"/>
          <p:nvPr/>
        </p:nvSpPr>
        <p:spPr>
          <a:xfrm>
            <a:off x="2866278" y="5451856"/>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Alex Mika Jewelry, backlinks 224 to 2,408</a:t>
            </a:r>
            <a:endParaRPr lang="en-US" sz="1050" dirty="0"/>
          </a:p>
        </p:txBody>
      </p:sp>
      <p:sp>
        <p:nvSpPr>
          <p:cNvPr id="33" name="role:rule-v"/>
          <p:cNvSpPr/>
          <p:nvPr/>
        </p:nvSpPr>
        <p:spPr>
          <a:xfrm>
            <a:off x="4781580" y="4443984"/>
            <a:ext cx="0" cy="1652524"/>
          </a:xfrm>
          <a:prstGeom prst="line">
            <a:avLst/>
          </a:prstGeom>
          <a:noFill/>
          <a:ln w="9525">
            <a:solidFill>
              <a:srgbClr val="E2EAF1"/>
            </a:solidFill>
            <a:prstDash val="solid"/>
          </a:ln>
        </p:spPr>
      </p:sp>
      <p:sp>
        <p:nvSpPr>
          <p:cNvPr id="34" name="role:figure"/>
          <p:cNvSpPr txBox="1"/>
          <p:nvPr/>
        </p:nvSpPr>
        <p:spPr>
          <a:xfrm>
            <a:off x="5019324" y="4443984"/>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3A455"/>
                </a:solidFill>
                <a:latin typeface="Arial" pitchFamily="34" charset="0"/>
                <a:ea typeface="Arial" pitchFamily="34" charset="-122"/>
                <a:cs typeface="Arial" pitchFamily="34" charset="-120"/>
              </a:rPr>
              <a:t>1,200+</a:t>
            </a:r>
            <a:endParaRPr lang="en-US" sz="3400" dirty="0"/>
          </a:p>
        </p:txBody>
      </p:sp>
      <p:sp>
        <p:nvSpPr>
          <p:cNvPr id="35" name="role:figure-label"/>
          <p:cNvSpPr txBox="1"/>
          <p:nvPr/>
        </p:nvSpPr>
        <p:spPr>
          <a:xfrm>
            <a:off x="5019324" y="4967224"/>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Ranking keywords from zero</a:t>
            </a:r>
            <a:endParaRPr lang="en-US" sz="1200" dirty="0"/>
          </a:p>
        </p:txBody>
      </p:sp>
      <p:sp>
        <p:nvSpPr>
          <p:cNvPr id="36" name="role:figure-label"/>
          <p:cNvSpPr txBox="1"/>
          <p:nvPr/>
        </p:nvSpPr>
        <p:spPr>
          <a:xfrm>
            <a:off x="5019324" y="5451856"/>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7Bros Apparel Shopify build</a:t>
            </a:r>
            <a:endParaRPr lang="en-US" sz="1050" dirty="0"/>
          </a:p>
        </p:txBody>
      </p:sp>
      <p:sp>
        <p:nvSpPr>
          <p:cNvPr id="37" name="role:rule-v"/>
          <p:cNvSpPr/>
          <p:nvPr/>
        </p:nvSpPr>
        <p:spPr>
          <a:xfrm>
            <a:off x="6934627" y="4443984"/>
            <a:ext cx="0" cy="1652524"/>
          </a:xfrm>
          <a:prstGeom prst="line">
            <a:avLst/>
          </a:prstGeom>
          <a:noFill/>
          <a:ln w="9525">
            <a:solidFill>
              <a:srgbClr val="E2EAF1"/>
            </a:solidFill>
            <a:prstDash val="solid"/>
          </a:ln>
        </p:spPr>
      </p:sp>
      <p:sp>
        <p:nvSpPr>
          <p:cNvPr id="38" name="role:figure"/>
          <p:cNvSpPr txBox="1"/>
          <p:nvPr/>
        </p:nvSpPr>
        <p:spPr>
          <a:xfrm>
            <a:off x="7172371" y="4443984"/>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3A455"/>
                </a:solidFill>
                <a:latin typeface="Arial" pitchFamily="34" charset="0"/>
                <a:ea typeface="Arial" pitchFamily="34" charset="-122"/>
                <a:cs typeface="Arial" pitchFamily="34" charset="-120"/>
              </a:rPr>
              <a:t>130+</a:t>
            </a:r>
            <a:endParaRPr lang="en-US" sz="3400" dirty="0"/>
          </a:p>
        </p:txBody>
      </p:sp>
      <p:sp>
        <p:nvSpPr>
          <p:cNvPr id="39" name="role:figure-label"/>
          <p:cNvSpPr txBox="1"/>
          <p:nvPr/>
        </p:nvSpPr>
        <p:spPr>
          <a:xfrm>
            <a:off x="7172371" y="4967224"/>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New signups</a:t>
            </a:r>
            <a:endParaRPr lang="en-US" sz="1200" dirty="0"/>
          </a:p>
        </p:txBody>
      </p:sp>
      <p:sp>
        <p:nvSpPr>
          <p:cNvPr id="40" name="role:figure-label"/>
          <p:cNvSpPr txBox="1"/>
          <p:nvPr/>
        </p:nvSpPr>
        <p:spPr>
          <a:xfrm>
            <a:off x="7172371" y="5451856"/>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Sweetlife NYC, QR to form flow in under a month</a:t>
            </a:r>
            <a:endParaRPr lang="en-US" sz="1050" dirty="0"/>
          </a:p>
        </p:txBody>
      </p:sp>
      <p:sp>
        <p:nvSpPr>
          <p:cNvPr id="41" name="role:rule-v"/>
          <p:cNvSpPr/>
          <p:nvPr/>
        </p:nvSpPr>
        <p:spPr>
          <a:xfrm>
            <a:off x="9087673" y="4443984"/>
            <a:ext cx="0" cy="1652524"/>
          </a:xfrm>
          <a:prstGeom prst="line">
            <a:avLst/>
          </a:prstGeom>
          <a:noFill/>
          <a:ln w="9525">
            <a:solidFill>
              <a:srgbClr val="E2EAF1"/>
            </a:solidFill>
            <a:prstDash val="solid"/>
          </a:ln>
        </p:spPr>
      </p:sp>
      <p:sp>
        <p:nvSpPr>
          <p:cNvPr id="42" name="role:figure"/>
          <p:cNvSpPr txBox="1"/>
          <p:nvPr/>
        </p:nvSpPr>
        <p:spPr>
          <a:xfrm>
            <a:off x="9325417" y="4443984"/>
            <a:ext cx="1640982" cy="468376"/>
          </a:xfrm>
          <a:prstGeom prst="rect">
            <a:avLst/>
          </a:prstGeom>
          <a:noFill/>
          <a:ln/>
        </p:spPr>
        <p:txBody>
          <a:bodyPr wrap="square" lIns="0" tIns="0" rIns="0" bIns="0" rtlCol="0" anchor="t"/>
          <a:lstStyle/>
          <a:p>
            <a:pPr algn="l" indent="0" marL="0">
              <a:lnSpc>
                <a:spcPct val="100000"/>
              </a:lnSpc>
              <a:buNone/>
            </a:pPr>
            <a:r>
              <a:rPr lang="en-US" sz="3400" b="1" dirty="0">
                <a:solidFill>
                  <a:srgbClr val="23A455"/>
                </a:solidFill>
                <a:latin typeface="Arial" pitchFamily="34" charset="0"/>
                <a:ea typeface="Arial" pitchFamily="34" charset="-122"/>
                <a:cs typeface="Arial" pitchFamily="34" charset="-120"/>
              </a:rPr>
              <a:t>100K+</a:t>
            </a:r>
            <a:endParaRPr lang="en-US" sz="3400" dirty="0"/>
          </a:p>
        </p:txBody>
      </p:sp>
      <p:sp>
        <p:nvSpPr>
          <p:cNvPr id="43" name="role:figure-label"/>
          <p:cNvSpPr txBox="1"/>
          <p:nvPr/>
        </p:nvSpPr>
        <p:spPr>
          <a:xfrm>
            <a:off x="9325417" y="4967224"/>
            <a:ext cx="1640982" cy="420624"/>
          </a:xfrm>
          <a:prstGeom prst="rect">
            <a:avLst/>
          </a:prstGeom>
          <a:noFill/>
          <a:ln/>
        </p:spPr>
        <p:txBody>
          <a:bodyPr wrap="square" lIns="0" tIns="0" rIns="0" bIns="0" rtlCol="0" anchor="t"/>
          <a:lstStyle/>
          <a:p>
            <a:pPr algn="l" indent="0" marL="0">
              <a:lnSpc>
                <a:spcPct val="120000"/>
              </a:lnSpc>
              <a:buNone/>
            </a:pPr>
            <a:r>
              <a:rPr lang="en-US" sz="1200" b="1" dirty="0">
                <a:solidFill>
                  <a:srgbClr val="0F151B"/>
                </a:solidFill>
                <a:latin typeface="Arial" pitchFamily="34" charset="0"/>
                <a:ea typeface="Arial" pitchFamily="34" charset="-122"/>
                <a:cs typeface="Arial" pitchFamily="34" charset="-120"/>
              </a:rPr>
              <a:t>Guests and site visitors</a:t>
            </a:r>
            <a:endParaRPr lang="en-US" sz="1200" dirty="0"/>
          </a:p>
        </p:txBody>
      </p:sp>
      <p:sp>
        <p:nvSpPr>
          <p:cNvPr id="44" name="role:figure-label"/>
          <p:cNvSpPr txBox="1"/>
          <p:nvPr/>
        </p:nvSpPr>
        <p:spPr>
          <a:xfrm>
            <a:off x="9325417" y="5451856"/>
            <a:ext cx="1640982" cy="534924"/>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NOTO PHL and NOTO HTX, 200+ reviews</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23" presetClass="entr" presetSubtype="0" fill="hold" grpId="0" nodeType="withEffect">
                                  <p:stCondLst>
                                    <p:cond delay="11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82" decel="70000"/>
                                        <p:tgtEl>
                                          <p:spTgt spid="6"/>
                                        </p:tgtEl>
                                      </p:cBhvr>
                                    </p:animEffect>
                                    <p:animScale>
                                      <p:cBhvr>
                                        <p:cTn id="19" dur="482" decel="70000" fill="hold"/>
                                        <p:tgtEl>
                                          <p:spTgt spid="6"/>
                                        </p:tgtEl>
                                      </p:cBhvr>
                                      <p:from x="82000" y="82000"/>
                                      <p:to x="100000" y="100000"/>
                                    </p:animScale>
                                  </p:childTnLst>
                                </p:cTn>
                              </p:par>
                              <p:par>
                                <p:cTn id="20" presetID="22" presetClass="entr" presetSubtype="1" fill="hold" grpId="0" nodeType="withEffect">
                                  <p:stCondLst>
                                    <p:cond delay="165"/>
                                  </p:stCondLst>
                                  <p:childTnLst>
                                    <p:set>
                                      <p:cBhvr>
                                        <p:cTn id="21" dur="1" fill="hold">
                                          <p:stCondLst>
                                            <p:cond delay="0"/>
                                          </p:stCondLst>
                                        </p:cTn>
                                        <p:tgtEl>
                                          <p:spTgt spid="9"/>
                                        </p:tgtEl>
                                        <p:attrNameLst>
                                          <p:attrName>style.visibility</p:attrName>
                                        </p:attrNameLst>
                                      </p:cBhvr>
                                      <p:to>
                                        <p:strVal val="visible"/>
                                      </p:to>
                                    </p:set>
                                    <p:animEffect transition="in" filter="wipe(down)">
                                      <p:cBhvr>
                                        <p:cTn id="22" dur="390"/>
                                        <p:tgtEl>
                                          <p:spTgt spid="9"/>
                                        </p:tgtEl>
                                      </p:cBhvr>
                                    </p:animEffect>
                                  </p:childTnLst>
                                </p:cTn>
                              </p:par>
                              <p:par>
                                <p:cTn id="23" presetID="23" presetClass="entr" presetSubtype="0" fill="hold" grpId="0" nodeType="withEffect">
                                  <p:stCondLst>
                                    <p:cond delay="22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82" decel="70000"/>
                                        <p:tgtEl>
                                          <p:spTgt spid="10"/>
                                        </p:tgtEl>
                                      </p:cBhvr>
                                    </p:animEffect>
                                    <p:animScale>
                                      <p:cBhvr>
                                        <p:cTn id="26" dur="482" decel="70000" fill="hold"/>
                                        <p:tgtEl>
                                          <p:spTgt spid="10"/>
                                        </p:tgtEl>
                                      </p:cBhvr>
                                      <p:from x="82000" y="82000"/>
                                      <p:to x="100000" y="100000"/>
                                    </p:animScale>
                                  </p:childTnLst>
                                </p:cTn>
                              </p:par>
                              <p:par>
                                <p:cTn id="27" presetID="22" presetClass="entr" presetSubtype="1" fill="hold" grpId="0" nodeType="withEffect">
                                  <p:stCondLst>
                                    <p:cond delay="275"/>
                                  </p:stCondLst>
                                  <p:childTnLst>
                                    <p:set>
                                      <p:cBhvr>
                                        <p:cTn id="28" dur="1" fill="hold">
                                          <p:stCondLst>
                                            <p:cond delay="0"/>
                                          </p:stCondLst>
                                        </p:cTn>
                                        <p:tgtEl>
                                          <p:spTgt spid="13"/>
                                        </p:tgtEl>
                                        <p:attrNameLst>
                                          <p:attrName>style.visibility</p:attrName>
                                        </p:attrNameLst>
                                      </p:cBhvr>
                                      <p:to>
                                        <p:strVal val="visible"/>
                                      </p:to>
                                    </p:set>
                                    <p:animEffect transition="in" filter="wipe(down)">
                                      <p:cBhvr>
                                        <p:cTn id="29" dur="390"/>
                                        <p:tgtEl>
                                          <p:spTgt spid="13"/>
                                        </p:tgtEl>
                                      </p:cBhvr>
                                    </p:animEffect>
                                  </p:childTnLst>
                                </p:cTn>
                              </p:par>
                              <p:par>
                                <p:cTn id="30" presetID="23" presetClass="entr" presetSubtype="0" fill="hold" grpId="0" nodeType="withEffect">
                                  <p:stCondLst>
                                    <p:cond delay="33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82" decel="70000"/>
                                        <p:tgtEl>
                                          <p:spTgt spid="14"/>
                                        </p:tgtEl>
                                      </p:cBhvr>
                                    </p:animEffect>
                                    <p:animScale>
                                      <p:cBhvr>
                                        <p:cTn id="33" dur="482" decel="70000" fill="hold"/>
                                        <p:tgtEl>
                                          <p:spTgt spid="14"/>
                                        </p:tgtEl>
                                      </p:cBhvr>
                                      <p:from x="82000" y="82000"/>
                                      <p:to x="100000" y="100000"/>
                                    </p:animScale>
                                  </p:childTnLst>
                                </p:cTn>
                              </p:par>
                              <p:par>
                                <p:cTn id="34" presetID="22" presetClass="entr" presetSubtype="1" fill="hold" grpId="0" nodeType="withEffect">
                                  <p:stCondLst>
                                    <p:cond delay="385"/>
                                  </p:stCondLst>
                                  <p:childTnLst>
                                    <p:set>
                                      <p:cBhvr>
                                        <p:cTn id="35" dur="1" fill="hold">
                                          <p:stCondLst>
                                            <p:cond delay="0"/>
                                          </p:stCondLst>
                                        </p:cTn>
                                        <p:tgtEl>
                                          <p:spTgt spid="17"/>
                                        </p:tgtEl>
                                        <p:attrNameLst>
                                          <p:attrName>style.visibility</p:attrName>
                                        </p:attrNameLst>
                                      </p:cBhvr>
                                      <p:to>
                                        <p:strVal val="visible"/>
                                      </p:to>
                                    </p:set>
                                    <p:animEffect transition="in" filter="wipe(down)">
                                      <p:cBhvr>
                                        <p:cTn id="36" dur="390"/>
                                        <p:tgtEl>
                                          <p:spTgt spid="17"/>
                                        </p:tgtEl>
                                      </p:cBhvr>
                                    </p:animEffect>
                                  </p:childTnLst>
                                </p:cTn>
                              </p:par>
                              <p:par>
                                <p:cTn id="37" presetID="23" presetClass="entr" presetSubtype="0" fill="hold" grpId="0" nodeType="withEffect">
                                  <p:stCondLst>
                                    <p:cond delay="44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482" decel="70000"/>
                                        <p:tgtEl>
                                          <p:spTgt spid="18"/>
                                        </p:tgtEl>
                                      </p:cBhvr>
                                    </p:animEffect>
                                    <p:animScale>
                                      <p:cBhvr>
                                        <p:cTn id="40" dur="482" decel="70000" fill="hold"/>
                                        <p:tgtEl>
                                          <p:spTgt spid="18"/>
                                        </p:tgtEl>
                                      </p:cBhvr>
                                      <p:from x="82000" y="82000"/>
                                      <p:to x="100000" y="100000"/>
                                    </p:animScale>
                                  </p:childTnLst>
                                </p:cTn>
                              </p:par>
                              <p:par>
                                <p:cTn id="41" presetID="22" presetClass="entr" presetSubtype="1" fill="hold" grpId="0" nodeType="withEffect">
                                  <p:stCondLst>
                                    <p:cond delay="495"/>
                                  </p:stCondLst>
                                  <p:childTnLst>
                                    <p:set>
                                      <p:cBhvr>
                                        <p:cTn id="42" dur="1" fill="hold">
                                          <p:stCondLst>
                                            <p:cond delay="0"/>
                                          </p:stCondLst>
                                        </p:cTn>
                                        <p:tgtEl>
                                          <p:spTgt spid="21"/>
                                        </p:tgtEl>
                                        <p:attrNameLst>
                                          <p:attrName>style.visibility</p:attrName>
                                        </p:attrNameLst>
                                      </p:cBhvr>
                                      <p:to>
                                        <p:strVal val="visible"/>
                                      </p:to>
                                    </p:set>
                                    <p:animEffect transition="in" filter="wipe(down)">
                                      <p:cBhvr>
                                        <p:cTn id="43" dur="390"/>
                                        <p:tgtEl>
                                          <p:spTgt spid="21"/>
                                        </p:tgtEl>
                                      </p:cBhvr>
                                    </p:animEffect>
                                  </p:childTnLst>
                                </p:cTn>
                              </p:par>
                              <p:par>
                                <p:cTn id="44" presetID="23" presetClass="entr" presetSubtype="0" fill="hold" grpId="0" nodeType="withEffect">
                                  <p:stCondLst>
                                    <p:cond delay="55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82" decel="70000"/>
                                        <p:tgtEl>
                                          <p:spTgt spid="22"/>
                                        </p:tgtEl>
                                      </p:cBhvr>
                                    </p:animEffect>
                                    <p:animScale>
                                      <p:cBhvr>
                                        <p:cTn id="47" dur="482" decel="70000" fill="hold"/>
                                        <p:tgtEl>
                                          <p:spTgt spid="22"/>
                                        </p:tgtEl>
                                      </p:cBhvr>
                                      <p:from x="82000" y="82000"/>
                                      <p:to x="100000" y="100000"/>
                                    </p:animScale>
                                  </p:childTnLst>
                                </p:cTn>
                              </p:par>
                              <p:par>
                                <p:cTn id="48" presetID="10" presetClass="entr" presetSubtype="0" fill="hold" grpId="0" nodeType="withEffect">
                                  <p:stCondLst>
                                    <p:cond delay="605"/>
                                  </p:stCondLst>
                                  <p:childTnLst>
                                    <p:set>
                                      <p:cBhvr>
                                        <p:cTn id="49" dur="1" fill="hold">
                                          <p:stCondLst>
                                            <p:cond delay="0"/>
                                          </p:stCondLst>
                                        </p:cTn>
                                        <p:tgtEl>
                                          <p:spTgt spid="7"/>
                                        </p:tgtEl>
                                        <p:attrNameLst>
                                          <p:attrName>style.visibility</p:attrName>
                                        </p:attrNameLst>
                                      </p:cBhvr>
                                      <p:to>
                                        <p:strVal val="visible"/>
                                      </p:to>
                                    </p:set>
                                    <p:animEffect transition="in" filter="fade">
                                      <p:cBhvr>
                                        <p:cTn id="50" dur="299" decel="70000"/>
                                        <p:tgtEl>
                                          <p:spTgt spid="7"/>
                                        </p:tgtEl>
                                      </p:cBhvr>
                                    </p:animEffect>
                                  </p:childTnLst>
                                </p:cTn>
                              </p:par>
                              <p:par>
                                <p:cTn id="51" presetID="10" presetClass="entr" presetSubtype="0" fill="hold" grpId="0" nodeType="withEffect">
                                  <p:stCondLst>
                                    <p:cond delay="66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299" decel="70000"/>
                                        <p:tgtEl>
                                          <p:spTgt spid="11"/>
                                        </p:tgtEl>
                                      </p:cBhvr>
                                    </p:animEffect>
                                  </p:childTnLst>
                                </p:cTn>
                              </p:par>
                              <p:par>
                                <p:cTn id="54" presetID="10" presetClass="entr" presetSubtype="0" fill="hold" grpId="0" nodeType="withEffect">
                                  <p:stCondLst>
                                    <p:cond delay="715"/>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299" decel="70000"/>
                                        <p:tgtEl>
                                          <p:spTgt spid="15"/>
                                        </p:tgtEl>
                                      </p:cBhvr>
                                    </p:animEffect>
                                  </p:childTnLst>
                                </p:cTn>
                              </p:par>
                              <p:par>
                                <p:cTn id="57" presetID="10" presetClass="entr" presetSubtype="0" fill="hold" grpId="0" nodeType="withEffect">
                                  <p:stCondLst>
                                    <p:cond delay="77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299" decel="70000"/>
                                        <p:tgtEl>
                                          <p:spTgt spid="19"/>
                                        </p:tgtEl>
                                      </p:cBhvr>
                                    </p:animEffect>
                                  </p:childTnLst>
                                </p:cTn>
                              </p:par>
                              <p:par>
                                <p:cTn id="60" presetID="10" presetClass="entr" presetSubtype="0" fill="hold" grpId="0" nodeType="withEffect">
                                  <p:stCondLst>
                                    <p:cond delay="825"/>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299" decel="70000"/>
                                        <p:tgtEl>
                                          <p:spTgt spid="23"/>
                                        </p:tgtEl>
                                      </p:cBhvr>
                                    </p:animEffect>
                                  </p:childTnLst>
                                </p:cTn>
                              </p:par>
                              <p:par>
                                <p:cTn id="63" presetID="10" presetClass="entr" presetSubtype="0" fill="hold" grpId="0" nodeType="withEffect">
                                  <p:stCondLst>
                                    <p:cond delay="880"/>
                                  </p:stCondLst>
                                  <p:childTnLst>
                                    <p:set>
                                      <p:cBhvr>
                                        <p:cTn id="64" dur="1" fill="hold">
                                          <p:stCondLst>
                                            <p:cond delay="0"/>
                                          </p:stCondLst>
                                        </p:cTn>
                                        <p:tgtEl>
                                          <p:spTgt spid="8"/>
                                        </p:tgtEl>
                                        <p:attrNameLst>
                                          <p:attrName>style.visibility</p:attrName>
                                        </p:attrNameLst>
                                      </p:cBhvr>
                                      <p:to>
                                        <p:strVal val="visible"/>
                                      </p:to>
                                    </p:set>
                                    <p:animEffect transition="in" filter="fade">
                                      <p:cBhvr>
                                        <p:cTn id="65" dur="299" decel="70000"/>
                                        <p:tgtEl>
                                          <p:spTgt spid="8"/>
                                        </p:tgtEl>
                                      </p:cBhvr>
                                    </p:animEffect>
                                  </p:childTnLst>
                                </p:cTn>
                              </p:par>
                              <p:par>
                                <p:cTn id="66" presetID="10" presetClass="entr" presetSubtype="0" fill="hold" grpId="0" nodeType="withEffect">
                                  <p:stCondLst>
                                    <p:cond delay="935"/>
                                  </p:stCondLst>
                                  <p:childTnLst>
                                    <p:set>
                                      <p:cBhvr>
                                        <p:cTn id="67" dur="1" fill="hold">
                                          <p:stCondLst>
                                            <p:cond delay="0"/>
                                          </p:stCondLst>
                                        </p:cTn>
                                        <p:tgtEl>
                                          <p:spTgt spid="12"/>
                                        </p:tgtEl>
                                        <p:attrNameLst>
                                          <p:attrName>style.visibility</p:attrName>
                                        </p:attrNameLst>
                                      </p:cBhvr>
                                      <p:to>
                                        <p:strVal val="visible"/>
                                      </p:to>
                                    </p:set>
                                    <p:animEffect transition="in" filter="fade">
                                      <p:cBhvr>
                                        <p:cTn id="68" dur="299" decel="70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1825"/>
        </a:solidFill>
      </p:bgPr>
    </p:bg>
    <p:spTree>
      <p:nvGrpSpPr>
        <p:cNvPr id="1" name=""/>
        <p:cNvGrpSpPr/>
        <p:nvPr/>
      </p:nvGrpSpPr>
      <p:grpSpPr>
        <a:xfrm>
          <a:off x="0" y="0"/>
          <a:ext cx="0" cy="0"/>
          <a:chOff x="0" y="0"/>
          <a:chExt cx="0" cy="0"/>
        </a:xfrm>
      </p:grpSpPr>
      <p:sp>
        <p:nvSpPr>
          <p:cNvPr id="2" name="role:numeral"/>
          <p:cNvSpPr txBox="1"/>
          <p:nvPr/>
        </p:nvSpPr>
        <p:spPr>
          <a:xfrm>
            <a:off x="4480560" y="502920"/>
            <a:ext cx="8138160" cy="6949440"/>
          </a:xfrm>
          <a:prstGeom prst="rect">
            <a:avLst/>
          </a:prstGeom>
          <a:noFill/>
          <a:ln/>
        </p:spPr>
        <p:txBody>
          <a:bodyPr wrap="square" lIns="0" tIns="0" rIns="0" bIns="0" rtlCol="0" anchor="t"/>
          <a:lstStyle/>
          <a:p>
            <a:pPr algn="r" indent="0" marL="0">
              <a:lnSpc>
                <a:spcPct val="100000"/>
              </a:lnSpc>
              <a:buNone/>
            </a:pPr>
            <a:r>
              <a:rPr lang="en-US" sz="43000" b="1" dirty="0">
                <a:solidFill>
                  <a:srgbClr val="112B3F"/>
                </a:solidFill>
                <a:latin typeface="Arial" pitchFamily="34" charset="0"/>
                <a:ea typeface="Arial" pitchFamily="34" charset="-122"/>
                <a:cs typeface="Arial" pitchFamily="34" charset="-120"/>
              </a:rPr>
              <a:t>03</a:t>
            </a:r>
            <a:endParaRPr lang="en-US" sz="43000" dirty="0"/>
          </a:p>
        </p:txBody>
      </p:sp>
      <p:pic>
        <p:nvPicPr>
          <p:cNvPr id="3"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4" name="role:kicker"/>
          <p:cNvSpPr txBox="1"/>
          <p:nvPr/>
        </p:nvSpPr>
        <p:spPr>
          <a:xfrm>
            <a:off x="713232" y="3063240"/>
            <a:ext cx="676656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SECTION THREE</a:t>
            </a:r>
            <a:endParaRPr lang="en-US" sz="1050" dirty="0"/>
          </a:p>
        </p:txBody>
      </p:sp>
      <p:sp>
        <p:nvSpPr>
          <p:cNvPr id="5" name="role:title"/>
          <p:cNvSpPr txBox="1"/>
          <p:nvPr/>
        </p:nvSpPr>
        <p:spPr>
          <a:xfrm>
            <a:off x="713232" y="3392424"/>
            <a:ext cx="7498080" cy="633984"/>
          </a:xfrm>
          <a:prstGeom prst="rect">
            <a:avLst/>
          </a:prstGeom>
          <a:noFill/>
          <a:ln/>
        </p:spPr>
        <p:txBody>
          <a:bodyPr wrap="square" lIns="0" tIns="0" rIns="0" bIns="0" rtlCol="0" anchor="t"/>
          <a:lstStyle/>
          <a:p>
            <a:pPr algn="l" indent="0" marL="0">
              <a:lnSpc>
                <a:spcPct val="102000"/>
              </a:lnSpc>
              <a:buNone/>
            </a:pPr>
            <a:r>
              <a:rPr lang="en-US" sz="4400" b="1" dirty="0">
                <a:solidFill>
                  <a:srgbClr val="FFFFFF"/>
                </a:solidFill>
                <a:latin typeface="Arial" pitchFamily="34" charset="0"/>
                <a:ea typeface="Arial" pitchFamily="34" charset="-122"/>
                <a:cs typeface="Arial" pitchFamily="34" charset="-120"/>
              </a:rPr>
              <a:t>Working together</a:t>
            </a:r>
            <a:endParaRPr lang="en-US" sz="4400" dirty="0"/>
          </a:p>
        </p:txBody>
      </p:sp>
      <p:sp>
        <p:nvSpPr>
          <p:cNvPr id="6" name="role:sub"/>
          <p:cNvSpPr txBox="1"/>
          <p:nvPr/>
        </p:nvSpPr>
        <p:spPr>
          <a:xfrm>
            <a:off x="713232" y="4282440"/>
            <a:ext cx="6766560" cy="559308"/>
          </a:xfrm>
          <a:prstGeom prst="rect">
            <a:avLst/>
          </a:prstGeom>
          <a:noFill/>
          <a:ln/>
        </p:spPr>
        <p:txBody>
          <a:bodyPr wrap="square" lIns="0" tIns="0" rIns="0" bIns="0" rtlCol="0" anchor="t"/>
          <a:lstStyle/>
          <a:p>
            <a:pPr algn="l" indent="0" marL="0">
              <a:lnSpc>
                <a:spcPct val="130000"/>
              </a:lnSpc>
              <a:buNone/>
            </a:pPr>
            <a:r>
              <a:rPr lang="en-US" sz="1500" dirty="0">
                <a:solidFill>
                  <a:srgbClr val="9DB5C8"/>
                </a:solidFill>
                <a:latin typeface="Arial" pitchFamily="34" charset="0"/>
                <a:ea typeface="Arial" pitchFamily="34" charset="-122"/>
                <a:cs typeface="Arial" pitchFamily="34" charset="-120"/>
              </a:rPr>
              <a:t>How an engagement starts, what it costs, and what you get back every month.</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20" decel="70000"/>
                                        <p:tgtEl>
                                          <p:spTgt spid="3"/>
                                        </p:tgtEl>
                                      </p:cBhvr>
                                    </p:animEffect>
                                  </p:childTnLst>
                                </p:cTn>
                              </p:par>
                              <p:par>
                                <p:cTn id="8" presetID="23"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1035" decel="70000"/>
                                        <p:tgtEl>
                                          <p:spTgt spid="2"/>
                                        </p:tgtEl>
                                      </p:cBhvr>
                                    </p:animEffect>
                                    <p:animScale>
                                      <p:cBhvr>
                                        <p:cTn id="11" dur="1035" decel="70000" fill="hold"/>
                                        <p:tgtEl>
                                          <p:spTgt spid="2"/>
                                        </p:tgtEl>
                                      </p:cBhvr>
                                      <p:from x="106000" y="106000"/>
                                      <p:to x="100000" y="100000"/>
                                    </p:animScale>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22" decel="70000"/>
                                        <p:tgtEl>
                                          <p:spTgt spid="4"/>
                                        </p:tgtEl>
                                      </p:cBhvr>
                                    </p:animEffect>
                                    <p:anim calcmode="lin" valueType="num">
                                      <p:cBhvr additive="base">
                                        <p:cTn id="15" dur="322" decel="70000" fill="hold"/>
                                        <p:tgtEl>
                                          <p:spTgt spid="4"/>
                                        </p:tgtEl>
                                        <p:attrNameLst>
                                          <p:attrName>ppt_y</p:attrName>
                                        </p:attrNameLst>
                                      </p:cBhvr>
                                      <p:tavLst>
                                        <p:tav tm="0">
                                          <p:val>
                                            <p:strVal val="#ppt_y+0.03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482" decel="70000"/>
                                        <p:tgtEl>
                                          <p:spTgt spid="5"/>
                                        </p:tgtEl>
                                      </p:cBhvr>
                                    </p:animEffect>
                                    <p:anim calcmode="lin" valueType="num">
                                      <p:cBhvr additive="base">
                                        <p:cTn id="19" dur="482" decel="70000" fill="hold"/>
                                        <p:tgtEl>
                                          <p:spTgt spid="5"/>
                                        </p:tgtEl>
                                        <p:attrNameLst>
                                          <p:attrName>ppt_y</p:attrName>
                                        </p:attrNameLst>
                                      </p:cBhvr>
                                      <p:tavLst>
                                        <p:tav tm="0">
                                          <p:val>
                                            <p:strVal val="#ppt_y+0.0512"/>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390" decel="70000"/>
                                        <p:tgtEl>
                                          <p:spTgt spid="6"/>
                                        </p:tgtEl>
                                      </p:cBhvr>
                                    </p:animEffect>
                                    <p:anim calcmode="lin" valueType="num">
                                      <p:cBhvr additive="base">
                                        <p:cTn id="23" dur="390" decel="70000" fill="hold"/>
                                        <p:tgtEl>
                                          <p:spTgt spid="6"/>
                                        </p:tgtEl>
                                        <p:attrNameLst>
                                          <p:attrName>ppt_y</p:attrName>
                                        </p:attrNameLst>
                                      </p:cBhvr>
                                      <p:tavLst>
                                        <p:tav tm="0">
                                          <p:val>
                                            <p:strVal val="#ppt_y+0.038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role:panel-bottom"/>
          <p:cNvSpPr/>
          <p:nvPr/>
        </p:nvSpPr>
        <p:spPr>
          <a:xfrm>
            <a:off x="0" y="4983480"/>
            <a:ext cx="12191695" cy="1874520"/>
          </a:xfrm>
          <a:prstGeom prst="rect">
            <a:avLst/>
          </a:prstGeom>
          <a:solidFill>
            <a:srgbClr val="0A1825"/>
          </a:solidFill>
          <a:ln w="12700">
            <a:solidFill>
              <a:srgbClr val="333333"/>
            </a:solidFill>
            <a:prstDash val="solid"/>
          </a:ln>
        </p:spPr>
      </p:sp>
      <p:pic>
        <p:nvPicPr>
          <p:cNvPr id="3"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4"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PROCESS</a:t>
            </a:r>
            <a:endParaRPr lang="en-US" sz="1050" dirty="0"/>
          </a:p>
        </p:txBody>
      </p:sp>
      <p:sp>
        <p:nvSpPr>
          <p:cNvPr id="5" name="role:title"/>
          <p:cNvSpPr txBox="1"/>
          <p:nvPr/>
        </p:nvSpPr>
        <p:spPr>
          <a:xfrm>
            <a:off x="713232" y="987552"/>
            <a:ext cx="8570671"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How an engagement runs</a:t>
            </a:r>
            <a:endParaRPr lang="en-US" sz="3900" dirty="0"/>
          </a:p>
        </p:txBody>
      </p:sp>
      <p:sp>
        <p:nvSpPr>
          <p:cNvPr id="6" name="role:sub"/>
          <p:cNvSpPr txBox="1"/>
          <p:nvPr/>
        </p:nvSpPr>
        <p:spPr>
          <a:xfrm>
            <a:off x="713232" y="1703070"/>
            <a:ext cx="8046720" cy="356616"/>
          </a:xfrm>
          <a:prstGeom prst="rect">
            <a:avLst/>
          </a:prstGeom>
          <a:noFill/>
          <a:ln/>
        </p:spPr>
        <p:txBody>
          <a:bodyPr wrap="square" lIns="0" tIns="0" rIns="0" bIns="0" rtlCol="0" anchor="t"/>
          <a:lstStyle/>
          <a:p>
            <a:pPr algn="l" indent="0" marL="0">
              <a:lnSpc>
                <a:spcPct val="128000"/>
              </a:lnSpc>
              <a:buNone/>
            </a:pPr>
            <a:r>
              <a:rPr lang="en-US" sz="1800" dirty="0">
                <a:solidFill>
                  <a:srgbClr val="5A6772"/>
                </a:solidFill>
                <a:latin typeface="Arial" pitchFamily="34" charset="0"/>
                <a:ea typeface="Arial" pitchFamily="34" charset="-122"/>
                <a:cs typeface="Arial" pitchFamily="34" charset="-120"/>
              </a:rPr>
              <a:t>It starts with a free audit, and nothing is guessed after that.</a:t>
            </a:r>
            <a:endParaRPr lang="en-US" sz="1800" dirty="0"/>
          </a:p>
        </p:txBody>
      </p:sp>
      <p:sp>
        <p:nvSpPr>
          <p:cNvPr id="7"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19</a:t>
            </a:r>
            <a:endParaRPr lang="en-US" sz="1050" dirty="0"/>
          </a:p>
        </p:txBody>
      </p:sp>
      <p:sp>
        <p:nvSpPr>
          <p:cNvPr id="8" name="role:step-num"/>
          <p:cNvSpPr txBox="1"/>
          <p:nvPr/>
        </p:nvSpPr>
        <p:spPr>
          <a:xfrm>
            <a:off x="713232" y="2514600"/>
            <a:ext cx="1604406"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01</a:t>
            </a:r>
            <a:endParaRPr lang="en-US" sz="1500" dirty="0"/>
          </a:p>
        </p:txBody>
      </p:sp>
      <p:sp>
        <p:nvSpPr>
          <p:cNvPr id="9" name="role:step-head"/>
          <p:cNvSpPr txBox="1"/>
          <p:nvPr/>
        </p:nvSpPr>
        <p:spPr>
          <a:xfrm>
            <a:off x="713232" y="2935224"/>
            <a:ext cx="1604406" cy="48310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Free marketing audit</a:t>
            </a:r>
            <a:endParaRPr lang="en-US" sz="1500" dirty="0"/>
          </a:p>
        </p:txBody>
      </p:sp>
      <p:sp>
        <p:nvSpPr>
          <p:cNvPr id="10" name="role:body"/>
          <p:cNvSpPr txBox="1"/>
          <p:nvPr/>
        </p:nvSpPr>
        <p:spPr>
          <a:xfrm>
            <a:off x="713232" y="3528060"/>
            <a:ext cx="1604406" cy="904113"/>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We audit the website, SEO and full digital presence before quoting. Published as a $500 value.</a:t>
            </a:r>
            <a:endParaRPr lang="en-US" sz="1050" dirty="0"/>
          </a:p>
        </p:txBody>
      </p:sp>
      <p:sp>
        <p:nvSpPr>
          <p:cNvPr id="11" name="role:rule-v"/>
          <p:cNvSpPr/>
          <p:nvPr/>
        </p:nvSpPr>
        <p:spPr>
          <a:xfrm>
            <a:off x="2610246" y="2514600"/>
            <a:ext cx="0" cy="1737360"/>
          </a:xfrm>
          <a:prstGeom prst="line">
            <a:avLst/>
          </a:prstGeom>
          <a:noFill/>
          <a:ln w="9525">
            <a:solidFill>
              <a:srgbClr val="E2EAF1"/>
            </a:solidFill>
            <a:prstDash val="solid"/>
          </a:ln>
        </p:spPr>
      </p:sp>
      <p:sp>
        <p:nvSpPr>
          <p:cNvPr id="12" name="role:step-num"/>
          <p:cNvSpPr txBox="1"/>
          <p:nvPr/>
        </p:nvSpPr>
        <p:spPr>
          <a:xfrm>
            <a:off x="2866278" y="2514600"/>
            <a:ext cx="1604406"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02</a:t>
            </a:r>
            <a:endParaRPr lang="en-US" sz="1500" dirty="0"/>
          </a:p>
        </p:txBody>
      </p:sp>
      <p:sp>
        <p:nvSpPr>
          <p:cNvPr id="13" name="role:step-head"/>
          <p:cNvSpPr txBox="1"/>
          <p:nvPr/>
        </p:nvSpPr>
        <p:spPr>
          <a:xfrm>
            <a:off x="2866278" y="2935224"/>
            <a:ext cx="1604406" cy="48310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Strategy and goals</a:t>
            </a:r>
            <a:endParaRPr lang="en-US" sz="1500" dirty="0"/>
          </a:p>
        </p:txBody>
      </p:sp>
      <p:sp>
        <p:nvSpPr>
          <p:cNvPr id="14" name="role:body"/>
          <p:cNvSpPr txBox="1"/>
          <p:nvPr/>
        </p:nvSpPr>
        <p:spPr>
          <a:xfrm>
            <a:off x="2866278" y="3528060"/>
            <a:ext cx="1604406" cy="736092"/>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We agree the outcome first: calls, forms, bookings or sales, and how each is counted.</a:t>
            </a:r>
            <a:endParaRPr lang="en-US" sz="1050" dirty="0"/>
          </a:p>
        </p:txBody>
      </p:sp>
      <p:sp>
        <p:nvSpPr>
          <p:cNvPr id="15" name="role:rule-v"/>
          <p:cNvSpPr/>
          <p:nvPr/>
        </p:nvSpPr>
        <p:spPr>
          <a:xfrm>
            <a:off x="4763292" y="2514600"/>
            <a:ext cx="0" cy="1737360"/>
          </a:xfrm>
          <a:prstGeom prst="line">
            <a:avLst/>
          </a:prstGeom>
          <a:noFill/>
          <a:ln w="9525">
            <a:solidFill>
              <a:srgbClr val="E2EAF1"/>
            </a:solidFill>
            <a:prstDash val="solid"/>
          </a:ln>
        </p:spPr>
      </p:sp>
      <p:sp>
        <p:nvSpPr>
          <p:cNvPr id="16" name="role:step-num"/>
          <p:cNvSpPr txBox="1"/>
          <p:nvPr/>
        </p:nvSpPr>
        <p:spPr>
          <a:xfrm>
            <a:off x="5019324" y="2514600"/>
            <a:ext cx="1604406"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03</a:t>
            </a:r>
            <a:endParaRPr lang="en-US" sz="1500" dirty="0"/>
          </a:p>
        </p:txBody>
      </p:sp>
      <p:sp>
        <p:nvSpPr>
          <p:cNvPr id="17" name="role:step-head"/>
          <p:cNvSpPr txBox="1"/>
          <p:nvPr/>
        </p:nvSpPr>
        <p:spPr>
          <a:xfrm>
            <a:off x="5019324" y="2935224"/>
            <a:ext cx="1604406" cy="27355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Build</a:t>
            </a:r>
            <a:endParaRPr lang="en-US" sz="1500" dirty="0"/>
          </a:p>
        </p:txBody>
      </p:sp>
      <p:sp>
        <p:nvSpPr>
          <p:cNvPr id="18" name="role:body"/>
          <p:cNvSpPr txBox="1"/>
          <p:nvPr/>
        </p:nvSpPr>
        <p:spPr>
          <a:xfrm>
            <a:off x="5019324" y="3318510"/>
            <a:ext cx="1604406" cy="904113"/>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Site, tracking, campaigns, content and automations built to that plan, with clear owners.</a:t>
            </a:r>
            <a:endParaRPr lang="en-US" sz="1050" dirty="0"/>
          </a:p>
        </p:txBody>
      </p:sp>
      <p:sp>
        <p:nvSpPr>
          <p:cNvPr id="19" name="role:rule-v"/>
          <p:cNvSpPr/>
          <p:nvPr/>
        </p:nvSpPr>
        <p:spPr>
          <a:xfrm>
            <a:off x="6916339" y="2514600"/>
            <a:ext cx="0" cy="1737360"/>
          </a:xfrm>
          <a:prstGeom prst="line">
            <a:avLst/>
          </a:prstGeom>
          <a:noFill/>
          <a:ln w="9525">
            <a:solidFill>
              <a:srgbClr val="E2EAF1"/>
            </a:solidFill>
            <a:prstDash val="solid"/>
          </a:ln>
        </p:spPr>
      </p:sp>
      <p:sp>
        <p:nvSpPr>
          <p:cNvPr id="20" name="role:step-num"/>
          <p:cNvSpPr txBox="1"/>
          <p:nvPr/>
        </p:nvSpPr>
        <p:spPr>
          <a:xfrm>
            <a:off x="7172371" y="2514600"/>
            <a:ext cx="1604406"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04</a:t>
            </a:r>
            <a:endParaRPr lang="en-US" sz="1500" dirty="0"/>
          </a:p>
        </p:txBody>
      </p:sp>
      <p:sp>
        <p:nvSpPr>
          <p:cNvPr id="21" name="role:step-head"/>
          <p:cNvSpPr txBox="1"/>
          <p:nvPr/>
        </p:nvSpPr>
        <p:spPr>
          <a:xfrm>
            <a:off x="7172371" y="2935224"/>
            <a:ext cx="1604406" cy="48310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Launch and optimize</a:t>
            </a:r>
            <a:endParaRPr lang="en-US" sz="1500" dirty="0"/>
          </a:p>
        </p:txBody>
      </p:sp>
      <p:sp>
        <p:nvSpPr>
          <p:cNvPr id="22" name="role:body"/>
          <p:cNvSpPr txBox="1"/>
          <p:nvPr/>
        </p:nvSpPr>
        <p:spPr>
          <a:xfrm>
            <a:off x="7172371" y="3528060"/>
            <a:ext cx="1604406" cy="904113"/>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First runs watched closely, then continuous testing on ads, pages and search terms.</a:t>
            </a:r>
            <a:endParaRPr lang="en-US" sz="1050" dirty="0"/>
          </a:p>
        </p:txBody>
      </p:sp>
      <p:sp>
        <p:nvSpPr>
          <p:cNvPr id="23" name="role:rule-v"/>
          <p:cNvSpPr/>
          <p:nvPr/>
        </p:nvSpPr>
        <p:spPr>
          <a:xfrm>
            <a:off x="9069385" y="2514600"/>
            <a:ext cx="0" cy="1737360"/>
          </a:xfrm>
          <a:prstGeom prst="line">
            <a:avLst/>
          </a:prstGeom>
          <a:noFill/>
          <a:ln w="9525">
            <a:solidFill>
              <a:srgbClr val="E2EAF1"/>
            </a:solidFill>
            <a:prstDash val="solid"/>
          </a:ln>
        </p:spPr>
      </p:sp>
      <p:sp>
        <p:nvSpPr>
          <p:cNvPr id="24" name="role:step-num"/>
          <p:cNvSpPr txBox="1"/>
          <p:nvPr/>
        </p:nvSpPr>
        <p:spPr>
          <a:xfrm>
            <a:off x="9325417" y="2514600"/>
            <a:ext cx="1604406" cy="292608"/>
          </a:xfrm>
          <a:prstGeom prst="rect">
            <a:avLst/>
          </a:prstGeom>
          <a:noFill/>
          <a:ln/>
        </p:spPr>
        <p:txBody>
          <a:bodyPr wrap="square" lIns="0" tIns="0" rIns="0" bIns="0" rtlCol="0" anchor="t"/>
          <a:lstStyle/>
          <a:p>
            <a:pPr algn="l" indent="0" marL="0">
              <a:buNone/>
            </a:pPr>
            <a:r>
              <a:rPr lang="en-US" sz="1500" b="1" spc="100" kern="0" dirty="0">
                <a:solidFill>
                  <a:srgbClr val="2A80C2"/>
                </a:solidFill>
                <a:latin typeface="Arial" pitchFamily="34" charset="0"/>
                <a:ea typeface="Arial" pitchFamily="34" charset="-122"/>
                <a:cs typeface="Arial" pitchFamily="34" charset="-120"/>
              </a:rPr>
              <a:t>05</a:t>
            </a:r>
            <a:endParaRPr lang="en-US" sz="1500" dirty="0"/>
          </a:p>
        </p:txBody>
      </p:sp>
      <p:sp>
        <p:nvSpPr>
          <p:cNvPr id="25" name="role:step-head"/>
          <p:cNvSpPr txBox="1"/>
          <p:nvPr/>
        </p:nvSpPr>
        <p:spPr>
          <a:xfrm>
            <a:off x="9325417" y="2935224"/>
            <a:ext cx="1604406" cy="273558"/>
          </a:xfrm>
          <a:prstGeom prst="rect">
            <a:avLst/>
          </a:prstGeom>
          <a:noFill/>
          <a:ln/>
        </p:spPr>
        <p:txBody>
          <a:bodyPr wrap="square" lIns="0" tIns="0" rIns="0" bIns="0" rtlCol="0" anchor="t"/>
          <a:lstStyle/>
          <a:p>
            <a:pPr algn="l" indent="0" marL="0">
              <a:lnSpc>
                <a:spcPct val="110000"/>
              </a:lnSpc>
              <a:buNone/>
            </a:pPr>
            <a:r>
              <a:rPr lang="en-US" sz="1500" b="1" dirty="0">
                <a:solidFill>
                  <a:srgbClr val="0F151B"/>
                </a:solidFill>
                <a:latin typeface="Arial" pitchFamily="34" charset="0"/>
                <a:ea typeface="Arial" pitchFamily="34" charset="-122"/>
                <a:cs typeface="Arial" pitchFamily="34" charset="-120"/>
              </a:rPr>
              <a:t>Report</a:t>
            </a:r>
            <a:endParaRPr lang="en-US" sz="1500" dirty="0"/>
          </a:p>
        </p:txBody>
      </p:sp>
      <p:sp>
        <p:nvSpPr>
          <p:cNvPr id="26" name="role:body"/>
          <p:cNvSpPr txBox="1"/>
          <p:nvPr/>
        </p:nvSpPr>
        <p:spPr>
          <a:xfrm>
            <a:off x="9325417" y="3318510"/>
            <a:ext cx="1604406" cy="736092"/>
          </a:xfrm>
          <a:prstGeom prst="rect">
            <a:avLst/>
          </a:prstGeom>
          <a:noFill/>
          <a:ln/>
        </p:spPr>
        <p:txBody>
          <a:bodyPr wrap="square" lIns="0" tIns="0" rIns="0" bIns="0" rtlCol="0" anchor="t"/>
          <a:lstStyle/>
          <a:p>
            <a:pPr algn="l" indent="0" marL="0">
              <a:lnSpc>
                <a:spcPct val="126000"/>
              </a:lnSpc>
              <a:buNone/>
            </a:pPr>
            <a:r>
              <a:rPr lang="en-US" sz="1050" dirty="0">
                <a:solidFill>
                  <a:srgbClr val="5A6772"/>
                </a:solidFill>
                <a:latin typeface="Arial" pitchFamily="34" charset="0"/>
                <a:ea typeface="Arial" pitchFamily="34" charset="-122"/>
                <a:cs typeface="Arial" pitchFamily="34" charset="-120"/>
              </a:rPr>
              <a:t>Analytics, tracking and consulting are in every retainer. You see the same numbers we do.</a:t>
            </a:r>
            <a:endParaRPr lang="en-US" sz="1050" dirty="0"/>
          </a:p>
        </p:txBody>
      </p:sp>
      <p:sp>
        <p:nvSpPr>
          <p:cNvPr id="27" name="role:kicker"/>
          <p:cNvSpPr txBox="1"/>
          <p:nvPr/>
        </p:nvSpPr>
        <p:spPr>
          <a:xfrm>
            <a:off x="713232" y="5230368"/>
            <a:ext cx="731520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MOMENTUM'S OWN PUBLISHED COMMITMENT</a:t>
            </a:r>
            <a:endParaRPr lang="en-US" sz="1050" dirty="0"/>
          </a:p>
        </p:txBody>
      </p:sp>
      <p:sp>
        <p:nvSpPr>
          <p:cNvPr id="28" name="role:body"/>
          <p:cNvSpPr txBox="1"/>
          <p:nvPr/>
        </p:nvSpPr>
        <p:spPr>
          <a:xfrm>
            <a:off x="713232" y="5541264"/>
            <a:ext cx="10515600" cy="352044"/>
          </a:xfrm>
          <a:prstGeom prst="rect">
            <a:avLst/>
          </a:prstGeom>
          <a:noFill/>
          <a:ln/>
        </p:spPr>
        <p:txBody>
          <a:bodyPr wrap="square" lIns="0" tIns="0" rIns="0" bIns="0" rtlCol="0" anchor="t"/>
          <a:lstStyle/>
          <a:p>
            <a:pPr algn="l" indent="0" marL="0">
              <a:lnSpc>
                <a:spcPct val="108000"/>
              </a:lnSpc>
              <a:buNone/>
            </a:pPr>
            <a:r>
              <a:rPr lang="en-US" sz="2100" b="1" dirty="0">
                <a:solidFill>
                  <a:srgbClr val="FFFFFF"/>
                </a:solidFill>
                <a:latin typeface="Arial" pitchFamily="34" charset="0"/>
                <a:ea typeface="Arial" pitchFamily="34" charset="-122"/>
                <a:cs typeface="Arial" pitchFamily="34" charset="-120"/>
              </a:rPr>
              <a:t>"We guarantee to grow your business online or your money back"</a:t>
            </a:r>
            <a:endParaRPr lang="en-US" sz="2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42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0" decel="700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22" decel="70000"/>
                                        <p:tgtEl>
                                          <p:spTgt spid="4"/>
                                        </p:tgtEl>
                                      </p:cBhvr>
                                    </p:animEffect>
                                    <p:anim calcmode="lin" valueType="num">
                                      <p:cBhvr additive="base">
                                        <p:cTn id="14" dur="322" decel="70000" fill="hold"/>
                                        <p:tgtEl>
                                          <p:spTgt spid="4"/>
                                        </p:tgtEl>
                                        <p:attrNameLst>
                                          <p:attrName>ppt_y</p:attrName>
                                        </p:attrNameLst>
                                      </p:cBhvr>
                                      <p:tavLst>
                                        <p:tav tm="0">
                                          <p:val>
                                            <p:strVal val="#ppt_y+0.032"/>
                                          </p:val>
                                        </p:tav>
                                        <p:tav tm="100000">
                                          <p:val>
                                            <p:strVal val="#ppt_y"/>
                                          </p:val>
                                        </p:tav>
                                      </p:tavLst>
                                    </p:anim>
                                  </p:childTnLst>
                                </p:cTn>
                              </p:par>
                              <p:par>
                                <p:cTn id="15" presetID="10" presetClass="entr" presetSubtype="0" fill="hold" grpId="0" nodeType="withEffect">
                                  <p:stCondLst>
                                    <p:cond delay="55"/>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82" decel="70000"/>
                                        <p:tgtEl>
                                          <p:spTgt spid="5"/>
                                        </p:tgtEl>
                                      </p:cBhvr>
                                    </p:animEffect>
                                    <p:anim calcmode="lin" valueType="num">
                                      <p:cBhvr additive="base">
                                        <p:cTn id="18" dur="482" decel="70000" fill="hold"/>
                                        <p:tgtEl>
                                          <p:spTgt spid="5"/>
                                        </p:tgtEl>
                                        <p:attrNameLst>
                                          <p:attrName>ppt_y</p:attrName>
                                        </p:attrNameLst>
                                      </p:cBhvr>
                                      <p:tavLst>
                                        <p:tav tm="0">
                                          <p:val>
                                            <p:strVal val="#ppt_y+0.0512"/>
                                          </p:val>
                                        </p:tav>
                                        <p:tav tm="100000">
                                          <p:val>
                                            <p:strVal val="#ppt_y"/>
                                          </p:val>
                                        </p:tav>
                                      </p:tavLst>
                                    </p:anim>
                                  </p:childTnLst>
                                </p:cTn>
                              </p:par>
                              <p:par>
                                <p:cTn id="19" presetID="10" presetClass="entr" presetSubtype="0" fill="hold" grpId="0" nodeType="withEffect">
                                  <p:stCondLst>
                                    <p:cond delay="11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390" decel="70000"/>
                                        <p:tgtEl>
                                          <p:spTgt spid="6"/>
                                        </p:tgtEl>
                                      </p:cBhvr>
                                    </p:animEffect>
                                    <p:anim calcmode="lin" valueType="num">
                                      <p:cBhvr additive="base">
                                        <p:cTn id="22" dur="390" decel="70000" fill="hold"/>
                                        <p:tgtEl>
                                          <p:spTgt spid="6"/>
                                        </p:tgtEl>
                                        <p:attrNameLst>
                                          <p:attrName>ppt_y</p:attrName>
                                        </p:attrNameLst>
                                      </p:cBhvr>
                                      <p:tavLst>
                                        <p:tav tm="0">
                                          <p:val>
                                            <p:strVal val="#ppt_y+0.0384"/>
                                          </p:val>
                                        </p:tav>
                                        <p:tav tm="100000">
                                          <p:val>
                                            <p:strVal val="#ppt_y"/>
                                          </p:val>
                                        </p:tav>
                                      </p:tavLst>
                                    </p:anim>
                                  </p:childTnLst>
                                </p:cTn>
                              </p:par>
                              <p:par>
                                <p:cTn id="23" presetID="23" presetClass="entr" presetSubtype="0" fill="hold" grpId="0" nodeType="withEffect">
                                  <p:stCondLst>
                                    <p:cond delay="165"/>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68" decel="70000"/>
                                        <p:tgtEl>
                                          <p:spTgt spid="8"/>
                                        </p:tgtEl>
                                      </p:cBhvr>
                                    </p:animEffect>
                                    <p:animScale>
                                      <p:cBhvr>
                                        <p:cTn id="26" dur="368" decel="70000" fill="hold"/>
                                        <p:tgtEl>
                                          <p:spTgt spid="8"/>
                                        </p:tgtEl>
                                      </p:cBhvr>
                                      <p:from x="82000" y="82000"/>
                                      <p:to x="100000" y="100000"/>
                                    </p:animScale>
                                  </p:childTnLst>
                                </p:cTn>
                              </p:par>
                              <p:par>
                                <p:cTn id="27" presetID="22" presetClass="entr" presetSubtype="1" fill="hold" grpId="0" nodeType="withEffect">
                                  <p:stCondLst>
                                    <p:cond delay="220"/>
                                  </p:stCondLst>
                                  <p:childTnLst>
                                    <p:set>
                                      <p:cBhvr>
                                        <p:cTn id="28" dur="1" fill="hold">
                                          <p:stCondLst>
                                            <p:cond delay="0"/>
                                          </p:stCondLst>
                                        </p:cTn>
                                        <p:tgtEl>
                                          <p:spTgt spid="11"/>
                                        </p:tgtEl>
                                        <p:attrNameLst>
                                          <p:attrName>style.visibility</p:attrName>
                                        </p:attrNameLst>
                                      </p:cBhvr>
                                      <p:to>
                                        <p:strVal val="visible"/>
                                      </p:to>
                                    </p:set>
                                    <p:animEffect transition="in" filter="wipe(down)">
                                      <p:cBhvr>
                                        <p:cTn id="29" dur="390"/>
                                        <p:tgtEl>
                                          <p:spTgt spid="11"/>
                                        </p:tgtEl>
                                      </p:cBhvr>
                                    </p:animEffect>
                                  </p:childTnLst>
                                </p:cTn>
                              </p:par>
                              <p:par>
                                <p:cTn id="30" presetID="23" presetClass="entr" presetSubtype="0" fill="hold" grpId="0" nodeType="withEffect">
                                  <p:stCondLst>
                                    <p:cond delay="275"/>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368" decel="70000"/>
                                        <p:tgtEl>
                                          <p:spTgt spid="12"/>
                                        </p:tgtEl>
                                      </p:cBhvr>
                                    </p:animEffect>
                                    <p:animScale>
                                      <p:cBhvr>
                                        <p:cTn id="33" dur="368" decel="70000" fill="hold"/>
                                        <p:tgtEl>
                                          <p:spTgt spid="12"/>
                                        </p:tgtEl>
                                      </p:cBhvr>
                                      <p:from x="82000" y="82000"/>
                                      <p:to x="100000" y="100000"/>
                                    </p:animScale>
                                  </p:childTnLst>
                                </p:cTn>
                              </p:par>
                              <p:par>
                                <p:cTn id="34" presetID="22" presetClass="entr" presetSubtype="1" fill="hold" grpId="0" nodeType="withEffect">
                                  <p:stCondLst>
                                    <p:cond delay="330"/>
                                  </p:stCondLst>
                                  <p:childTnLst>
                                    <p:set>
                                      <p:cBhvr>
                                        <p:cTn id="35" dur="1" fill="hold">
                                          <p:stCondLst>
                                            <p:cond delay="0"/>
                                          </p:stCondLst>
                                        </p:cTn>
                                        <p:tgtEl>
                                          <p:spTgt spid="15"/>
                                        </p:tgtEl>
                                        <p:attrNameLst>
                                          <p:attrName>style.visibility</p:attrName>
                                        </p:attrNameLst>
                                      </p:cBhvr>
                                      <p:to>
                                        <p:strVal val="visible"/>
                                      </p:to>
                                    </p:set>
                                    <p:animEffect transition="in" filter="wipe(down)">
                                      <p:cBhvr>
                                        <p:cTn id="36" dur="390"/>
                                        <p:tgtEl>
                                          <p:spTgt spid="15"/>
                                        </p:tgtEl>
                                      </p:cBhvr>
                                    </p:animEffect>
                                  </p:childTnLst>
                                </p:cTn>
                              </p:par>
                              <p:par>
                                <p:cTn id="37" presetID="23" presetClass="entr" presetSubtype="0" fill="hold" grpId="0" nodeType="withEffect">
                                  <p:stCondLst>
                                    <p:cond delay="385"/>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368" decel="70000"/>
                                        <p:tgtEl>
                                          <p:spTgt spid="16"/>
                                        </p:tgtEl>
                                      </p:cBhvr>
                                    </p:animEffect>
                                    <p:animScale>
                                      <p:cBhvr>
                                        <p:cTn id="40" dur="368" decel="70000" fill="hold"/>
                                        <p:tgtEl>
                                          <p:spTgt spid="16"/>
                                        </p:tgtEl>
                                      </p:cBhvr>
                                      <p:from x="82000" y="82000"/>
                                      <p:to x="100000" y="100000"/>
                                    </p:animScale>
                                  </p:childTnLst>
                                </p:cTn>
                              </p:par>
                              <p:par>
                                <p:cTn id="41" presetID="22" presetClass="entr" presetSubtype="1" fill="hold" grpId="0" nodeType="withEffect">
                                  <p:stCondLst>
                                    <p:cond delay="440"/>
                                  </p:stCondLst>
                                  <p:childTnLst>
                                    <p:set>
                                      <p:cBhvr>
                                        <p:cTn id="42" dur="1" fill="hold">
                                          <p:stCondLst>
                                            <p:cond delay="0"/>
                                          </p:stCondLst>
                                        </p:cTn>
                                        <p:tgtEl>
                                          <p:spTgt spid="19"/>
                                        </p:tgtEl>
                                        <p:attrNameLst>
                                          <p:attrName>style.visibility</p:attrName>
                                        </p:attrNameLst>
                                      </p:cBhvr>
                                      <p:to>
                                        <p:strVal val="visible"/>
                                      </p:to>
                                    </p:set>
                                    <p:animEffect transition="in" filter="wipe(down)">
                                      <p:cBhvr>
                                        <p:cTn id="43" dur="390"/>
                                        <p:tgtEl>
                                          <p:spTgt spid="19"/>
                                        </p:tgtEl>
                                      </p:cBhvr>
                                    </p:animEffect>
                                  </p:childTnLst>
                                </p:cTn>
                              </p:par>
                              <p:par>
                                <p:cTn id="44" presetID="23" presetClass="entr" presetSubtype="0" fill="hold" grpId="0" nodeType="withEffect">
                                  <p:stCondLst>
                                    <p:cond delay="495"/>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68" decel="70000"/>
                                        <p:tgtEl>
                                          <p:spTgt spid="20"/>
                                        </p:tgtEl>
                                      </p:cBhvr>
                                    </p:animEffect>
                                    <p:animScale>
                                      <p:cBhvr>
                                        <p:cTn id="47" dur="368" decel="70000" fill="hold"/>
                                        <p:tgtEl>
                                          <p:spTgt spid="20"/>
                                        </p:tgtEl>
                                      </p:cBhvr>
                                      <p:from x="82000" y="82000"/>
                                      <p:to x="100000" y="100000"/>
                                    </p:animScale>
                                  </p:childTnLst>
                                </p:cTn>
                              </p:par>
                              <p:par>
                                <p:cTn id="48" presetID="22" presetClass="entr" presetSubtype="1" fill="hold" grpId="0" nodeType="withEffect">
                                  <p:stCondLst>
                                    <p:cond delay="550"/>
                                  </p:stCondLst>
                                  <p:childTnLst>
                                    <p:set>
                                      <p:cBhvr>
                                        <p:cTn id="49" dur="1" fill="hold">
                                          <p:stCondLst>
                                            <p:cond delay="0"/>
                                          </p:stCondLst>
                                        </p:cTn>
                                        <p:tgtEl>
                                          <p:spTgt spid="23"/>
                                        </p:tgtEl>
                                        <p:attrNameLst>
                                          <p:attrName>style.visibility</p:attrName>
                                        </p:attrNameLst>
                                      </p:cBhvr>
                                      <p:to>
                                        <p:strVal val="visible"/>
                                      </p:to>
                                    </p:set>
                                    <p:animEffect transition="in" filter="wipe(down)">
                                      <p:cBhvr>
                                        <p:cTn id="50" dur="390"/>
                                        <p:tgtEl>
                                          <p:spTgt spid="23"/>
                                        </p:tgtEl>
                                      </p:cBhvr>
                                    </p:animEffect>
                                  </p:childTnLst>
                                </p:cTn>
                              </p:par>
                              <p:par>
                                <p:cTn id="51" presetID="23" presetClass="entr" presetSubtype="0" fill="hold" grpId="0" nodeType="withEffect">
                                  <p:stCondLst>
                                    <p:cond delay="605"/>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368" decel="70000"/>
                                        <p:tgtEl>
                                          <p:spTgt spid="24"/>
                                        </p:tgtEl>
                                      </p:cBhvr>
                                    </p:animEffect>
                                    <p:animScale>
                                      <p:cBhvr>
                                        <p:cTn id="54" dur="368" decel="70000" fill="hold"/>
                                        <p:tgtEl>
                                          <p:spTgt spid="24"/>
                                        </p:tgtEl>
                                      </p:cBhvr>
                                      <p:from x="82000" y="82000"/>
                                      <p:to x="100000" y="100000"/>
                                    </p:animScale>
                                  </p:childTnLst>
                                </p:cTn>
                              </p:par>
                              <p:par>
                                <p:cTn id="55" presetID="10" presetClass="entr" presetSubtype="0" fill="hold" grpId="0" nodeType="withEffect">
                                  <p:stCondLst>
                                    <p:cond delay="66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322" decel="70000"/>
                                        <p:tgtEl>
                                          <p:spTgt spid="9"/>
                                        </p:tgtEl>
                                      </p:cBhvr>
                                    </p:animEffect>
                                    <p:anim calcmode="lin" valueType="num">
                                      <p:cBhvr additive="base">
                                        <p:cTn id="58" dur="322" decel="70000" fill="hold"/>
                                        <p:tgtEl>
                                          <p:spTgt spid="9"/>
                                        </p:tgtEl>
                                        <p:attrNameLst>
                                          <p:attrName>ppt_y</p:attrName>
                                        </p:attrNameLst>
                                      </p:cBhvr>
                                      <p:tavLst>
                                        <p:tav tm="0">
                                          <p:val>
                                            <p:strVal val="#ppt_y+0.0288"/>
                                          </p:val>
                                        </p:tav>
                                        <p:tav tm="100000">
                                          <p:val>
                                            <p:strVal val="#ppt_y"/>
                                          </p:val>
                                        </p:tav>
                                      </p:tavLst>
                                    </p:anim>
                                  </p:childTnLst>
                                </p:cTn>
                              </p:par>
                              <p:par>
                                <p:cTn id="59" presetID="10" presetClass="entr" presetSubtype="0" fill="hold" grpId="0" nodeType="withEffect">
                                  <p:stCondLst>
                                    <p:cond delay="715"/>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322" decel="70000"/>
                                        <p:tgtEl>
                                          <p:spTgt spid="13"/>
                                        </p:tgtEl>
                                      </p:cBhvr>
                                    </p:animEffect>
                                    <p:anim calcmode="lin" valueType="num">
                                      <p:cBhvr additive="base">
                                        <p:cTn id="62" dur="322" decel="70000" fill="hold"/>
                                        <p:tgtEl>
                                          <p:spTgt spid="13"/>
                                        </p:tgtEl>
                                        <p:attrNameLst>
                                          <p:attrName>ppt_y</p:attrName>
                                        </p:attrNameLst>
                                      </p:cBhvr>
                                      <p:tavLst>
                                        <p:tav tm="0">
                                          <p:val>
                                            <p:strVal val="#ppt_y+0.0288"/>
                                          </p:val>
                                        </p:tav>
                                        <p:tav tm="100000">
                                          <p:val>
                                            <p:strVal val="#ppt_y"/>
                                          </p:val>
                                        </p:tav>
                                      </p:tavLst>
                                    </p:anim>
                                  </p:childTnLst>
                                </p:cTn>
                              </p:par>
                              <p:par>
                                <p:cTn id="63" presetID="10" presetClass="entr" presetSubtype="0" fill="hold" grpId="0" nodeType="withEffect">
                                  <p:stCondLst>
                                    <p:cond delay="77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322" decel="70000"/>
                                        <p:tgtEl>
                                          <p:spTgt spid="17"/>
                                        </p:tgtEl>
                                      </p:cBhvr>
                                    </p:animEffect>
                                    <p:anim calcmode="lin" valueType="num">
                                      <p:cBhvr additive="base">
                                        <p:cTn id="66" dur="322" decel="70000" fill="hold"/>
                                        <p:tgtEl>
                                          <p:spTgt spid="17"/>
                                        </p:tgtEl>
                                        <p:attrNameLst>
                                          <p:attrName>ppt_y</p:attrName>
                                        </p:attrNameLst>
                                      </p:cBhvr>
                                      <p:tavLst>
                                        <p:tav tm="0">
                                          <p:val>
                                            <p:strVal val="#ppt_y+0.0288"/>
                                          </p:val>
                                        </p:tav>
                                        <p:tav tm="100000">
                                          <p:val>
                                            <p:strVal val="#ppt_y"/>
                                          </p:val>
                                        </p:tav>
                                      </p:tavLst>
                                    </p:anim>
                                  </p:childTnLst>
                                </p:cTn>
                              </p:par>
                              <p:par>
                                <p:cTn id="67" presetID="10" presetClass="entr" presetSubtype="0" fill="hold" grpId="0" nodeType="withEffect">
                                  <p:stCondLst>
                                    <p:cond delay="825"/>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322" decel="70000"/>
                                        <p:tgtEl>
                                          <p:spTgt spid="21"/>
                                        </p:tgtEl>
                                      </p:cBhvr>
                                    </p:animEffect>
                                    <p:anim calcmode="lin" valueType="num">
                                      <p:cBhvr additive="base">
                                        <p:cTn id="70" dur="322" decel="70000" fill="hold"/>
                                        <p:tgtEl>
                                          <p:spTgt spid="21"/>
                                        </p:tgtEl>
                                        <p:attrNameLst>
                                          <p:attrName>ppt_y</p:attrName>
                                        </p:attrNameLst>
                                      </p:cBhvr>
                                      <p:tavLst>
                                        <p:tav tm="0">
                                          <p:val>
                                            <p:strVal val="#ppt_y+0.0288"/>
                                          </p:val>
                                        </p:tav>
                                        <p:tav tm="100000">
                                          <p:val>
                                            <p:strVal val="#ppt_y"/>
                                          </p:val>
                                        </p:tav>
                                      </p:tavLst>
                                    </p:anim>
                                  </p:childTnLst>
                                </p:cTn>
                              </p:par>
                              <p:par>
                                <p:cTn id="71" presetID="10" presetClass="entr" presetSubtype="0" fill="hold" grpId="0" nodeType="withEffect">
                                  <p:stCondLst>
                                    <p:cond delay="88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322" decel="70000"/>
                                        <p:tgtEl>
                                          <p:spTgt spid="25"/>
                                        </p:tgtEl>
                                      </p:cBhvr>
                                    </p:animEffect>
                                    <p:anim calcmode="lin" valueType="num">
                                      <p:cBhvr additive="base">
                                        <p:cTn id="74" dur="322" decel="70000" fill="hold"/>
                                        <p:tgtEl>
                                          <p:spTgt spid="25"/>
                                        </p:tgtEl>
                                        <p:attrNameLst>
                                          <p:attrName>ppt_y</p:attrName>
                                        </p:attrNameLst>
                                      </p:cBhvr>
                                      <p:tavLst>
                                        <p:tav tm="0">
                                          <p:val>
                                            <p:strVal val="#ppt_y+0.0288"/>
                                          </p:val>
                                        </p:tav>
                                        <p:tav tm="100000">
                                          <p:val>
                                            <p:strVal val="#ppt_y"/>
                                          </p:val>
                                        </p:tav>
                                      </p:tavLst>
                                    </p:anim>
                                  </p:childTnLst>
                                </p:cTn>
                              </p:par>
                              <p:par>
                                <p:cTn id="75" presetID="10" presetClass="entr" presetSubtype="0" fill="hold" grpId="0" nodeType="withEffect">
                                  <p:stCondLst>
                                    <p:cond delay="935"/>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322" decel="70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PRICING</a:t>
            </a:r>
            <a:endParaRPr lang="en-US" sz="1050" dirty="0"/>
          </a:p>
        </p:txBody>
      </p:sp>
      <p:sp>
        <p:nvSpPr>
          <p:cNvPr id="4" name="role:title"/>
          <p:cNvSpPr txBox="1"/>
          <p:nvPr/>
        </p:nvSpPr>
        <p:spPr>
          <a:xfrm>
            <a:off x="713232" y="987552"/>
            <a:ext cx="8570671" cy="569214"/>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Three ways to start</a:t>
            </a:r>
            <a:endParaRPr lang="en-US" sz="3900" dirty="0"/>
          </a:p>
        </p:txBody>
      </p:sp>
      <p:sp>
        <p:nvSpPr>
          <p:cNvPr id="5" name="role:sub"/>
          <p:cNvSpPr txBox="1"/>
          <p:nvPr/>
        </p:nvSpPr>
        <p:spPr>
          <a:xfrm>
            <a:off x="713232" y="1703070"/>
            <a:ext cx="8046720" cy="649224"/>
          </a:xfrm>
          <a:prstGeom prst="rect">
            <a:avLst/>
          </a:prstGeom>
          <a:noFill/>
          <a:ln/>
        </p:spPr>
        <p:txBody>
          <a:bodyPr wrap="square" lIns="0" tIns="0" rIns="0" bIns="0" rtlCol="0" anchor="t"/>
          <a:lstStyle/>
          <a:p>
            <a:pPr algn="l" indent="0" marL="0">
              <a:lnSpc>
                <a:spcPct val="128000"/>
              </a:lnSpc>
              <a:buNone/>
            </a:pPr>
            <a:r>
              <a:rPr lang="en-US" sz="1800" dirty="0">
                <a:solidFill>
                  <a:srgbClr val="5A6772"/>
                </a:solidFill>
                <a:latin typeface="Arial" pitchFamily="34" charset="0"/>
                <a:ea typeface="Arial" pitchFamily="34" charset="-122"/>
                <a:cs typeface="Arial" pitchFamily="34" charset="-120"/>
              </a:rPr>
              <a:t>Published pricing. Every monthly package runs on a three month minimum.</a:t>
            </a:r>
            <a:endParaRPr lang="en-US" sz="1800" dirty="0"/>
          </a:p>
        </p:txBody>
      </p:sp>
      <p:sp>
        <p:nvSpPr>
          <p:cNvPr id="6"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20</a:t>
            </a:r>
            <a:endParaRPr lang="en-US" sz="1050" dirty="0"/>
          </a:p>
        </p:txBody>
      </p:sp>
      <p:sp>
        <p:nvSpPr>
          <p:cNvPr id="7" name="role:body"/>
          <p:cNvSpPr txBox="1"/>
          <p:nvPr/>
        </p:nvSpPr>
        <p:spPr>
          <a:xfrm>
            <a:off x="713232" y="2651760"/>
            <a:ext cx="3017520" cy="310896"/>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Small Business Kickstart</a:t>
            </a:r>
            <a:endParaRPr lang="en-US" sz="1600" dirty="0"/>
          </a:p>
        </p:txBody>
      </p:sp>
      <p:sp>
        <p:nvSpPr>
          <p:cNvPr id="8" name="role:body"/>
          <p:cNvSpPr txBox="1"/>
          <p:nvPr/>
        </p:nvSpPr>
        <p:spPr>
          <a:xfrm>
            <a:off x="713232" y="3008376"/>
            <a:ext cx="3017520" cy="219456"/>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Local marketing package</a:t>
            </a:r>
            <a:endParaRPr lang="en-US" sz="1050" dirty="0"/>
          </a:p>
        </p:txBody>
      </p:sp>
      <p:sp>
        <p:nvSpPr>
          <p:cNvPr id="9" name="role:figure"/>
          <p:cNvSpPr txBox="1"/>
          <p:nvPr/>
        </p:nvSpPr>
        <p:spPr>
          <a:xfrm>
            <a:off x="713232" y="3392424"/>
            <a:ext cx="3017520" cy="445008"/>
          </a:xfrm>
          <a:prstGeom prst="rect">
            <a:avLst/>
          </a:prstGeom>
          <a:noFill/>
          <a:ln/>
        </p:spPr>
        <p:txBody>
          <a:bodyPr wrap="square" lIns="0" tIns="0" rIns="0" bIns="0" rtlCol="0" anchor="t"/>
          <a:lstStyle/>
          <a:p>
            <a:pPr algn="l" indent="0" marL="0">
              <a:lnSpc>
                <a:spcPct val="100000"/>
              </a:lnSpc>
              <a:buNone/>
            </a:pPr>
            <a:r>
              <a:rPr lang="en-US" sz="3000" b="1" dirty="0">
                <a:solidFill>
                  <a:srgbClr val="2A80C2"/>
                </a:solidFill>
                <a:latin typeface="Arial" pitchFamily="34" charset="0"/>
                <a:ea typeface="Arial" pitchFamily="34" charset="-122"/>
                <a:cs typeface="Arial" pitchFamily="34" charset="-120"/>
              </a:rPr>
              <a:t>$999/mo</a:t>
            </a:r>
            <a:endParaRPr lang="en-US" sz="3000" dirty="0"/>
          </a:p>
        </p:txBody>
      </p:sp>
      <p:sp>
        <p:nvSpPr>
          <p:cNvPr id="10" name="role:body"/>
          <p:cNvSpPr txBox="1"/>
          <p:nvPr/>
        </p:nvSpPr>
        <p:spPr>
          <a:xfrm>
            <a:off x="713232" y="3874008"/>
            <a:ext cx="3017520" cy="224028"/>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Monthly · 3 month minimum</a:t>
            </a:r>
            <a:endParaRPr lang="en-US" sz="1050" dirty="0"/>
          </a:p>
        </p:txBody>
      </p:sp>
      <p:sp>
        <p:nvSpPr>
          <p:cNvPr id="11" name="role:rule-h"/>
          <p:cNvSpPr/>
          <p:nvPr/>
        </p:nvSpPr>
        <p:spPr>
          <a:xfrm>
            <a:off x="713232" y="4162044"/>
            <a:ext cx="3017520" cy="0"/>
          </a:xfrm>
          <a:prstGeom prst="line">
            <a:avLst/>
          </a:prstGeom>
          <a:noFill/>
          <a:ln w="9525">
            <a:solidFill>
              <a:srgbClr val="E2EAF1"/>
            </a:solidFill>
            <a:prstDash val="solid"/>
          </a:ln>
        </p:spPr>
      </p:sp>
      <p:sp>
        <p:nvSpPr>
          <p:cNvPr id="12" name="Text 9"/>
          <p:cNvSpPr txBox="1"/>
          <p:nvPr/>
        </p:nvSpPr>
        <p:spPr>
          <a:xfrm>
            <a:off x="713232" y="4299204"/>
            <a:ext cx="3017520" cy="1198880"/>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Full marketing audit</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Local SEO</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Google Business Profile</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Basic website optimizations</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Analytics and reporting</a:t>
            </a:r>
            <a:endParaRPr lang="en-US" sz="1000" dirty="0"/>
          </a:p>
        </p:txBody>
      </p:sp>
      <p:sp>
        <p:nvSpPr>
          <p:cNvPr id="13" name="role:body"/>
          <p:cNvSpPr txBox="1"/>
          <p:nvPr/>
        </p:nvSpPr>
        <p:spPr>
          <a:xfrm>
            <a:off x="713232" y="5687568"/>
            <a:ext cx="3017520" cy="274320"/>
          </a:xfrm>
          <a:prstGeom prst="rect">
            <a:avLst/>
          </a:prstGeom>
          <a:noFill/>
          <a:ln/>
        </p:spPr>
        <p:txBody>
          <a:bodyPr wrap="square" lIns="0" tIns="0" rIns="0" bIns="0" rtlCol="0" anchor="t"/>
          <a:lstStyle/>
          <a:p>
            <a:pPr algn="l" indent="0" marL="0">
              <a:buNone/>
            </a:pPr>
            <a:r>
              <a:rPr lang="en-US" sz="950" i="1" dirty="0">
                <a:solidFill>
                  <a:srgbClr val="5A6772"/>
                </a:solidFill>
                <a:latin typeface="Arial" pitchFamily="34" charset="0"/>
                <a:ea typeface="Arial" pitchFamily="34" charset="-122"/>
                <a:cs typeface="Arial" pitchFamily="34" charset="-120"/>
              </a:rPr>
              <a:t>Published as guaranteed growth.</a:t>
            </a:r>
            <a:endParaRPr lang="en-US" sz="950" dirty="0"/>
          </a:p>
        </p:txBody>
      </p:sp>
      <p:sp>
        <p:nvSpPr>
          <p:cNvPr id="14" name="role:block"/>
          <p:cNvSpPr/>
          <p:nvPr/>
        </p:nvSpPr>
        <p:spPr>
          <a:xfrm>
            <a:off x="4389120" y="2377440"/>
            <a:ext cx="3931920" cy="3913632"/>
          </a:xfrm>
          <a:prstGeom prst="rect">
            <a:avLst/>
          </a:prstGeom>
          <a:solidFill>
            <a:srgbClr val="0A1825"/>
          </a:solidFill>
          <a:ln w="12700">
            <a:solidFill>
              <a:srgbClr val="333333"/>
            </a:solidFill>
            <a:prstDash val="solid"/>
          </a:ln>
        </p:spPr>
      </p:sp>
      <p:sp>
        <p:nvSpPr>
          <p:cNvPr id="15" name="role:body"/>
          <p:cNvSpPr txBox="1"/>
          <p:nvPr/>
        </p:nvSpPr>
        <p:spPr>
          <a:xfrm>
            <a:off x="4754880" y="2651760"/>
            <a:ext cx="3200400" cy="310896"/>
          </a:xfrm>
          <a:prstGeom prst="rect">
            <a:avLst/>
          </a:prstGeom>
          <a:noFill/>
          <a:ln/>
        </p:spPr>
        <p:txBody>
          <a:bodyPr wrap="square" lIns="0" tIns="0" rIns="0" bIns="0" rtlCol="0" anchor="t"/>
          <a:lstStyle/>
          <a:p>
            <a:pPr algn="l" indent="0" marL="0">
              <a:lnSpc>
                <a:spcPct val="110000"/>
              </a:lnSpc>
              <a:buNone/>
            </a:pPr>
            <a:r>
              <a:rPr lang="en-US" sz="1600" b="1" dirty="0">
                <a:solidFill>
                  <a:srgbClr val="FFFFFF"/>
                </a:solidFill>
                <a:latin typeface="Arial" pitchFamily="34" charset="0"/>
                <a:ea typeface="Arial" pitchFamily="34" charset="-122"/>
                <a:cs typeface="Arial" pitchFamily="34" charset="-120"/>
              </a:rPr>
              <a:t>Small Business Growth</a:t>
            </a:r>
            <a:endParaRPr lang="en-US" sz="1600" dirty="0"/>
          </a:p>
        </p:txBody>
      </p:sp>
      <p:sp>
        <p:nvSpPr>
          <p:cNvPr id="16" name="role:body"/>
          <p:cNvSpPr txBox="1"/>
          <p:nvPr/>
        </p:nvSpPr>
        <p:spPr>
          <a:xfrm>
            <a:off x="4754880" y="3008376"/>
            <a:ext cx="3200400" cy="219456"/>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Digital marketing expansion</a:t>
            </a:r>
            <a:endParaRPr lang="en-US" sz="1050" dirty="0"/>
          </a:p>
        </p:txBody>
      </p:sp>
      <p:sp>
        <p:nvSpPr>
          <p:cNvPr id="17" name="role:figure"/>
          <p:cNvSpPr txBox="1"/>
          <p:nvPr/>
        </p:nvSpPr>
        <p:spPr>
          <a:xfrm>
            <a:off x="4754880" y="3392424"/>
            <a:ext cx="3200400" cy="445008"/>
          </a:xfrm>
          <a:prstGeom prst="rect">
            <a:avLst/>
          </a:prstGeom>
          <a:noFill/>
          <a:ln/>
        </p:spPr>
        <p:txBody>
          <a:bodyPr wrap="square" lIns="0" tIns="0" rIns="0" bIns="0" rtlCol="0" anchor="t"/>
          <a:lstStyle/>
          <a:p>
            <a:pPr algn="l" indent="0" marL="0">
              <a:lnSpc>
                <a:spcPct val="100000"/>
              </a:lnSpc>
              <a:buNone/>
            </a:pPr>
            <a:r>
              <a:rPr lang="en-US" sz="3000" b="1" dirty="0">
                <a:solidFill>
                  <a:srgbClr val="5AA7E0"/>
                </a:solidFill>
                <a:latin typeface="Arial" pitchFamily="34" charset="0"/>
                <a:ea typeface="Arial" pitchFamily="34" charset="-122"/>
                <a:cs typeface="Arial" pitchFamily="34" charset="-120"/>
              </a:rPr>
              <a:t>$2,999/mo</a:t>
            </a:r>
            <a:endParaRPr lang="en-US" sz="3000" dirty="0"/>
          </a:p>
        </p:txBody>
      </p:sp>
      <p:sp>
        <p:nvSpPr>
          <p:cNvPr id="18" name="role:body"/>
          <p:cNvSpPr txBox="1"/>
          <p:nvPr/>
        </p:nvSpPr>
        <p:spPr>
          <a:xfrm>
            <a:off x="4754880" y="3874008"/>
            <a:ext cx="3200400" cy="224028"/>
          </a:xfrm>
          <a:prstGeom prst="rect">
            <a:avLst/>
          </a:prstGeom>
          <a:noFill/>
          <a:ln/>
        </p:spPr>
        <p:txBody>
          <a:bodyPr wrap="square" lIns="0" tIns="0" rIns="0" bIns="0" rtlCol="0" anchor="t"/>
          <a:lstStyle/>
          <a:p>
            <a:pPr algn="l" indent="0" marL="0">
              <a:lnSpc>
                <a:spcPct val="120000"/>
              </a:lnSpc>
              <a:buNone/>
            </a:pPr>
            <a:r>
              <a:rPr lang="en-US" sz="1050" dirty="0">
                <a:solidFill>
                  <a:srgbClr val="9DB5C8"/>
                </a:solidFill>
                <a:latin typeface="Arial" pitchFamily="34" charset="0"/>
                <a:ea typeface="Arial" pitchFamily="34" charset="-122"/>
                <a:cs typeface="Arial" pitchFamily="34" charset="-120"/>
              </a:rPr>
              <a:t>Monthly · 3 month minimum</a:t>
            </a:r>
            <a:endParaRPr lang="en-US" sz="1050" dirty="0"/>
          </a:p>
        </p:txBody>
      </p:sp>
      <p:sp>
        <p:nvSpPr>
          <p:cNvPr id="19" name="role:rule-h"/>
          <p:cNvSpPr/>
          <p:nvPr/>
        </p:nvSpPr>
        <p:spPr>
          <a:xfrm>
            <a:off x="4754880" y="4162044"/>
            <a:ext cx="3200400" cy="0"/>
          </a:xfrm>
          <a:prstGeom prst="line">
            <a:avLst/>
          </a:prstGeom>
          <a:noFill/>
          <a:ln w="9525">
            <a:solidFill>
              <a:srgbClr val="1E4460"/>
            </a:solidFill>
            <a:prstDash val="solid"/>
          </a:ln>
        </p:spPr>
      </p:sp>
      <p:sp>
        <p:nvSpPr>
          <p:cNvPr id="20" name="Text 17"/>
          <p:cNvSpPr txBox="1"/>
          <p:nvPr/>
        </p:nvSpPr>
        <p:spPr>
          <a:xfrm>
            <a:off x="4754880" y="4299204"/>
            <a:ext cx="3200400" cy="1198880"/>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Everything in Kickstart</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Website management and SEO</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Backlinking, content and blogging</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Google Ads, PPC, social and design</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Strategy, analytics and consulting</a:t>
            </a:r>
            <a:endParaRPr lang="en-US" sz="1000" dirty="0"/>
          </a:p>
        </p:txBody>
      </p:sp>
      <p:sp>
        <p:nvSpPr>
          <p:cNvPr id="21" name="role:body"/>
          <p:cNvSpPr txBox="1"/>
          <p:nvPr/>
        </p:nvSpPr>
        <p:spPr>
          <a:xfrm>
            <a:off x="4754880" y="5687568"/>
            <a:ext cx="3200400" cy="274320"/>
          </a:xfrm>
          <a:prstGeom prst="rect">
            <a:avLst/>
          </a:prstGeom>
          <a:noFill/>
          <a:ln/>
        </p:spPr>
        <p:txBody>
          <a:bodyPr wrap="square" lIns="0" tIns="0" rIns="0" bIns="0" rtlCol="0" anchor="t"/>
          <a:lstStyle/>
          <a:p>
            <a:pPr algn="l" indent="0" marL="0">
              <a:buNone/>
            </a:pPr>
            <a:r>
              <a:rPr lang="en-US" sz="950" i="1" dirty="0">
                <a:solidFill>
                  <a:srgbClr val="9DB5C8"/>
                </a:solidFill>
                <a:latin typeface="Arial" pitchFamily="34" charset="0"/>
                <a:ea typeface="Arial" pitchFamily="34" charset="-122"/>
                <a:cs typeface="Arial" pitchFamily="34" charset="-120"/>
              </a:rPr>
              <a:t>Most complete monthly package.</a:t>
            </a:r>
            <a:endParaRPr lang="en-US" sz="950" dirty="0"/>
          </a:p>
        </p:txBody>
      </p:sp>
      <p:sp>
        <p:nvSpPr>
          <p:cNvPr id="22" name="role:rule-v"/>
          <p:cNvSpPr/>
          <p:nvPr/>
        </p:nvSpPr>
        <p:spPr>
          <a:xfrm>
            <a:off x="8604504" y="2560320"/>
            <a:ext cx="0" cy="3675888"/>
          </a:xfrm>
          <a:prstGeom prst="line">
            <a:avLst/>
          </a:prstGeom>
          <a:noFill/>
          <a:ln w="9525">
            <a:solidFill>
              <a:srgbClr val="E2EAF1"/>
            </a:solidFill>
            <a:prstDash val="solid"/>
          </a:ln>
        </p:spPr>
      </p:sp>
      <p:sp>
        <p:nvSpPr>
          <p:cNvPr id="23" name="role:body"/>
          <p:cNvSpPr txBox="1"/>
          <p:nvPr/>
        </p:nvSpPr>
        <p:spPr>
          <a:xfrm>
            <a:off x="8988552" y="2651760"/>
            <a:ext cx="2971800" cy="310896"/>
          </a:xfrm>
          <a:prstGeom prst="rect">
            <a:avLst/>
          </a:prstGeom>
          <a:noFill/>
          <a:ln/>
        </p:spPr>
        <p:txBody>
          <a:bodyPr wrap="square" lIns="0" tIns="0" rIns="0" bIns="0" rtlCol="0" anchor="t"/>
          <a:lstStyle/>
          <a:p>
            <a:pPr algn="l" indent="0" marL="0">
              <a:lnSpc>
                <a:spcPct val="110000"/>
              </a:lnSpc>
              <a:buNone/>
            </a:pPr>
            <a:r>
              <a:rPr lang="en-US" sz="1600" b="1" dirty="0">
                <a:solidFill>
                  <a:srgbClr val="0F151B"/>
                </a:solidFill>
                <a:latin typeface="Arial" pitchFamily="34" charset="0"/>
                <a:ea typeface="Arial" pitchFamily="34" charset="-122"/>
                <a:cs typeface="Arial" pitchFamily="34" charset="-120"/>
              </a:rPr>
              <a:t>Ultimate Small Business SEO</a:t>
            </a:r>
            <a:endParaRPr lang="en-US" sz="1600" dirty="0"/>
          </a:p>
        </p:txBody>
      </p:sp>
      <p:sp>
        <p:nvSpPr>
          <p:cNvPr id="24" name="role:body"/>
          <p:cNvSpPr txBox="1"/>
          <p:nvPr/>
        </p:nvSpPr>
        <p:spPr>
          <a:xfrm>
            <a:off x="8988552" y="3008376"/>
            <a:ext cx="2971800" cy="219456"/>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Full service Google SEO</a:t>
            </a:r>
            <a:endParaRPr lang="en-US" sz="1050" dirty="0"/>
          </a:p>
        </p:txBody>
      </p:sp>
      <p:sp>
        <p:nvSpPr>
          <p:cNvPr id="25" name="role:figure"/>
          <p:cNvSpPr txBox="1"/>
          <p:nvPr/>
        </p:nvSpPr>
        <p:spPr>
          <a:xfrm>
            <a:off x="8988552" y="3392424"/>
            <a:ext cx="2971800" cy="445008"/>
          </a:xfrm>
          <a:prstGeom prst="rect">
            <a:avLst/>
          </a:prstGeom>
          <a:noFill/>
          <a:ln/>
        </p:spPr>
        <p:txBody>
          <a:bodyPr wrap="square" lIns="0" tIns="0" rIns="0" bIns="0" rtlCol="0" anchor="t"/>
          <a:lstStyle/>
          <a:p>
            <a:pPr algn="l" indent="0" marL="0">
              <a:lnSpc>
                <a:spcPct val="100000"/>
              </a:lnSpc>
              <a:buNone/>
            </a:pPr>
            <a:r>
              <a:rPr lang="en-US" sz="3000" b="1" dirty="0">
                <a:solidFill>
                  <a:srgbClr val="2A80C2"/>
                </a:solidFill>
                <a:latin typeface="Arial" pitchFamily="34" charset="0"/>
                <a:ea typeface="Arial" pitchFamily="34" charset="-122"/>
                <a:cs typeface="Arial" pitchFamily="34" charset="-120"/>
              </a:rPr>
              <a:t>$10,000</a:t>
            </a:r>
            <a:endParaRPr lang="en-US" sz="3000" dirty="0"/>
          </a:p>
        </p:txBody>
      </p:sp>
      <p:sp>
        <p:nvSpPr>
          <p:cNvPr id="26" name="role:body"/>
          <p:cNvSpPr txBox="1"/>
          <p:nvPr/>
        </p:nvSpPr>
        <p:spPr>
          <a:xfrm>
            <a:off x="8988552" y="3874008"/>
            <a:ext cx="2971800" cy="224028"/>
          </a:xfrm>
          <a:prstGeom prst="rect">
            <a:avLst/>
          </a:prstGeom>
          <a:noFill/>
          <a:ln/>
        </p:spPr>
        <p:txBody>
          <a:bodyPr wrap="square" lIns="0" tIns="0" rIns="0" bIns="0" rtlCol="0" anchor="t"/>
          <a:lstStyle/>
          <a:p>
            <a:pPr algn="l" indent="0" marL="0">
              <a:lnSpc>
                <a:spcPct val="120000"/>
              </a:lnSpc>
              <a:buNone/>
            </a:pPr>
            <a:r>
              <a:rPr lang="en-US" sz="1050" dirty="0">
                <a:solidFill>
                  <a:srgbClr val="5A6772"/>
                </a:solidFill>
                <a:latin typeface="Arial" pitchFamily="34" charset="0"/>
                <a:ea typeface="Arial" pitchFamily="34" charset="-122"/>
                <a:cs typeface="Arial" pitchFamily="34" charset="-120"/>
              </a:rPr>
              <a:t>12 months, or $1,000/mo x 12</a:t>
            </a:r>
            <a:endParaRPr lang="en-US" sz="1050" dirty="0"/>
          </a:p>
        </p:txBody>
      </p:sp>
      <p:sp>
        <p:nvSpPr>
          <p:cNvPr id="27" name="role:rule-h"/>
          <p:cNvSpPr/>
          <p:nvPr/>
        </p:nvSpPr>
        <p:spPr>
          <a:xfrm>
            <a:off x="8988552" y="4162044"/>
            <a:ext cx="2971800" cy="0"/>
          </a:xfrm>
          <a:prstGeom prst="line">
            <a:avLst/>
          </a:prstGeom>
          <a:noFill/>
          <a:ln w="9525">
            <a:solidFill>
              <a:srgbClr val="E2EAF1"/>
            </a:solidFill>
            <a:prstDash val="solid"/>
          </a:ln>
        </p:spPr>
      </p:sp>
      <p:sp>
        <p:nvSpPr>
          <p:cNvPr id="28" name="Text 25"/>
          <p:cNvSpPr txBox="1"/>
          <p:nvPr/>
        </p:nvSpPr>
        <p:spPr>
          <a:xfrm>
            <a:off x="8988552" y="4299204"/>
            <a:ext cx="2971800" cy="1198880"/>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Full SEO audit</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Local SEO and GBP marketing</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Website support and SEO</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Google Local Ads</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Strategy and consulting</a:t>
            </a:r>
            <a:endParaRPr lang="en-US" sz="1000" dirty="0"/>
          </a:p>
        </p:txBody>
      </p:sp>
      <p:sp>
        <p:nvSpPr>
          <p:cNvPr id="29" name="role:body"/>
          <p:cNvSpPr txBox="1"/>
          <p:nvPr/>
        </p:nvSpPr>
        <p:spPr>
          <a:xfrm>
            <a:off x="8988552" y="5687568"/>
            <a:ext cx="2971800" cy="274320"/>
          </a:xfrm>
          <a:prstGeom prst="rect">
            <a:avLst/>
          </a:prstGeom>
          <a:noFill/>
          <a:ln/>
        </p:spPr>
        <p:txBody>
          <a:bodyPr wrap="square" lIns="0" tIns="0" rIns="0" bIns="0" rtlCol="0" anchor="t"/>
          <a:lstStyle/>
          <a:p>
            <a:pPr algn="l" indent="0" marL="0">
              <a:buNone/>
            </a:pPr>
            <a:r>
              <a:rPr lang="en-US" sz="950" i="1" dirty="0">
                <a:solidFill>
                  <a:srgbClr val="5A6772"/>
                </a:solidFill>
                <a:latin typeface="Arial" pitchFamily="34" charset="0"/>
                <a:ea typeface="Arial" pitchFamily="34" charset="-122"/>
                <a:cs typeface="Arial" pitchFamily="34" charset="-120"/>
              </a:rPr>
              <a:t>Published guarantee: first page of Google.</a:t>
            </a:r>
            <a:endParaRPr lang="en-US" sz="950" dirty="0"/>
          </a:p>
        </p:txBody>
      </p:sp>
      <p:sp>
        <p:nvSpPr>
          <p:cNvPr id="30"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Stated minimum retainers: $1,000 per month for standard packages, $3,000 per month for custom packages. Refer a business and you both get 20% off the next month.</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390" decel="70000"/>
                                        <p:tgtEl>
                                          <p:spTgt spid="5"/>
                                        </p:tgtEl>
                                      </p:cBhvr>
                                    </p:animEffect>
                                    <p:anim calcmode="lin" valueType="num">
                                      <p:cBhvr additive="base">
                                        <p:cTn id="19" dur="390" decel="70000" fill="hold"/>
                                        <p:tgtEl>
                                          <p:spTgt spid="5"/>
                                        </p:tgtEl>
                                        <p:attrNameLst>
                                          <p:attrName>ppt_y</p:attrName>
                                        </p:attrNameLst>
                                      </p:cBhvr>
                                      <p:tavLst>
                                        <p:tav tm="0">
                                          <p:val>
                                            <p:strVal val="#ppt_y+0.0384"/>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68" decel="70000"/>
                                        <p:tgtEl>
                                          <p:spTgt spid="14"/>
                                        </p:tgtEl>
                                      </p:cBhvr>
                                    </p:animEffect>
                                  </p:childTnLst>
                                </p:cTn>
                              </p:par>
                              <p:par>
                                <p:cTn id="23" presetID="22" presetClass="entr" presetSubtype="1" fill="hold" grpId="0" nodeType="withEffect">
                                  <p:stCondLst>
                                    <p:cond delay="22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90"/>
                                        <p:tgtEl>
                                          <p:spTgt spid="22"/>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322" decel="70000"/>
                                        <p:tgtEl>
                                          <p:spTgt spid="7"/>
                                        </p:tgtEl>
                                      </p:cBhvr>
                                    </p:animEffect>
                                  </p:childTnLst>
                                </p:cTn>
                              </p:par>
                              <p:par>
                                <p:cTn id="29" presetID="10" presetClass="entr" presetSubtype="0" fill="hold" grpId="0" nodeType="withEffect">
                                  <p:stCondLst>
                                    <p:cond delay="33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322" decel="70000"/>
                                        <p:tgtEl>
                                          <p:spTgt spid="15"/>
                                        </p:tgtEl>
                                      </p:cBhvr>
                                    </p:animEffect>
                                  </p:childTnLst>
                                </p:cTn>
                              </p:par>
                              <p:par>
                                <p:cTn id="32" presetID="10" presetClass="entr" presetSubtype="0" fill="hold" grpId="0" nodeType="withEffect">
                                  <p:stCondLst>
                                    <p:cond delay="385"/>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322" decel="70000"/>
                                        <p:tgtEl>
                                          <p:spTgt spid="23"/>
                                        </p:tgtEl>
                                      </p:cBhvr>
                                    </p:animEffect>
                                  </p:childTnLst>
                                </p:cTn>
                              </p:par>
                              <p:par>
                                <p:cTn id="35" presetID="10" presetClass="entr" presetSubtype="0" fill="hold" grpId="0" nodeType="withEffect">
                                  <p:stCondLst>
                                    <p:cond delay="44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322" decel="70000"/>
                                        <p:tgtEl>
                                          <p:spTgt spid="8"/>
                                        </p:tgtEl>
                                      </p:cBhvr>
                                    </p:animEffect>
                                  </p:childTnLst>
                                </p:cTn>
                              </p:par>
                              <p:par>
                                <p:cTn id="38" presetID="10" presetClass="entr" presetSubtype="0" fill="hold" grpId="0" nodeType="withEffect">
                                  <p:stCondLst>
                                    <p:cond delay="495"/>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322" decel="70000"/>
                                        <p:tgtEl>
                                          <p:spTgt spid="16"/>
                                        </p:tgtEl>
                                      </p:cBhvr>
                                    </p:animEffect>
                                  </p:childTnLst>
                                </p:cTn>
                              </p:par>
                              <p:par>
                                <p:cTn id="41" presetID="10" presetClass="entr" presetSubtype="0" fill="hold" grpId="0" nodeType="withEffect">
                                  <p:stCondLst>
                                    <p:cond delay="55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322" decel="70000"/>
                                        <p:tgtEl>
                                          <p:spTgt spid="24"/>
                                        </p:tgtEl>
                                      </p:cBhvr>
                                    </p:animEffect>
                                  </p:childTnLst>
                                </p:cTn>
                              </p:par>
                              <p:par>
                                <p:cTn id="44" presetID="23" presetClass="entr" presetSubtype="0" fill="hold" grpId="0" nodeType="withEffect">
                                  <p:stCondLst>
                                    <p:cond delay="605"/>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482" decel="70000"/>
                                        <p:tgtEl>
                                          <p:spTgt spid="9"/>
                                        </p:tgtEl>
                                      </p:cBhvr>
                                    </p:animEffect>
                                    <p:animScale>
                                      <p:cBhvr>
                                        <p:cTn id="47" dur="482" decel="70000" fill="hold"/>
                                        <p:tgtEl>
                                          <p:spTgt spid="9"/>
                                        </p:tgtEl>
                                      </p:cBhvr>
                                      <p:from x="82000" y="82000"/>
                                      <p:to x="100000" y="100000"/>
                                    </p:animScale>
                                  </p:childTnLst>
                                </p:cTn>
                              </p:par>
                              <p:par>
                                <p:cTn id="48" presetID="23" presetClass="entr" presetSubtype="0" fill="hold" grpId="0" nodeType="withEffect">
                                  <p:stCondLst>
                                    <p:cond delay="66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82" decel="70000"/>
                                        <p:tgtEl>
                                          <p:spTgt spid="17"/>
                                        </p:tgtEl>
                                      </p:cBhvr>
                                    </p:animEffect>
                                    <p:animScale>
                                      <p:cBhvr>
                                        <p:cTn id="51" dur="482" decel="70000" fill="hold"/>
                                        <p:tgtEl>
                                          <p:spTgt spid="17"/>
                                        </p:tgtEl>
                                      </p:cBhvr>
                                      <p:from x="82000" y="82000"/>
                                      <p:to x="100000" y="100000"/>
                                    </p:animScale>
                                  </p:childTnLst>
                                </p:cTn>
                              </p:par>
                              <p:par>
                                <p:cTn id="52" presetID="23" presetClass="entr" presetSubtype="0" fill="hold" grpId="0" nodeType="withEffect">
                                  <p:stCondLst>
                                    <p:cond delay="715"/>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482" decel="70000"/>
                                        <p:tgtEl>
                                          <p:spTgt spid="25"/>
                                        </p:tgtEl>
                                      </p:cBhvr>
                                    </p:animEffect>
                                    <p:animScale>
                                      <p:cBhvr>
                                        <p:cTn id="55" dur="482" decel="70000" fill="hold"/>
                                        <p:tgtEl>
                                          <p:spTgt spid="25"/>
                                        </p:tgtEl>
                                      </p:cBhvr>
                                      <p:from x="82000" y="82000"/>
                                      <p:to x="100000" y="100000"/>
                                    </p:animScale>
                                  </p:childTnLst>
                                </p:cTn>
                              </p:par>
                              <p:par>
                                <p:cTn id="56" presetID="10" presetClass="entr" presetSubtype="0" fill="hold" grpId="0" nodeType="withEffect">
                                  <p:stCondLst>
                                    <p:cond delay="770"/>
                                  </p:stCondLst>
                                  <p:childTnLst>
                                    <p:set>
                                      <p:cBhvr>
                                        <p:cTn id="57" dur="1" fill="hold">
                                          <p:stCondLst>
                                            <p:cond delay="0"/>
                                          </p:stCondLst>
                                        </p:cTn>
                                        <p:tgtEl>
                                          <p:spTgt spid="10"/>
                                        </p:tgtEl>
                                        <p:attrNameLst>
                                          <p:attrName>style.visibility</p:attrName>
                                        </p:attrNameLst>
                                      </p:cBhvr>
                                      <p:to>
                                        <p:strVal val="visible"/>
                                      </p:to>
                                    </p:set>
                                    <p:animEffect transition="in" filter="fade">
                                      <p:cBhvr>
                                        <p:cTn id="58" dur="322" decel="70000"/>
                                        <p:tgtEl>
                                          <p:spTgt spid="10"/>
                                        </p:tgtEl>
                                      </p:cBhvr>
                                    </p:animEffect>
                                  </p:childTnLst>
                                </p:cTn>
                              </p:par>
                              <p:par>
                                <p:cTn id="59" presetID="10" presetClass="entr" presetSubtype="0" fill="hold" grpId="0" nodeType="withEffect">
                                  <p:stCondLst>
                                    <p:cond delay="825"/>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322" decel="70000"/>
                                        <p:tgtEl>
                                          <p:spTgt spid="18"/>
                                        </p:tgtEl>
                                      </p:cBhvr>
                                    </p:animEffect>
                                  </p:childTnLst>
                                </p:cTn>
                              </p:par>
                              <p:par>
                                <p:cTn id="62" presetID="10" presetClass="entr" presetSubtype="0" fill="hold" grpId="0" nodeType="withEffect">
                                  <p:stCondLst>
                                    <p:cond delay="88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322" decel="70000"/>
                                        <p:tgtEl>
                                          <p:spTgt spid="26"/>
                                        </p:tgtEl>
                                      </p:cBhvr>
                                    </p:animEffect>
                                  </p:childTnLst>
                                </p:cTn>
                              </p:par>
                              <p:par>
                                <p:cTn id="65" presetID="22" presetClass="entr" presetSubtype="1" fill="hold" grpId="0" nodeType="withEffect">
                                  <p:stCondLst>
                                    <p:cond delay="935"/>
                                  </p:stCondLst>
                                  <p:childTnLst>
                                    <p:set>
                                      <p:cBhvr>
                                        <p:cTn id="66" dur="1" fill="hold">
                                          <p:stCondLst>
                                            <p:cond delay="0"/>
                                          </p:stCondLst>
                                        </p:cTn>
                                        <p:tgtEl>
                                          <p:spTgt spid="11"/>
                                        </p:tgtEl>
                                        <p:attrNameLst>
                                          <p:attrName>style.visibility</p:attrName>
                                        </p:attrNameLst>
                                      </p:cBhvr>
                                      <p:to>
                                        <p:strVal val="visible"/>
                                      </p:to>
                                    </p:set>
                                    <p:animEffect transition="in" filter="wipe(right)">
                                      <p:cBhvr>
                                        <p:cTn id="67" dur="529"/>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role:logo" descr="Momentum Digital logo">    </p:cNvPr>
          <p:cNvPicPr>
            <a:picLocks noChangeAspect="1"/>
          </p:cNvPicPr>
          <p:nvPr/>
        </p:nvPicPr>
        <p:blipFill>
          <a:blip r:embed="rId1"/>
          <a:stretch>
            <a:fillRect/>
          </a:stretch>
        </p:blipFill>
        <p:spPr>
          <a:xfrm>
            <a:off x="10106863" y="658368"/>
            <a:ext cx="1371600" cy="294904"/>
          </a:xfrm>
          <a:prstGeom prst="rect">
            <a:avLst/>
          </a:prstGeom>
        </p:spPr>
      </p:pic>
      <p:sp>
        <p:nvSpPr>
          <p:cNvPr id="3" name="role:kicker"/>
          <p:cNvSpPr txBox="1"/>
          <p:nvPr/>
        </p:nvSpPr>
        <p:spPr>
          <a:xfrm>
            <a:off x="713232" y="658368"/>
            <a:ext cx="8753551" cy="201168"/>
          </a:xfrm>
          <a:prstGeom prst="rect">
            <a:avLst/>
          </a:prstGeom>
          <a:noFill/>
          <a:ln/>
        </p:spPr>
        <p:txBody>
          <a:bodyPr wrap="square" lIns="0" tIns="0" rIns="0" bIns="0" rtlCol="0" anchor="t"/>
          <a:lstStyle/>
          <a:p>
            <a:pPr algn="l" indent="0" marL="0">
              <a:buNone/>
            </a:pPr>
            <a:r>
              <a:rPr lang="en-US" sz="1050" b="1" spc="240" kern="0" dirty="0">
                <a:solidFill>
                  <a:srgbClr val="2A80C2"/>
                </a:solidFill>
                <a:latin typeface="Arial" pitchFamily="34" charset="0"/>
                <a:ea typeface="Arial" pitchFamily="34" charset="-122"/>
                <a:cs typeface="Arial" pitchFamily="34" charset="-120"/>
              </a:rPr>
              <a:t>PRICING</a:t>
            </a:r>
            <a:endParaRPr lang="en-US" sz="1050" dirty="0"/>
          </a:p>
        </p:txBody>
      </p:sp>
      <p:sp>
        <p:nvSpPr>
          <p:cNvPr id="4" name="role:title"/>
          <p:cNvSpPr txBox="1"/>
          <p:nvPr/>
        </p:nvSpPr>
        <p:spPr>
          <a:xfrm>
            <a:off x="713232" y="987552"/>
            <a:ext cx="8570671" cy="1074420"/>
          </a:xfrm>
          <a:prstGeom prst="rect">
            <a:avLst/>
          </a:prstGeom>
          <a:noFill/>
          <a:ln/>
        </p:spPr>
        <p:txBody>
          <a:bodyPr wrap="square" lIns="0" tIns="0" rIns="0" bIns="0" rtlCol="0" anchor="t"/>
          <a:lstStyle/>
          <a:p>
            <a:pPr algn="l" indent="0" marL="0">
              <a:lnSpc>
                <a:spcPct val="102000"/>
              </a:lnSpc>
              <a:buNone/>
            </a:pPr>
            <a:r>
              <a:rPr lang="en-US" sz="3900" b="1" dirty="0">
                <a:solidFill>
                  <a:srgbClr val="0F151B"/>
                </a:solidFill>
                <a:latin typeface="Arial" pitchFamily="34" charset="0"/>
                <a:ea typeface="Arial" pitchFamily="34" charset="-122"/>
                <a:cs typeface="Arial" pitchFamily="34" charset="-120"/>
              </a:rPr>
              <a:t>Add on and single service pricing</a:t>
            </a:r>
            <a:endParaRPr lang="en-US" sz="3900" dirty="0"/>
          </a:p>
        </p:txBody>
      </p:sp>
      <p:sp>
        <p:nvSpPr>
          <p:cNvPr id="5" name="role:static"/>
          <p:cNvSpPr txBox="1"/>
          <p:nvPr/>
        </p:nvSpPr>
        <p:spPr>
          <a:xfrm>
            <a:off x="10929823" y="6437376"/>
            <a:ext cx="548640" cy="219456"/>
          </a:xfrm>
          <a:prstGeom prst="rect">
            <a:avLst/>
          </a:prstGeom>
          <a:noFill/>
          <a:ln/>
        </p:spPr>
        <p:txBody>
          <a:bodyPr wrap="square" lIns="0" tIns="0" rIns="0" bIns="0" rtlCol="0" anchor="t"/>
          <a:lstStyle/>
          <a:p>
            <a:pPr algn="r" indent="0" marL="0">
              <a:buNone/>
            </a:pPr>
            <a:r>
              <a:rPr lang="en-US" sz="1050" b="1" spc="100" kern="0" dirty="0">
                <a:solidFill>
                  <a:srgbClr val="CBD8E3"/>
                </a:solidFill>
                <a:latin typeface="Arial" pitchFamily="34" charset="0"/>
                <a:ea typeface="Arial" pitchFamily="34" charset="-122"/>
                <a:cs typeface="Arial" pitchFamily="34" charset="-120"/>
              </a:rPr>
              <a:t>21</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13232" y="2194560"/>
          <a:ext cx="10765231" cy="914400"/>
        </p:xfrm>
        <a:graphic>
          <a:graphicData uri="http://schemas.openxmlformats.org/drawingml/2006/table">
            <a:tbl>
              <a:tblPr/>
              <a:tblGrid>
                <a:gridCol w="2788920"/>
                <a:gridCol w="1371600"/>
                <a:gridCol w="1737360"/>
                <a:gridCol w="4864608"/>
              </a:tblGrid>
              <a:tr h="420624">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Service</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Price</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Term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What it covers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Google My Business management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$500/mo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GMB audit and makeover, posts, pictures, reviews, content, reporting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Backlinking and domain authority</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$500/mo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Citations, directories, profile links, niche blog networks, premium sites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Full SEO marketing package</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GMB, local and website SEO, speed and mobile, citations, backlinks, content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Content and blogging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Four blogs or pages a month, research, writing, edits, SEO and linking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Social media marketing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Calendar, design, posting 3x weekly, stories, hashtags, engagement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Custom marketing solutions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from $1,000/mo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Monthly</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Any combination of web, social, SEO, local SEO, PPC and graphic design</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Paid advertising management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$1,500/mo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Audit, setup or takeover, buildout, targeting, creative, conversion tracking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Design and branding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One time, about 3 months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c>
                  <a:txBody>
                    <a:bodyPr/>
                    <a:lstStyle/>
                    <a:p>
                      <a:pPr algn="l" indent="0" marL="0">
                        <a:buNone/>
                      </a:pPr>
                      <a:r>
                        <a:rPr lang="en-US" sz="1150" dirty="0">
                          <a:solidFill>
                            <a:srgbClr val="0F151B"/>
                          </a:solidFill>
                          <a:latin typeface="Arial" pitchFamily="34" charset="0"/>
                          <a:ea typeface="Arial" pitchFamily="34" charset="-122"/>
                          <a:cs typeface="Arial" pitchFamily="34" charset="-120"/>
                        </a:rPr>
                        <a:t>Strategy, research, mockups, unlimited edits, logo and social design, full rights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F1F6FA"/>
                    </a:solidFill>
                  </a:tcPr>
                </a:tc>
              </a:tr>
            </a:tbl>
          </a:graphicData>
        </a:graphic>
      </p:graphicFrame>
      <p:sp>
        <p:nvSpPr>
          <p:cNvPr id="7" name="role:foot"/>
          <p:cNvSpPr txBox="1"/>
          <p:nvPr/>
        </p:nvSpPr>
        <p:spPr>
          <a:xfrm>
            <a:off x="713232" y="6400800"/>
            <a:ext cx="9942271" cy="237744"/>
          </a:xfrm>
          <a:prstGeom prst="rect">
            <a:avLst/>
          </a:prstGeom>
          <a:noFill/>
          <a:ln/>
        </p:spPr>
        <p:txBody>
          <a:bodyPr wrap="square" lIns="0" tIns="0" rIns="0" bIns="0" rtlCol="0" anchor="t"/>
          <a:lstStyle/>
          <a:p>
            <a:pPr algn="l" indent="0" marL="0">
              <a:buNone/>
            </a:pPr>
            <a:r>
              <a:rPr lang="en-US" sz="950" i="1" dirty="0">
                <a:solidFill>
                  <a:srgbClr val="8A97A2"/>
                </a:solidFill>
                <a:latin typeface="Arial" pitchFamily="34" charset="0"/>
                <a:ea typeface="Arial" pitchFamily="34" charset="-122"/>
                <a:cs typeface="Arial" pitchFamily="34" charset="-120"/>
              </a:rPr>
              <a:t>Paid advertising management is quoted plus your ad media budget. Backlinking and social pricing range with volume. All figures published at needmomentum.com/marketing-prices/.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20" decel="700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22" decel="70000"/>
                                        <p:tgtEl>
                                          <p:spTgt spid="3"/>
                                        </p:tgtEl>
                                      </p:cBhvr>
                                    </p:animEffect>
                                    <p:anim calcmode="lin" valueType="num">
                                      <p:cBhvr additive="base">
                                        <p:cTn id="11" dur="322" decel="70000" fill="hold"/>
                                        <p:tgtEl>
                                          <p:spTgt spid="3"/>
                                        </p:tgtEl>
                                        <p:attrNameLst>
                                          <p:attrName>ppt_y</p:attrName>
                                        </p:attrNameLst>
                                      </p:cBhvr>
                                      <p:tavLst>
                                        <p:tav tm="0">
                                          <p:val>
                                            <p:strVal val="#ppt_y+0.032"/>
                                          </p:val>
                                        </p:tav>
                                        <p:tav tm="100000">
                                          <p:val>
                                            <p:strVal val="#ppt_y"/>
                                          </p:val>
                                        </p:tav>
                                      </p:tavLst>
                                    </p:anim>
                                  </p:childTnLst>
                                </p:cTn>
                              </p:par>
                              <p:par>
                                <p:cTn id="12" presetID="10" presetClass="entr" presetSubtype="0" fill="hold" grpId="0" nodeType="withEffect">
                                  <p:stCondLst>
                                    <p:cond delay="55"/>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82" decel="70000"/>
                                        <p:tgtEl>
                                          <p:spTgt spid="4"/>
                                        </p:tgtEl>
                                      </p:cBhvr>
                                    </p:animEffect>
                                    <p:anim calcmode="lin" valueType="num">
                                      <p:cBhvr additive="base">
                                        <p:cTn id="15" dur="482" decel="70000" fill="hold"/>
                                        <p:tgtEl>
                                          <p:spTgt spid="4"/>
                                        </p:tgtEl>
                                        <p:attrNameLst>
                                          <p:attrName>ppt_y</p:attrName>
                                        </p:attrNameLst>
                                      </p:cBhvr>
                                      <p:tavLst>
                                        <p:tav tm="0">
                                          <p:val>
                                            <p:strVal val="#ppt_y+0.0512"/>
                                          </p:val>
                                        </p:tav>
                                        <p:tav tm="100000">
                                          <p:val>
                                            <p:strVal val="#ppt_y"/>
                                          </p:val>
                                        </p:tav>
                                      </p:tavLst>
                                    </p:anim>
                                  </p:childTnLst>
                                </p:cTn>
                              </p:par>
                              <p:par>
                                <p:cTn id="16" presetID="10" presetClass="entr" presetSubtype="0" fill="hold" grpId="0" nodeType="withEffect">
                                  <p:stCondLst>
                                    <p:cond delay="11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368" decel="70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1825"/>
        </a:solidFill>
      </p:bgPr>
    </p:bg>
    <p:spTree>
      <p:nvGrpSpPr>
        <p:cNvPr id="1" name=""/>
        <p:cNvGrpSpPr/>
        <p:nvPr/>
      </p:nvGrpSpPr>
      <p:grpSpPr>
        <a:xfrm>
          <a:off x="0" y="0"/>
          <a:ext cx="0" cy="0"/>
          <a:chOff x="0" y="0"/>
          <a:chExt cx="0" cy="0"/>
        </a:xfrm>
      </p:grpSpPr>
      <p:sp>
        <p:nvSpPr>
          <p:cNvPr id="2" name="role:block"/>
          <p:cNvSpPr/>
          <p:nvPr/>
        </p:nvSpPr>
        <p:spPr>
          <a:xfrm>
            <a:off x="7086600" y="0"/>
            <a:ext cx="5105095" cy="6858000"/>
          </a:xfrm>
          <a:prstGeom prst="rect">
            <a:avLst/>
          </a:prstGeom>
          <a:solidFill>
            <a:srgbClr val="112B3F"/>
          </a:solidFill>
          <a:ln w="12700">
            <a:solidFill>
              <a:srgbClr val="333333"/>
            </a:solidFill>
            <a:prstDash val="solid"/>
          </a:ln>
        </p:spPr>
      </p:sp>
      <p:pic>
        <p:nvPicPr>
          <p:cNvPr id="3" name="role:motif" descr="C:\Users\dillo\.claude\skills\client-deck\assets\momentum-digital\momentum-mark-white.png">    </p:cNvPr>
          <p:cNvPicPr>
            <a:picLocks noChangeAspect="1"/>
          </p:cNvPicPr>
          <p:nvPr/>
        </p:nvPicPr>
        <p:blipFill>
          <a:blip r:embed="rId1">
            <a:alphaModFix amt="10000"/>
          </a:blip>
          <a:stretch>
            <a:fillRect/>
          </a:stretch>
        </p:blipFill>
        <p:spPr>
          <a:xfrm>
            <a:off x="8686800" y="1051560"/>
            <a:ext cx="5852160" cy="6942064"/>
          </a:xfrm>
          <a:prstGeom prst="rect">
            <a:avLst/>
          </a:prstGeom>
        </p:spPr>
      </p:pic>
      <p:pic>
        <p:nvPicPr>
          <p:cNvPr id="4" name="role:logo" descr="Momentum Digital logo">    </p:cNvPr>
          <p:cNvPicPr>
            <a:picLocks noChangeAspect="1"/>
          </p:cNvPicPr>
          <p:nvPr/>
        </p:nvPicPr>
        <p:blipFill>
          <a:blip r:embed="rId2"/>
          <a:stretch>
            <a:fillRect/>
          </a:stretch>
        </p:blipFill>
        <p:spPr>
          <a:xfrm>
            <a:off x="713232" y="658368"/>
            <a:ext cx="2880360" cy="619299"/>
          </a:xfrm>
          <a:prstGeom prst="rect">
            <a:avLst/>
          </a:prstGeom>
        </p:spPr>
      </p:pic>
      <p:sp>
        <p:nvSpPr>
          <p:cNvPr id="5" name="role:kicker"/>
          <p:cNvSpPr txBox="1"/>
          <p:nvPr/>
        </p:nvSpPr>
        <p:spPr>
          <a:xfrm>
            <a:off x="713232" y="2286000"/>
            <a:ext cx="5852160" cy="201168"/>
          </a:xfrm>
          <a:prstGeom prst="rect">
            <a:avLst/>
          </a:prstGeom>
          <a:noFill/>
          <a:ln/>
        </p:spPr>
        <p:txBody>
          <a:bodyPr wrap="square" lIns="0" tIns="0" rIns="0" bIns="0" rtlCol="0" anchor="t"/>
          <a:lstStyle/>
          <a:p>
            <a:pPr algn="l" indent="0" marL="0">
              <a:buNone/>
            </a:pPr>
            <a:r>
              <a:rPr lang="en-US" sz="1050" b="1" spc="240" kern="0" dirty="0">
                <a:solidFill>
                  <a:srgbClr val="5AA7E0"/>
                </a:solidFill>
                <a:latin typeface="Arial" pitchFamily="34" charset="0"/>
                <a:ea typeface="Arial" pitchFamily="34" charset="-122"/>
                <a:cs typeface="Arial" pitchFamily="34" charset="-120"/>
              </a:rPr>
              <a:t>NEXT STEP</a:t>
            </a:r>
            <a:endParaRPr lang="en-US" sz="1050" dirty="0"/>
          </a:p>
        </p:txBody>
      </p:sp>
      <p:sp>
        <p:nvSpPr>
          <p:cNvPr id="6" name="role:body"/>
          <p:cNvSpPr txBox="1"/>
          <p:nvPr/>
        </p:nvSpPr>
        <p:spPr>
          <a:xfrm>
            <a:off x="713232" y="2615184"/>
            <a:ext cx="6400800" cy="1421892"/>
          </a:xfrm>
          <a:prstGeom prst="rect">
            <a:avLst/>
          </a:prstGeom>
          <a:noFill/>
          <a:ln/>
        </p:spPr>
        <p:txBody>
          <a:bodyPr wrap="square" lIns="0" tIns="0" rIns="0" bIns="0" rtlCol="0" anchor="t"/>
          <a:lstStyle/>
          <a:p>
            <a:pPr algn="l" indent="0" marL="0">
              <a:lnSpc>
                <a:spcPct val="99000"/>
              </a:lnSpc>
              <a:buNone/>
            </a:pPr>
            <a:r>
              <a:rPr lang="en-US" sz="5400" b="1" dirty="0">
                <a:solidFill>
                  <a:srgbClr val="FFFFFF"/>
                </a:solidFill>
                <a:latin typeface="Arial" pitchFamily="34" charset="0"/>
                <a:ea typeface="Arial" pitchFamily="34" charset="-122"/>
                <a:cs typeface="Arial" pitchFamily="34" charset="-120"/>
              </a:rPr>
              <a:t>Start with the</a:t>
            </a:r>
            <a:endParaRPr lang="en-US" sz="5400" dirty="0"/>
          </a:p>
          <a:p>
            <a:pPr algn="l" indent="0" marL="0">
              <a:lnSpc>
                <a:spcPct val="99000"/>
              </a:lnSpc>
              <a:buNone/>
            </a:pPr>
            <a:r>
              <a:rPr lang="en-US" sz="5400" b="1" dirty="0">
                <a:solidFill>
                  <a:srgbClr val="FFFFFF"/>
                </a:solidFill>
                <a:latin typeface="Arial" pitchFamily="34" charset="0"/>
                <a:ea typeface="Arial" pitchFamily="34" charset="-122"/>
                <a:cs typeface="Arial" pitchFamily="34" charset="-120"/>
              </a:rPr>
              <a:t>free audit.</a:t>
            </a:r>
            <a:endParaRPr lang="en-US" sz="5400" dirty="0"/>
          </a:p>
        </p:txBody>
      </p:sp>
      <p:sp>
        <p:nvSpPr>
          <p:cNvPr id="7" name="role:body"/>
          <p:cNvSpPr txBox="1"/>
          <p:nvPr/>
        </p:nvSpPr>
        <p:spPr>
          <a:xfrm>
            <a:off x="713232" y="4347972"/>
            <a:ext cx="6035040" cy="778764"/>
          </a:xfrm>
          <a:prstGeom prst="rect">
            <a:avLst/>
          </a:prstGeom>
          <a:noFill/>
          <a:ln/>
        </p:spPr>
        <p:txBody>
          <a:bodyPr wrap="square" lIns="0" tIns="0" rIns="0" bIns="0" rtlCol="0" anchor="t"/>
          <a:lstStyle/>
          <a:p>
            <a:pPr algn="l" indent="0" marL="0">
              <a:lnSpc>
                <a:spcPct val="134000"/>
              </a:lnSpc>
              <a:buNone/>
            </a:pPr>
            <a:r>
              <a:rPr lang="en-US" sz="1400" dirty="0">
                <a:solidFill>
                  <a:srgbClr val="9DB5C8"/>
                </a:solidFill>
                <a:latin typeface="Arial" pitchFamily="34" charset="0"/>
                <a:ea typeface="Arial" pitchFamily="34" charset="-122"/>
                <a:cs typeface="Arial" pitchFamily="34" charset="-120"/>
              </a:rPr>
              <a:t>We audit the website, SEO, Google Business Profile and the current digital presence, then walk through what we found and what we would do first. Published on the site as a $500 value.</a:t>
            </a:r>
            <a:endParaRPr lang="en-US" sz="1400" dirty="0"/>
          </a:p>
        </p:txBody>
      </p:sp>
      <p:sp>
        <p:nvSpPr>
          <p:cNvPr id="8" name="role:rule-h"/>
          <p:cNvSpPr/>
          <p:nvPr/>
        </p:nvSpPr>
        <p:spPr>
          <a:xfrm>
            <a:off x="713232" y="5532120"/>
            <a:ext cx="6309360" cy="0"/>
          </a:xfrm>
          <a:prstGeom prst="line">
            <a:avLst/>
          </a:prstGeom>
          <a:noFill/>
          <a:ln w="9525">
            <a:solidFill>
              <a:srgbClr val="1E4460"/>
            </a:solidFill>
            <a:prstDash val="solid"/>
          </a:ln>
        </p:spPr>
      </p:sp>
      <p:sp>
        <p:nvSpPr>
          <p:cNvPr id="9" name="role:body"/>
          <p:cNvSpPr txBox="1"/>
          <p:nvPr/>
        </p:nvSpPr>
        <p:spPr>
          <a:xfrm>
            <a:off x="713232" y="5760720"/>
            <a:ext cx="2743200" cy="310896"/>
          </a:xfrm>
          <a:prstGeom prst="rect">
            <a:avLst/>
          </a:prstGeom>
          <a:noFill/>
          <a:ln/>
        </p:spPr>
        <p:txBody>
          <a:bodyPr wrap="square" lIns="0" tIns="0" rIns="0" bIns="0" rtlCol="0" anchor="t"/>
          <a:lstStyle/>
          <a:p>
            <a:pPr algn="l" indent="0" marL="0">
              <a:buNone/>
            </a:pPr>
            <a:r>
              <a:rPr lang="en-US" sz="1700" b="1" dirty="0">
                <a:solidFill>
                  <a:srgbClr val="5AA7E0"/>
                </a:solidFill>
                <a:latin typeface="Arial" pitchFamily="34" charset="0"/>
                <a:ea typeface="Arial" pitchFamily="34" charset="-122"/>
                <a:cs typeface="Arial" pitchFamily="34" charset="-120"/>
              </a:rPr>
              <a:t>(215) 876-2954</a:t>
            </a:r>
            <a:endParaRPr lang="en-US" sz="1700" dirty="0"/>
          </a:p>
        </p:txBody>
      </p:sp>
      <p:sp>
        <p:nvSpPr>
          <p:cNvPr id="10" name="role:body"/>
          <p:cNvSpPr txBox="1"/>
          <p:nvPr/>
        </p:nvSpPr>
        <p:spPr>
          <a:xfrm>
            <a:off x="713232" y="6144768"/>
            <a:ext cx="2743200" cy="548640"/>
          </a:xfrm>
          <a:prstGeom prst="rect">
            <a:avLst/>
          </a:prstGeom>
          <a:noFill/>
          <a:ln/>
        </p:spPr>
        <p:txBody>
          <a:bodyPr wrap="square" lIns="0" tIns="0" rIns="0" bIns="0" rtlCol="0" anchor="t"/>
          <a:lstStyle/>
          <a:p>
            <a:pPr algn="l" indent="0" marL="0">
              <a:lnSpc>
                <a:spcPct val="130000"/>
              </a:lnSpc>
              <a:buNone/>
            </a:pPr>
            <a:r>
              <a:rPr lang="en-US" sz="1150" dirty="0">
                <a:solidFill>
                  <a:srgbClr val="9DB5C8"/>
                </a:solidFill>
                <a:latin typeface="Arial" pitchFamily="34" charset="0"/>
                <a:ea typeface="Arial" pitchFamily="34" charset="-122"/>
                <a:cs typeface="Arial" pitchFamily="34" charset="-120"/>
              </a:rPr>
              <a:t>hi@needmomentum.com</a:t>
            </a:r>
            <a:endParaRPr lang="en-US" sz="1150" dirty="0"/>
          </a:p>
          <a:p>
            <a:pPr algn="l" indent="0" marL="0">
              <a:lnSpc>
                <a:spcPct val="130000"/>
              </a:lnSpc>
              <a:buNone/>
            </a:pPr>
            <a:r>
              <a:rPr lang="en-US" sz="1150" dirty="0">
                <a:solidFill>
                  <a:srgbClr val="9DB5C8"/>
                </a:solidFill>
                <a:latin typeface="Arial" pitchFamily="34" charset="0"/>
                <a:ea typeface="Arial" pitchFamily="34" charset="-122"/>
                <a:cs typeface="Arial" pitchFamily="34" charset="-120"/>
              </a:rPr>
              <a:t>needmomentum.com</a:t>
            </a:r>
            <a:endParaRPr lang="en-US" sz="1150" dirty="0"/>
          </a:p>
        </p:txBody>
      </p:sp>
      <p:sp>
        <p:nvSpPr>
          <p:cNvPr id="11" name="role:body"/>
          <p:cNvSpPr txBox="1"/>
          <p:nvPr/>
        </p:nvSpPr>
        <p:spPr>
          <a:xfrm>
            <a:off x="3913632" y="5760720"/>
            <a:ext cx="3108960" cy="822960"/>
          </a:xfrm>
          <a:prstGeom prst="rect">
            <a:avLst/>
          </a:prstGeom>
          <a:noFill/>
          <a:ln/>
        </p:spPr>
        <p:txBody>
          <a:bodyPr wrap="square" lIns="0" tIns="0" rIns="0" bIns="0" rtlCol="0" anchor="t"/>
          <a:lstStyle/>
          <a:p>
            <a:pPr algn="l" indent="0" marL="0">
              <a:lnSpc>
                <a:spcPct val="130000"/>
              </a:lnSpc>
              <a:buNone/>
            </a:pPr>
            <a:r>
              <a:rPr lang="en-US" sz="1150" dirty="0">
                <a:solidFill>
                  <a:srgbClr val="9DB5C8"/>
                </a:solidFill>
                <a:latin typeface="Arial" pitchFamily="34" charset="0"/>
                <a:ea typeface="Arial" pitchFamily="34" charset="-122"/>
                <a:cs typeface="Arial" pitchFamily="34" charset="-120"/>
              </a:rPr>
              <a:t>1635 Market St. #1601</a:t>
            </a:r>
            <a:endParaRPr lang="en-US" sz="1150" dirty="0"/>
          </a:p>
          <a:p>
            <a:pPr algn="l" indent="0" marL="0">
              <a:lnSpc>
                <a:spcPct val="130000"/>
              </a:lnSpc>
              <a:buNone/>
            </a:pPr>
            <a:r>
              <a:rPr lang="en-US" sz="1150" dirty="0">
                <a:solidFill>
                  <a:srgbClr val="9DB5C8"/>
                </a:solidFill>
                <a:latin typeface="Arial" pitchFamily="34" charset="0"/>
                <a:ea typeface="Arial" pitchFamily="34" charset="-122"/>
                <a:cs typeface="Arial" pitchFamily="34" charset="-120"/>
              </a:rPr>
              <a:t>Philadelphia, PA 19103</a:t>
            </a:r>
            <a:endParaRPr lang="en-US" sz="1150" dirty="0"/>
          </a:p>
          <a:p>
            <a:pPr algn="l" indent="0" marL="0">
              <a:lnSpc>
                <a:spcPct val="130000"/>
              </a:lnSpc>
              <a:buNone/>
            </a:pPr>
            <a:r>
              <a:rPr lang="en-US" sz="1150" dirty="0">
                <a:solidFill>
                  <a:srgbClr val="9DB5C8"/>
                </a:solidFill>
                <a:latin typeface="Arial" pitchFamily="34" charset="0"/>
                <a:ea typeface="Arial" pitchFamily="34" charset="-122"/>
                <a:cs typeface="Arial" pitchFamily="34" charset="-120"/>
              </a:rPr>
              <a:t>Mon to Fri, 9:00am to 7:00pm</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900" decel="700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320" decel="700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368" decel="70000"/>
                                        <p:tgtEl>
                                          <p:spTgt spid="2"/>
                                        </p:tgtEl>
                                      </p:cBhvr>
                                    </p:animEffect>
                                  </p:childTnLst>
                                </p:cTn>
                              </p:par>
                              <p:par>
                                <p:cTn id="14" presetID="10" presetClass="entr" presetSubtype="0" fill="hold" grpId="0" nodeType="withEffect">
                                  <p:stCondLst>
                                    <p:cond delay="55"/>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22" decel="70000"/>
                                        <p:tgtEl>
                                          <p:spTgt spid="5"/>
                                        </p:tgtEl>
                                      </p:cBhvr>
                                    </p:animEffect>
                                    <p:anim calcmode="lin" valueType="num">
                                      <p:cBhvr additive="base">
                                        <p:cTn id="17" dur="322" decel="70000" fill="hold"/>
                                        <p:tgtEl>
                                          <p:spTgt spid="5"/>
                                        </p:tgtEl>
                                        <p:attrNameLst>
                                          <p:attrName>ppt_y</p:attrName>
                                        </p:attrNameLst>
                                      </p:cBhvr>
                                      <p:tavLst>
                                        <p:tav tm="0">
                                          <p:val>
                                            <p:strVal val="#ppt_y+0.032"/>
                                          </p:val>
                                        </p:tav>
                                        <p:tav tm="100000">
                                          <p:val>
                                            <p:strVal val="#ppt_y"/>
                                          </p:val>
                                        </p:tav>
                                      </p:tavLst>
                                    </p:anim>
                                  </p:childTnLst>
                                </p:cTn>
                              </p:par>
                              <p:par>
                                <p:cTn id="18" presetID="10" presetClass="entr" presetSubtype="0" fill="hold" grpId="0" nodeType="withEffect">
                                  <p:stCondLst>
                                    <p:cond delay="11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322" decel="70000"/>
                                        <p:tgtEl>
                                          <p:spTgt spid="6"/>
                                        </p:tgtEl>
                                      </p:cBhvr>
                                    </p:animEffect>
                                  </p:childTnLst>
                                </p:cTn>
                              </p:par>
                              <p:par>
                                <p:cTn id="21" presetID="10" presetClass="entr" presetSubtype="0" fill="hold" grpId="0" nodeType="withEffect">
                                  <p:stCondLst>
                                    <p:cond delay="165"/>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322" decel="70000"/>
                                        <p:tgtEl>
                                          <p:spTgt spid="7"/>
                                        </p:tgtEl>
                                      </p:cBhvr>
                                    </p:animEffect>
                                  </p:childTnLst>
                                </p:cTn>
                              </p:par>
                              <p:par>
                                <p:cTn id="24" presetID="22" presetClass="entr" presetSubtype="1" fill="hold" grpId="0" nodeType="withEffect">
                                  <p:stCondLst>
                                    <p:cond delay="220"/>
                                  </p:stCondLst>
                                  <p:childTnLst>
                                    <p:set>
                                      <p:cBhvr>
                                        <p:cTn id="25" dur="1" fill="hold">
                                          <p:stCondLst>
                                            <p:cond delay="0"/>
                                          </p:stCondLst>
                                        </p:cTn>
                                        <p:tgtEl>
                                          <p:spTgt spid="8"/>
                                        </p:tgtEl>
                                        <p:attrNameLst>
                                          <p:attrName>style.visibility</p:attrName>
                                        </p:attrNameLst>
                                      </p:cBhvr>
                                      <p:to>
                                        <p:strVal val="visible"/>
                                      </p:to>
                                    </p:set>
                                    <p:animEffect transition="in" filter="wipe(right)">
                                      <p:cBhvr>
                                        <p:cTn id="26" dur="529"/>
                                        <p:tgtEl>
                                          <p:spTgt spid="8"/>
                                        </p:tgtEl>
                                      </p:cBhvr>
                                    </p:animEffect>
                                  </p:childTnLst>
                                </p:cTn>
                              </p:par>
                              <p:par>
                                <p:cTn id="27" presetID="10" presetClass="entr" presetSubtype="0" fill="hold" grpId="0" nodeType="withEffect">
                                  <p:stCondLst>
                                    <p:cond delay="275"/>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322" decel="70000"/>
                                        <p:tgtEl>
                                          <p:spTgt spid="9"/>
                                        </p:tgtEl>
                                      </p:cBhvr>
                                    </p:animEffect>
                                  </p:childTnLst>
                                </p:cTn>
                              </p:par>
                              <p:par>
                                <p:cTn id="30" presetID="10"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22" decel="70000"/>
                                        <p:tgtEl>
                                          <p:spTgt spid="11"/>
                                        </p:tgtEl>
                                      </p:cBhvr>
                                    </p:animEffect>
                                  </p:childTnLst>
                                </p:cTn>
                              </p:par>
                              <p:par>
                                <p:cTn id="33" presetID="10" presetClass="entr" presetSubtype="0" fill="hold" grpId="0" nodeType="withEffect">
                                  <p:stCondLst>
                                    <p:cond delay="385"/>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322" decel="70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Momentum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Momentum Digital, marketing that makes the phone ring</dc:title>
  <dc:subject>Capabilities, case studies and pricing</dc:subject>
  <dc:creator>Momentum Digital</dc:creator>
  <cp:lastModifiedBy>Momentum Digital</cp:lastModifiedBy>
  <cp:revision>1</cp:revision>
  <dcterms:created xsi:type="dcterms:W3CDTF">2026-09-04T16:24:13Z</dcterms:created>
  <dcterms:modified xsi:type="dcterms:W3CDTF">2026-09-04T16:24:13Z</dcterms:modified>
</cp:coreProperties>
</file>