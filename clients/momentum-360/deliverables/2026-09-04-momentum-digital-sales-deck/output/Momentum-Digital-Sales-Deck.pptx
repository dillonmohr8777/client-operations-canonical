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3075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service list. Momentum sells measurable local demand: calls, forms and booked appointments. Every claim in this deck traces to a published Momentum source.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founder story: Google experience applied to businesses Google's own sales org never had time for. The 1,000+ figure and the $500 to $5,000 range are both published on the site.
[Sources]
needmomentum.com/about-us/
needmomentum.com/marketing-case-studies/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slide. Do not add badges Momentum has not published. Every name here appears as a badge or in copy on needmomentum.com.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menu slide. Ask which two lines are already running and which are not, then jump straight to the matching service slide.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SEO is the anchor line. Both proof points are non branded search, which answers the objection most prospects raise: we already rank for our own name.
[Sources]
needmomentum.com/marketing-case-studies/it-services-seo-microtech-systems-boise/
needmomentum.com/marketing-case-studies/on-page-seo-case-study/
[/Sources]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Kind Insurance number is the headline: phone calls went from 154 in 2024 to 638 in 2025. Cost per conversion rose to $42.09 because the account stopped optimizing for cheap non call conversions.
[Sources]
needmomentum.com/marketing-case-studies/ppc-phone-call-lead-generation/
needmomentum.com/marketing-case-studies/google-ads-case-study/
needmomentum.com/marketing-case-studies/freight-company-google-ads/
needmomentum.com/marketing-case-studies/med-spa-google-ads-case-study/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Grand Entry Doors is the strongest organic social proof: 775,990 impressions in September 2025 alone. Good answer to whether organic social actually does anything.
[Sources]
needmomentum.com/marketing-case-studies/pinterest-organic-case-study/
[/Sources]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Conversions rose by up to 816% and sessions by 66%. Say up to, exactly as the case study does. The performance scores are before and after samples, not permanent scores.
[Sources]
needmomentum.com/marketing-case-studies/wordpress-website-redesign/
needmomentum.com/marketing-prices/
[/Sources]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Momentum 360 is the differentiator against pure play SEO shops: the same agency shoots the media that makes the local listing work. momentumvirtualtours.com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numbers, told honestly. Five conversations and one closed policy in the first thirty days is a real result for an insurance brokerage, and more credible than a vague automation promise.
[Sources]
needmomentum.com/ai-powered-marketing-automation/
needmomentum.com/marketing-case-studies/lead-automation/
[/Sources]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in the deck not built from published Momentum material. It carries no invented metrics: the only figure on it, AI visibility 35, comes from the Detroit Dispensing Solutions case study. Do not quote a price until Mac sets one.
[Sources]
needmomentum.com/marketing-case-studies/b2b-seo-lead-generation/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grid. Point at the prospect's industry and move to the matching case study.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version for a short meeting. Each figure has a full slide behind it. Nothing here is an average or a blended agency claim; every number belongs to one named client.
[Sources]
needmomentum.com, captured September 4, 2026.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one is that SEO was measured on revenue, not sessions. First measurable movement inside three months, full result over twelve.
[Sources]
needmomentum.com/ecommerce-seo-case-study-underx/
[/Sources]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AEO story Momentum has today. AI visibility grew to 35 and ChatGPT shows up as a named source in the December lead mix. Use it when a prospect asks about AI search. LinkedIn retargeting CTR was 2.92%, up 356% on prospecting.
[Sources]
needmomentum.com/marketing-case-studies/b2b-seo-lead-generation/
[/Sources]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CPA objection before the prospect raises it. $13.27 to $42.09 looks like a regression until you say what was being counted. Call conversion rate went 10.91% to 33.06%.
[Sources]
needmomentum.com/marketing-case-studies/ppc-phone-call-lead-generation/
[/Sources]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for a prospect who says their ads bring the wrong people. The fix was changing what the account optimizes toward, then scaling.
[Sources]
needmomentum.com/marketing-case-studies/google-ads-case-study/
needmomentum.com/marketing-case-studies/corporate-housing-marketing-bedford/
[/Sources]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multi location story. Three profiles, three ad campaigns, one funnel. The next phase on the case study page is concierge medicine plus email and SMS retention.
[Sources]
needmomentum.com/drip-iv-case-study/
needmomentum.com/marketing-case-studies/iv-therapy-paid-ads/
[/Sources]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 fire. Alex Mika ran four years and the page is honest that traffic declined 40% after the contract ended, which is a useful retention argument if a prospect asks what happens when they stop.
[Sources]
needmomentum.com/marketing-case-studies/home-services-lead-generation/
needmomentum.com/marketing-case-studies/freight-company-google-ads/
needmomentum.com/marketing-case-studies/site-migration-case-study/
needmomentum.com/marketing-case-studies/med-spa-google-ads-case-study/
needmomentum.com/ecommerce-jewelry-marketing-case-study/
needmomentum.com/shopify-seo-case-study/
needmomentum.com/marketing-case-studies/legal-seo-mosser-legal/
needmomentum.com/nightclub-marketing-case-study/
[/Sources]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guarantee wording exactly as published. Do not paraphrase it into a stronger promise, and do not extend it to packages that do not carry it. Individual packages carry their own: guaranteed growth on Kickstart, first page of Google on the twelve month SEO package, a rank increase on GBP management. Confirm with Mac that the language is current.
[Sources]
needmomentum.com/marketing-prices/
needmomentum.com/marketing-case-studies/
[/Sources]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prices are published on needmomentum.com/marketing-prices/. The middle card is the one to anchor on. Custom or specific projects are quoted on a call.
[Sources]
needmomentum.com/marketing-prices/
[/Sources]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rows, all published. If a prospect wants to mix services, the answer is the custom package at a $1,000 monthly floor, or $3,000 for a genuinely custom build.
[Sources]
needmomentum.com/marketing-prices/
[/Sources]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booking the audit, not by sending pricing. The audit is the qualification step and it is already published as free. Office: 1635 Market St. #1601, Philadelphia PA 19103, Mon to Fri 9:00am to 7:00pm.
[Sources]
needmomentum.com/marketing-prices/
[/Sources]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25"/>
        </a:solidFill>
        <a:effectLst/>
      </p:bgPr>
    </p:bg>
    <p:spTree>
      <p:nvGrpSpPr>
        <p:cNvPr id="1" name=""/>
        <p:cNvGrpSpPr/>
        <p:nvPr/>
      </p:nvGrpSpPr>
      <p:grpSpPr>
        <a:xfrm>
          <a:off x="0" y="0"/>
          <a:ext cx="0" cy="0"/>
          <a:chOff x="0" y="0"/>
          <a:chExt cx="0" cy="0"/>
        </a:xfrm>
      </p:grpSpPr>
      <p:sp>
        <p:nvSpPr>
          <p:cNvPr id="2" name="Shape 0"/>
          <p:cNvSpPr/>
          <p:nvPr/>
        </p:nvSpPr>
        <p:spPr>
          <a:xfrm>
            <a:off x="7086600" y="0"/>
            <a:ext cx="5105095" cy="6858000"/>
          </a:xfrm>
          <a:prstGeom prst="rect">
            <a:avLst/>
          </a:prstGeom>
          <a:solidFill>
            <a:srgbClr val="112B3F"/>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10000"/>
          </a:blip>
          <a:stretch>
            <a:fillRect/>
          </a:stretch>
        </p:blipFill>
        <p:spPr>
          <a:xfrm>
            <a:off x="8686800" y="1051560"/>
            <a:ext cx="5852160" cy="6942064"/>
          </a:xfrm>
          <a:prstGeom prst="rect">
            <a:avLst/>
          </a:prstGeom>
        </p:spPr>
      </p:pic>
      <p:pic>
        <p:nvPicPr>
          <p:cNvPr id="4" name="Image 1" descr="Momentum Digital logo"/>
          <p:cNvPicPr>
            <a:picLocks noChangeAspect="1"/>
          </p:cNvPicPr>
          <p:nvPr/>
        </p:nvPicPr>
        <p:blipFill>
          <a:blip r:embed="rId4"/>
          <a:stretch>
            <a:fillRect/>
          </a:stretch>
        </p:blipFill>
        <p:spPr>
          <a:xfrm>
            <a:off x="713232" y="658368"/>
            <a:ext cx="2880360" cy="619299"/>
          </a:xfrm>
          <a:prstGeom prst="rect">
            <a:avLst/>
          </a:prstGeom>
        </p:spPr>
      </p:pic>
      <p:sp>
        <p:nvSpPr>
          <p:cNvPr id="5" name="Text 1"/>
          <p:cNvSpPr txBox="1"/>
          <p:nvPr/>
        </p:nvSpPr>
        <p:spPr>
          <a:xfrm>
            <a:off x="713232" y="1810512"/>
            <a:ext cx="603504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PHILADELPHIA · SINCE 2015</a:t>
            </a:r>
            <a:endParaRPr lang="en-US" sz="1050" dirty="0"/>
          </a:p>
        </p:txBody>
      </p:sp>
      <p:sp>
        <p:nvSpPr>
          <p:cNvPr id="6" name="Text 2"/>
          <p:cNvSpPr txBox="1"/>
          <p:nvPr/>
        </p:nvSpPr>
        <p:spPr>
          <a:xfrm>
            <a:off x="713232" y="2139696"/>
            <a:ext cx="6309360" cy="2121408"/>
          </a:xfrm>
          <a:prstGeom prst="rect">
            <a:avLst/>
          </a:prstGeom>
          <a:noFill/>
          <a:ln/>
        </p:spPr>
        <p:txBody>
          <a:bodyPr wrap="square" lIns="0" tIns="0" rIns="0" bIns="0" rtlCol="0" anchor="t"/>
          <a:lstStyle/>
          <a:p>
            <a:pPr marL="0" indent="0" algn="l">
              <a:lnSpc>
                <a:spcPct val="100000"/>
              </a:lnSpc>
              <a:buNone/>
            </a:pPr>
            <a:r>
              <a:rPr lang="en-US" sz="5400" b="1" dirty="0">
                <a:solidFill>
                  <a:srgbClr val="FFFFFF"/>
                </a:solidFill>
                <a:latin typeface="Arial" pitchFamily="34" charset="0"/>
                <a:ea typeface="Arial" pitchFamily="34" charset="-122"/>
                <a:cs typeface="Arial" pitchFamily="34" charset="-120"/>
              </a:rPr>
              <a:t>Marketing that</a:t>
            </a:r>
            <a:endParaRPr lang="en-US" sz="5400" dirty="0"/>
          </a:p>
          <a:p>
            <a:pPr marL="0" indent="0" algn="l">
              <a:lnSpc>
                <a:spcPct val="100000"/>
              </a:lnSpc>
              <a:buNone/>
            </a:pPr>
            <a:r>
              <a:rPr lang="en-US" sz="5400" b="1" dirty="0">
                <a:solidFill>
                  <a:srgbClr val="FFFFFF"/>
                </a:solidFill>
                <a:latin typeface="Arial" pitchFamily="34" charset="0"/>
                <a:ea typeface="Arial" pitchFamily="34" charset="-122"/>
                <a:cs typeface="Arial" pitchFamily="34" charset="-120"/>
              </a:rPr>
              <a:t>makes the</a:t>
            </a:r>
            <a:endParaRPr lang="en-US" sz="5400" dirty="0"/>
          </a:p>
          <a:p>
            <a:pPr marL="0" indent="0" algn="l">
              <a:lnSpc>
                <a:spcPct val="100000"/>
              </a:lnSpc>
              <a:buNone/>
            </a:pPr>
            <a:r>
              <a:rPr lang="en-US" sz="5400" b="1" dirty="0">
                <a:solidFill>
                  <a:srgbClr val="FFFFFF"/>
                </a:solidFill>
                <a:latin typeface="Arial" pitchFamily="34" charset="0"/>
                <a:ea typeface="Arial" pitchFamily="34" charset="-122"/>
                <a:cs typeface="Arial" pitchFamily="34" charset="-120"/>
              </a:rPr>
              <a:t>phone ring.</a:t>
            </a:r>
            <a:endParaRPr lang="en-US" sz="5400" dirty="0"/>
          </a:p>
        </p:txBody>
      </p:sp>
      <p:sp>
        <p:nvSpPr>
          <p:cNvPr id="7" name="Text 3"/>
          <p:cNvSpPr txBox="1"/>
          <p:nvPr/>
        </p:nvSpPr>
        <p:spPr>
          <a:xfrm>
            <a:off x="713232" y="4681728"/>
            <a:ext cx="5852160" cy="1019556"/>
          </a:xfrm>
          <a:prstGeom prst="rect">
            <a:avLst/>
          </a:prstGeom>
          <a:noFill/>
          <a:ln/>
        </p:spPr>
        <p:txBody>
          <a:bodyPr wrap="square" lIns="0" tIns="0" rIns="0" bIns="0" rtlCol="0" anchor="t"/>
          <a:lstStyle/>
          <a:p>
            <a:pPr marL="0" indent="0" algn="l">
              <a:lnSpc>
                <a:spcPct val="132000"/>
              </a:lnSpc>
              <a:buNone/>
            </a:pPr>
            <a:r>
              <a:rPr lang="en-US" sz="1900" dirty="0">
                <a:solidFill>
                  <a:srgbClr val="9DB5C8"/>
                </a:solidFill>
                <a:latin typeface="Arial" pitchFamily="34" charset="0"/>
                <a:ea typeface="Arial" pitchFamily="34" charset="-122"/>
                <a:cs typeface="Arial" pitchFamily="34" charset="-120"/>
              </a:rPr>
              <a:t>SEO, paid media, social, design, content and AI automation for small and local businesses, run by a team that shows you the numbers.</a:t>
            </a:r>
            <a:endParaRPr lang="en-US" sz="1900" dirty="0"/>
          </a:p>
        </p:txBody>
      </p:sp>
      <p:sp>
        <p:nvSpPr>
          <p:cNvPr id="8" name="Text 4"/>
          <p:cNvSpPr txBox="1"/>
          <p:nvPr/>
        </p:nvSpPr>
        <p:spPr>
          <a:xfrm>
            <a:off x="713232" y="6016752"/>
            <a:ext cx="6400800" cy="237744"/>
          </a:xfrm>
          <a:prstGeom prst="rect">
            <a:avLst/>
          </a:prstGeom>
          <a:noFill/>
          <a:ln/>
        </p:spPr>
        <p:txBody>
          <a:bodyPr wrap="square" lIns="0" tIns="0" rIns="0" bIns="0" rtlCol="0" anchor="t"/>
          <a:lstStyle/>
          <a:p>
            <a:pPr marL="0" indent="0" algn="l">
              <a:buNone/>
            </a:pPr>
            <a:r>
              <a:rPr lang="en-US" sz="1100" b="1" kern="0" spc="120" dirty="0">
                <a:solidFill>
                  <a:srgbClr val="9DB5C8"/>
                </a:solidFill>
                <a:latin typeface="Arial" pitchFamily="34" charset="0"/>
                <a:ea typeface="Arial" pitchFamily="34" charset="-122"/>
                <a:cs typeface="Arial" pitchFamily="34" charset="-120"/>
              </a:rPr>
              <a:t>needmomentum.com   ·   (215) 876-2954   ·   hi@needmomentum.com</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8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214055" y="0"/>
            <a:ext cx="3977640" cy="6858000"/>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10000"/>
          </a:blip>
          <a:stretch>
            <a:fillRect/>
          </a:stretch>
        </p:blipFill>
        <p:spPr>
          <a:xfrm>
            <a:off x="9601200" y="4114800"/>
            <a:ext cx="3931920" cy="4664199"/>
          </a:xfrm>
          <a:prstGeom prst="rect">
            <a:avLst/>
          </a:prstGeom>
        </p:spPr>
      </p:pic>
      <p:pic>
        <p:nvPicPr>
          <p:cNvPr id="4"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5"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WHO WE ARE</a:t>
            </a:r>
            <a:endParaRPr lang="en-US" sz="1050" dirty="0"/>
          </a:p>
        </p:txBody>
      </p:sp>
      <p:sp>
        <p:nvSpPr>
          <p:cNvPr id="6" name="Text 2"/>
          <p:cNvSpPr txBox="1"/>
          <p:nvPr/>
        </p:nvSpPr>
        <p:spPr>
          <a:xfrm>
            <a:off x="713232" y="987552"/>
            <a:ext cx="6766560"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A Philadelphia agency</a:t>
            </a:r>
            <a:endParaRPr lang="en-US" sz="3900" dirty="0"/>
          </a:p>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built for small business</a:t>
            </a:r>
            <a:endParaRPr lang="en-US" sz="3900" dirty="0"/>
          </a:p>
        </p:txBody>
      </p:sp>
      <p:sp>
        <p:nvSpPr>
          <p:cNvPr id="7"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01</a:t>
            </a:r>
            <a:endParaRPr lang="en-US" sz="1050" dirty="0"/>
          </a:p>
        </p:txBody>
      </p:sp>
      <p:sp>
        <p:nvSpPr>
          <p:cNvPr id="8" name="Text 4"/>
          <p:cNvSpPr txBox="1"/>
          <p:nvPr/>
        </p:nvSpPr>
        <p:spPr>
          <a:xfrm>
            <a:off x="713232" y="2788920"/>
            <a:ext cx="1956816" cy="519176"/>
          </a:xfrm>
          <a:prstGeom prst="rect">
            <a:avLst/>
          </a:prstGeom>
          <a:noFill/>
          <a:ln/>
        </p:spPr>
        <p:txBody>
          <a:bodyPr wrap="square" lIns="0" tIns="0" rIns="0" bIns="0" rtlCol="0" anchor="t"/>
          <a:lstStyle/>
          <a:p>
            <a:pPr marL="0" indent="0" algn="l">
              <a:lnSpc>
                <a:spcPct val="100000"/>
              </a:lnSpc>
              <a:buNone/>
            </a:pPr>
            <a:r>
              <a:rPr lang="en-US" sz="3800" b="1" dirty="0">
                <a:solidFill>
                  <a:srgbClr val="2A80C2"/>
                </a:solidFill>
                <a:latin typeface="Arial" pitchFamily="34" charset="0"/>
                <a:ea typeface="Arial" pitchFamily="34" charset="-122"/>
                <a:cs typeface="Arial" pitchFamily="34" charset="-120"/>
              </a:rPr>
              <a:t>1,000+</a:t>
            </a:r>
            <a:endParaRPr lang="en-US" sz="3800" dirty="0"/>
          </a:p>
        </p:txBody>
      </p:sp>
      <p:sp>
        <p:nvSpPr>
          <p:cNvPr id="9" name="Text 5"/>
          <p:cNvSpPr txBox="1"/>
          <p:nvPr/>
        </p:nvSpPr>
        <p:spPr>
          <a:xfrm>
            <a:off x="713232" y="3362960"/>
            <a:ext cx="1956816"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Small businesses served</a:t>
            </a:r>
            <a:endParaRPr lang="en-US" sz="1200" dirty="0"/>
          </a:p>
        </p:txBody>
      </p:sp>
      <p:sp>
        <p:nvSpPr>
          <p:cNvPr id="10" name="Text 6"/>
          <p:cNvSpPr txBox="1"/>
          <p:nvPr/>
        </p:nvSpPr>
        <p:spPr>
          <a:xfrm>
            <a:off x="713232" y="3664712"/>
            <a:ext cx="1956816" cy="37490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Philadelphia region, since 2015</a:t>
            </a:r>
            <a:endParaRPr lang="en-US" sz="1050" dirty="0"/>
          </a:p>
        </p:txBody>
      </p:sp>
      <p:sp>
        <p:nvSpPr>
          <p:cNvPr id="11" name="Shape 7"/>
          <p:cNvSpPr/>
          <p:nvPr/>
        </p:nvSpPr>
        <p:spPr>
          <a:xfrm>
            <a:off x="2944368" y="2788920"/>
            <a:ext cx="0" cy="1360424"/>
          </a:xfrm>
          <a:prstGeom prst="line">
            <a:avLst/>
          </a:prstGeom>
          <a:noFill/>
          <a:ln w="9525">
            <a:solidFill>
              <a:srgbClr val="E2EAF1"/>
            </a:solidFill>
            <a:prstDash val="solid"/>
          </a:ln>
        </p:spPr>
      </p:sp>
      <p:sp>
        <p:nvSpPr>
          <p:cNvPr id="12" name="Text 8"/>
          <p:cNvSpPr txBox="1"/>
          <p:nvPr/>
        </p:nvSpPr>
        <p:spPr>
          <a:xfrm>
            <a:off x="3182112" y="2788920"/>
            <a:ext cx="1956816" cy="519176"/>
          </a:xfrm>
          <a:prstGeom prst="rect">
            <a:avLst/>
          </a:prstGeom>
          <a:noFill/>
          <a:ln/>
        </p:spPr>
        <p:txBody>
          <a:bodyPr wrap="square" lIns="0" tIns="0" rIns="0" bIns="0" rtlCol="0" anchor="t"/>
          <a:lstStyle/>
          <a:p>
            <a:pPr marL="0" indent="0" algn="l">
              <a:lnSpc>
                <a:spcPct val="100000"/>
              </a:lnSpc>
              <a:buNone/>
            </a:pPr>
            <a:r>
              <a:rPr lang="en-US" sz="3800" b="1" dirty="0">
                <a:solidFill>
                  <a:srgbClr val="2A80C2"/>
                </a:solidFill>
                <a:latin typeface="Arial" pitchFamily="34" charset="0"/>
                <a:ea typeface="Arial" pitchFamily="34" charset="-122"/>
                <a:cs typeface="Arial" pitchFamily="34" charset="-120"/>
              </a:rPr>
              <a:t>2015</a:t>
            </a:r>
            <a:endParaRPr lang="en-US" sz="3800" dirty="0"/>
          </a:p>
        </p:txBody>
      </p:sp>
      <p:sp>
        <p:nvSpPr>
          <p:cNvPr id="13" name="Text 9"/>
          <p:cNvSpPr txBox="1"/>
          <p:nvPr/>
        </p:nvSpPr>
        <p:spPr>
          <a:xfrm>
            <a:off x="3182112" y="3362960"/>
            <a:ext cx="1956816"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Founded in Philadelphia</a:t>
            </a:r>
            <a:endParaRPr lang="en-US" sz="1200" dirty="0"/>
          </a:p>
        </p:txBody>
      </p:sp>
      <p:sp>
        <p:nvSpPr>
          <p:cNvPr id="14" name="Text 10"/>
          <p:cNvSpPr txBox="1"/>
          <p:nvPr/>
        </p:nvSpPr>
        <p:spPr>
          <a:xfrm>
            <a:off x="3182112" y="3664712"/>
            <a:ext cx="1956816" cy="37490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1635 Market St. #1601</a:t>
            </a:r>
            <a:endParaRPr lang="en-US" sz="1050" dirty="0"/>
          </a:p>
        </p:txBody>
      </p:sp>
      <p:sp>
        <p:nvSpPr>
          <p:cNvPr id="15" name="Shape 11"/>
          <p:cNvSpPr/>
          <p:nvPr/>
        </p:nvSpPr>
        <p:spPr>
          <a:xfrm>
            <a:off x="5413248" y="2788920"/>
            <a:ext cx="0" cy="1360424"/>
          </a:xfrm>
          <a:prstGeom prst="line">
            <a:avLst/>
          </a:prstGeom>
          <a:noFill/>
          <a:ln w="9525">
            <a:solidFill>
              <a:srgbClr val="E2EAF1"/>
            </a:solidFill>
            <a:prstDash val="solid"/>
          </a:ln>
        </p:spPr>
      </p:sp>
      <p:sp>
        <p:nvSpPr>
          <p:cNvPr id="16" name="Text 12"/>
          <p:cNvSpPr txBox="1"/>
          <p:nvPr/>
        </p:nvSpPr>
        <p:spPr>
          <a:xfrm>
            <a:off x="5650992" y="2788920"/>
            <a:ext cx="1956816" cy="519176"/>
          </a:xfrm>
          <a:prstGeom prst="rect">
            <a:avLst/>
          </a:prstGeom>
          <a:noFill/>
          <a:ln/>
        </p:spPr>
        <p:txBody>
          <a:bodyPr wrap="square" lIns="0" tIns="0" rIns="0" bIns="0" rtlCol="0" anchor="t"/>
          <a:lstStyle/>
          <a:p>
            <a:pPr marL="0" indent="0" algn="l">
              <a:lnSpc>
                <a:spcPct val="100000"/>
              </a:lnSpc>
              <a:buNone/>
            </a:pPr>
            <a:r>
              <a:rPr lang="en-US" sz="3800" b="1" dirty="0">
                <a:solidFill>
                  <a:srgbClr val="2A80C2"/>
                </a:solidFill>
                <a:latin typeface="Arial" pitchFamily="34" charset="0"/>
                <a:ea typeface="Arial" pitchFamily="34" charset="-122"/>
                <a:cs typeface="Arial" pitchFamily="34" charset="-120"/>
              </a:rPr>
              <a:t>16</a:t>
            </a:r>
            <a:endParaRPr lang="en-US" sz="3800" dirty="0"/>
          </a:p>
        </p:txBody>
      </p:sp>
      <p:sp>
        <p:nvSpPr>
          <p:cNvPr id="17" name="Text 13"/>
          <p:cNvSpPr txBox="1"/>
          <p:nvPr/>
        </p:nvSpPr>
        <p:spPr>
          <a:xfrm>
            <a:off x="5650992" y="3362960"/>
            <a:ext cx="1956816"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Clutch reviews</a:t>
            </a:r>
            <a:endParaRPr lang="en-US" sz="1200" dirty="0"/>
          </a:p>
        </p:txBody>
      </p:sp>
      <p:sp>
        <p:nvSpPr>
          <p:cNvPr id="18" name="Text 14"/>
          <p:cNvSpPr txBox="1"/>
          <p:nvPr/>
        </p:nvSpPr>
        <p:spPr>
          <a:xfrm>
            <a:off x="5650992" y="3664712"/>
            <a:ext cx="1956816" cy="37490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Verified client feedback</a:t>
            </a:r>
            <a:endParaRPr lang="en-US" sz="1050" dirty="0"/>
          </a:p>
        </p:txBody>
      </p:sp>
      <p:sp>
        <p:nvSpPr>
          <p:cNvPr id="19" name="Shape 15"/>
          <p:cNvSpPr/>
          <p:nvPr/>
        </p:nvSpPr>
        <p:spPr>
          <a:xfrm>
            <a:off x="713232" y="4754880"/>
            <a:ext cx="7406640" cy="0"/>
          </a:xfrm>
          <a:prstGeom prst="line">
            <a:avLst/>
          </a:prstGeom>
          <a:noFill/>
          <a:ln w="9525">
            <a:solidFill>
              <a:srgbClr val="E2EAF1"/>
            </a:solidFill>
            <a:prstDash val="solid"/>
          </a:ln>
        </p:spPr>
      </p:sp>
      <p:sp>
        <p:nvSpPr>
          <p:cNvPr id="20" name="Text 16"/>
          <p:cNvSpPr txBox="1"/>
          <p:nvPr/>
        </p:nvSpPr>
        <p:spPr>
          <a:xfrm>
            <a:off x="713232" y="4983480"/>
            <a:ext cx="7223760" cy="753237"/>
          </a:xfrm>
          <a:prstGeom prst="rect">
            <a:avLst/>
          </a:prstGeom>
          <a:noFill/>
          <a:ln/>
        </p:spPr>
        <p:txBody>
          <a:bodyPr wrap="square" lIns="0" tIns="0" rIns="0" bIns="0" rtlCol="0" anchor="t"/>
          <a:lstStyle/>
          <a:p>
            <a:pPr marL="0" indent="0" algn="l">
              <a:lnSpc>
                <a:spcPct val="134000"/>
              </a:lnSpc>
              <a:buNone/>
            </a:pPr>
            <a:r>
              <a:rPr lang="en-US" sz="1350" dirty="0">
                <a:solidFill>
                  <a:srgbClr val="5A6772"/>
                </a:solidFill>
                <a:latin typeface="Arial" pitchFamily="34" charset="0"/>
                <a:ea typeface="Arial" pitchFamily="34" charset="-122"/>
                <a:cs typeface="Arial" pitchFamily="34" charset="-120"/>
              </a:rPr>
              <a:t>Momentum Digital was founded in 2015 to help small businesses grow online without breaking the bank. Mac Frederick started his career at Google, working directly with small and medium businesses, and built Momentum around that experience.</a:t>
            </a:r>
            <a:endParaRPr lang="en-US" sz="1350" dirty="0"/>
          </a:p>
        </p:txBody>
      </p:sp>
      <p:sp>
        <p:nvSpPr>
          <p:cNvPr id="21" name="Text 17"/>
          <p:cNvSpPr txBox="1"/>
          <p:nvPr/>
        </p:nvSpPr>
        <p:spPr>
          <a:xfrm>
            <a:off x="8549640" y="1417320"/>
            <a:ext cx="310896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WHO WE WORK WITH</a:t>
            </a:r>
            <a:endParaRPr lang="en-US" sz="1050" dirty="0"/>
          </a:p>
        </p:txBody>
      </p:sp>
      <p:sp>
        <p:nvSpPr>
          <p:cNvPr id="22" name="Text 18"/>
          <p:cNvSpPr txBox="1"/>
          <p:nvPr/>
        </p:nvSpPr>
        <p:spPr>
          <a:xfrm>
            <a:off x="8549640" y="1746504"/>
            <a:ext cx="3108960" cy="658368"/>
          </a:xfrm>
          <a:prstGeom prst="rect">
            <a:avLst/>
          </a:prstGeom>
          <a:noFill/>
          <a:ln/>
        </p:spPr>
        <p:txBody>
          <a:bodyPr wrap="square" lIns="0" tIns="0" rIns="0" bIns="0" rtlCol="0" anchor="t"/>
          <a:lstStyle/>
          <a:p>
            <a:pPr marL="0" indent="0" algn="l">
              <a:lnSpc>
                <a:spcPct val="105000"/>
              </a:lnSpc>
              <a:buNone/>
            </a:pPr>
            <a:r>
              <a:rPr lang="en-US" sz="2200" b="1" dirty="0">
                <a:solidFill>
                  <a:srgbClr val="FFFFFF"/>
                </a:solidFill>
                <a:latin typeface="Arial" pitchFamily="34" charset="0"/>
                <a:ea typeface="Arial" pitchFamily="34" charset="-122"/>
                <a:cs typeface="Arial" pitchFamily="34" charset="-120"/>
              </a:rPr>
              <a:t>Local, and</a:t>
            </a:r>
            <a:endParaRPr lang="en-US" sz="2200" dirty="0"/>
          </a:p>
          <a:p>
            <a:pPr marL="0" indent="0" algn="l">
              <a:lnSpc>
                <a:spcPct val="105000"/>
              </a:lnSpc>
              <a:buNone/>
            </a:pPr>
            <a:r>
              <a:rPr lang="en-US" sz="2200" b="1" dirty="0">
                <a:solidFill>
                  <a:srgbClr val="FFFFFF"/>
                </a:solidFill>
                <a:latin typeface="Arial" pitchFamily="34" charset="0"/>
                <a:ea typeface="Arial" pitchFamily="34" charset="-122"/>
                <a:cs typeface="Arial" pitchFamily="34" charset="-120"/>
              </a:rPr>
              <a:t>staying local</a:t>
            </a:r>
            <a:endParaRPr lang="en-US" sz="2200" dirty="0"/>
          </a:p>
        </p:txBody>
      </p:sp>
      <p:sp>
        <p:nvSpPr>
          <p:cNvPr id="23" name="Text 19"/>
          <p:cNvSpPr txBox="1"/>
          <p:nvPr/>
        </p:nvSpPr>
        <p:spPr>
          <a:xfrm>
            <a:off x="8549640" y="2551176"/>
            <a:ext cx="3108960" cy="3145536"/>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Small businesses building a digital presence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Local service providers and trades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Entrepreneurs and startups that need affordable scale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Healthcare, construction, real estate and retail</a:t>
            </a:r>
            <a:endParaRPr lang="en-US" sz="1200" dirty="0"/>
          </a:p>
        </p:txBody>
      </p:sp>
      <p:sp>
        <p:nvSpPr>
          <p:cNvPr id="24" name="Text 20"/>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Typical projects and retainers run $500 to $5,000 and last one to twelve months.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80"/>
                                        <p:tgtEl>
                                          <p:spTgt spid="5"/>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80"/>
                                        <p:tgtEl>
                                          <p:spTgt spid="6"/>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280"/>
                                        <p:tgtEl>
                                          <p:spTgt spid="21"/>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280"/>
                                        <p:tgtEl>
                                          <p:spTgt spid="22"/>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280"/>
                                        <p:tgtEl>
                                          <p:spTgt spid="2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280"/>
                                        <p:tgtEl>
                                          <p:spTgt spid="8"/>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280"/>
                                        <p:tgtEl>
                                          <p:spTgt spid="12"/>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280"/>
                                        <p:tgtEl>
                                          <p:spTgt spid="16"/>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80"/>
                                        <p:tgtEl>
                                          <p:spTgt spid="9"/>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280"/>
                                        <p:tgtEl>
                                          <p:spTgt spid="13"/>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280"/>
                                        <p:tgtEl>
                                          <p:spTgt spid="17"/>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28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2" grpId="0" animBg="1"/>
      <p:bldP spid="13" grpId="0" animBg="1"/>
      <p:bldP spid="16" grpId="0" animBg="1"/>
      <p:bldP spid="17" grpId="0" animBg="1"/>
      <p:bldP spid="21" grpId="0" animBg="1"/>
      <p:bldP spid="22"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CREDENTIALS</a:t>
            </a:r>
            <a:endParaRPr lang="en-US" sz="1050" dirty="0"/>
          </a:p>
        </p:txBody>
      </p:sp>
      <p:sp>
        <p:nvSpPr>
          <p:cNvPr id="4" name="Text 1"/>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Recognized by the platforms we run on</a:t>
            </a:r>
            <a:endParaRPr lang="en-US" sz="3900" dirty="0"/>
          </a:p>
        </p:txBody>
      </p:sp>
      <p:sp>
        <p:nvSpPr>
          <p:cNvPr id="5"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02</a:t>
            </a:r>
            <a:endParaRPr lang="en-US" sz="1050" dirty="0"/>
          </a:p>
        </p:txBody>
      </p:sp>
      <p:sp>
        <p:nvSpPr>
          <p:cNvPr id="6" name="Text 3"/>
          <p:cNvSpPr txBox="1"/>
          <p:nvPr/>
        </p:nvSpPr>
        <p:spPr>
          <a:xfrm>
            <a:off x="713232" y="2331720"/>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Google Partner</a:t>
            </a:r>
            <a:endParaRPr lang="en-US" sz="1700" dirty="0"/>
          </a:p>
        </p:txBody>
      </p:sp>
      <p:sp>
        <p:nvSpPr>
          <p:cNvPr id="7" name="Text 4"/>
          <p:cNvSpPr txBox="1"/>
          <p:nvPr/>
        </p:nvSpPr>
        <p:spPr>
          <a:xfrm>
            <a:off x="4325112" y="2331720"/>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Certified on Google Ads and Google Business Profile.</a:t>
            </a:r>
            <a:endParaRPr lang="en-US" sz="1300" dirty="0"/>
          </a:p>
        </p:txBody>
      </p:sp>
      <p:sp>
        <p:nvSpPr>
          <p:cNvPr id="8" name="Shape 5"/>
          <p:cNvSpPr/>
          <p:nvPr/>
        </p:nvSpPr>
        <p:spPr>
          <a:xfrm>
            <a:off x="713232" y="2783840"/>
            <a:ext cx="10765231" cy="0"/>
          </a:xfrm>
          <a:prstGeom prst="line">
            <a:avLst/>
          </a:prstGeom>
          <a:noFill/>
          <a:ln w="9525">
            <a:solidFill>
              <a:srgbClr val="E2EAF1"/>
            </a:solidFill>
            <a:prstDash val="solid"/>
          </a:ln>
        </p:spPr>
      </p:sp>
      <p:sp>
        <p:nvSpPr>
          <p:cNvPr id="9" name="Text 6"/>
          <p:cNvSpPr txBox="1"/>
          <p:nvPr/>
        </p:nvSpPr>
        <p:spPr>
          <a:xfrm>
            <a:off x="713232" y="2939288"/>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Meta Business Partner</a:t>
            </a:r>
            <a:endParaRPr lang="en-US" sz="1700" dirty="0"/>
          </a:p>
        </p:txBody>
      </p:sp>
      <p:sp>
        <p:nvSpPr>
          <p:cNvPr id="10" name="Text 7"/>
          <p:cNvSpPr txBox="1"/>
          <p:nvPr/>
        </p:nvSpPr>
        <p:spPr>
          <a:xfrm>
            <a:off x="4325112" y="2939288"/>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Certified on Facebook and Instagram advertising.</a:t>
            </a:r>
            <a:endParaRPr lang="en-US" sz="1300" dirty="0"/>
          </a:p>
        </p:txBody>
      </p:sp>
      <p:sp>
        <p:nvSpPr>
          <p:cNvPr id="11" name="Shape 8"/>
          <p:cNvSpPr/>
          <p:nvPr/>
        </p:nvSpPr>
        <p:spPr>
          <a:xfrm>
            <a:off x="713232" y="3391408"/>
            <a:ext cx="10765231" cy="0"/>
          </a:xfrm>
          <a:prstGeom prst="line">
            <a:avLst/>
          </a:prstGeom>
          <a:noFill/>
          <a:ln w="9525">
            <a:solidFill>
              <a:srgbClr val="E2EAF1"/>
            </a:solidFill>
            <a:prstDash val="solid"/>
          </a:ln>
        </p:spPr>
      </p:sp>
      <p:sp>
        <p:nvSpPr>
          <p:cNvPr id="12" name="Text 9"/>
          <p:cNvSpPr txBox="1"/>
          <p:nvPr/>
        </p:nvSpPr>
        <p:spPr>
          <a:xfrm>
            <a:off x="713232" y="3546856"/>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HubSpot</a:t>
            </a:r>
            <a:endParaRPr lang="en-US" sz="1700" dirty="0"/>
          </a:p>
        </p:txBody>
      </p:sp>
      <p:sp>
        <p:nvSpPr>
          <p:cNvPr id="13" name="Text 10"/>
          <p:cNvSpPr txBox="1"/>
          <p:nvPr/>
        </p:nvSpPr>
        <p:spPr>
          <a:xfrm>
            <a:off x="4325112" y="3546856"/>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CRM, lifecycle and marketing automation.</a:t>
            </a:r>
            <a:endParaRPr lang="en-US" sz="1300" dirty="0"/>
          </a:p>
        </p:txBody>
      </p:sp>
      <p:sp>
        <p:nvSpPr>
          <p:cNvPr id="14" name="Shape 11"/>
          <p:cNvSpPr/>
          <p:nvPr/>
        </p:nvSpPr>
        <p:spPr>
          <a:xfrm>
            <a:off x="713232" y="3998976"/>
            <a:ext cx="10765231" cy="0"/>
          </a:xfrm>
          <a:prstGeom prst="line">
            <a:avLst/>
          </a:prstGeom>
          <a:noFill/>
          <a:ln w="9525">
            <a:solidFill>
              <a:srgbClr val="E2EAF1"/>
            </a:solidFill>
            <a:prstDash val="solid"/>
          </a:ln>
        </p:spPr>
      </p:sp>
      <p:sp>
        <p:nvSpPr>
          <p:cNvPr id="15" name="Text 12"/>
          <p:cNvSpPr txBox="1"/>
          <p:nvPr/>
        </p:nvSpPr>
        <p:spPr>
          <a:xfrm>
            <a:off x="713232" y="4154424"/>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Inc. 5000 Regionals</a:t>
            </a:r>
            <a:endParaRPr lang="en-US" sz="1700" dirty="0"/>
          </a:p>
        </p:txBody>
      </p:sp>
      <p:sp>
        <p:nvSpPr>
          <p:cNvPr id="16" name="Text 13"/>
          <p:cNvSpPr txBox="1"/>
          <p:nvPr/>
        </p:nvSpPr>
        <p:spPr>
          <a:xfrm>
            <a:off x="4325112" y="4154424"/>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Recognized among the fastest growing regional companies.</a:t>
            </a:r>
            <a:endParaRPr lang="en-US" sz="1300" dirty="0"/>
          </a:p>
        </p:txBody>
      </p:sp>
      <p:sp>
        <p:nvSpPr>
          <p:cNvPr id="17" name="Shape 14"/>
          <p:cNvSpPr/>
          <p:nvPr/>
        </p:nvSpPr>
        <p:spPr>
          <a:xfrm>
            <a:off x="713232" y="4606544"/>
            <a:ext cx="10765231" cy="0"/>
          </a:xfrm>
          <a:prstGeom prst="line">
            <a:avLst/>
          </a:prstGeom>
          <a:noFill/>
          <a:ln w="9525">
            <a:solidFill>
              <a:srgbClr val="E2EAF1"/>
            </a:solidFill>
            <a:prstDash val="solid"/>
          </a:ln>
        </p:spPr>
      </p:sp>
      <p:sp>
        <p:nvSpPr>
          <p:cNvPr id="18" name="Text 15"/>
          <p:cNvSpPr txBox="1"/>
          <p:nvPr/>
        </p:nvSpPr>
        <p:spPr>
          <a:xfrm>
            <a:off x="713232" y="4761992"/>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ThreeBestRated</a:t>
            </a:r>
            <a:endParaRPr lang="en-US" sz="1700" dirty="0"/>
          </a:p>
        </p:txBody>
      </p:sp>
      <p:sp>
        <p:nvSpPr>
          <p:cNvPr id="19" name="Text 16"/>
          <p:cNvSpPr txBox="1"/>
          <p:nvPr/>
        </p:nvSpPr>
        <p:spPr>
          <a:xfrm>
            <a:off x="4325112" y="4761992"/>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Independently ranked among the top local agencies.</a:t>
            </a:r>
            <a:endParaRPr lang="en-US" sz="1300" dirty="0"/>
          </a:p>
        </p:txBody>
      </p:sp>
      <p:sp>
        <p:nvSpPr>
          <p:cNvPr id="20" name="Shape 17"/>
          <p:cNvSpPr/>
          <p:nvPr/>
        </p:nvSpPr>
        <p:spPr>
          <a:xfrm>
            <a:off x="713232" y="5214112"/>
            <a:ext cx="10765231" cy="0"/>
          </a:xfrm>
          <a:prstGeom prst="line">
            <a:avLst/>
          </a:prstGeom>
          <a:noFill/>
          <a:ln w="9525">
            <a:solidFill>
              <a:srgbClr val="E2EAF1"/>
            </a:solidFill>
            <a:prstDash val="solid"/>
          </a:ln>
        </p:spPr>
      </p:sp>
      <p:sp>
        <p:nvSpPr>
          <p:cNvPr id="21" name="Text 18"/>
          <p:cNvSpPr txBox="1"/>
          <p:nvPr/>
        </p:nvSpPr>
        <p:spPr>
          <a:xfrm>
            <a:off x="713232" y="5369560"/>
            <a:ext cx="320040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RankWatch</a:t>
            </a:r>
            <a:endParaRPr lang="en-US" sz="1700" dirty="0"/>
          </a:p>
        </p:txBody>
      </p:sp>
      <p:sp>
        <p:nvSpPr>
          <p:cNvPr id="22" name="Text 19"/>
          <p:cNvSpPr txBox="1"/>
          <p:nvPr/>
        </p:nvSpPr>
        <p:spPr>
          <a:xfrm>
            <a:off x="4325112" y="5369560"/>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Recognized for search performance.</a:t>
            </a:r>
            <a:endParaRPr lang="en-US" sz="1300" dirty="0"/>
          </a:p>
        </p:txBody>
      </p:sp>
      <p:sp>
        <p:nvSpPr>
          <p:cNvPr id="23" name="Text 20"/>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Momentum Digital is also ranked among Philadelphia's top PPC agencies on its own published awards page.</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280"/>
                                        <p:tgtEl>
                                          <p:spTgt spid="9"/>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280"/>
                                        <p:tgtEl>
                                          <p:spTgt spid="10"/>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280"/>
                                        <p:tgtEl>
                                          <p:spTgt spid="12"/>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280"/>
                                        <p:tgtEl>
                                          <p:spTgt spid="13"/>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280"/>
                                        <p:tgtEl>
                                          <p:spTgt spid="15"/>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280"/>
                                        <p:tgtEl>
                                          <p:spTgt spid="16"/>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280"/>
                                        <p:tgtEl>
                                          <p:spTgt spid="18"/>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28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825"/>
        </a:solidFill>
        <a:effectLst/>
      </p:bgPr>
    </p:bg>
    <p:spTree>
      <p:nvGrpSpPr>
        <p:cNvPr id="1" name=""/>
        <p:cNvGrpSpPr/>
        <p:nvPr/>
      </p:nvGrpSpPr>
      <p:grpSpPr>
        <a:xfrm>
          <a:off x="0" y="0"/>
          <a:ext cx="0" cy="0"/>
          <a:chOff x="0" y="0"/>
          <a:chExt cx="0" cy="0"/>
        </a:xfrm>
      </p:grpSpPr>
      <p:sp>
        <p:nvSpPr>
          <p:cNvPr id="2" name="Text 0"/>
          <p:cNvSpPr txBox="1"/>
          <p:nvPr/>
        </p:nvSpPr>
        <p:spPr>
          <a:xfrm>
            <a:off x="4480560" y="502920"/>
            <a:ext cx="8138160" cy="6949440"/>
          </a:xfrm>
          <a:prstGeom prst="rect">
            <a:avLst/>
          </a:prstGeom>
          <a:noFill/>
          <a:ln/>
        </p:spPr>
        <p:txBody>
          <a:bodyPr wrap="square" lIns="0" tIns="0" rIns="0" bIns="0" rtlCol="0" anchor="t"/>
          <a:lstStyle/>
          <a:p>
            <a:pPr marL="0" indent="0" algn="r">
              <a:lnSpc>
                <a:spcPct val="100000"/>
              </a:lnSpc>
              <a:buNone/>
            </a:pPr>
            <a:r>
              <a:rPr lang="en-US" sz="43000" b="1" dirty="0">
                <a:solidFill>
                  <a:srgbClr val="112B3F"/>
                </a:solidFill>
                <a:latin typeface="Arial" pitchFamily="34" charset="0"/>
                <a:ea typeface="Arial" pitchFamily="34" charset="-122"/>
                <a:cs typeface="Arial" pitchFamily="34" charset="-120"/>
              </a:rPr>
              <a:t>01</a:t>
            </a:r>
            <a:endParaRPr lang="en-US" sz="43000" dirty="0"/>
          </a:p>
        </p:txBody>
      </p:sp>
      <p:pic>
        <p:nvPicPr>
          <p:cNvPr id="3"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4" name="Text 1"/>
          <p:cNvSpPr txBox="1"/>
          <p:nvPr/>
        </p:nvSpPr>
        <p:spPr>
          <a:xfrm>
            <a:off x="713232" y="3063240"/>
            <a:ext cx="676656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SECTION ONE</a:t>
            </a:r>
            <a:endParaRPr lang="en-US" sz="1050" dirty="0"/>
          </a:p>
        </p:txBody>
      </p:sp>
      <p:sp>
        <p:nvSpPr>
          <p:cNvPr id="5" name="Text 2"/>
          <p:cNvSpPr txBox="1"/>
          <p:nvPr/>
        </p:nvSpPr>
        <p:spPr>
          <a:xfrm>
            <a:off x="713232" y="3392424"/>
            <a:ext cx="7498080" cy="633984"/>
          </a:xfrm>
          <a:prstGeom prst="rect">
            <a:avLst/>
          </a:prstGeom>
          <a:noFill/>
          <a:ln/>
        </p:spPr>
        <p:txBody>
          <a:bodyPr wrap="square" lIns="0" tIns="0" rIns="0" bIns="0" rtlCol="0" anchor="t"/>
          <a:lstStyle/>
          <a:p>
            <a:pPr marL="0" indent="0" algn="l">
              <a:lnSpc>
                <a:spcPct val="102000"/>
              </a:lnSpc>
              <a:buNone/>
            </a:pPr>
            <a:r>
              <a:rPr lang="en-US" sz="4400" b="1" dirty="0">
                <a:solidFill>
                  <a:srgbClr val="FFFFFF"/>
                </a:solidFill>
                <a:latin typeface="Arial" pitchFamily="34" charset="0"/>
                <a:ea typeface="Arial" pitchFamily="34" charset="-122"/>
                <a:cs typeface="Arial" pitchFamily="34" charset="-120"/>
              </a:rPr>
              <a:t>What we do</a:t>
            </a:r>
            <a:endParaRPr lang="en-US" sz="4400" dirty="0"/>
          </a:p>
        </p:txBody>
      </p:sp>
      <p:sp>
        <p:nvSpPr>
          <p:cNvPr id="6" name="Text 3"/>
          <p:cNvSpPr txBox="1"/>
          <p:nvPr/>
        </p:nvSpPr>
        <p:spPr>
          <a:xfrm>
            <a:off x="713232" y="4282440"/>
            <a:ext cx="6766560" cy="559308"/>
          </a:xfrm>
          <a:prstGeom prst="rect">
            <a:avLst/>
          </a:prstGeom>
          <a:noFill/>
          <a:ln/>
        </p:spPr>
        <p:txBody>
          <a:bodyPr wrap="square" lIns="0" tIns="0" rIns="0" bIns="0" rtlCol="0" anchor="t"/>
          <a:lstStyle/>
          <a:p>
            <a:pPr marL="0" indent="0" algn="l">
              <a:lnSpc>
                <a:spcPct val="130000"/>
              </a:lnSpc>
              <a:buNone/>
            </a:pPr>
            <a:r>
              <a:rPr lang="en-US" sz="1500" dirty="0">
                <a:solidFill>
                  <a:srgbClr val="9DB5C8"/>
                </a:solidFill>
                <a:latin typeface="Arial" pitchFamily="34" charset="0"/>
                <a:ea typeface="Arial" pitchFamily="34" charset="-122"/>
                <a:cs typeface="Arial" pitchFamily="34" charset="-120"/>
              </a:rPr>
              <a:t>Seven service lines that share one strategy, one measurement system and one team.</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80"/>
                                        <p:tgtEl>
                                          <p:spTgt spid="2"/>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8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CAPABILITIES</a:t>
            </a:r>
            <a:endParaRPr lang="en-US" sz="1050" dirty="0"/>
          </a:p>
        </p:txBody>
      </p:sp>
      <p:sp>
        <p:nvSpPr>
          <p:cNvPr id="4" name="Text 1"/>
          <p:cNvSpPr txBox="1"/>
          <p:nvPr/>
        </p:nvSpPr>
        <p:spPr>
          <a:xfrm>
            <a:off x="713232" y="987552"/>
            <a:ext cx="8570671"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Seven lines, one growth system</a:t>
            </a:r>
            <a:endParaRPr lang="en-US" sz="3900" dirty="0"/>
          </a:p>
        </p:txBody>
      </p:sp>
      <p:sp>
        <p:nvSpPr>
          <p:cNvPr id="5"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03</a:t>
            </a:r>
            <a:endParaRPr lang="en-US" sz="1050" dirty="0"/>
          </a:p>
        </p:txBody>
      </p:sp>
      <p:sp>
        <p:nvSpPr>
          <p:cNvPr id="6" name="Text 3"/>
          <p:cNvSpPr txBox="1"/>
          <p:nvPr/>
        </p:nvSpPr>
        <p:spPr>
          <a:xfrm>
            <a:off x="713232" y="2011680"/>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SEO</a:t>
            </a:r>
            <a:endParaRPr lang="en-US" sz="1600" dirty="0"/>
          </a:p>
        </p:txBody>
      </p:sp>
      <p:sp>
        <p:nvSpPr>
          <p:cNvPr id="7" name="Text 4"/>
          <p:cNvSpPr txBox="1"/>
          <p:nvPr/>
        </p:nvSpPr>
        <p:spPr>
          <a:xfrm>
            <a:off x="4233672" y="2011680"/>
            <a:ext cx="7244791" cy="4612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Local, technical and ecommerce SEO, Google Business Profile, audits, and programs built by industry and by city.</a:t>
            </a:r>
            <a:endParaRPr lang="en-US" sz="1250" dirty="0"/>
          </a:p>
        </p:txBody>
      </p:sp>
      <p:sp>
        <p:nvSpPr>
          <p:cNvPr id="8" name="Shape 5"/>
          <p:cNvSpPr/>
          <p:nvPr/>
        </p:nvSpPr>
        <p:spPr>
          <a:xfrm>
            <a:off x="713232" y="2564384"/>
            <a:ext cx="10765231" cy="0"/>
          </a:xfrm>
          <a:prstGeom prst="line">
            <a:avLst/>
          </a:prstGeom>
          <a:noFill/>
          <a:ln w="9525">
            <a:solidFill>
              <a:srgbClr val="E2EAF1"/>
            </a:solidFill>
            <a:prstDash val="solid"/>
          </a:ln>
        </p:spPr>
      </p:sp>
      <p:sp>
        <p:nvSpPr>
          <p:cNvPr id="9" name="Text 6"/>
          <p:cNvSpPr txBox="1"/>
          <p:nvPr/>
        </p:nvSpPr>
        <p:spPr>
          <a:xfrm>
            <a:off x="713232" y="2655824"/>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PPC and paid social</a:t>
            </a:r>
            <a:endParaRPr lang="en-US" sz="1600" dirty="0"/>
          </a:p>
        </p:txBody>
      </p:sp>
      <p:sp>
        <p:nvSpPr>
          <p:cNvPr id="10" name="Text 7"/>
          <p:cNvSpPr txBox="1"/>
          <p:nvPr/>
        </p:nvSpPr>
        <p:spPr>
          <a:xfrm>
            <a:off x="4233672" y="2655824"/>
            <a:ext cx="7244791" cy="2580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Google, Microsoft, Amazon, Facebook and Instagram, managed against calls and forms.</a:t>
            </a:r>
            <a:endParaRPr lang="en-US" sz="1250" dirty="0"/>
          </a:p>
        </p:txBody>
      </p:sp>
      <p:sp>
        <p:nvSpPr>
          <p:cNvPr id="11" name="Shape 8"/>
          <p:cNvSpPr/>
          <p:nvPr/>
        </p:nvSpPr>
        <p:spPr>
          <a:xfrm>
            <a:off x="713232" y="3029712"/>
            <a:ext cx="10765231" cy="0"/>
          </a:xfrm>
          <a:prstGeom prst="line">
            <a:avLst/>
          </a:prstGeom>
          <a:noFill/>
          <a:ln w="9525">
            <a:solidFill>
              <a:srgbClr val="E2EAF1"/>
            </a:solidFill>
            <a:prstDash val="solid"/>
          </a:ln>
        </p:spPr>
      </p:sp>
      <p:sp>
        <p:nvSpPr>
          <p:cNvPr id="12" name="Text 9"/>
          <p:cNvSpPr txBox="1"/>
          <p:nvPr/>
        </p:nvSpPr>
        <p:spPr>
          <a:xfrm>
            <a:off x="713232" y="3121152"/>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Social media</a:t>
            </a:r>
            <a:endParaRPr lang="en-US" sz="1600" dirty="0"/>
          </a:p>
        </p:txBody>
      </p:sp>
      <p:sp>
        <p:nvSpPr>
          <p:cNvPr id="13" name="Text 10"/>
          <p:cNvSpPr txBox="1"/>
          <p:nvPr/>
        </p:nvSpPr>
        <p:spPr>
          <a:xfrm>
            <a:off x="4233672" y="3121152"/>
            <a:ext cx="7244791" cy="4612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Facebook, Instagram, TikTok, Pinterest and LinkedIn, posted and grown on a real calendar.</a:t>
            </a:r>
            <a:endParaRPr lang="en-US" sz="1250" dirty="0"/>
          </a:p>
        </p:txBody>
      </p:sp>
      <p:sp>
        <p:nvSpPr>
          <p:cNvPr id="14" name="Shape 11"/>
          <p:cNvSpPr/>
          <p:nvPr/>
        </p:nvSpPr>
        <p:spPr>
          <a:xfrm>
            <a:off x="713232" y="3673856"/>
            <a:ext cx="10765231" cy="0"/>
          </a:xfrm>
          <a:prstGeom prst="line">
            <a:avLst/>
          </a:prstGeom>
          <a:noFill/>
          <a:ln w="9525">
            <a:solidFill>
              <a:srgbClr val="E2EAF1"/>
            </a:solidFill>
            <a:prstDash val="solid"/>
          </a:ln>
        </p:spPr>
      </p:sp>
      <p:sp>
        <p:nvSpPr>
          <p:cNvPr id="15" name="Text 12"/>
          <p:cNvSpPr txBox="1"/>
          <p:nvPr/>
        </p:nvSpPr>
        <p:spPr>
          <a:xfrm>
            <a:off x="713232" y="3765296"/>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Design and web</a:t>
            </a:r>
            <a:endParaRPr lang="en-US" sz="1600" dirty="0"/>
          </a:p>
        </p:txBody>
      </p:sp>
      <p:sp>
        <p:nvSpPr>
          <p:cNvPr id="16" name="Text 13"/>
          <p:cNvSpPr txBox="1"/>
          <p:nvPr/>
        </p:nvSpPr>
        <p:spPr>
          <a:xfrm>
            <a:off x="4233672" y="3765296"/>
            <a:ext cx="7244791" cy="2580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WordPress and Shopify builds, UI and UX, logo, graphic and brochure design.</a:t>
            </a:r>
            <a:endParaRPr lang="en-US" sz="1250" dirty="0"/>
          </a:p>
        </p:txBody>
      </p:sp>
      <p:sp>
        <p:nvSpPr>
          <p:cNvPr id="17" name="Shape 14"/>
          <p:cNvSpPr/>
          <p:nvPr/>
        </p:nvSpPr>
        <p:spPr>
          <a:xfrm>
            <a:off x="713232" y="4139184"/>
            <a:ext cx="10765231" cy="0"/>
          </a:xfrm>
          <a:prstGeom prst="line">
            <a:avLst/>
          </a:prstGeom>
          <a:noFill/>
          <a:ln w="9525">
            <a:solidFill>
              <a:srgbClr val="E2EAF1"/>
            </a:solidFill>
            <a:prstDash val="solid"/>
          </a:ln>
        </p:spPr>
      </p:sp>
      <p:sp>
        <p:nvSpPr>
          <p:cNvPr id="18" name="Text 15"/>
          <p:cNvSpPr txBox="1"/>
          <p:nvPr/>
        </p:nvSpPr>
        <p:spPr>
          <a:xfrm>
            <a:off x="713232" y="4230624"/>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Content and video</a:t>
            </a:r>
            <a:endParaRPr lang="en-US" sz="1600" dirty="0"/>
          </a:p>
        </p:txBody>
      </p:sp>
      <p:sp>
        <p:nvSpPr>
          <p:cNvPr id="19" name="Text 16"/>
          <p:cNvSpPr txBox="1"/>
          <p:nvPr/>
        </p:nvSpPr>
        <p:spPr>
          <a:xfrm>
            <a:off x="4233672" y="4230624"/>
            <a:ext cx="7244791" cy="2580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Blogging, email, HD photography, drone video and 360 virtual tours.</a:t>
            </a:r>
            <a:endParaRPr lang="en-US" sz="1250" dirty="0"/>
          </a:p>
        </p:txBody>
      </p:sp>
      <p:sp>
        <p:nvSpPr>
          <p:cNvPr id="20" name="Shape 17"/>
          <p:cNvSpPr/>
          <p:nvPr/>
        </p:nvSpPr>
        <p:spPr>
          <a:xfrm>
            <a:off x="713232" y="4604512"/>
            <a:ext cx="10765231" cy="0"/>
          </a:xfrm>
          <a:prstGeom prst="line">
            <a:avLst/>
          </a:prstGeom>
          <a:noFill/>
          <a:ln w="9525">
            <a:solidFill>
              <a:srgbClr val="E2EAF1"/>
            </a:solidFill>
            <a:prstDash val="solid"/>
          </a:ln>
        </p:spPr>
      </p:sp>
      <p:sp>
        <p:nvSpPr>
          <p:cNvPr id="21" name="Text 18"/>
          <p:cNvSpPr txBox="1"/>
          <p:nvPr/>
        </p:nvSpPr>
        <p:spPr>
          <a:xfrm>
            <a:off x="713232" y="4695952"/>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AI marketing and automation</a:t>
            </a:r>
            <a:endParaRPr lang="en-US" sz="1600" dirty="0"/>
          </a:p>
        </p:txBody>
      </p:sp>
      <p:sp>
        <p:nvSpPr>
          <p:cNvPr id="22" name="Text 19"/>
          <p:cNvSpPr txBox="1"/>
          <p:nvPr/>
        </p:nvSpPr>
        <p:spPr>
          <a:xfrm>
            <a:off x="4233672" y="4695952"/>
            <a:ext cx="7244791" cy="2580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Workflow automation, AI chat and lead routing, wired into your CRM.</a:t>
            </a:r>
            <a:endParaRPr lang="en-US" sz="1250" dirty="0"/>
          </a:p>
        </p:txBody>
      </p:sp>
      <p:sp>
        <p:nvSpPr>
          <p:cNvPr id="23" name="Shape 20"/>
          <p:cNvSpPr/>
          <p:nvPr/>
        </p:nvSpPr>
        <p:spPr>
          <a:xfrm>
            <a:off x="713232" y="5069840"/>
            <a:ext cx="10765231" cy="0"/>
          </a:xfrm>
          <a:prstGeom prst="line">
            <a:avLst/>
          </a:prstGeom>
          <a:noFill/>
          <a:ln w="9525">
            <a:solidFill>
              <a:srgbClr val="E2EAF1"/>
            </a:solidFill>
            <a:prstDash val="solid"/>
          </a:ln>
        </p:spPr>
      </p:sp>
      <p:sp>
        <p:nvSpPr>
          <p:cNvPr id="24" name="Text 21"/>
          <p:cNvSpPr txBox="1"/>
          <p:nvPr/>
        </p:nvSpPr>
        <p:spPr>
          <a:xfrm>
            <a:off x="713232" y="5161280"/>
            <a:ext cx="310896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Fractional CMO</a:t>
            </a:r>
            <a:endParaRPr lang="en-US" sz="1600" dirty="0"/>
          </a:p>
        </p:txBody>
      </p:sp>
      <p:sp>
        <p:nvSpPr>
          <p:cNvPr id="25" name="Text 22"/>
          <p:cNvSpPr txBox="1"/>
          <p:nvPr/>
        </p:nvSpPr>
        <p:spPr>
          <a:xfrm>
            <a:off x="4233672" y="5161280"/>
            <a:ext cx="7244791" cy="2580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Senior marketing leadership on retainer, for when you are not ready to hire one.</a:t>
            </a:r>
            <a:endParaRPr lang="en-US" sz="1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280"/>
                                        <p:tgtEl>
                                          <p:spTgt spid="9"/>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280"/>
                                        <p:tgtEl>
                                          <p:spTgt spid="10"/>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280"/>
                                        <p:tgtEl>
                                          <p:spTgt spid="12"/>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280"/>
                                        <p:tgtEl>
                                          <p:spTgt spid="13"/>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280"/>
                                        <p:tgtEl>
                                          <p:spTgt spid="15"/>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280"/>
                                        <p:tgtEl>
                                          <p:spTgt spid="16"/>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280"/>
                                        <p:tgtEl>
                                          <p:spTgt spid="18"/>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28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19695" y="0"/>
            <a:ext cx="4572000" cy="6858000"/>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595360" y="-1005840"/>
            <a:ext cx="4206240" cy="4989609"/>
          </a:xfrm>
          <a:prstGeom prst="rect">
            <a:avLst/>
          </a:prstGeom>
        </p:spPr>
      </p:pic>
      <p:pic>
        <p:nvPicPr>
          <p:cNvPr id="4"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5"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Text 2"/>
          <p:cNvSpPr txBox="1"/>
          <p:nvPr/>
        </p:nvSpPr>
        <p:spPr>
          <a:xfrm>
            <a:off x="713232" y="987552"/>
            <a:ext cx="6400800"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SEO</a:t>
            </a:r>
            <a:endParaRPr lang="en-US" sz="3900" dirty="0"/>
          </a:p>
        </p:txBody>
      </p:sp>
      <p:sp>
        <p:nvSpPr>
          <p:cNvPr id="7" name="Text 3"/>
          <p:cNvSpPr txBox="1"/>
          <p:nvPr/>
        </p:nvSpPr>
        <p:spPr>
          <a:xfrm>
            <a:off x="713232" y="1703070"/>
            <a:ext cx="6400800" cy="649224"/>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Get found by the people already searching for what you sell.</a:t>
            </a:r>
            <a:endParaRPr lang="en-US" sz="1800" dirty="0"/>
          </a:p>
        </p:txBody>
      </p:sp>
      <p:sp>
        <p:nvSpPr>
          <p:cNvPr id="8" name="Text 4"/>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04</a:t>
            </a:r>
            <a:endParaRPr lang="en-US" sz="1050" dirty="0"/>
          </a:p>
        </p:txBody>
      </p:sp>
      <p:sp>
        <p:nvSpPr>
          <p:cNvPr id="9" name="Text 5"/>
          <p:cNvSpPr txBox="1"/>
          <p:nvPr/>
        </p:nvSpPr>
        <p:spPr>
          <a:xfrm>
            <a:off x="8138160" y="1371600"/>
            <a:ext cx="352044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WHAT IS INCLUDED</a:t>
            </a:r>
            <a:endParaRPr lang="en-US" sz="1050" dirty="0"/>
          </a:p>
        </p:txBody>
      </p:sp>
      <p:sp>
        <p:nvSpPr>
          <p:cNvPr id="10" name="Text 6"/>
          <p:cNvSpPr txBox="1"/>
          <p:nvPr/>
        </p:nvSpPr>
        <p:spPr>
          <a:xfrm>
            <a:off x="8138160" y="1700784"/>
            <a:ext cx="3520440" cy="658368"/>
          </a:xfrm>
          <a:prstGeom prst="rect">
            <a:avLst/>
          </a:prstGeom>
          <a:noFill/>
          <a:ln/>
        </p:spPr>
        <p:txBody>
          <a:bodyPr wrap="square" lIns="0" tIns="0" rIns="0" bIns="0" rtlCol="0" anchor="t"/>
          <a:lstStyle/>
          <a:p>
            <a:pPr marL="0" indent="0" algn="l">
              <a:lnSpc>
                <a:spcPct val="105000"/>
              </a:lnSpc>
              <a:buNone/>
            </a:pPr>
            <a:r>
              <a:rPr lang="en-US" sz="2200" b="1" dirty="0">
                <a:solidFill>
                  <a:srgbClr val="FFFFFF"/>
                </a:solidFill>
                <a:latin typeface="Arial" pitchFamily="34" charset="0"/>
                <a:ea typeface="Arial" pitchFamily="34" charset="-122"/>
                <a:cs typeface="Arial" pitchFamily="34" charset="-120"/>
              </a:rPr>
              <a:t>The full</a:t>
            </a:r>
            <a:endParaRPr lang="en-US" sz="2200" dirty="0"/>
          </a:p>
          <a:p>
            <a:pPr marL="0" indent="0" algn="l">
              <a:lnSpc>
                <a:spcPct val="105000"/>
              </a:lnSpc>
              <a:buNone/>
            </a:pPr>
            <a:r>
              <a:rPr lang="en-US" sz="2200" b="1" dirty="0">
                <a:solidFill>
                  <a:srgbClr val="FFFFFF"/>
                </a:solidFill>
                <a:latin typeface="Arial" pitchFamily="34" charset="0"/>
                <a:ea typeface="Arial" pitchFamily="34" charset="-122"/>
                <a:cs typeface="Arial" pitchFamily="34" charset="-120"/>
              </a:rPr>
              <a:t>search surface</a:t>
            </a:r>
            <a:endParaRPr lang="en-US" sz="2200" dirty="0"/>
          </a:p>
        </p:txBody>
      </p:sp>
      <p:sp>
        <p:nvSpPr>
          <p:cNvPr id="11" name="Text 7"/>
          <p:cNvSpPr txBox="1"/>
          <p:nvPr/>
        </p:nvSpPr>
        <p:spPr>
          <a:xfrm>
            <a:off x="8138160" y="2505456"/>
            <a:ext cx="3520440" cy="3419856"/>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Local SEO and Google Business Profile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Technical SEO, speed and Core Web Vitals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Ecommerce SEO for Shopify and WooCommerce</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Free SEO and website audits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Citations, listings and backlinks</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Content and page creation</a:t>
            </a:r>
            <a:endParaRPr lang="en-US" sz="1200" dirty="0"/>
          </a:p>
          <a:p>
            <a:pPr marL="342900" indent="-342900">
              <a:lnSpc>
                <a:spcPct val="124000"/>
              </a:lnSpc>
              <a:spcAft>
                <a:spcPts val="700"/>
              </a:spcAft>
              <a:buSzPct val="100000"/>
              <a:buChar char="•"/>
            </a:pPr>
            <a:r>
              <a:rPr lang="en-US" sz="1200" dirty="0">
                <a:solidFill>
                  <a:srgbClr val="9DB5C8"/>
                </a:solidFill>
                <a:latin typeface="Arial" pitchFamily="34" charset="0"/>
                <a:ea typeface="Arial" pitchFamily="34" charset="-122"/>
                <a:cs typeface="Arial" pitchFamily="34" charset="-120"/>
              </a:rPr>
              <a:t>Programs by industry and by city</a:t>
            </a:r>
            <a:endParaRPr lang="en-US" sz="1200" dirty="0"/>
          </a:p>
        </p:txBody>
      </p:sp>
      <p:sp>
        <p:nvSpPr>
          <p:cNvPr id="12" name="Text 8"/>
          <p:cNvSpPr txBox="1"/>
          <p:nvPr/>
        </p:nvSpPr>
        <p:spPr>
          <a:xfrm>
            <a:off x="713232" y="2834640"/>
            <a:ext cx="6858000" cy="572008"/>
          </a:xfrm>
          <a:prstGeom prst="rect">
            <a:avLst/>
          </a:prstGeom>
          <a:noFill/>
          <a:ln/>
        </p:spPr>
        <p:txBody>
          <a:bodyPr wrap="square" lIns="0" tIns="0" rIns="0" bIns="0" rtlCol="0" anchor="t"/>
          <a:lstStyle/>
          <a:p>
            <a:pPr marL="0" indent="0" algn="l">
              <a:lnSpc>
                <a:spcPct val="100000"/>
              </a:lnSpc>
              <a:buNone/>
            </a:pPr>
            <a:r>
              <a:rPr lang="en-US" sz="4000" b="1" dirty="0">
                <a:solidFill>
                  <a:srgbClr val="2A80C2"/>
                </a:solidFill>
                <a:latin typeface="Arial" pitchFamily="34" charset="0"/>
                <a:ea typeface="Arial" pitchFamily="34" charset="-122"/>
                <a:cs typeface="Arial" pitchFamily="34" charset="-120"/>
              </a:rPr>
              <a:t>2,175 clicks</a:t>
            </a:r>
            <a:endParaRPr lang="en-US" sz="4000" dirty="0"/>
          </a:p>
        </p:txBody>
      </p:sp>
      <p:sp>
        <p:nvSpPr>
          <p:cNvPr id="13" name="Text 9"/>
          <p:cNvSpPr txBox="1"/>
          <p:nvPr/>
        </p:nvSpPr>
        <p:spPr>
          <a:xfrm>
            <a:off x="713232" y="3461512"/>
            <a:ext cx="6858000" cy="246888"/>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MicroTech Systems, Boise IT services</a:t>
            </a:r>
            <a:endParaRPr lang="en-US" sz="1200" dirty="0"/>
          </a:p>
        </p:txBody>
      </p:sp>
      <p:sp>
        <p:nvSpPr>
          <p:cNvPr id="14" name="Text 10"/>
          <p:cNvSpPr txBox="1"/>
          <p:nvPr/>
        </p:nvSpPr>
        <p:spPr>
          <a:xfrm>
            <a:off x="713232" y="3772408"/>
            <a:ext cx="6858000" cy="384048"/>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765K impressions in ten months. Non branded IT terms taken from invisible to first page, with "Microtech Boise" at position 1.35.</a:t>
            </a:r>
            <a:endParaRPr lang="en-US" sz="1050" dirty="0"/>
          </a:p>
        </p:txBody>
      </p:sp>
      <p:sp>
        <p:nvSpPr>
          <p:cNvPr id="15" name="Shape 11"/>
          <p:cNvSpPr/>
          <p:nvPr/>
        </p:nvSpPr>
        <p:spPr>
          <a:xfrm>
            <a:off x="713232" y="4590288"/>
            <a:ext cx="6858000" cy="0"/>
          </a:xfrm>
          <a:prstGeom prst="line">
            <a:avLst/>
          </a:prstGeom>
          <a:noFill/>
          <a:ln w="9525">
            <a:solidFill>
              <a:srgbClr val="E2EAF1"/>
            </a:solidFill>
            <a:prstDash val="solid"/>
          </a:ln>
        </p:spPr>
      </p:sp>
      <p:sp>
        <p:nvSpPr>
          <p:cNvPr id="16" name="Text 12"/>
          <p:cNvSpPr txBox="1"/>
          <p:nvPr/>
        </p:nvSpPr>
        <p:spPr>
          <a:xfrm>
            <a:off x="713232" y="4791456"/>
            <a:ext cx="6858000" cy="445008"/>
          </a:xfrm>
          <a:prstGeom prst="rect">
            <a:avLst/>
          </a:prstGeom>
          <a:noFill/>
          <a:ln/>
        </p:spPr>
        <p:txBody>
          <a:bodyPr wrap="square" lIns="0" tIns="0" rIns="0" bIns="0" rtlCol="0" anchor="t"/>
          <a:lstStyle/>
          <a:p>
            <a:pPr marL="0" indent="0" algn="l">
              <a:lnSpc>
                <a:spcPct val="100000"/>
              </a:lnSpc>
              <a:buNone/>
            </a:pPr>
            <a:r>
              <a:rPr lang="en-US" sz="3000" b="1" dirty="0">
                <a:solidFill>
                  <a:srgbClr val="2A80C2"/>
                </a:solidFill>
                <a:latin typeface="Arial" pitchFamily="34" charset="0"/>
                <a:ea typeface="Arial" pitchFamily="34" charset="-122"/>
                <a:cs typeface="Arial" pitchFamily="34" charset="-120"/>
              </a:rPr>
              <a:t>1,180 → 1,374 keywords</a:t>
            </a:r>
            <a:endParaRPr lang="en-US" sz="3000" dirty="0"/>
          </a:p>
        </p:txBody>
      </p:sp>
      <p:sp>
        <p:nvSpPr>
          <p:cNvPr id="17" name="Text 13"/>
          <p:cNvSpPr txBox="1"/>
          <p:nvPr/>
        </p:nvSpPr>
        <p:spPr>
          <a:xfrm>
            <a:off x="713232" y="5291328"/>
            <a:ext cx="6858000" cy="246888"/>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Everyday Life Insurance, four months</a:t>
            </a:r>
            <a:endParaRPr lang="en-US" sz="1200" dirty="0"/>
          </a:p>
        </p:txBody>
      </p:sp>
      <p:sp>
        <p:nvSpPr>
          <p:cNvPr id="18" name="Text 14"/>
          <p:cNvSpPr txBox="1"/>
          <p:nvPr/>
        </p:nvSpPr>
        <p:spPr>
          <a:xfrm>
            <a:off x="713232" y="5602224"/>
            <a:ext cx="6858000" cy="224028"/>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Top five placements grew from 138 to 169. In the tracked cluster, 63% sit in the top five.</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280"/>
                                        <p:tgtEl>
                                          <p:spTgt spid="9"/>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280"/>
                                        <p:tgtEl>
                                          <p:spTgt spid="10"/>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280"/>
                                        <p:tgtEl>
                                          <p:spTgt spid="7"/>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280"/>
                                        <p:tgtEl>
                                          <p:spTgt spid="11"/>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280"/>
                                        <p:tgtEl>
                                          <p:spTgt spid="12"/>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280"/>
                                        <p:tgtEl>
                                          <p:spTgt spid="13"/>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280"/>
                                        <p:tgtEl>
                                          <p:spTgt spid="14"/>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280"/>
                                        <p:tgtEl>
                                          <p:spTgt spid="16"/>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28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4"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825"/>
        </a:solidFill>
        <a:effectLst/>
      </p:bgPr>
    </p:bg>
    <p:spTree>
      <p:nvGrpSpPr>
        <p:cNvPr id="1" name=""/>
        <p:cNvGrpSpPr/>
        <p:nvPr/>
      </p:nvGrpSpPr>
      <p:grpSpPr>
        <a:xfrm>
          <a:off x="0" y="0"/>
          <a:ext cx="0" cy="0"/>
          <a:chOff x="0" y="0"/>
          <a:chExt cx="0" cy="0"/>
        </a:xfrm>
      </p:grpSpPr>
      <p:pic>
        <p:nvPicPr>
          <p:cNvPr id="2" name="Image 0" descr="C:\Users\dillo\.claude\skills\client-deck\assets\momentum-digital\momentum-mark-white.png"/>
          <p:cNvPicPr>
            <a:picLocks noChangeAspect="1"/>
          </p:cNvPicPr>
          <p:nvPr/>
        </p:nvPicPr>
        <p:blipFill>
          <a:blip r:embed="rId3">
            <a:alphaModFix amt="9000"/>
          </a:blip>
          <a:stretch>
            <a:fillRect/>
          </a:stretch>
        </p:blipFill>
        <p:spPr>
          <a:xfrm>
            <a:off x="9326880" y="-1188720"/>
            <a:ext cx="3840480" cy="4555730"/>
          </a:xfrm>
          <a:prstGeom prst="rect">
            <a:avLst/>
          </a:prstGeom>
        </p:spPr>
      </p:pic>
      <p:pic>
        <p:nvPicPr>
          <p:cNvPr id="3"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4"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SERVICE LINE</a:t>
            </a:r>
            <a:endParaRPr lang="en-US" sz="1050" dirty="0"/>
          </a:p>
        </p:txBody>
      </p:sp>
      <p:sp>
        <p:nvSpPr>
          <p:cNvPr id="5" name="Text 1"/>
          <p:cNvSpPr txBox="1"/>
          <p:nvPr/>
        </p:nvSpPr>
        <p:spPr>
          <a:xfrm>
            <a:off x="713232" y="987552"/>
            <a:ext cx="6949440" cy="569214"/>
          </a:xfrm>
          <a:prstGeom prst="rect">
            <a:avLst/>
          </a:prstGeom>
          <a:noFill/>
          <a:ln/>
        </p:spPr>
        <p:txBody>
          <a:bodyPr wrap="square" lIns="0" tIns="0" rIns="0" bIns="0" rtlCol="0" anchor="t"/>
          <a:lstStyle/>
          <a:p>
            <a:pPr marL="0" indent="0" algn="l">
              <a:lnSpc>
                <a:spcPct val="102000"/>
              </a:lnSpc>
              <a:buNone/>
            </a:pPr>
            <a:r>
              <a:rPr lang="en-US" sz="3900" b="1" dirty="0">
                <a:solidFill>
                  <a:srgbClr val="FFFFFF"/>
                </a:solidFill>
                <a:latin typeface="Arial" pitchFamily="34" charset="0"/>
                <a:ea typeface="Arial" pitchFamily="34" charset="-122"/>
                <a:cs typeface="Arial" pitchFamily="34" charset="-120"/>
              </a:rPr>
              <a:t>Paid media</a:t>
            </a:r>
            <a:endParaRPr lang="en-US" sz="3900" dirty="0"/>
          </a:p>
        </p:txBody>
      </p:sp>
      <p:sp>
        <p:nvSpPr>
          <p:cNvPr id="6" name="Text 2"/>
          <p:cNvSpPr txBox="1"/>
          <p:nvPr/>
        </p:nvSpPr>
        <p:spPr>
          <a:xfrm>
            <a:off x="713232" y="1703070"/>
            <a:ext cx="6949440" cy="649224"/>
          </a:xfrm>
          <a:prstGeom prst="rect">
            <a:avLst/>
          </a:prstGeom>
          <a:noFill/>
          <a:ln/>
        </p:spPr>
        <p:txBody>
          <a:bodyPr wrap="square" lIns="0" tIns="0" rIns="0" bIns="0" rtlCol="0" anchor="t"/>
          <a:lstStyle/>
          <a:p>
            <a:pPr marL="0" indent="0" algn="l">
              <a:lnSpc>
                <a:spcPct val="128000"/>
              </a:lnSpc>
              <a:buNone/>
            </a:pPr>
            <a:r>
              <a:rPr lang="en-US" sz="1800" dirty="0">
                <a:solidFill>
                  <a:srgbClr val="9DB5C8"/>
                </a:solidFill>
                <a:latin typeface="Arial" pitchFamily="34" charset="0"/>
                <a:ea typeface="Arial" pitchFamily="34" charset="-122"/>
                <a:cs typeface="Arial" pitchFamily="34" charset="-120"/>
              </a:rPr>
              <a:t>Managed against booked calls and qualified forms, not impressions.</a:t>
            </a:r>
            <a:endParaRPr lang="en-US" sz="1800" dirty="0"/>
          </a:p>
        </p:txBody>
      </p:sp>
      <p:sp>
        <p:nvSpPr>
          <p:cNvPr id="7"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1C3D56"/>
                </a:solidFill>
                <a:latin typeface="Arial" pitchFamily="34" charset="0"/>
                <a:ea typeface="Arial" pitchFamily="34" charset="-122"/>
                <a:cs typeface="Arial" pitchFamily="34" charset="-120"/>
              </a:rPr>
              <a:t>05</a:t>
            </a:r>
            <a:endParaRPr lang="en-US" sz="1050" dirty="0"/>
          </a:p>
        </p:txBody>
      </p:sp>
      <p:sp>
        <p:nvSpPr>
          <p:cNvPr id="8" name="Text 4"/>
          <p:cNvSpPr txBox="1"/>
          <p:nvPr/>
        </p:nvSpPr>
        <p:spPr>
          <a:xfrm>
            <a:off x="713232" y="2834640"/>
            <a:ext cx="3200400" cy="282448"/>
          </a:xfrm>
          <a:prstGeom prst="rect">
            <a:avLst/>
          </a:prstGeom>
          <a:noFill/>
          <a:ln/>
        </p:spPr>
        <p:txBody>
          <a:bodyPr wrap="square" lIns="0" tIns="0" rIns="0" bIns="0" rtlCol="0" anchor="t"/>
          <a:lstStyle/>
          <a:p>
            <a:pPr marL="0" indent="0" algn="l">
              <a:lnSpc>
                <a:spcPct val="110000"/>
              </a:lnSpc>
              <a:buNone/>
            </a:pPr>
            <a:r>
              <a:rPr lang="en-US" sz="1600" b="1" dirty="0">
                <a:solidFill>
                  <a:srgbClr val="FFFFFF"/>
                </a:solidFill>
                <a:latin typeface="Arial" pitchFamily="34" charset="0"/>
                <a:ea typeface="Arial" pitchFamily="34" charset="-122"/>
                <a:cs typeface="Arial" pitchFamily="34" charset="-120"/>
              </a:rPr>
              <a:t>Where we buy</a:t>
            </a:r>
            <a:endParaRPr lang="en-US" sz="1600" dirty="0"/>
          </a:p>
        </p:txBody>
      </p:sp>
      <p:sp>
        <p:nvSpPr>
          <p:cNvPr id="9" name="Text 5"/>
          <p:cNvSpPr txBox="1"/>
          <p:nvPr/>
        </p:nvSpPr>
        <p:spPr>
          <a:xfrm>
            <a:off x="4325112" y="2834640"/>
            <a:ext cx="7153351" cy="266192"/>
          </a:xfrm>
          <a:prstGeom prst="rect">
            <a:avLst/>
          </a:prstGeom>
          <a:noFill/>
          <a:ln/>
        </p:spPr>
        <p:txBody>
          <a:bodyPr wrap="square" lIns="0" tIns="0" rIns="0" bIns="0" rtlCol="0" anchor="t"/>
          <a:lstStyle/>
          <a:p>
            <a:pPr marL="0" indent="0" algn="l">
              <a:lnSpc>
                <a:spcPct val="128000"/>
              </a:lnSpc>
              <a:buNone/>
            </a:pPr>
            <a:r>
              <a:rPr lang="en-US" sz="1300" dirty="0">
                <a:solidFill>
                  <a:srgbClr val="9DB5C8"/>
                </a:solidFill>
                <a:latin typeface="Arial" pitchFamily="34" charset="0"/>
                <a:ea typeface="Arial" pitchFamily="34" charset="-122"/>
                <a:cs typeface="Arial" pitchFamily="34" charset="-120"/>
              </a:rPr>
              <a:t>Google Ads, Microsoft Ads, Amazon Ads, Facebook Ads and Instagram Ads.</a:t>
            </a:r>
            <a:endParaRPr lang="en-US" sz="1300" dirty="0"/>
          </a:p>
        </p:txBody>
      </p:sp>
      <p:sp>
        <p:nvSpPr>
          <p:cNvPr id="10" name="Shape 6"/>
          <p:cNvSpPr/>
          <p:nvPr/>
        </p:nvSpPr>
        <p:spPr>
          <a:xfrm>
            <a:off x="713232" y="3235960"/>
            <a:ext cx="10765231" cy="0"/>
          </a:xfrm>
          <a:prstGeom prst="line">
            <a:avLst/>
          </a:prstGeom>
          <a:noFill/>
          <a:ln w="9525">
            <a:solidFill>
              <a:srgbClr val="1E4460"/>
            </a:solidFill>
            <a:prstDash val="solid"/>
          </a:ln>
        </p:spPr>
      </p:sp>
      <p:sp>
        <p:nvSpPr>
          <p:cNvPr id="11" name="Text 7"/>
          <p:cNvSpPr txBox="1"/>
          <p:nvPr/>
        </p:nvSpPr>
        <p:spPr>
          <a:xfrm>
            <a:off x="713232" y="3354832"/>
            <a:ext cx="3200400" cy="282448"/>
          </a:xfrm>
          <a:prstGeom prst="rect">
            <a:avLst/>
          </a:prstGeom>
          <a:noFill/>
          <a:ln/>
        </p:spPr>
        <p:txBody>
          <a:bodyPr wrap="square" lIns="0" tIns="0" rIns="0" bIns="0" rtlCol="0" anchor="t"/>
          <a:lstStyle/>
          <a:p>
            <a:pPr marL="0" indent="0" algn="l">
              <a:lnSpc>
                <a:spcPct val="110000"/>
              </a:lnSpc>
              <a:buNone/>
            </a:pPr>
            <a:r>
              <a:rPr lang="en-US" sz="1600" b="1" dirty="0">
                <a:solidFill>
                  <a:srgbClr val="FFFFFF"/>
                </a:solidFill>
                <a:latin typeface="Arial" pitchFamily="34" charset="0"/>
                <a:ea typeface="Arial" pitchFamily="34" charset="-122"/>
                <a:cs typeface="Arial" pitchFamily="34" charset="-120"/>
              </a:rPr>
              <a:t>How the account is run</a:t>
            </a:r>
            <a:endParaRPr lang="en-US" sz="1600" dirty="0"/>
          </a:p>
        </p:txBody>
      </p:sp>
      <p:sp>
        <p:nvSpPr>
          <p:cNvPr id="12" name="Text 8"/>
          <p:cNvSpPr txBox="1"/>
          <p:nvPr/>
        </p:nvSpPr>
        <p:spPr>
          <a:xfrm>
            <a:off x="4325112" y="3354832"/>
            <a:ext cx="7153351" cy="477520"/>
          </a:xfrm>
          <a:prstGeom prst="rect">
            <a:avLst/>
          </a:prstGeom>
          <a:noFill/>
          <a:ln/>
        </p:spPr>
        <p:txBody>
          <a:bodyPr wrap="square" lIns="0" tIns="0" rIns="0" bIns="0" rtlCol="0" anchor="t"/>
          <a:lstStyle/>
          <a:p>
            <a:pPr marL="0" indent="0" algn="l">
              <a:lnSpc>
                <a:spcPct val="128000"/>
              </a:lnSpc>
              <a:buNone/>
            </a:pPr>
            <a:r>
              <a:rPr lang="en-US" sz="1300" dirty="0">
                <a:solidFill>
                  <a:srgbClr val="9DB5C8"/>
                </a:solidFill>
                <a:latin typeface="Arial" pitchFamily="34" charset="0"/>
                <a:ea typeface="Arial" pitchFamily="34" charset="-122"/>
                <a:cs typeface="Arial" pitchFamily="34" charset="-120"/>
              </a:rPr>
              <a:t>Audit and rebuild, conversion tracking through Google Tag Manager, search term review with negatives, budget shifted to winners.</a:t>
            </a:r>
            <a:endParaRPr lang="en-US" sz="1300" dirty="0"/>
          </a:p>
        </p:txBody>
      </p:sp>
      <p:sp>
        <p:nvSpPr>
          <p:cNvPr id="13" name="Text 9"/>
          <p:cNvSpPr txBox="1"/>
          <p:nvPr/>
        </p:nvSpPr>
        <p:spPr>
          <a:xfrm>
            <a:off x="713232" y="470916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+314%</a:t>
            </a:r>
            <a:endParaRPr lang="en-US" sz="3400" dirty="0"/>
          </a:p>
        </p:txBody>
      </p:sp>
      <p:sp>
        <p:nvSpPr>
          <p:cNvPr id="14" name="Text 10"/>
          <p:cNvSpPr txBox="1"/>
          <p:nvPr/>
        </p:nvSpPr>
        <p:spPr>
          <a:xfrm>
            <a:off x="713232" y="523240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a:t>
            </a:r>
            <a:endParaRPr lang="en-US" sz="1200" dirty="0"/>
          </a:p>
        </p:txBody>
      </p:sp>
      <p:sp>
        <p:nvSpPr>
          <p:cNvPr id="15" name="Text 11"/>
          <p:cNvSpPr txBox="1"/>
          <p:nvPr/>
        </p:nvSpPr>
        <p:spPr>
          <a:xfrm>
            <a:off x="713232" y="5717032"/>
            <a:ext cx="2179244" cy="37490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The Kind Insurance, 2025 vs 2024</a:t>
            </a:r>
            <a:endParaRPr lang="en-US" sz="1050" dirty="0"/>
          </a:p>
        </p:txBody>
      </p:sp>
      <p:sp>
        <p:nvSpPr>
          <p:cNvPr id="16" name="Shape 12"/>
          <p:cNvSpPr/>
          <p:nvPr/>
        </p:nvSpPr>
        <p:spPr>
          <a:xfrm>
            <a:off x="3166796" y="4709160"/>
            <a:ext cx="0" cy="1492504"/>
          </a:xfrm>
          <a:prstGeom prst="line">
            <a:avLst/>
          </a:prstGeom>
          <a:noFill/>
          <a:ln w="9525">
            <a:solidFill>
              <a:srgbClr val="1E4460"/>
            </a:solidFill>
            <a:prstDash val="solid"/>
          </a:ln>
        </p:spPr>
      </p:sp>
      <p:sp>
        <p:nvSpPr>
          <p:cNvPr id="17" name="Text 13"/>
          <p:cNvSpPr txBox="1"/>
          <p:nvPr/>
        </p:nvSpPr>
        <p:spPr>
          <a:xfrm>
            <a:off x="3404540" y="470916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$38.88</a:t>
            </a:r>
            <a:endParaRPr lang="en-US" sz="3400" dirty="0"/>
          </a:p>
        </p:txBody>
      </p:sp>
      <p:sp>
        <p:nvSpPr>
          <p:cNvPr id="18" name="Text 14"/>
          <p:cNvSpPr txBox="1"/>
          <p:nvPr/>
        </p:nvSpPr>
        <p:spPr>
          <a:xfrm>
            <a:off x="3404540" y="523240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Average cost per lead</a:t>
            </a:r>
            <a:endParaRPr lang="en-US" sz="1200" dirty="0"/>
          </a:p>
        </p:txBody>
      </p:sp>
      <p:sp>
        <p:nvSpPr>
          <p:cNvPr id="19" name="Text 15"/>
          <p:cNvSpPr txBox="1"/>
          <p:nvPr/>
        </p:nvSpPr>
        <p:spPr>
          <a:xfrm>
            <a:off x="3404540" y="5717032"/>
            <a:ext cx="2179244" cy="37490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Bedford Housing, 1,130 form conversions</a:t>
            </a:r>
            <a:endParaRPr lang="en-US" sz="1050" dirty="0"/>
          </a:p>
        </p:txBody>
      </p:sp>
      <p:sp>
        <p:nvSpPr>
          <p:cNvPr id="20" name="Shape 16"/>
          <p:cNvSpPr/>
          <p:nvPr/>
        </p:nvSpPr>
        <p:spPr>
          <a:xfrm>
            <a:off x="5858104" y="4709160"/>
            <a:ext cx="0" cy="1492504"/>
          </a:xfrm>
          <a:prstGeom prst="line">
            <a:avLst/>
          </a:prstGeom>
          <a:noFill/>
          <a:ln w="9525">
            <a:solidFill>
              <a:srgbClr val="1E4460"/>
            </a:solidFill>
            <a:prstDash val="solid"/>
          </a:ln>
        </p:spPr>
      </p:sp>
      <p:sp>
        <p:nvSpPr>
          <p:cNvPr id="21" name="Text 17"/>
          <p:cNvSpPr txBox="1"/>
          <p:nvPr/>
        </p:nvSpPr>
        <p:spPr>
          <a:xfrm>
            <a:off x="6095848" y="470916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$19.58</a:t>
            </a:r>
            <a:endParaRPr lang="en-US" sz="3400" dirty="0"/>
          </a:p>
        </p:txBody>
      </p:sp>
      <p:sp>
        <p:nvSpPr>
          <p:cNvPr id="22" name="Text 18"/>
          <p:cNvSpPr txBox="1"/>
          <p:nvPr/>
        </p:nvSpPr>
        <p:spPr>
          <a:xfrm>
            <a:off x="6095848" y="523240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Cost per lead</a:t>
            </a:r>
            <a:endParaRPr lang="en-US" sz="1200" dirty="0"/>
          </a:p>
        </p:txBody>
      </p:sp>
      <p:sp>
        <p:nvSpPr>
          <p:cNvPr id="23" name="Text 19"/>
          <p:cNvSpPr txBox="1"/>
          <p:nvPr/>
        </p:nvSpPr>
        <p:spPr>
          <a:xfrm>
            <a:off x="6095848" y="5717032"/>
            <a:ext cx="2179244" cy="37490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Jade International freight</a:t>
            </a:r>
            <a:endParaRPr lang="en-US" sz="1050" dirty="0"/>
          </a:p>
        </p:txBody>
      </p:sp>
      <p:sp>
        <p:nvSpPr>
          <p:cNvPr id="24" name="Shape 20"/>
          <p:cNvSpPr/>
          <p:nvPr/>
        </p:nvSpPr>
        <p:spPr>
          <a:xfrm>
            <a:off x="8549411" y="4709160"/>
            <a:ext cx="0" cy="1492504"/>
          </a:xfrm>
          <a:prstGeom prst="line">
            <a:avLst/>
          </a:prstGeom>
          <a:noFill/>
          <a:ln w="9525">
            <a:solidFill>
              <a:srgbClr val="1E4460"/>
            </a:solidFill>
            <a:prstDash val="solid"/>
          </a:ln>
        </p:spPr>
      </p:sp>
      <p:sp>
        <p:nvSpPr>
          <p:cNvPr id="25" name="Text 21"/>
          <p:cNvSpPr txBox="1"/>
          <p:nvPr/>
        </p:nvSpPr>
        <p:spPr>
          <a:xfrm>
            <a:off x="8787155" y="470916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4.90%</a:t>
            </a:r>
            <a:endParaRPr lang="en-US" sz="3400" dirty="0"/>
          </a:p>
        </p:txBody>
      </p:sp>
      <p:sp>
        <p:nvSpPr>
          <p:cNvPr id="26" name="Text 22"/>
          <p:cNvSpPr txBox="1"/>
          <p:nvPr/>
        </p:nvSpPr>
        <p:spPr>
          <a:xfrm>
            <a:off x="8787155" y="523240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Average click through rate</a:t>
            </a:r>
            <a:endParaRPr lang="en-US" sz="1200" dirty="0"/>
          </a:p>
        </p:txBody>
      </p:sp>
      <p:sp>
        <p:nvSpPr>
          <p:cNvPr id="27" name="Text 23"/>
          <p:cNvSpPr txBox="1"/>
          <p:nvPr/>
        </p:nvSpPr>
        <p:spPr>
          <a:xfrm>
            <a:off x="8787155" y="5717032"/>
            <a:ext cx="2179244" cy="37490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LaserSkin MedSpa, Google Ads</a:t>
            </a:r>
            <a:endParaRPr lang="en-US" sz="1050" dirty="0"/>
          </a:p>
        </p:txBody>
      </p:sp>
      <p:sp>
        <p:nvSpPr>
          <p:cNvPr id="28" name="Text 24"/>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9DB5C8"/>
                </a:solidFill>
                <a:latin typeface="Arial" pitchFamily="34" charset="0"/>
                <a:ea typeface="Arial" pitchFamily="34" charset="-122"/>
                <a:cs typeface="Arial" pitchFamily="34" charset="-120"/>
              </a:rPr>
              <a:t>Management is $1,500 per month plus your ad media budget. Media spend is paid to the platform, never to us.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80"/>
                                        <p:tgtEl>
                                          <p:spTgt spid="2"/>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80"/>
                                        <p:tgtEl>
                                          <p:spTgt spid="6"/>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80"/>
                                        <p:tgtEl>
                                          <p:spTgt spid="8"/>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280"/>
                                        <p:tgtEl>
                                          <p:spTgt spid="11"/>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280"/>
                                        <p:tgtEl>
                                          <p:spTgt spid="12"/>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280"/>
                                        <p:tgtEl>
                                          <p:spTgt spid="13"/>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280"/>
                                        <p:tgtEl>
                                          <p:spTgt spid="17"/>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280"/>
                                        <p:tgtEl>
                                          <p:spTgt spid="2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28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1" grpId="0" animBg="1"/>
      <p:bldP spid="12" grpId="0" animBg="1"/>
      <p:bldP spid="13" grpId="0" animBg="1"/>
      <p:bldP spid="17" grpId="0" animBg="1"/>
      <p:bldP spid="21"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299655" y="0"/>
            <a:ext cx="4892040" cy="6858000"/>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321040" y="3017520"/>
            <a:ext cx="4937760" cy="5857367"/>
          </a:xfrm>
          <a:prstGeom prst="rect">
            <a:avLst/>
          </a:prstGeom>
        </p:spPr>
      </p:pic>
      <p:pic>
        <p:nvPicPr>
          <p:cNvPr id="4"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5"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Text 2"/>
          <p:cNvSpPr txBox="1"/>
          <p:nvPr/>
        </p:nvSpPr>
        <p:spPr>
          <a:xfrm>
            <a:off x="713232" y="987552"/>
            <a:ext cx="6583680"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Social media</a:t>
            </a:r>
            <a:endParaRPr lang="en-US" sz="3900" dirty="0"/>
          </a:p>
        </p:txBody>
      </p:sp>
      <p:sp>
        <p:nvSpPr>
          <p:cNvPr id="7" name="Text 3"/>
          <p:cNvSpPr txBox="1"/>
          <p:nvPr/>
        </p:nvSpPr>
        <p:spPr>
          <a:xfrm>
            <a:off x="713232" y="1703070"/>
            <a:ext cx="6583680" cy="649224"/>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A real calendar, real design, and a channel that compounds.</a:t>
            </a:r>
            <a:endParaRPr lang="en-US" sz="1800" dirty="0"/>
          </a:p>
        </p:txBody>
      </p:sp>
      <p:sp>
        <p:nvSpPr>
          <p:cNvPr id="8" name="Text 4"/>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06</a:t>
            </a:r>
            <a:endParaRPr lang="en-US" sz="1050" dirty="0"/>
          </a:p>
        </p:txBody>
      </p:sp>
      <p:sp>
        <p:nvSpPr>
          <p:cNvPr id="9" name="Text 5"/>
          <p:cNvSpPr txBox="1"/>
          <p:nvPr/>
        </p:nvSpPr>
        <p:spPr>
          <a:xfrm>
            <a:off x="713232" y="2788920"/>
            <a:ext cx="182880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Channels</a:t>
            </a:r>
            <a:endParaRPr lang="en-US" sz="1500" dirty="0"/>
          </a:p>
        </p:txBody>
      </p:sp>
      <p:sp>
        <p:nvSpPr>
          <p:cNvPr id="10" name="Text 6"/>
          <p:cNvSpPr txBox="1"/>
          <p:nvPr/>
        </p:nvSpPr>
        <p:spPr>
          <a:xfrm>
            <a:off x="2953512" y="2788920"/>
            <a:ext cx="4069080" cy="4612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Facebook, Instagram, TikTok, Pinterest and LinkedIn.</a:t>
            </a:r>
            <a:endParaRPr lang="en-US" sz="1250" dirty="0"/>
          </a:p>
        </p:txBody>
      </p:sp>
      <p:sp>
        <p:nvSpPr>
          <p:cNvPr id="11" name="Shape 7"/>
          <p:cNvSpPr/>
          <p:nvPr/>
        </p:nvSpPr>
        <p:spPr>
          <a:xfrm>
            <a:off x="713232" y="3369056"/>
            <a:ext cx="6309360" cy="0"/>
          </a:xfrm>
          <a:prstGeom prst="line">
            <a:avLst/>
          </a:prstGeom>
          <a:noFill/>
          <a:ln w="9525">
            <a:solidFill>
              <a:srgbClr val="E2EAF1"/>
            </a:solidFill>
            <a:prstDash val="solid"/>
          </a:ln>
        </p:spPr>
      </p:sp>
      <p:sp>
        <p:nvSpPr>
          <p:cNvPr id="12" name="Text 8"/>
          <p:cNvSpPr txBox="1"/>
          <p:nvPr/>
        </p:nvSpPr>
        <p:spPr>
          <a:xfrm>
            <a:off x="713232" y="3487928"/>
            <a:ext cx="182880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Every month</a:t>
            </a:r>
            <a:endParaRPr lang="en-US" sz="1500" dirty="0"/>
          </a:p>
        </p:txBody>
      </p:sp>
      <p:sp>
        <p:nvSpPr>
          <p:cNvPr id="13" name="Text 9"/>
          <p:cNvSpPr txBox="1"/>
          <p:nvPr/>
        </p:nvSpPr>
        <p:spPr>
          <a:xfrm>
            <a:off x="2953512" y="3487928"/>
            <a:ext cx="4069080" cy="6644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A content calendar built a month ahead, posts designed in your brand, three posts a week, stories and hashtags.</a:t>
            </a:r>
            <a:endParaRPr lang="en-US" sz="1250" dirty="0"/>
          </a:p>
        </p:txBody>
      </p:sp>
      <p:sp>
        <p:nvSpPr>
          <p:cNvPr id="14" name="Shape 10"/>
          <p:cNvSpPr/>
          <p:nvPr/>
        </p:nvSpPr>
        <p:spPr>
          <a:xfrm>
            <a:off x="713232" y="4271264"/>
            <a:ext cx="6309360" cy="0"/>
          </a:xfrm>
          <a:prstGeom prst="line">
            <a:avLst/>
          </a:prstGeom>
          <a:noFill/>
          <a:ln w="9525">
            <a:solidFill>
              <a:srgbClr val="E2EAF1"/>
            </a:solidFill>
            <a:prstDash val="solid"/>
          </a:ln>
        </p:spPr>
      </p:sp>
      <p:sp>
        <p:nvSpPr>
          <p:cNvPr id="15" name="Text 11"/>
          <p:cNvSpPr txBox="1"/>
          <p:nvPr/>
        </p:nvSpPr>
        <p:spPr>
          <a:xfrm>
            <a:off x="713232" y="4390136"/>
            <a:ext cx="182880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And then</a:t>
            </a:r>
            <a:endParaRPr lang="en-US" sz="1500" dirty="0"/>
          </a:p>
        </p:txBody>
      </p:sp>
      <p:sp>
        <p:nvSpPr>
          <p:cNvPr id="16" name="Text 12"/>
          <p:cNvSpPr txBox="1"/>
          <p:nvPr/>
        </p:nvSpPr>
        <p:spPr>
          <a:xfrm>
            <a:off x="2953512" y="4390136"/>
            <a:ext cx="4069080" cy="461264"/>
          </a:xfrm>
          <a:prstGeom prst="rect">
            <a:avLst/>
          </a:prstGeom>
          <a:noFill/>
          <a:ln/>
        </p:spPr>
        <p:txBody>
          <a:bodyPr wrap="square" lIns="0" tIns="0" rIns="0" bIns="0" rtlCol="0" anchor="t"/>
          <a:lstStyle/>
          <a:p>
            <a:pPr marL="0" indent="0" algn="l">
              <a:lnSpc>
                <a:spcPct val="128000"/>
              </a:lnSpc>
              <a:buNone/>
            </a:pPr>
            <a:r>
              <a:rPr lang="en-US" sz="1250" dirty="0">
                <a:solidFill>
                  <a:srgbClr val="5A6772"/>
                </a:solidFill>
                <a:latin typeface="Arial" pitchFamily="34" charset="0"/>
                <a:ea typeface="Arial" pitchFamily="34" charset="-122"/>
                <a:cs typeface="Arial" pitchFamily="34" charset="-120"/>
              </a:rPr>
              <a:t>Engagement and follower growth work, with analytics reported every month.</a:t>
            </a:r>
            <a:endParaRPr lang="en-US" sz="1250" dirty="0"/>
          </a:p>
        </p:txBody>
      </p:sp>
      <p:sp>
        <p:nvSpPr>
          <p:cNvPr id="17" name="Text 13"/>
          <p:cNvSpPr txBox="1"/>
          <p:nvPr/>
        </p:nvSpPr>
        <p:spPr>
          <a:xfrm>
            <a:off x="7726680" y="1371600"/>
            <a:ext cx="374904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PROOF · GRAND ENTRY DOORS</a:t>
            </a:r>
            <a:endParaRPr lang="en-US" sz="1050" dirty="0"/>
          </a:p>
        </p:txBody>
      </p:sp>
      <p:sp>
        <p:nvSpPr>
          <p:cNvPr id="18" name="Text 14"/>
          <p:cNvSpPr txBox="1"/>
          <p:nvPr/>
        </p:nvSpPr>
        <p:spPr>
          <a:xfrm>
            <a:off x="7726680" y="1700784"/>
            <a:ext cx="3749040" cy="594868"/>
          </a:xfrm>
          <a:prstGeom prst="rect">
            <a:avLst/>
          </a:prstGeom>
          <a:noFill/>
          <a:ln/>
        </p:spPr>
        <p:txBody>
          <a:bodyPr wrap="square" lIns="0" tIns="0" rIns="0" bIns="0" rtlCol="0" anchor="t"/>
          <a:lstStyle/>
          <a:p>
            <a:pPr marL="0" indent="0" algn="l">
              <a:lnSpc>
                <a:spcPct val="110000"/>
              </a:lnSpc>
              <a:buNone/>
            </a:pPr>
            <a:r>
              <a:rPr lang="en-US" sz="1900" b="1" dirty="0">
                <a:solidFill>
                  <a:srgbClr val="FFFFFF"/>
                </a:solidFill>
                <a:latin typeface="Arial" pitchFamily="34" charset="0"/>
                <a:ea typeface="Arial" pitchFamily="34" charset="-122"/>
                <a:cs typeface="Arial" pitchFamily="34" charset="-120"/>
              </a:rPr>
              <a:t>A dormant Pinterest account turned into a growth channel</a:t>
            </a:r>
            <a:endParaRPr lang="en-US" sz="1900" dirty="0"/>
          </a:p>
        </p:txBody>
      </p:sp>
      <p:sp>
        <p:nvSpPr>
          <p:cNvPr id="19" name="Text 15"/>
          <p:cNvSpPr txBox="1"/>
          <p:nvPr/>
        </p:nvSpPr>
        <p:spPr>
          <a:xfrm>
            <a:off x="7726680" y="2679700"/>
            <a:ext cx="1783080" cy="419608"/>
          </a:xfrm>
          <a:prstGeom prst="rect">
            <a:avLst/>
          </a:prstGeom>
          <a:noFill/>
          <a:ln/>
        </p:spPr>
        <p:txBody>
          <a:bodyPr wrap="square" lIns="0" tIns="0" rIns="0" bIns="0" rtlCol="0" anchor="t"/>
          <a:lstStyle/>
          <a:p>
            <a:pPr marL="0" indent="0" algn="l">
              <a:lnSpc>
                <a:spcPct val="100000"/>
              </a:lnSpc>
              <a:buNone/>
            </a:pPr>
            <a:r>
              <a:rPr lang="en-US" sz="2800" b="1" dirty="0">
                <a:solidFill>
                  <a:srgbClr val="5AA7E0"/>
                </a:solidFill>
                <a:latin typeface="Arial" pitchFamily="34" charset="0"/>
                <a:ea typeface="Arial" pitchFamily="34" charset="-122"/>
                <a:cs typeface="Arial" pitchFamily="34" charset="-120"/>
              </a:rPr>
              <a:t>6.09M</a:t>
            </a:r>
            <a:endParaRPr lang="en-US" sz="2800" dirty="0"/>
          </a:p>
        </p:txBody>
      </p:sp>
      <p:sp>
        <p:nvSpPr>
          <p:cNvPr id="20" name="Text 16"/>
          <p:cNvSpPr txBox="1"/>
          <p:nvPr/>
        </p:nvSpPr>
        <p:spPr>
          <a:xfrm>
            <a:off x="7726680" y="3154172"/>
            <a:ext cx="1783080" cy="246888"/>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Impressions in 2025</a:t>
            </a:r>
            <a:endParaRPr lang="en-US" sz="1200" dirty="0"/>
          </a:p>
        </p:txBody>
      </p:sp>
      <p:sp>
        <p:nvSpPr>
          <p:cNvPr id="21" name="Text 17"/>
          <p:cNvSpPr txBox="1"/>
          <p:nvPr/>
        </p:nvSpPr>
        <p:spPr>
          <a:xfrm>
            <a:off x="9692640" y="2679700"/>
            <a:ext cx="1783080" cy="419608"/>
          </a:xfrm>
          <a:prstGeom prst="rect">
            <a:avLst/>
          </a:prstGeom>
          <a:noFill/>
          <a:ln/>
        </p:spPr>
        <p:txBody>
          <a:bodyPr wrap="square" lIns="0" tIns="0" rIns="0" bIns="0" rtlCol="0" anchor="t"/>
          <a:lstStyle/>
          <a:p>
            <a:pPr marL="0" indent="0" algn="l">
              <a:lnSpc>
                <a:spcPct val="100000"/>
              </a:lnSpc>
              <a:buNone/>
            </a:pPr>
            <a:r>
              <a:rPr lang="en-US" sz="2800" b="1" dirty="0">
                <a:solidFill>
                  <a:srgbClr val="5AA7E0"/>
                </a:solidFill>
                <a:latin typeface="Arial" pitchFamily="34" charset="0"/>
                <a:ea typeface="Arial" pitchFamily="34" charset="-122"/>
                <a:cs typeface="Arial" pitchFamily="34" charset="-120"/>
              </a:rPr>
              <a:t>217.59K</a:t>
            </a:r>
            <a:endParaRPr lang="en-US" sz="2800" dirty="0"/>
          </a:p>
        </p:txBody>
      </p:sp>
      <p:sp>
        <p:nvSpPr>
          <p:cNvPr id="22" name="Text 18"/>
          <p:cNvSpPr txBox="1"/>
          <p:nvPr/>
        </p:nvSpPr>
        <p:spPr>
          <a:xfrm>
            <a:off x="9692640" y="3154172"/>
            <a:ext cx="1783080" cy="246888"/>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Engagements</a:t>
            </a:r>
            <a:endParaRPr lang="en-US" sz="1200" dirty="0"/>
          </a:p>
        </p:txBody>
      </p:sp>
      <p:sp>
        <p:nvSpPr>
          <p:cNvPr id="23" name="Text 19"/>
          <p:cNvSpPr txBox="1"/>
          <p:nvPr/>
        </p:nvSpPr>
        <p:spPr>
          <a:xfrm>
            <a:off x="7726680" y="3978148"/>
            <a:ext cx="1783080" cy="419608"/>
          </a:xfrm>
          <a:prstGeom prst="rect">
            <a:avLst/>
          </a:prstGeom>
          <a:noFill/>
          <a:ln/>
        </p:spPr>
        <p:txBody>
          <a:bodyPr wrap="square" lIns="0" tIns="0" rIns="0" bIns="0" rtlCol="0" anchor="t"/>
          <a:lstStyle/>
          <a:p>
            <a:pPr marL="0" indent="0" algn="l">
              <a:lnSpc>
                <a:spcPct val="100000"/>
              </a:lnSpc>
              <a:buNone/>
            </a:pPr>
            <a:r>
              <a:rPr lang="en-US" sz="2800" b="1" dirty="0">
                <a:solidFill>
                  <a:srgbClr val="5AA7E0"/>
                </a:solidFill>
                <a:latin typeface="Arial" pitchFamily="34" charset="0"/>
                <a:ea typeface="Arial" pitchFamily="34" charset="-122"/>
                <a:cs typeface="Arial" pitchFamily="34" charset="-120"/>
              </a:rPr>
              <a:t>34.66K</a:t>
            </a:r>
            <a:endParaRPr lang="en-US" sz="2800" dirty="0"/>
          </a:p>
        </p:txBody>
      </p:sp>
      <p:sp>
        <p:nvSpPr>
          <p:cNvPr id="24" name="Text 20"/>
          <p:cNvSpPr txBox="1"/>
          <p:nvPr/>
        </p:nvSpPr>
        <p:spPr>
          <a:xfrm>
            <a:off x="7726680" y="4452620"/>
            <a:ext cx="1783080" cy="246888"/>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Saves</a:t>
            </a:r>
            <a:endParaRPr lang="en-US" sz="1200" dirty="0"/>
          </a:p>
        </p:txBody>
      </p:sp>
      <p:sp>
        <p:nvSpPr>
          <p:cNvPr id="25" name="Text 21"/>
          <p:cNvSpPr txBox="1"/>
          <p:nvPr/>
        </p:nvSpPr>
        <p:spPr>
          <a:xfrm>
            <a:off x="9692640" y="3978148"/>
            <a:ext cx="1783080" cy="419608"/>
          </a:xfrm>
          <a:prstGeom prst="rect">
            <a:avLst/>
          </a:prstGeom>
          <a:noFill/>
          <a:ln/>
        </p:spPr>
        <p:txBody>
          <a:bodyPr wrap="square" lIns="0" tIns="0" rIns="0" bIns="0" rtlCol="0" anchor="t"/>
          <a:lstStyle/>
          <a:p>
            <a:pPr marL="0" indent="0" algn="l">
              <a:lnSpc>
                <a:spcPct val="100000"/>
              </a:lnSpc>
              <a:buNone/>
            </a:pPr>
            <a:r>
              <a:rPr lang="en-US" sz="2800" b="1" dirty="0">
                <a:solidFill>
                  <a:srgbClr val="5AA7E0"/>
                </a:solidFill>
                <a:latin typeface="Arial" pitchFamily="34" charset="0"/>
                <a:ea typeface="Arial" pitchFamily="34" charset="-122"/>
                <a:cs typeface="Arial" pitchFamily="34" charset="-120"/>
              </a:rPr>
              <a:t>91.89K</a:t>
            </a:r>
            <a:endParaRPr lang="en-US" sz="2800" dirty="0"/>
          </a:p>
        </p:txBody>
      </p:sp>
      <p:sp>
        <p:nvSpPr>
          <p:cNvPr id="26" name="Text 22"/>
          <p:cNvSpPr txBox="1"/>
          <p:nvPr/>
        </p:nvSpPr>
        <p:spPr>
          <a:xfrm>
            <a:off x="9692640" y="4452620"/>
            <a:ext cx="1783080" cy="246888"/>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Engaged audience</a:t>
            </a:r>
            <a:endParaRPr lang="en-US" sz="1200" dirty="0"/>
          </a:p>
        </p:txBody>
      </p:sp>
      <p:sp>
        <p:nvSpPr>
          <p:cNvPr id="27" name="Text 23"/>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Social media management starts at $1,000 per month and scales with post volume.</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80"/>
                                        <p:tgtEl>
                                          <p:spTgt spid="5"/>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80"/>
                                        <p:tgtEl>
                                          <p:spTgt spid="6"/>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280"/>
                                        <p:tgtEl>
                                          <p:spTgt spid="17"/>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280"/>
                                        <p:tgtEl>
                                          <p:spTgt spid="1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280"/>
                                        <p:tgtEl>
                                          <p:spTgt spid="1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280"/>
                                        <p:tgtEl>
                                          <p:spTgt spid="21"/>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80"/>
                                        <p:tgtEl>
                                          <p:spTgt spid="9"/>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280"/>
                                        <p:tgtEl>
                                          <p:spTgt spid="10"/>
                                        </p:tgtEl>
                                      </p:cBhvr>
                                    </p:animEffect>
                                  </p:childTnLst>
                                </p:cTn>
                              </p:par>
                              <p:par>
                                <p:cTn id="32" presetID="10" presetClass="entr" presetSubtype="0" fill="hold" nodeType="withEffect">
                                  <p:stCondLst>
                                    <p:cond delay="540"/>
                                  </p:stCondLst>
                                  <p:childTnLst>
                                    <p:set>
                                      <p:cBhvr>
                                        <p:cTn id="33" dur="1" fill="hold">
                                          <p:stCondLst>
                                            <p:cond delay="0"/>
                                          </p:stCondLst>
                                        </p:cTn>
                                        <p:tgtEl>
                                          <p:spTgt spid="3"/>
                                        </p:tgtEl>
                                        <p:attrNameLst>
                                          <p:attrName>style.visibility</p:attrName>
                                        </p:attrNameLst>
                                      </p:cBhvr>
                                      <p:to>
                                        <p:strVal val="visible"/>
                                      </p:to>
                                    </p:set>
                                    <p:animEffect transition="in" filter="fade">
                                      <p:cBhvr>
                                        <p:cTn id="34" dur="280"/>
                                        <p:tgtEl>
                                          <p:spTgt spid="3"/>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280"/>
                                        <p:tgtEl>
                                          <p:spTgt spid="20"/>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28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SERVICE LINE</a:t>
            </a:r>
            <a:endParaRPr lang="en-US" sz="1050" dirty="0"/>
          </a:p>
        </p:txBody>
      </p:sp>
      <p:sp>
        <p:nvSpPr>
          <p:cNvPr id="4" name="Text 1"/>
          <p:cNvSpPr txBox="1"/>
          <p:nvPr/>
        </p:nvSpPr>
        <p:spPr>
          <a:xfrm>
            <a:off x="713232" y="987552"/>
            <a:ext cx="8570671"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Design and web</a:t>
            </a:r>
            <a:endParaRPr lang="en-US" sz="3900" dirty="0"/>
          </a:p>
        </p:txBody>
      </p:sp>
      <p:sp>
        <p:nvSpPr>
          <p:cNvPr id="5" name="Text 2"/>
          <p:cNvSpPr txBox="1"/>
          <p:nvPr/>
        </p:nvSpPr>
        <p:spPr>
          <a:xfrm>
            <a:off x="713232" y="1703070"/>
            <a:ext cx="8046720" cy="356616"/>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Sites built to load fast, read well on a phone and convert.</a:t>
            </a:r>
            <a:endParaRPr lang="en-US" sz="1800" dirty="0"/>
          </a:p>
        </p:txBody>
      </p:sp>
      <p:sp>
        <p:nvSpPr>
          <p:cNvPr id="6"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07</a:t>
            </a:r>
            <a:endParaRPr lang="en-US" sz="1050" dirty="0"/>
          </a:p>
        </p:txBody>
      </p:sp>
      <p:sp>
        <p:nvSpPr>
          <p:cNvPr id="7" name="Text 4"/>
          <p:cNvSpPr txBox="1"/>
          <p:nvPr/>
        </p:nvSpPr>
        <p:spPr>
          <a:xfrm>
            <a:off x="713232" y="2286000"/>
            <a:ext cx="2377440" cy="282448"/>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What we build</a:t>
            </a:r>
            <a:endParaRPr lang="en-US" sz="1600" dirty="0"/>
          </a:p>
        </p:txBody>
      </p:sp>
      <p:sp>
        <p:nvSpPr>
          <p:cNvPr id="8" name="Text 5"/>
          <p:cNvSpPr txBox="1"/>
          <p:nvPr/>
        </p:nvSpPr>
        <p:spPr>
          <a:xfrm>
            <a:off x="3502152" y="2286000"/>
            <a:ext cx="7976311" cy="477520"/>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Website design and development, WordPress and Shopify builds, UI and UX, logo and brand identity, graphic design and brochures, design for conversions.</a:t>
            </a:r>
            <a:endParaRPr lang="en-US" sz="1300" dirty="0"/>
          </a:p>
        </p:txBody>
      </p:sp>
      <p:sp>
        <p:nvSpPr>
          <p:cNvPr id="9" name="Shape 6"/>
          <p:cNvSpPr/>
          <p:nvPr/>
        </p:nvSpPr>
        <p:spPr>
          <a:xfrm>
            <a:off x="713232" y="3063240"/>
            <a:ext cx="10765231" cy="0"/>
          </a:xfrm>
          <a:prstGeom prst="line">
            <a:avLst/>
          </a:prstGeom>
          <a:noFill/>
          <a:ln w="9525">
            <a:solidFill>
              <a:srgbClr val="E2EAF1"/>
            </a:solidFill>
            <a:prstDash val="solid"/>
          </a:ln>
        </p:spPr>
      </p:sp>
      <p:sp>
        <p:nvSpPr>
          <p:cNvPr id="10" name="Text 7"/>
          <p:cNvSpPr txBox="1"/>
          <p:nvPr/>
        </p:nvSpPr>
        <p:spPr>
          <a:xfrm>
            <a:off x="713232" y="3291840"/>
            <a:ext cx="7315200"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PROOF · NENNER LAW, PHILADELPHIA CRIMINAL DEFENSE</a:t>
            </a:r>
            <a:endParaRPr lang="en-US" sz="1050" dirty="0"/>
          </a:p>
        </p:txBody>
      </p:sp>
      <p:sp>
        <p:nvSpPr>
          <p:cNvPr id="11" name="Text 8"/>
          <p:cNvSpPr txBox="1"/>
          <p:nvPr/>
        </p:nvSpPr>
        <p:spPr>
          <a:xfrm>
            <a:off x="713232" y="3621024"/>
            <a:ext cx="7863840" cy="379476"/>
          </a:xfrm>
          <a:prstGeom prst="rect">
            <a:avLst/>
          </a:prstGeom>
          <a:noFill/>
          <a:ln/>
        </p:spPr>
        <p:txBody>
          <a:bodyPr wrap="square" lIns="0" tIns="0" rIns="0" bIns="0" rtlCol="0" anchor="t"/>
          <a:lstStyle/>
          <a:p>
            <a:pPr marL="0" indent="0" algn="l">
              <a:lnSpc>
                <a:spcPct val="108000"/>
              </a:lnSpc>
              <a:buNone/>
            </a:pPr>
            <a:r>
              <a:rPr lang="en-US" sz="2300" b="1" dirty="0">
                <a:solidFill>
                  <a:srgbClr val="0F151B"/>
                </a:solidFill>
                <a:latin typeface="Arial" pitchFamily="34" charset="0"/>
                <a:ea typeface="Arial" pitchFamily="34" charset="-122"/>
                <a:cs typeface="Arial" pitchFamily="34" charset="-120"/>
              </a:rPr>
              <a:t>A mobile first rebuild that moved every number</a:t>
            </a:r>
            <a:endParaRPr lang="en-US" sz="2300" dirty="0"/>
          </a:p>
        </p:txBody>
      </p:sp>
      <p:sp>
        <p:nvSpPr>
          <p:cNvPr id="12" name="Text 9"/>
          <p:cNvSpPr txBox="1"/>
          <p:nvPr/>
        </p:nvSpPr>
        <p:spPr>
          <a:xfrm>
            <a:off x="713232" y="452628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24 → 54</a:t>
            </a:r>
            <a:endParaRPr lang="en-US" sz="3400" dirty="0"/>
          </a:p>
        </p:txBody>
      </p:sp>
      <p:sp>
        <p:nvSpPr>
          <p:cNvPr id="13" name="Text 10"/>
          <p:cNvSpPr txBox="1"/>
          <p:nvPr/>
        </p:nvSpPr>
        <p:spPr>
          <a:xfrm>
            <a:off x="713232" y="504952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Mobile performance score</a:t>
            </a:r>
            <a:endParaRPr lang="en-US" sz="1200" dirty="0"/>
          </a:p>
        </p:txBody>
      </p:sp>
      <p:sp>
        <p:nvSpPr>
          <p:cNvPr id="14" name="Shape 11"/>
          <p:cNvSpPr/>
          <p:nvPr/>
        </p:nvSpPr>
        <p:spPr>
          <a:xfrm>
            <a:off x="3166796" y="4526280"/>
            <a:ext cx="0" cy="934720"/>
          </a:xfrm>
          <a:prstGeom prst="line">
            <a:avLst/>
          </a:prstGeom>
          <a:noFill/>
          <a:ln w="9525">
            <a:solidFill>
              <a:srgbClr val="E2EAF1"/>
            </a:solidFill>
            <a:prstDash val="solid"/>
          </a:ln>
        </p:spPr>
      </p:sp>
      <p:sp>
        <p:nvSpPr>
          <p:cNvPr id="15" name="Text 12"/>
          <p:cNvSpPr txBox="1"/>
          <p:nvPr/>
        </p:nvSpPr>
        <p:spPr>
          <a:xfrm>
            <a:off x="3404540" y="452628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50 → 64</a:t>
            </a:r>
            <a:endParaRPr lang="en-US" sz="3400" dirty="0"/>
          </a:p>
        </p:txBody>
      </p:sp>
      <p:sp>
        <p:nvSpPr>
          <p:cNvPr id="16" name="Text 13"/>
          <p:cNvSpPr txBox="1"/>
          <p:nvPr/>
        </p:nvSpPr>
        <p:spPr>
          <a:xfrm>
            <a:off x="3404540" y="504952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Desktop performance score</a:t>
            </a:r>
            <a:endParaRPr lang="en-US" sz="1200" dirty="0"/>
          </a:p>
        </p:txBody>
      </p:sp>
      <p:sp>
        <p:nvSpPr>
          <p:cNvPr id="17" name="Shape 14"/>
          <p:cNvSpPr/>
          <p:nvPr/>
        </p:nvSpPr>
        <p:spPr>
          <a:xfrm>
            <a:off x="5858104" y="4526280"/>
            <a:ext cx="0" cy="934720"/>
          </a:xfrm>
          <a:prstGeom prst="line">
            <a:avLst/>
          </a:prstGeom>
          <a:noFill/>
          <a:ln w="9525">
            <a:solidFill>
              <a:srgbClr val="E2EAF1"/>
            </a:solidFill>
            <a:prstDash val="solid"/>
          </a:ln>
        </p:spPr>
      </p:sp>
      <p:sp>
        <p:nvSpPr>
          <p:cNvPr id="18" name="Text 15"/>
          <p:cNvSpPr txBox="1"/>
          <p:nvPr/>
        </p:nvSpPr>
        <p:spPr>
          <a:xfrm>
            <a:off x="6095848" y="452628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+816%</a:t>
            </a:r>
            <a:endParaRPr lang="en-US" sz="3400" dirty="0"/>
          </a:p>
        </p:txBody>
      </p:sp>
      <p:sp>
        <p:nvSpPr>
          <p:cNvPr id="19" name="Text 16"/>
          <p:cNvSpPr txBox="1"/>
          <p:nvPr/>
        </p:nvSpPr>
        <p:spPr>
          <a:xfrm>
            <a:off x="6095848" y="504952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Conversions</a:t>
            </a:r>
            <a:endParaRPr lang="en-US" sz="1200" dirty="0"/>
          </a:p>
        </p:txBody>
      </p:sp>
      <p:sp>
        <p:nvSpPr>
          <p:cNvPr id="20" name="Shape 17"/>
          <p:cNvSpPr/>
          <p:nvPr/>
        </p:nvSpPr>
        <p:spPr>
          <a:xfrm>
            <a:off x="8549411" y="4526280"/>
            <a:ext cx="0" cy="934720"/>
          </a:xfrm>
          <a:prstGeom prst="line">
            <a:avLst/>
          </a:prstGeom>
          <a:noFill/>
          <a:ln w="9525">
            <a:solidFill>
              <a:srgbClr val="E2EAF1"/>
            </a:solidFill>
            <a:prstDash val="solid"/>
          </a:ln>
        </p:spPr>
      </p:sp>
      <p:sp>
        <p:nvSpPr>
          <p:cNvPr id="21" name="Text 18"/>
          <p:cNvSpPr txBox="1"/>
          <p:nvPr/>
        </p:nvSpPr>
        <p:spPr>
          <a:xfrm>
            <a:off x="8787155" y="4526280"/>
            <a:ext cx="2179244"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+75%</a:t>
            </a:r>
            <a:endParaRPr lang="en-US" sz="3400" dirty="0"/>
          </a:p>
        </p:txBody>
      </p:sp>
      <p:sp>
        <p:nvSpPr>
          <p:cNvPr id="22" name="Text 19"/>
          <p:cNvSpPr txBox="1"/>
          <p:nvPr/>
        </p:nvSpPr>
        <p:spPr>
          <a:xfrm>
            <a:off x="8787155" y="504952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Users</a:t>
            </a:r>
            <a:endParaRPr lang="en-US" sz="1200" dirty="0"/>
          </a:p>
        </p:txBody>
      </p:sp>
      <p:sp>
        <p:nvSpPr>
          <p:cNvPr id="23" name="Text 20"/>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Design and branding is a $3,000 one time package, about three months, with unlimited edits and full ownership.</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80"/>
                                        <p:tgtEl>
                                          <p:spTgt spid="8"/>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280"/>
                                        <p:tgtEl>
                                          <p:spTgt spid="10"/>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280"/>
                                        <p:tgtEl>
                                          <p:spTgt spid="11"/>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280"/>
                                        <p:tgtEl>
                                          <p:spTgt spid="12"/>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280"/>
                                        <p:tgtEl>
                                          <p:spTgt spid="15"/>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280"/>
                                        <p:tgtEl>
                                          <p:spTgt spid="18"/>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280"/>
                                        <p:tgtEl>
                                          <p:spTgt spid="2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28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1" grpId="0" animBg="1"/>
      <p:bldP spid="12" grpId="0" animBg="1"/>
      <p:bldP spid="13" grpId="0" animBg="1"/>
      <p:bldP spid="15" grpId="0" animBg="1"/>
      <p:bldP spid="18" grpId="0" animBg="1"/>
      <p:bldP spid="2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4160520"/>
            <a:ext cx="12191695" cy="2697480"/>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9235440" y="3566160"/>
            <a:ext cx="4114800" cy="4881139"/>
          </a:xfrm>
          <a:prstGeom prst="rect">
            <a:avLst/>
          </a:prstGeom>
        </p:spPr>
      </p:pic>
      <p:pic>
        <p:nvPicPr>
          <p:cNvPr id="4"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5"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SERVICE LINE</a:t>
            </a:r>
            <a:endParaRPr lang="en-US" sz="1050" dirty="0"/>
          </a:p>
        </p:txBody>
      </p:sp>
      <p:sp>
        <p:nvSpPr>
          <p:cNvPr id="6" name="Text 2"/>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Content, video and virtual tours</a:t>
            </a:r>
            <a:endParaRPr lang="en-US" sz="3900" dirty="0"/>
          </a:p>
        </p:txBody>
      </p:sp>
      <p:sp>
        <p:nvSpPr>
          <p:cNvPr id="7"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08</a:t>
            </a:r>
            <a:endParaRPr lang="en-US" sz="1050" dirty="0"/>
          </a:p>
        </p:txBody>
      </p:sp>
      <p:sp>
        <p:nvSpPr>
          <p:cNvPr id="8" name="Text 4"/>
          <p:cNvSpPr txBox="1"/>
          <p:nvPr/>
        </p:nvSpPr>
        <p:spPr>
          <a:xfrm>
            <a:off x="713232" y="2011680"/>
            <a:ext cx="310896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Content and blogging</a:t>
            </a:r>
            <a:endParaRPr lang="en-US" sz="1700" dirty="0"/>
          </a:p>
        </p:txBody>
      </p:sp>
      <p:sp>
        <p:nvSpPr>
          <p:cNvPr id="9" name="Text 5"/>
          <p:cNvSpPr txBox="1"/>
          <p:nvPr/>
        </p:nvSpPr>
        <p:spPr>
          <a:xfrm>
            <a:off x="4233672" y="2011680"/>
            <a:ext cx="7244791" cy="688848"/>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Keyword research, four blogs or pages a month, edits and review, optimized for search and internal linking, promoted on your site and reported on. $1,000 per month.</a:t>
            </a:r>
            <a:endParaRPr lang="en-US" sz="1300" dirty="0"/>
          </a:p>
        </p:txBody>
      </p:sp>
      <p:sp>
        <p:nvSpPr>
          <p:cNvPr id="10" name="Shape 6"/>
          <p:cNvSpPr/>
          <p:nvPr/>
        </p:nvSpPr>
        <p:spPr>
          <a:xfrm>
            <a:off x="713232" y="2855976"/>
            <a:ext cx="10765231" cy="0"/>
          </a:xfrm>
          <a:prstGeom prst="line">
            <a:avLst/>
          </a:prstGeom>
          <a:noFill/>
          <a:ln w="9525">
            <a:solidFill>
              <a:srgbClr val="E2EAF1"/>
            </a:solidFill>
            <a:prstDash val="solid"/>
          </a:ln>
        </p:spPr>
      </p:sp>
      <p:sp>
        <p:nvSpPr>
          <p:cNvPr id="11" name="Text 7"/>
          <p:cNvSpPr txBox="1"/>
          <p:nvPr/>
        </p:nvSpPr>
        <p:spPr>
          <a:xfrm>
            <a:off x="713232" y="3011424"/>
            <a:ext cx="3108960" cy="296672"/>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Email and lifecycle</a:t>
            </a:r>
            <a:endParaRPr lang="en-US" sz="1700" dirty="0"/>
          </a:p>
        </p:txBody>
      </p:sp>
      <p:sp>
        <p:nvSpPr>
          <p:cNvPr id="12" name="Text 8"/>
          <p:cNvSpPr txBox="1"/>
          <p:nvPr/>
        </p:nvSpPr>
        <p:spPr>
          <a:xfrm>
            <a:off x="4233672" y="3011424"/>
            <a:ext cx="7244791" cy="477520"/>
          </a:xfrm>
          <a:prstGeom prst="rect">
            <a:avLst/>
          </a:prstGeom>
          <a:noFill/>
          <a:ln/>
        </p:spPr>
        <p:txBody>
          <a:bodyPr wrap="square" lIns="0" tIns="0" rIns="0" bIns="0" rtlCol="0" anchor="t"/>
          <a:lstStyle/>
          <a:p>
            <a:pPr marL="0" indent="0" algn="l">
              <a:lnSpc>
                <a:spcPct val="128000"/>
              </a:lnSpc>
              <a:buNone/>
            </a:pPr>
            <a:r>
              <a:rPr lang="en-US" sz="1300" dirty="0">
                <a:solidFill>
                  <a:srgbClr val="5A6772"/>
                </a:solidFill>
                <a:latin typeface="Arial" pitchFamily="34" charset="0"/>
                <a:ea typeface="Arial" pitchFamily="34" charset="-122"/>
                <a:cs typeface="Arial" pitchFamily="34" charset="-120"/>
              </a:rPr>
              <a:t>Campaign execution, list segmentation and the follow up sequences that turn a first click into a returning customer.</a:t>
            </a:r>
            <a:endParaRPr lang="en-US" sz="1300" dirty="0"/>
          </a:p>
        </p:txBody>
      </p:sp>
      <p:sp>
        <p:nvSpPr>
          <p:cNvPr id="13" name="Text 9"/>
          <p:cNvSpPr txBox="1"/>
          <p:nvPr/>
        </p:nvSpPr>
        <p:spPr>
          <a:xfrm>
            <a:off x="713232" y="4480560"/>
            <a:ext cx="73152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MOMENTUM 360 · A DIVISION WITHIN MOMENTUM</a:t>
            </a:r>
            <a:endParaRPr lang="en-US" sz="1050" dirty="0"/>
          </a:p>
        </p:txBody>
      </p:sp>
      <p:sp>
        <p:nvSpPr>
          <p:cNvPr id="14" name="Text 10"/>
          <p:cNvSpPr txBox="1"/>
          <p:nvPr/>
        </p:nvSpPr>
        <p:spPr>
          <a:xfrm>
            <a:off x="713232" y="4809744"/>
            <a:ext cx="8595360" cy="400558"/>
          </a:xfrm>
          <a:prstGeom prst="rect">
            <a:avLst/>
          </a:prstGeom>
          <a:noFill/>
          <a:ln/>
        </p:spPr>
        <p:txBody>
          <a:bodyPr wrap="square" lIns="0" tIns="0" rIns="0" bIns="0" rtlCol="0" anchor="t"/>
          <a:lstStyle/>
          <a:p>
            <a:pPr marL="0" indent="0" algn="l">
              <a:lnSpc>
                <a:spcPct val="106000"/>
              </a:lnSpc>
              <a:buNone/>
            </a:pPr>
            <a:r>
              <a:rPr lang="en-US" sz="2500" b="1" dirty="0">
                <a:solidFill>
                  <a:srgbClr val="FFFFFF"/>
                </a:solidFill>
                <a:latin typeface="Arial" pitchFamily="34" charset="0"/>
                <a:ea typeface="Arial" pitchFamily="34" charset="-122"/>
                <a:cs typeface="Arial" pitchFamily="34" charset="-120"/>
              </a:rPr>
              <a:t>Virtual tours, HD photography and drone video</a:t>
            </a:r>
            <a:endParaRPr lang="en-US" sz="2500" dirty="0"/>
          </a:p>
        </p:txBody>
      </p:sp>
      <p:sp>
        <p:nvSpPr>
          <p:cNvPr id="15" name="Text 11"/>
          <p:cNvSpPr txBox="1"/>
          <p:nvPr/>
        </p:nvSpPr>
        <p:spPr>
          <a:xfrm>
            <a:off x="713232" y="5374894"/>
            <a:ext cx="7863840" cy="658368"/>
          </a:xfrm>
          <a:prstGeom prst="rect">
            <a:avLst/>
          </a:prstGeom>
          <a:noFill/>
          <a:ln/>
        </p:spPr>
        <p:txBody>
          <a:bodyPr wrap="square" lIns="0" tIns="0" rIns="0" bIns="0" rtlCol="0" anchor="t"/>
          <a:lstStyle/>
          <a:p>
            <a:pPr marL="0" indent="0" algn="l">
              <a:lnSpc>
                <a:spcPct val="130000"/>
              </a:lnSpc>
              <a:buNone/>
            </a:pPr>
            <a:r>
              <a:rPr lang="en-US" sz="1200" dirty="0">
                <a:solidFill>
                  <a:srgbClr val="9DB5C8"/>
                </a:solidFill>
                <a:latin typeface="Arial" pitchFamily="34" charset="0"/>
                <a:ea typeface="Arial" pitchFamily="34" charset="-122"/>
                <a:cs typeface="Arial" pitchFamily="34" charset="-120"/>
              </a:rPr>
              <a:t>360 Google virtual tours, professional photography and aerial video for property, retail and hospitality. Tours feed Google Business Profile and local SEO directly, which is why the media team and the search team sit together.</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80"/>
                                        <p:tgtEl>
                                          <p:spTgt spid="5"/>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80"/>
                                        <p:tgtEl>
                                          <p:spTgt spid="6"/>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280"/>
                                        <p:tgtEl>
                                          <p:spTgt spid="8"/>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280"/>
                                        <p:tgtEl>
                                          <p:spTgt spid="9"/>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280"/>
                                        <p:tgtEl>
                                          <p:spTgt spid="11"/>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80"/>
                                        <p:tgtEl>
                                          <p:spTgt spid="12"/>
                                        </p:tgtEl>
                                      </p:cBhvr>
                                    </p:animEffect>
                                  </p:childTnLst>
                                </p:cTn>
                              </p:par>
                              <p:par>
                                <p:cTn id="23" presetID="10" presetClass="entr" presetSubtype="0" fill="hold" nodeType="withEffect">
                                  <p:stCondLst>
                                    <p:cond delay="36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280"/>
                                        <p:tgtEl>
                                          <p:spTgt spid="3"/>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280"/>
                                        <p:tgtEl>
                                          <p:spTgt spid="13"/>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280"/>
                                        <p:tgtEl>
                                          <p:spTgt spid="14"/>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SERVICE LINE</a:t>
            </a:r>
            <a:endParaRPr lang="en-US" sz="1050" dirty="0"/>
          </a:p>
        </p:txBody>
      </p:sp>
      <p:sp>
        <p:nvSpPr>
          <p:cNvPr id="4" name="Text 1"/>
          <p:cNvSpPr txBox="1"/>
          <p:nvPr/>
        </p:nvSpPr>
        <p:spPr>
          <a:xfrm>
            <a:off x="713232" y="987552"/>
            <a:ext cx="8570671"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AI marketing and automation</a:t>
            </a:r>
            <a:endParaRPr lang="en-US" sz="3900" dirty="0"/>
          </a:p>
        </p:txBody>
      </p:sp>
      <p:sp>
        <p:nvSpPr>
          <p:cNvPr id="5" name="Text 2"/>
          <p:cNvSpPr txBox="1"/>
          <p:nvPr/>
        </p:nvSpPr>
        <p:spPr>
          <a:xfrm>
            <a:off x="713232" y="1703070"/>
            <a:ext cx="8046720" cy="356616"/>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Repetitive marketing work, handed to a system that does not forget.</a:t>
            </a:r>
            <a:endParaRPr lang="en-US" sz="1800" dirty="0"/>
          </a:p>
        </p:txBody>
      </p:sp>
      <p:sp>
        <p:nvSpPr>
          <p:cNvPr id="6"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09</a:t>
            </a:r>
            <a:endParaRPr lang="en-US" sz="1050" dirty="0"/>
          </a:p>
        </p:txBody>
      </p:sp>
      <p:sp>
        <p:nvSpPr>
          <p:cNvPr id="7" name="Text 4"/>
          <p:cNvSpPr txBox="1"/>
          <p:nvPr/>
        </p:nvSpPr>
        <p:spPr>
          <a:xfrm>
            <a:off x="713232"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01</a:t>
            </a:r>
            <a:endParaRPr lang="en-US" sz="1500" dirty="0"/>
          </a:p>
        </p:txBody>
      </p:sp>
      <p:sp>
        <p:nvSpPr>
          <p:cNvPr id="8" name="Text 5"/>
          <p:cNvSpPr txBox="1"/>
          <p:nvPr/>
        </p:nvSpPr>
        <p:spPr>
          <a:xfrm>
            <a:off x="713232" y="2871216"/>
            <a:ext cx="1245565"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Discovery</a:t>
            </a:r>
            <a:endParaRPr lang="en-US" sz="1500" dirty="0"/>
          </a:p>
        </p:txBody>
      </p:sp>
      <p:sp>
        <p:nvSpPr>
          <p:cNvPr id="9" name="Text 6"/>
          <p:cNvSpPr txBox="1"/>
          <p:nvPr/>
        </p:nvSpPr>
        <p:spPr>
          <a:xfrm>
            <a:off x="713232" y="3254502"/>
            <a:ext cx="1245565"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Goals, offers, audiences and the metrics the automation has to move.</a:t>
            </a:r>
            <a:endParaRPr lang="en-US" sz="1050" dirty="0"/>
          </a:p>
        </p:txBody>
      </p:sp>
      <p:sp>
        <p:nvSpPr>
          <p:cNvPr id="10" name="Shape 7"/>
          <p:cNvSpPr/>
          <p:nvPr/>
        </p:nvSpPr>
        <p:spPr>
          <a:xfrm>
            <a:off x="2251405" y="2450592"/>
            <a:ext cx="0" cy="1554480"/>
          </a:xfrm>
          <a:prstGeom prst="line">
            <a:avLst/>
          </a:prstGeom>
          <a:noFill/>
          <a:ln w="9525">
            <a:solidFill>
              <a:srgbClr val="E2EAF1"/>
            </a:solidFill>
            <a:prstDash val="solid"/>
          </a:ln>
        </p:spPr>
      </p:sp>
      <p:sp>
        <p:nvSpPr>
          <p:cNvPr id="11" name="Text 8"/>
          <p:cNvSpPr txBox="1"/>
          <p:nvPr/>
        </p:nvSpPr>
        <p:spPr>
          <a:xfrm>
            <a:off x="2507437"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02</a:t>
            </a:r>
            <a:endParaRPr lang="en-US" sz="1500" dirty="0"/>
          </a:p>
        </p:txBody>
      </p:sp>
      <p:sp>
        <p:nvSpPr>
          <p:cNvPr id="12" name="Text 9"/>
          <p:cNvSpPr txBox="1"/>
          <p:nvPr/>
        </p:nvSpPr>
        <p:spPr>
          <a:xfrm>
            <a:off x="2507437" y="2871216"/>
            <a:ext cx="1245565"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Stack audit</a:t>
            </a:r>
            <a:endParaRPr lang="en-US" sz="1500" dirty="0"/>
          </a:p>
        </p:txBody>
      </p:sp>
      <p:sp>
        <p:nvSpPr>
          <p:cNvPr id="13" name="Text 10"/>
          <p:cNvSpPr txBox="1"/>
          <p:nvPr/>
        </p:nvSpPr>
        <p:spPr>
          <a:xfrm>
            <a:off x="2507437" y="3254502"/>
            <a:ext cx="1245565" cy="736092"/>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CRM, forms, ads, email, SMS and tracking reviewed for gaps.</a:t>
            </a:r>
            <a:endParaRPr lang="en-US" sz="1050" dirty="0"/>
          </a:p>
        </p:txBody>
      </p:sp>
      <p:sp>
        <p:nvSpPr>
          <p:cNvPr id="14" name="Shape 11"/>
          <p:cNvSpPr/>
          <p:nvPr/>
        </p:nvSpPr>
        <p:spPr>
          <a:xfrm>
            <a:off x="4045610" y="2450592"/>
            <a:ext cx="0" cy="1554480"/>
          </a:xfrm>
          <a:prstGeom prst="line">
            <a:avLst/>
          </a:prstGeom>
          <a:noFill/>
          <a:ln w="9525">
            <a:solidFill>
              <a:srgbClr val="E2EAF1"/>
            </a:solidFill>
            <a:prstDash val="solid"/>
          </a:ln>
        </p:spPr>
      </p:sp>
      <p:sp>
        <p:nvSpPr>
          <p:cNvPr id="15" name="Text 12"/>
          <p:cNvSpPr txBox="1"/>
          <p:nvPr/>
        </p:nvSpPr>
        <p:spPr>
          <a:xfrm>
            <a:off x="4301642"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03</a:t>
            </a:r>
            <a:endParaRPr lang="en-US" sz="1500" dirty="0"/>
          </a:p>
        </p:txBody>
      </p:sp>
      <p:sp>
        <p:nvSpPr>
          <p:cNvPr id="16" name="Text 13"/>
          <p:cNvSpPr txBox="1"/>
          <p:nvPr/>
        </p:nvSpPr>
        <p:spPr>
          <a:xfrm>
            <a:off x="4301642" y="2871216"/>
            <a:ext cx="1245565" cy="48310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Build workflows</a:t>
            </a:r>
            <a:endParaRPr lang="en-US" sz="1500" dirty="0"/>
          </a:p>
        </p:txBody>
      </p:sp>
      <p:sp>
        <p:nvSpPr>
          <p:cNvPr id="17" name="Text 14"/>
          <p:cNvSpPr txBox="1"/>
          <p:nvPr/>
        </p:nvSpPr>
        <p:spPr>
          <a:xfrm>
            <a:off x="4301642" y="3464052"/>
            <a:ext cx="1245565"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Triggers, segments and messages built for each funnel stage.</a:t>
            </a:r>
            <a:endParaRPr lang="en-US" sz="1050" dirty="0"/>
          </a:p>
        </p:txBody>
      </p:sp>
      <p:sp>
        <p:nvSpPr>
          <p:cNvPr id="18" name="Shape 15"/>
          <p:cNvSpPr/>
          <p:nvPr/>
        </p:nvSpPr>
        <p:spPr>
          <a:xfrm>
            <a:off x="5839816" y="2450592"/>
            <a:ext cx="0" cy="1554480"/>
          </a:xfrm>
          <a:prstGeom prst="line">
            <a:avLst/>
          </a:prstGeom>
          <a:noFill/>
          <a:ln w="9525">
            <a:solidFill>
              <a:srgbClr val="E2EAF1"/>
            </a:solidFill>
            <a:prstDash val="solid"/>
          </a:ln>
        </p:spPr>
      </p:sp>
      <p:sp>
        <p:nvSpPr>
          <p:cNvPr id="19" name="Text 16"/>
          <p:cNvSpPr txBox="1"/>
          <p:nvPr/>
        </p:nvSpPr>
        <p:spPr>
          <a:xfrm>
            <a:off x="6095848"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04</a:t>
            </a:r>
            <a:endParaRPr lang="en-US" sz="1500" dirty="0"/>
          </a:p>
        </p:txBody>
      </p:sp>
      <p:sp>
        <p:nvSpPr>
          <p:cNvPr id="20" name="Text 17"/>
          <p:cNvSpPr txBox="1"/>
          <p:nvPr/>
        </p:nvSpPr>
        <p:spPr>
          <a:xfrm>
            <a:off x="6095848" y="2871216"/>
            <a:ext cx="1245565"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QA</a:t>
            </a:r>
            <a:endParaRPr lang="en-US" sz="1500" dirty="0"/>
          </a:p>
        </p:txBody>
      </p:sp>
      <p:sp>
        <p:nvSpPr>
          <p:cNvPr id="21" name="Text 18"/>
          <p:cNvSpPr txBox="1"/>
          <p:nvPr/>
        </p:nvSpPr>
        <p:spPr>
          <a:xfrm>
            <a:off x="6095848" y="3254502"/>
            <a:ext cx="1245565"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Every path tested, tagging and consent validated, data confirmed.</a:t>
            </a:r>
            <a:endParaRPr lang="en-US" sz="1050" dirty="0"/>
          </a:p>
        </p:txBody>
      </p:sp>
      <p:sp>
        <p:nvSpPr>
          <p:cNvPr id="22" name="Shape 19"/>
          <p:cNvSpPr/>
          <p:nvPr/>
        </p:nvSpPr>
        <p:spPr>
          <a:xfrm>
            <a:off x="7634021" y="2450592"/>
            <a:ext cx="0" cy="1554480"/>
          </a:xfrm>
          <a:prstGeom prst="line">
            <a:avLst/>
          </a:prstGeom>
          <a:noFill/>
          <a:ln w="9525">
            <a:solidFill>
              <a:srgbClr val="E2EAF1"/>
            </a:solidFill>
            <a:prstDash val="solid"/>
          </a:ln>
        </p:spPr>
      </p:sp>
      <p:sp>
        <p:nvSpPr>
          <p:cNvPr id="23" name="Text 20"/>
          <p:cNvSpPr txBox="1"/>
          <p:nvPr/>
        </p:nvSpPr>
        <p:spPr>
          <a:xfrm>
            <a:off x="7890053"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05</a:t>
            </a:r>
            <a:endParaRPr lang="en-US" sz="1500" dirty="0"/>
          </a:p>
        </p:txBody>
      </p:sp>
      <p:sp>
        <p:nvSpPr>
          <p:cNvPr id="24" name="Text 21"/>
          <p:cNvSpPr txBox="1"/>
          <p:nvPr/>
        </p:nvSpPr>
        <p:spPr>
          <a:xfrm>
            <a:off x="7890053" y="2871216"/>
            <a:ext cx="1245565"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Launch</a:t>
            </a:r>
            <a:endParaRPr lang="en-US" sz="1500" dirty="0"/>
          </a:p>
        </p:txBody>
      </p:sp>
      <p:sp>
        <p:nvSpPr>
          <p:cNvPr id="25" name="Text 22"/>
          <p:cNvSpPr txBox="1"/>
          <p:nvPr/>
        </p:nvSpPr>
        <p:spPr>
          <a:xfrm>
            <a:off x="7890053" y="3254502"/>
            <a:ext cx="1245565"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Published, first runs watched, timing and routing tuned daily.</a:t>
            </a:r>
            <a:endParaRPr lang="en-US" sz="1050" dirty="0"/>
          </a:p>
        </p:txBody>
      </p:sp>
      <p:sp>
        <p:nvSpPr>
          <p:cNvPr id="26" name="Shape 23"/>
          <p:cNvSpPr/>
          <p:nvPr/>
        </p:nvSpPr>
        <p:spPr>
          <a:xfrm>
            <a:off x="9428226" y="2450592"/>
            <a:ext cx="0" cy="1554480"/>
          </a:xfrm>
          <a:prstGeom prst="line">
            <a:avLst/>
          </a:prstGeom>
          <a:noFill/>
          <a:ln w="9525">
            <a:solidFill>
              <a:srgbClr val="E2EAF1"/>
            </a:solidFill>
            <a:prstDash val="solid"/>
          </a:ln>
        </p:spPr>
      </p:sp>
      <p:sp>
        <p:nvSpPr>
          <p:cNvPr id="27" name="Text 24"/>
          <p:cNvSpPr txBox="1"/>
          <p:nvPr/>
        </p:nvSpPr>
        <p:spPr>
          <a:xfrm>
            <a:off x="9684258" y="2450592"/>
            <a:ext cx="1245565"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06</a:t>
            </a:r>
            <a:endParaRPr lang="en-US" sz="1500" dirty="0"/>
          </a:p>
        </p:txBody>
      </p:sp>
      <p:sp>
        <p:nvSpPr>
          <p:cNvPr id="28" name="Text 25"/>
          <p:cNvSpPr txBox="1"/>
          <p:nvPr/>
        </p:nvSpPr>
        <p:spPr>
          <a:xfrm>
            <a:off x="9684258" y="2871216"/>
            <a:ext cx="1245565"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Report</a:t>
            </a:r>
            <a:endParaRPr lang="en-US" sz="1500" dirty="0"/>
          </a:p>
        </p:txBody>
      </p:sp>
      <p:sp>
        <p:nvSpPr>
          <p:cNvPr id="29" name="Text 26"/>
          <p:cNvSpPr txBox="1"/>
          <p:nvPr/>
        </p:nvSpPr>
        <p:spPr>
          <a:xfrm>
            <a:off x="9684258" y="3254502"/>
            <a:ext cx="1245565" cy="736092"/>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KPIs tracked, copy, rules and steps optimized for ongoing lift.</a:t>
            </a:r>
            <a:endParaRPr lang="en-US" sz="1050" dirty="0"/>
          </a:p>
        </p:txBody>
      </p:sp>
      <p:sp>
        <p:nvSpPr>
          <p:cNvPr id="30" name="Shape 27"/>
          <p:cNvSpPr/>
          <p:nvPr/>
        </p:nvSpPr>
        <p:spPr>
          <a:xfrm>
            <a:off x="713232" y="4526280"/>
            <a:ext cx="10765231" cy="0"/>
          </a:xfrm>
          <a:prstGeom prst="line">
            <a:avLst/>
          </a:prstGeom>
          <a:noFill/>
          <a:ln w="9525">
            <a:solidFill>
              <a:srgbClr val="E2EAF1"/>
            </a:solidFill>
            <a:prstDash val="solid"/>
          </a:ln>
        </p:spPr>
      </p:sp>
      <p:sp>
        <p:nvSpPr>
          <p:cNvPr id="31" name="Text 28"/>
          <p:cNvSpPr txBox="1"/>
          <p:nvPr/>
        </p:nvSpPr>
        <p:spPr>
          <a:xfrm>
            <a:off x="713232" y="4754880"/>
            <a:ext cx="5486400"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PROOF · THE KIND INSURANCE</a:t>
            </a:r>
            <a:endParaRPr lang="en-US" sz="1050" dirty="0"/>
          </a:p>
        </p:txBody>
      </p:sp>
      <p:sp>
        <p:nvSpPr>
          <p:cNvPr id="32" name="Text 29"/>
          <p:cNvSpPr txBox="1"/>
          <p:nvPr/>
        </p:nvSpPr>
        <p:spPr>
          <a:xfrm>
            <a:off x="713232" y="5084064"/>
            <a:ext cx="7315200" cy="640080"/>
          </a:xfrm>
          <a:prstGeom prst="rect">
            <a:avLst/>
          </a:prstGeom>
          <a:noFill/>
          <a:ln/>
        </p:spPr>
        <p:txBody>
          <a:bodyPr wrap="square" lIns="0" tIns="0" rIns="0" bIns="0" rtlCol="0" anchor="t"/>
          <a:lstStyle/>
          <a:p>
            <a:pPr marL="0" indent="0" algn="l">
              <a:lnSpc>
                <a:spcPct val="108000"/>
              </a:lnSpc>
              <a:buNone/>
            </a:pPr>
            <a:r>
              <a:rPr lang="en-US" sz="2100" b="1" dirty="0">
                <a:solidFill>
                  <a:srgbClr val="0F151B"/>
                </a:solidFill>
                <a:latin typeface="Arial" pitchFamily="34" charset="0"/>
                <a:ea typeface="Arial" pitchFamily="34" charset="-122"/>
                <a:cs typeface="Arial" pitchFamily="34" charset="-120"/>
              </a:rPr>
              <a:t>An AI chatbot and CRM build that closed a policy in month one</a:t>
            </a:r>
            <a:endParaRPr lang="en-US" sz="2100" dirty="0"/>
          </a:p>
        </p:txBody>
      </p:sp>
      <p:sp>
        <p:nvSpPr>
          <p:cNvPr id="33" name="Text 30"/>
          <p:cNvSpPr txBox="1"/>
          <p:nvPr/>
        </p:nvSpPr>
        <p:spPr>
          <a:xfrm>
            <a:off x="713232" y="5870448"/>
            <a:ext cx="7315200" cy="460248"/>
          </a:xfrm>
          <a:prstGeom prst="rect">
            <a:avLst/>
          </a:prstGeom>
          <a:noFill/>
          <a:ln/>
        </p:spPr>
        <p:txBody>
          <a:bodyPr wrap="square" lIns="0" tIns="0" rIns="0" bIns="0" rtlCol="0" anchor="t"/>
          <a:lstStyle/>
          <a:p>
            <a:pPr marL="0" indent="0" algn="l">
              <a:lnSpc>
                <a:spcPct val="130000"/>
              </a:lnSpc>
              <a:buNone/>
            </a:pPr>
            <a:r>
              <a:rPr lang="en-US" sz="1200" dirty="0">
                <a:solidFill>
                  <a:srgbClr val="5A6772"/>
                </a:solidFill>
                <a:latin typeface="Arial" pitchFamily="34" charset="0"/>
                <a:ea typeface="Arial" pitchFamily="34" charset="-122"/>
                <a:cs typeface="Arial" pitchFamily="34" charset="-120"/>
              </a:rPr>
              <a:t>Five qualified chatbot conversations and one closed won policy in thirty days, with every lead synced into the CRM and zero manual entry.</a:t>
            </a:r>
            <a:endParaRPr lang="en-US" sz="1200" dirty="0"/>
          </a:p>
        </p:txBody>
      </p:sp>
      <p:sp>
        <p:nvSpPr>
          <p:cNvPr id="34" name="Text 31"/>
          <p:cNvSpPr txBox="1"/>
          <p:nvPr/>
        </p:nvSpPr>
        <p:spPr>
          <a:xfrm>
            <a:off x="8138160" y="4754880"/>
            <a:ext cx="3520440"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PACKAGED</a:t>
            </a:r>
            <a:endParaRPr lang="en-US" sz="1050" dirty="0"/>
          </a:p>
        </p:txBody>
      </p:sp>
      <p:sp>
        <p:nvSpPr>
          <p:cNvPr id="35" name="Text 32"/>
          <p:cNvSpPr txBox="1"/>
          <p:nvPr/>
        </p:nvSpPr>
        <p:spPr>
          <a:xfrm>
            <a:off x="8138160" y="5084064"/>
            <a:ext cx="3520440" cy="301498"/>
          </a:xfrm>
          <a:prstGeom prst="rect">
            <a:avLst/>
          </a:prstGeom>
          <a:noFill/>
          <a:ln/>
        </p:spPr>
        <p:txBody>
          <a:bodyPr wrap="square" lIns="0" tIns="0" rIns="0" bIns="0" rtlCol="0" anchor="t"/>
          <a:lstStyle/>
          <a:p>
            <a:pPr marL="0" indent="0" algn="l">
              <a:lnSpc>
                <a:spcPct val="110000"/>
              </a:lnSpc>
              <a:buNone/>
            </a:pPr>
            <a:r>
              <a:rPr lang="en-US" sz="1700" b="1" dirty="0">
                <a:solidFill>
                  <a:srgbClr val="0F151B"/>
                </a:solidFill>
                <a:latin typeface="Arial" pitchFamily="34" charset="0"/>
                <a:ea typeface="Arial" pitchFamily="34" charset="-122"/>
                <a:cs typeface="Arial" pitchFamily="34" charset="-120"/>
              </a:rPr>
              <a:t>Tiers by business type</a:t>
            </a:r>
            <a:endParaRPr lang="en-US" sz="1700" dirty="0"/>
          </a:p>
        </p:txBody>
      </p:sp>
      <p:sp>
        <p:nvSpPr>
          <p:cNvPr id="36" name="Text 33"/>
          <p:cNvSpPr txBox="1"/>
          <p:nvPr/>
        </p:nvSpPr>
        <p:spPr>
          <a:xfrm>
            <a:off x="8138160" y="5513578"/>
            <a:ext cx="3520440" cy="658368"/>
          </a:xfrm>
          <a:prstGeom prst="rect">
            <a:avLst/>
          </a:prstGeom>
          <a:noFill/>
          <a:ln/>
        </p:spPr>
        <p:txBody>
          <a:bodyPr wrap="square" lIns="0" tIns="0" rIns="0" bIns="0" rtlCol="0" anchor="t"/>
          <a:lstStyle/>
          <a:p>
            <a:pPr marL="0" indent="0" algn="l">
              <a:lnSpc>
                <a:spcPct val="130000"/>
              </a:lnSpc>
              <a:buNone/>
            </a:pPr>
            <a:r>
              <a:rPr lang="en-US" sz="1200" dirty="0">
                <a:solidFill>
                  <a:srgbClr val="5A6772"/>
                </a:solidFill>
                <a:latin typeface="Arial" pitchFamily="34" charset="0"/>
                <a:ea typeface="Arial" pitchFamily="34" charset="-122"/>
                <a:cs typeface="Arial" pitchFamily="34" charset="-120"/>
              </a:rPr>
              <a:t>Starter, Growth and Enterprise for ecommerce. Essential, Premium and Elite for real estate.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280"/>
                                        <p:tgtEl>
                                          <p:spTgt spid="11"/>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280"/>
                                        <p:tgtEl>
                                          <p:spTgt spid="15"/>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280"/>
                                        <p:tgtEl>
                                          <p:spTgt spid="19"/>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280"/>
                                        <p:tgtEl>
                                          <p:spTgt spid="23"/>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280"/>
                                        <p:tgtEl>
                                          <p:spTgt spid="27"/>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280"/>
                                        <p:tgtEl>
                                          <p:spTgt spid="8"/>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280"/>
                                        <p:tgtEl>
                                          <p:spTgt spid="12"/>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28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1" grpId="0" animBg="1"/>
      <p:bldP spid="12" grpId="0" animBg="1"/>
      <p:bldP spid="15" grpId="0" animBg="1"/>
      <p:bldP spid="16" grpId="0" animBg="1"/>
      <p:bldP spid="19" grpId="0" animBg="1"/>
      <p:bldP spid="23" grpId="0" animBg="1"/>
      <p:bldP spid="2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42655" y="0"/>
            <a:ext cx="3749040" cy="6858000"/>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9692640" y="1280160"/>
            <a:ext cx="3749040" cy="4447260"/>
          </a:xfrm>
          <a:prstGeom prst="rect">
            <a:avLst/>
          </a:prstGeom>
        </p:spPr>
      </p:pic>
      <p:pic>
        <p:nvPicPr>
          <p:cNvPr id="4"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5"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NEW SERVICE LINE · DRAFT FOR APPROVAL</a:t>
            </a:r>
            <a:endParaRPr lang="en-US" sz="1050" dirty="0"/>
          </a:p>
        </p:txBody>
      </p:sp>
      <p:sp>
        <p:nvSpPr>
          <p:cNvPr id="6" name="Text 2"/>
          <p:cNvSpPr txBox="1"/>
          <p:nvPr/>
        </p:nvSpPr>
        <p:spPr>
          <a:xfrm>
            <a:off x="713232" y="987552"/>
            <a:ext cx="7498080"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Answer engine optimization</a:t>
            </a:r>
            <a:endParaRPr lang="en-US" sz="3900" dirty="0"/>
          </a:p>
        </p:txBody>
      </p:sp>
      <p:sp>
        <p:nvSpPr>
          <p:cNvPr id="7" name="Text 3"/>
          <p:cNvSpPr txBox="1"/>
          <p:nvPr/>
        </p:nvSpPr>
        <p:spPr>
          <a:xfrm>
            <a:off x="713232" y="1703070"/>
            <a:ext cx="7498080" cy="941832"/>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A growing share of research happens inside ChatGPT, AI Overviews, Perplexity and Copilot, where there is no blue link to rank for.</a:t>
            </a:r>
            <a:endParaRPr lang="en-US" sz="1800" dirty="0"/>
          </a:p>
        </p:txBody>
      </p:sp>
      <p:sp>
        <p:nvSpPr>
          <p:cNvPr id="8" name="Text 4"/>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10</a:t>
            </a:r>
            <a:endParaRPr lang="en-US" sz="1050" dirty="0"/>
          </a:p>
        </p:txBody>
      </p:sp>
      <p:sp>
        <p:nvSpPr>
          <p:cNvPr id="9" name="Text 5"/>
          <p:cNvSpPr txBox="1"/>
          <p:nvPr/>
        </p:nvSpPr>
        <p:spPr>
          <a:xfrm>
            <a:off x="713232" y="3193542"/>
            <a:ext cx="265176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Entity and citation audit</a:t>
            </a:r>
            <a:endParaRPr lang="en-US" sz="1500" dirty="0"/>
          </a:p>
        </p:txBody>
      </p:sp>
      <p:sp>
        <p:nvSpPr>
          <p:cNvPr id="10" name="Text 6"/>
          <p:cNvSpPr txBox="1"/>
          <p:nvPr/>
        </p:nvSpPr>
        <p:spPr>
          <a:xfrm>
            <a:off x="3776472" y="3193542"/>
            <a:ext cx="4251960" cy="445008"/>
          </a:xfrm>
          <a:prstGeom prst="rect">
            <a:avLst/>
          </a:prstGeom>
          <a:noFill/>
          <a:ln/>
        </p:spPr>
        <p:txBody>
          <a:bodyPr wrap="square" lIns="0" tIns="0" rIns="0" bIns="0" rtlCol="0" anchor="t"/>
          <a:lstStyle/>
          <a:p>
            <a:pPr marL="0" indent="0" algn="l">
              <a:lnSpc>
                <a:spcPct val="128000"/>
              </a:lnSpc>
              <a:buNone/>
            </a:pPr>
            <a:r>
              <a:rPr lang="en-US" sz="1200" dirty="0">
                <a:solidFill>
                  <a:srgbClr val="5A6772"/>
                </a:solidFill>
                <a:latin typeface="Arial" pitchFamily="34" charset="0"/>
                <a:ea typeface="Arial" pitchFamily="34" charset="-122"/>
                <a:cs typeface="Arial" pitchFamily="34" charset="-120"/>
              </a:rPr>
              <a:t>What the models currently say about the business, and which pages they cite.</a:t>
            </a:r>
            <a:endParaRPr lang="en-US" sz="1200" dirty="0"/>
          </a:p>
        </p:txBody>
      </p:sp>
      <p:sp>
        <p:nvSpPr>
          <p:cNvPr id="11" name="Shape 7"/>
          <p:cNvSpPr/>
          <p:nvPr/>
        </p:nvSpPr>
        <p:spPr>
          <a:xfrm>
            <a:off x="713232" y="3757422"/>
            <a:ext cx="7315200" cy="0"/>
          </a:xfrm>
          <a:prstGeom prst="line">
            <a:avLst/>
          </a:prstGeom>
          <a:noFill/>
          <a:ln w="9525">
            <a:solidFill>
              <a:srgbClr val="E2EAF1"/>
            </a:solidFill>
            <a:prstDash val="solid"/>
          </a:ln>
        </p:spPr>
      </p:sp>
      <p:sp>
        <p:nvSpPr>
          <p:cNvPr id="12" name="Text 8"/>
          <p:cNvSpPr txBox="1"/>
          <p:nvPr/>
        </p:nvSpPr>
        <p:spPr>
          <a:xfrm>
            <a:off x="713232" y="3876294"/>
            <a:ext cx="265176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Answer formatting</a:t>
            </a:r>
            <a:endParaRPr lang="en-US" sz="1500" dirty="0"/>
          </a:p>
        </p:txBody>
      </p:sp>
      <p:sp>
        <p:nvSpPr>
          <p:cNvPr id="13" name="Text 9"/>
          <p:cNvSpPr txBox="1"/>
          <p:nvPr/>
        </p:nvSpPr>
        <p:spPr>
          <a:xfrm>
            <a:off x="3776472" y="3876294"/>
            <a:ext cx="4251960" cy="445008"/>
          </a:xfrm>
          <a:prstGeom prst="rect">
            <a:avLst/>
          </a:prstGeom>
          <a:noFill/>
          <a:ln/>
        </p:spPr>
        <p:txBody>
          <a:bodyPr wrap="square" lIns="0" tIns="0" rIns="0" bIns="0" rtlCol="0" anchor="t"/>
          <a:lstStyle/>
          <a:p>
            <a:pPr marL="0" indent="0" algn="l">
              <a:lnSpc>
                <a:spcPct val="128000"/>
              </a:lnSpc>
              <a:buNone/>
            </a:pPr>
            <a:r>
              <a:rPr lang="en-US" sz="1200" dirty="0">
                <a:solidFill>
                  <a:srgbClr val="5A6772"/>
                </a:solidFill>
                <a:latin typeface="Arial" pitchFamily="34" charset="0"/>
                <a:ea typeface="Arial" pitchFamily="34" charset="-122"/>
                <a:cs typeface="Arial" pitchFamily="34" charset="-120"/>
              </a:rPr>
              <a:t>Direct answers, definitions, FAQs and schema that mirror the visible page.</a:t>
            </a:r>
            <a:endParaRPr lang="en-US" sz="1200" dirty="0"/>
          </a:p>
        </p:txBody>
      </p:sp>
      <p:sp>
        <p:nvSpPr>
          <p:cNvPr id="14" name="Shape 10"/>
          <p:cNvSpPr/>
          <p:nvPr/>
        </p:nvSpPr>
        <p:spPr>
          <a:xfrm>
            <a:off x="713232" y="4440174"/>
            <a:ext cx="7315200" cy="0"/>
          </a:xfrm>
          <a:prstGeom prst="line">
            <a:avLst/>
          </a:prstGeom>
          <a:noFill/>
          <a:ln w="9525">
            <a:solidFill>
              <a:srgbClr val="E2EAF1"/>
            </a:solidFill>
            <a:prstDash val="solid"/>
          </a:ln>
        </p:spPr>
      </p:sp>
      <p:sp>
        <p:nvSpPr>
          <p:cNvPr id="15" name="Text 11"/>
          <p:cNvSpPr txBox="1"/>
          <p:nvPr/>
        </p:nvSpPr>
        <p:spPr>
          <a:xfrm>
            <a:off x="713232" y="4559046"/>
            <a:ext cx="265176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Source authority</a:t>
            </a:r>
            <a:endParaRPr lang="en-US" sz="1500" dirty="0"/>
          </a:p>
        </p:txBody>
      </p:sp>
      <p:sp>
        <p:nvSpPr>
          <p:cNvPr id="16" name="Text 12"/>
          <p:cNvSpPr txBox="1"/>
          <p:nvPr/>
        </p:nvSpPr>
        <p:spPr>
          <a:xfrm>
            <a:off x="3776472" y="4559046"/>
            <a:ext cx="4251960" cy="445008"/>
          </a:xfrm>
          <a:prstGeom prst="rect">
            <a:avLst/>
          </a:prstGeom>
          <a:noFill/>
          <a:ln/>
        </p:spPr>
        <p:txBody>
          <a:bodyPr wrap="square" lIns="0" tIns="0" rIns="0" bIns="0" rtlCol="0" anchor="t"/>
          <a:lstStyle/>
          <a:p>
            <a:pPr marL="0" indent="0" algn="l">
              <a:lnSpc>
                <a:spcPct val="128000"/>
              </a:lnSpc>
              <a:buNone/>
            </a:pPr>
            <a:r>
              <a:rPr lang="en-US" sz="1200" dirty="0">
                <a:solidFill>
                  <a:srgbClr val="5A6772"/>
                </a:solidFill>
                <a:latin typeface="Arial" pitchFamily="34" charset="0"/>
                <a:ea typeface="Arial" pitchFamily="34" charset="-122"/>
                <a:cs typeface="Arial" pitchFamily="34" charset="-120"/>
              </a:rPr>
              <a:t>Third party citations, reviews and listings the models actually read.</a:t>
            </a:r>
            <a:endParaRPr lang="en-US" sz="1200" dirty="0"/>
          </a:p>
        </p:txBody>
      </p:sp>
      <p:sp>
        <p:nvSpPr>
          <p:cNvPr id="17" name="Shape 13"/>
          <p:cNvSpPr/>
          <p:nvPr/>
        </p:nvSpPr>
        <p:spPr>
          <a:xfrm>
            <a:off x="713232" y="5122926"/>
            <a:ext cx="7315200" cy="0"/>
          </a:xfrm>
          <a:prstGeom prst="line">
            <a:avLst/>
          </a:prstGeom>
          <a:noFill/>
          <a:ln w="9525">
            <a:solidFill>
              <a:srgbClr val="E2EAF1"/>
            </a:solidFill>
            <a:prstDash val="solid"/>
          </a:ln>
        </p:spPr>
      </p:sp>
      <p:sp>
        <p:nvSpPr>
          <p:cNvPr id="18" name="Text 14"/>
          <p:cNvSpPr txBox="1"/>
          <p:nvPr/>
        </p:nvSpPr>
        <p:spPr>
          <a:xfrm>
            <a:off x="713232" y="5241798"/>
            <a:ext cx="2651760" cy="268224"/>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AI visibility tracking</a:t>
            </a:r>
            <a:endParaRPr lang="en-US" sz="1500" dirty="0"/>
          </a:p>
        </p:txBody>
      </p:sp>
      <p:sp>
        <p:nvSpPr>
          <p:cNvPr id="19" name="Text 15"/>
          <p:cNvSpPr txBox="1"/>
          <p:nvPr/>
        </p:nvSpPr>
        <p:spPr>
          <a:xfrm>
            <a:off x="3776472" y="5241798"/>
            <a:ext cx="4251960" cy="445008"/>
          </a:xfrm>
          <a:prstGeom prst="rect">
            <a:avLst/>
          </a:prstGeom>
          <a:noFill/>
          <a:ln/>
        </p:spPr>
        <p:txBody>
          <a:bodyPr wrap="square" lIns="0" tIns="0" rIns="0" bIns="0" rtlCol="0" anchor="t"/>
          <a:lstStyle/>
          <a:p>
            <a:pPr marL="0" indent="0" algn="l">
              <a:lnSpc>
                <a:spcPct val="128000"/>
              </a:lnSpc>
              <a:buNone/>
            </a:pPr>
            <a:r>
              <a:rPr lang="en-US" sz="1200" dirty="0">
                <a:solidFill>
                  <a:srgbClr val="5A6772"/>
                </a:solidFill>
                <a:latin typeface="Arial" pitchFamily="34" charset="0"/>
                <a:ea typeface="Arial" pitchFamily="34" charset="-122"/>
                <a:cs typeface="Arial" pitchFamily="34" charset="-120"/>
              </a:rPr>
              <a:t>Prompt sets tracked monthly across the major assistants, reported like rankings.</a:t>
            </a:r>
            <a:endParaRPr lang="en-US" sz="1200" dirty="0"/>
          </a:p>
        </p:txBody>
      </p:sp>
      <p:sp>
        <p:nvSpPr>
          <p:cNvPr id="20" name="Text 16"/>
          <p:cNvSpPr txBox="1"/>
          <p:nvPr/>
        </p:nvSpPr>
        <p:spPr>
          <a:xfrm>
            <a:off x="8778240" y="2286000"/>
            <a:ext cx="292608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ALREADY PROVEN IN ONE ACCOUNT</a:t>
            </a:r>
            <a:endParaRPr lang="en-US" sz="1050" dirty="0"/>
          </a:p>
        </p:txBody>
      </p:sp>
      <p:sp>
        <p:nvSpPr>
          <p:cNvPr id="21" name="Text 17"/>
          <p:cNvSpPr txBox="1"/>
          <p:nvPr/>
        </p:nvSpPr>
        <p:spPr>
          <a:xfrm>
            <a:off x="8778240" y="2651760"/>
            <a:ext cx="2926080" cy="978408"/>
          </a:xfrm>
          <a:prstGeom prst="rect">
            <a:avLst/>
          </a:prstGeom>
          <a:noFill/>
          <a:ln/>
        </p:spPr>
        <p:txBody>
          <a:bodyPr wrap="square" lIns="0" tIns="0" rIns="0" bIns="0" rtlCol="0" anchor="t"/>
          <a:lstStyle/>
          <a:p>
            <a:pPr marL="0" indent="0" algn="l">
              <a:lnSpc>
                <a:spcPct val="100000"/>
              </a:lnSpc>
              <a:buNone/>
            </a:pPr>
            <a:r>
              <a:rPr lang="en-US" sz="7200" b="1" dirty="0">
                <a:solidFill>
                  <a:srgbClr val="5AA7E0"/>
                </a:solidFill>
                <a:latin typeface="Arial" pitchFamily="34" charset="0"/>
                <a:ea typeface="Arial" pitchFamily="34" charset="-122"/>
                <a:cs typeface="Arial" pitchFamily="34" charset="-120"/>
              </a:rPr>
              <a:t>35</a:t>
            </a:r>
            <a:endParaRPr lang="en-US" sz="7200" dirty="0"/>
          </a:p>
        </p:txBody>
      </p:sp>
      <p:sp>
        <p:nvSpPr>
          <p:cNvPr id="22" name="Text 18"/>
          <p:cNvSpPr txBox="1"/>
          <p:nvPr/>
        </p:nvSpPr>
        <p:spPr>
          <a:xfrm>
            <a:off x="8778240" y="3685032"/>
            <a:ext cx="2926080" cy="429768"/>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AI visibility score, Detroit Dispensing Solutions</a:t>
            </a:r>
            <a:endParaRPr lang="en-US" sz="1200" dirty="0"/>
          </a:p>
        </p:txBody>
      </p:sp>
      <p:sp>
        <p:nvSpPr>
          <p:cNvPr id="23" name="Text 19"/>
          <p:cNvSpPr txBox="1"/>
          <p:nvPr/>
        </p:nvSpPr>
        <p:spPr>
          <a:xfrm>
            <a:off x="8778240" y="4178808"/>
            <a:ext cx="2926080" cy="544068"/>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Grown with more cited pages. ChatGPT appears in the December lead mix as a real traffic source.</a:t>
            </a:r>
            <a:endParaRPr lang="en-US" sz="1050" dirty="0"/>
          </a:p>
        </p:txBody>
      </p:sp>
      <p:sp>
        <p:nvSpPr>
          <p:cNvPr id="24" name="Text 20"/>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Draft scope. Momentum has no published AEO page or price. Scope and pricing need Mac's sign off before this slide is used with a prospect.</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80"/>
                                        <p:tgtEl>
                                          <p:spTgt spid="5"/>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80"/>
                                        <p:tgtEl>
                                          <p:spTgt spid="6"/>
                                        </p:tgtEl>
                                      </p:cBhvr>
                                    </p:animEffect>
                                  </p:childTnLst>
                                </p:cTn>
                              </p:par>
                              <p:par>
                                <p:cTn id="11" presetID="10" presetClass="entr" presetSubtype="0" fill="hold" nodeType="withEffect">
                                  <p:stCondLst>
                                    <p:cond delay="12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280"/>
                                        <p:tgtEl>
                                          <p:spTgt spid="3"/>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280"/>
                                        <p:tgtEl>
                                          <p:spTgt spid="20"/>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280"/>
                                        <p:tgtEl>
                                          <p:spTgt spid="21"/>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80"/>
                                        <p:tgtEl>
                                          <p:spTgt spid="9"/>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80"/>
                                        <p:tgtEl>
                                          <p:spTgt spid="10"/>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280"/>
                                        <p:tgtEl>
                                          <p:spTgt spid="22"/>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80"/>
                                        <p:tgtEl>
                                          <p:spTgt spid="12"/>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280"/>
                                        <p:tgtEl>
                                          <p:spTgt spid="13"/>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28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2" grpId="0" animBg="1"/>
      <p:bldP spid="13" grpId="0" animBg="1"/>
      <p:bldP spid="20" grpId="0" animBg="1"/>
      <p:bldP spid="21" grpId="0" animBg="1"/>
      <p:bldP spid="22" grpId="0" animBg="1"/>
      <p:bldP spid="2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INDUSTRIES</a:t>
            </a:r>
            <a:endParaRPr lang="en-US" sz="1050" dirty="0"/>
          </a:p>
        </p:txBody>
      </p:sp>
      <p:sp>
        <p:nvSpPr>
          <p:cNvPr id="4" name="Text 1"/>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Twenty industries, a specialist playbook for each</a:t>
            </a:r>
            <a:endParaRPr lang="en-US" sz="3900" dirty="0"/>
          </a:p>
        </p:txBody>
      </p:sp>
      <p:sp>
        <p:nvSpPr>
          <p:cNvPr id="5"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11</a:t>
            </a:r>
            <a:endParaRPr lang="en-US" sz="1050" dirty="0"/>
          </a:p>
        </p:txBody>
      </p:sp>
      <p:sp>
        <p:nvSpPr>
          <p:cNvPr id="6" name="Shape 3"/>
          <p:cNvSpPr/>
          <p:nvPr/>
        </p:nvSpPr>
        <p:spPr>
          <a:xfrm>
            <a:off x="3130220" y="2542032"/>
            <a:ext cx="0" cy="3291840"/>
          </a:xfrm>
          <a:prstGeom prst="line">
            <a:avLst/>
          </a:prstGeom>
          <a:noFill/>
          <a:ln w="9525">
            <a:solidFill>
              <a:srgbClr val="E2EAF1"/>
            </a:solidFill>
            <a:prstDash val="solid"/>
          </a:ln>
        </p:spPr>
      </p:sp>
      <p:sp>
        <p:nvSpPr>
          <p:cNvPr id="7" name="Shape 4"/>
          <p:cNvSpPr/>
          <p:nvPr/>
        </p:nvSpPr>
        <p:spPr>
          <a:xfrm>
            <a:off x="5821528" y="2542032"/>
            <a:ext cx="0" cy="3291840"/>
          </a:xfrm>
          <a:prstGeom prst="line">
            <a:avLst/>
          </a:prstGeom>
          <a:noFill/>
          <a:ln w="9525">
            <a:solidFill>
              <a:srgbClr val="E2EAF1"/>
            </a:solidFill>
            <a:prstDash val="solid"/>
          </a:ln>
        </p:spPr>
      </p:sp>
      <p:sp>
        <p:nvSpPr>
          <p:cNvPr id="8" name="Shape 5"/>
          <p:cNvSpPr/>
          <p:nvPr/>
        </p:nvSpPr>
        <p:spPr>
          <a:xfrm>
            <a:off x="8512835" y="2542032"/>
            <a:ext cx="0" cy="3291840"/>
          </a:xfrm>
          <a:prstGeom prst="line">
            <a:avLst/>
          </a:prstGeom>
          <a:noFill/>
          <a:ln w="9525">
            <a:solidFill>
              <a:srgbClr val="E2EAF1"/>
            </a:solidFill>
            <a:prstDash val="solid"/>
          </a:ln>
        </p:spPr>
      </p:sp>
      <p:sp>
        <p:nvSpPr>
          <p:cNvPr id="9" name="Text 6"/>
          <p:cNvSpPr txBox="1"/>
          <p:nvPr/>
        </p:nvSpPr>
        <p:spPr>
          <a:xfrm>
            <a:off x="713232" y="2542032"/>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Beauty and salons</a:t>
            </a:r>
            <a:endParaRPr lang="en-US" sz="1400" dirty="0"/>
          </a:p>
        </p:txBody>
      </p:sp>
      <p:sp>
        <p:nvSpPr>
          <p:cNvPr id="10" name="Shape 7"/>
          <p:cNvSpPr/>
          <p:nvPr/>
        </p:nvSpPr>
        <p:spPr>
          <a:xfrm>
            <a:off x="713232" y="3108960"/>
            <a:ext cx="2142668" cy="0"/>
          </a:xfrm>
          <a:prstGeom prst="line">
            <a:avLst/>
          </a:prstGeom>
          <a:noFill/>
          <a:ln w="9525">
            <a:solidFill>
              <a:srgbClr val="E2EAF1"/>
            </a:solidFill>
            <a:prstDash val="solid"/>
          </a:ln>
        </p:spPr>
      </p:sp>
      <p:sp>
        <p:nvSpPr>
          <p:cNvPr id="11" name="Text 8"/>
          <p:cNvSpPr txBox="1"/>
          <p:nvPr/>
        </p:nvSpPr>
        <p:spPr>
          <a:xfrm>
            <a:off x="713232" y="3200400"/>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Breweries</a:t>
            </a:r>
            <a:endParaRPr lang="en-US" sz="1400" dirty="0"/>
          </a:p>
        </p:txBody>
      </p:sp>
      <p:sp>
        <p:nvSpPr>
          <p:cNvPr id="12" name="Shape 9"/>
          <p:cNvSpPr/>
          <p:nvPr/>
        </p:nvSpPr>
        <p:spPr>
          <a:xfrm>
            <a:off x="713232" y="3767328"/>
            <a:ext cx="2142668" cy="0"/>
          </a:xfrm>
          <a:prstGeom prst="line">
            <a:avLst/>
          </a:prstGeom>
          <a:noFill/>
          <a:ln w="9525">
            <a:solidFill>
              <a:srgbClr val="E2EAF1"/>
            </a:solidFill>
            <a:prstDash val="solid"/>
          </a:ln>
        </p:spPr>
      </p:sp>
      <p:sp>
        <p:nvSpPr>
          <p:cNvPr id="13" name="Text 10"/>
          <p:cNvSpPr txBox="1"/>
          <p:nvPr/>
        </p:nvSpPr>
        <p:spPr>
          <a:xfrm>
            <a:off x="713232" y="3858768"/>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Cafes and coffee</a:t>
            </a:r>
            <a:endParaRPr lang="en-US" sz="1400" dirty="0"/>
          </a:p>
        </p:txBody>
      </p:sp>
      <p:sp>
        <p:nvSpPr>
          <p:cNvPr id="14" name="Shape 11"/>
          <p:cNvSpPr/>
          <p:nvPr/>
        </p:nvSpPr>
        <p:spPr>
          <a:xfrm>
            <a:off x="713232" y="4425696"/>
            <a:ext cx="2142668" cy="0"/>
          </a:xfrm>
          <a:prstGeom prst="line">
            <a:avLst/>
          </a:prstGeom>
          <a:noFill/>
          <a:ln w="9525">
            <a:solidFill>
              <a:srgbClr val="E2EAF1"/>
            </a:solidFill>
            <a:prstDash val="solid"/>
          </a:ln>
        </p:spPr>
      </p:sp>
      <p:sp>
        <p:nvSpPr>
          <p:cNvPr id="15" name="Text 12"/>
          <p:cNvSpPr txBox="1"/>
          <p:nvPr/>
        </p:nvSpPr>
        <p:spPr>
          <a:xfrm>
            <a:off x="713232" y="4517136"/>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Cannabis</a:t>
            </a:r>
            <a:endParaRPr lang="en-US" sz="1400" dirty="0"/>
          </a:p>
        </p:txBody>
      </p:sp>
      <p:sp>
        <p:nvSpPr>
          <p:cNvPr id="16" name="Shape 13"/>
          <p:cNvSpPr/>
          <p:nvPr/>
        </p:nvSpPr>
        <p:spPr>
          <a:xfrm>
            <a:off x="713232" y="5084064"/>
            <a:ext cx="2142668" cy="0"/>
          </a:xfrm>
          <a:prstGeom prst="line">
            <a:avLst/>
          </a:prstGeom>
          <a:noFill/>
          <a:ln w="9525">
            <a:solidFill>
              <a:srgbClr val="E2EAF1"/>
            </a:solidFill>
            <a:prstDash val="solid"/>
          </a:ln>
        </p:spPr>
      </p:sp>
      <p:sp>
        <p:nvSpPr>
          <p:cNvPr id="17" name="Text 14"/>
          <p:cNvSpPr txBox="1"/>
          <p:nvPr/>
        </p:nvSpPr>
        <p:spPr>
          <a:xfrm>
            <a:off x="713232" y="5175504"/>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Car dealerships</a:t>
            </a:r>
            <a:endParaRPr lang="en-US" sz="1400" dirty="0"/>
          </a:p>
        </p:txBody>
      </p:sp>
      <p:sp>
        <p:nvSpPr>
          <p:cNvPr id="18" name="Text 15"/>
          <p:cNvSpPr txBox="1"/>
          <p:nvPr/>
        </p:nvSpPr>
        <p:spPr>
          <a:xfrm>
            <a:off x="3404540" y="2542032"/>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Dentists</a:t>
            </a:r>
            <a:endParaRPr lang="en-US" sz="1400" dirty="0"/>
          </a:p>
        </p:txBody>
      </p:sp>
      <p:sp>
        <p:nvSpPr>
          <p:cNvPr id="19" name="Shape 16"/>
          <p:cNvSpPr/>
          <p:nvPr/>
        </p:nvSpPr>
        <p:spPr>
          <a:xfrm>
            <a:off x="3404540" y="3108960"/>
            <a:ext cx="2142668" cy="0"/>
          </a:xfrm>
          <a:prstGeom prst="line">
            <a:avLst/>
          </a:prstGeom>
          <a:noFill/>
          <a:ln w="9525">
            <a:solidFill>
              <a:srgbClr val="E2EAF1"/>
            </a:solidFill>
            <a:prstDash val="solid"/>
          </a:ln>
        </p:spPr>
      </p:sp>
      <p:sp>
        <p:nvSpPr>
          <p:cNvPr id="20" name="Text 17"/>
          <p:cNvSpPr txBox="1"/>
          <p:nvPr/>
        </p:nvSpPr>
        <p:spPr>
          <a:xfrm>
            <a:off x="3404540" y="3200400"/>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Ecommerce</a:t>
            </a:r>
            <a:endParaRPr lang="en-US" sz="1400" dirty="0"/>
          </a:p>
        </p:txBody>
      </p:sp>
      <p:sp>
        <p:nvSpPr>
          <p:cNvPr id="21" name="Shape 18"/>
          <p:cNvSpPr/>
          <p:nvPr/>
        </p:nvSpPr>
        <p:spPr>
          <a:xfrm>
            <a:off x="3404540" y="3767328"/>
            <a:ext cx="2142668" cy="0"/>
          </a:xfrm>
          <a:prstGeom prst="line">
            <a:avLst/>
          </a:prstGeom>
          <a:noFill/>
          <a:ln w="9525">
            <a:solidFill>
              <a:srgbClr val="E2EAF1"/>
            </a:solidFill>
            <a:prstDash val="solid"/>
          </a:ln>
        </p:spPr>
      </p:sp>
      <p:sp>
        <p:nvSpPr>
          <p:cNvPr id="22" name="Text 19"/>
          <p:cNvSpPr txBox="1"/>
          <p:nvPr/>
        </p:nvSpPr>
        <p:spPr>
          <a:xfrm>
            <a:off x="3404540" y="3858768"/>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Flooring</a:t>
            </a:r>
            <a:endParaRPr lang="en-US" sz="1400" dirty="0"/>
          </a:p>
        </p:txBody>
      </p:sp>
      <p:sp>
        <p:nvSpPr>
          <p:cNvPr id="23" name="Shape 20"/>
          <p:cNvSpPr/>
          <p:nvPr/>
        </p:nvSpPr>
        <p:spPr>
          <a:xfrm>
            <a:off x="3404540" y="4425696"/>
            <a:ext cx="2142668" cy="0"/>
          </a:xfrm>
          <a:prstGeom prst="line">
            <a:avLst/>
          </a:prstGeom>
          <a:noFill/>
          <a:ln w="9525">
            <a:solidFill>
              <a:srgbClr val="E2EAF1"/>
            </a:solidFill>
            <a:prstDash val="solid"/>
          </a:ln>
        </p:spPr>
      </p:sp>
      <p:sp>
        <p:nvSpPr>
          <p:cNvPr id="24" name="Text 21"/>
          <p:cNvSpPr txBox="1"/>
          <p:nvPr/>
        </p:nvSpPr>
        <p:spPr>
          <a:xfrm>
            <a:off x="3404540" y="4517136"/>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Gyms and fitness</a:t>
            </a:r>
            <a:endParaRPr lang="en-US" sz="1400" dirty="0"/>
          </a:p>
        </p:txBody>
      </p:sp>
      <p:sp>
        <p:nvSpPr>
          <p:cNvPr id="25" name="Shape 22"/>
          <p:cNvSpPr/>
          <p:nvPr/>
        </p:nvSpPr>
        <p:spPr>
          <a:xfrm>
            <a:off x="3404540" y="5084064"/>
            <a:ext cx="2142668" cy="0"/>
          </a:xfrm>
          <a:prstGeom prst="line">
            <a:avLst/>
          </a:prstGeom>
          <a:noFill/>
          <a:ln w="9525">
            <a:solidFill>
              <a:srgbClr val="E2EAF1"/>
            </a:solidFill>
            <a:prstDash val="solid"/>
          </a:ln>
        </p:spPr>
      </p:sp>
      <p:sp>
        <p:nvSpPr>
          <p:cNvPr id="26" name="Text 23"/>
          <p:cNvSpPr txBox="1"/>
          <p:nvPr/>
        </p:nvSpPr>
        <p:spPr>
          <a:xfrm>
            <a:off x="3404540" y="5175504"/>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Healthcare and hospice</a:t>
            </a:r>
            <a:endParaRPr lang="en-US" sz="1400" dirty="0"/>
          </a:p>
        </p:txBody>
      </p:sp>
      <p:sp>
        <p:nvSpPr>
          <p:cNvPr id="27" name="Text 24"/>
          <p:cNvSpPr txBox="1"/>
          <p:nvPr/>
        </p:nvSpPr>
        <p:spPr>
          <a:xfrm>
            <a:off x="6095848" y="2542032"/>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Home contractors</a:t>
            </a:r>
            <a:endParaRPr lang="en-US" sz="1400" dirty="0"/>
          </a:p>
        </p:txBody>
      </p:sp>
      <p:sp>
        <p:nvSpPr>
          <p:cNvPr id="28" name="Shape 25"/>
          <p:cNvSpPr/>
          <p:nvPr/>
        </p:nvSpPr>
        <p:spPr>
          <a:xfrm>
            <a:off x="6095848" y="3108960"/>
            <a:ext cx="2142668" cy="0"/>
          </a:xfrm>
          <a:prstGeom prst="line">
            <a:avLst/>
          </a:prstGeom>
          <a:noFill/>
          <a:ln w="9525">
            <a:solidFill>
              <a:srgbClr val="E2EAF1"/>
            </a:solidFill>
            <a:prstDash val="solid"/>
          </a:ln>
        </p:spPr>
      </p:sp>
      <p:sp>
        <p:nvSpPr>
          <p:cNvPr id="29" name="Text 26"/>
          <p:cNvSpPr txBox="1"/>
          <p:nvPr/>
        </p:nvSpPr>
        <p:spPr>
          <a:xfrm>
            <a:off x="6095848" y="3200400"/>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IT and MSP</a:t>
            </a:r>
            <a:endParaRPr lang="en-US" sz="1400" dirty="0"/>
          </a:p>
        </p:txBody>
      </p:sp>
      <p:sp>
        <p:nvSpPr>
          <p:cNvPr id="30" name="Shape 27"/>
          <p:cNvSpPr/>
          <p:nvPr/>
        </p:nvSpPr>
        <p:spPr>
          <a:xfrm>
            <a:off x="6095848" y="3767328"/>
            <a:ext cx="2142668" cy="0"/>
          </a:xfrm>
          <a:prstGeom prst="line">
            <a:avLst/>
          </a:prstGeom>
          <a:noFill/>
          <a:ln w="9525">
            <a:solidFill>
              <a:srgbClr val="E2EAF1"/>
            </a:solidFill>
            <a:prstDash val="solid"/>
          </a:ln>
        </p:spPr>
      </p:sp>
      <p:sp>
        <p:nvSpPr>
          <p:cNvPr id="31" name="Text 28"/>
          <p:cNvSpPr txBox="1"/>
          <p:nvPr/>
        </p:nvSpPr>
        <p:spPr>
          <a:xfrm>
            <a:off x="6095848" y="3858768"/>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Lawyers</a:t>
            </a:r>
            <a:endParaRPr lang="en-US" sz="1400" dirty="0"/>
          </a:p>
        </p:txBody>
      </p:sp>
      <p:sp>
        <p:nvSpPr>
          <p:cNvPr id="32" name="Shape 29"/>
          <p:cNvSpPr/>
          <p:nvPr/>
        </p:nvSpPr>
        <p:spPr>
          <a:xfrm>
            <a:off x="6095848" y="4425696"/>
            <a:ext cx="2142668" cy="0"/>
          </a:xfrm>
          <a:prstGeom prst="line">
            <a:avLst/>
          </a:prstGeom>
          <a:noFill/>
          <a:ln w="9525">
            <a:solidFill>
              <a:srgbClr val="E2EAF1"/>
            </a:solidFill>
            <a:prstDash val="solid"/>
          </a:ln>
        </p:spPr>
      </p:sp>
      <p:sp>
        <p:nvSpPr>
          <p:cNvPr id="33" name="Text 30"/>
          <p:cNvSpPr txBox="1"/>
          <p:nvPr/>
        </p:nvSpPr>
        <p:spPr>
          <a:xfrm>
            <a:off x="6095848" y="4517136"/>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Mechanics</a:t>
            </a:r>
            <a:endParaRPr lang="en-US" sz="1400" dirty="0"/>
          </a:p>
        </p:txBody>
      </p:sp>
      <p:sp>
        <p:nvSpPr>
          <p:cNvPr id="34" name="Shape 31"/>
          <p:cNvSpPr/>
          <p:nvPr/>
        </p:nvSpPr>
        <p:spPr>
          <a:xfrm>
            <a:off x="6095848" y="5084064"/>
            <a:ext cx="2142668" cy="0"/>
          </a:xfrm>
          <a:prstGeom prst="line">
            <a:avLst/>
          </a:prstGeom>
          <a:noFill/>
          <a:ln w="9525">
            <a:solidFill>
              <a:srgbClr val="E2EAF1"/>
            </a:solidFill>
            <a:prstDash val="solid"/>
          </a:ln>
        </p:spPr>
      </p:sp>
      <p:sp>
        <p:nvSpPr>
          <p:cNvPr id="35" name="Text 32"/>
          <p:cNvSpPr txBox="1"/>
          <p:nvPr/>
        </p:nvSpPr>
        <p:spPr>
          <a:xfrm>
            <a:off x="6095848" y="5175504"/>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Pressure washing</a:t>
            </a:r>
            <a:endParaRPr lang="en-US" sz="1400" dirty="0"/>
          </a:p>
        </p:txBody>
      </p:sp>
      <p:sp>
        <p:nvSpPr>
          <p:cNvPr id="36" name="Text 33"/>
          <p:cNvSpPr txBox="1"/>
          <p:nvPr/>
        </p:nvSpPr>
        <p:spPr>
          <a:xfrm>
            <a:off x="8787155" y="2542032"/>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Real estate</a:t>
            </a:r>
            <a:endParaRPr lang="en-US" sz="1400" dirty="0"/>
          </a:p>
        </p:txBody>
      </p:sp>
      <p:sp>
        <p:nvSpPr>
          <p:cNvPr id="37" name="Shape 34"/>
          <p:cNvSpPr/>
          <p:nvPr/>
        </p:nvSpPr>
        <p:spPr>
          <a:xfrm>
            <a:off x="8787155" y="3108960"/>
            <a:ext cx="2142668" cy="0"/>
          </a:xfrm>
          <a:prstGeom prst="line">
            <a:avLst/>
          </a:prstGeom>
          <a:noFill/>
          <a:ln w="9525">
            <a:solidFill>
              <a:srgbClr val="E2EAF1"/>
            </a:solidFill>
            <a:prstDash val="solid"/>
          </a:ln>
        </p:spPr>
      </p:sp>
      <p:sp>
        <p:nvSpPr>
          <p:cNvPr id="38" name="Text 35"/>
          <p:cNvSpPr txBox="1"/>
          <p:nvPr/>
        </p:nvSpPr>
        <p:spPr>
          <a:xfrm>
            <a:off x="8787155" y="3200400"/>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Restaurants</a:t>
            </a:r>
            <a:endParaRPr lang="en-US" sz="1400" dirty="0"/>
          </a:p>
        </p:txBody>
      </p:sp>
      <p:sp>
        <p:nvSpPr>
          <p:cNvPr id="39" name="Shape 36"/>
          <p:cNvSpPr/>
          <p:nvPr/>
        </p:nvSpPr>
        <p:spPr>
          <a:xfrm>
            <a:off x="8787155" y="3767328"/>
            <a:ext cx="2142668" cy="0"/>
          </a:xfrm>
          <a:prstGeom prst="line">
            <a:avLst/>
          </a:prstGeom>
          <a:noFill/>
          <a:ln w="9525">
            <a:solidFill>
              <a:srgbClr val="E2EAF1"/>
            </a:solidFill>
            <a:prstDash val="solid"/>
          </a:ln>
        </p:spPr>
      </p:sp>
      <p:sp>
        <p:nvSpPr>
          <p:cNvPr id="40" name="Text 37"/>
          <p:cNvSpPr txBox="1"/>
          <p:nvPr/>
        </p:nvSpPr>
        <p:spPr>
          <a:xfrm>
            <a:off x="8787155" y="3858768"/>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Retail</a:t>
            </a:r>
            <a:endParaRPr lang="en-US" sz="1400" dirty="0"/>
          </a:p>
        </p:txBody>
      </p:sp>
      <p:sp>
        <p:nvSpPr>
          <p:cNvPr id="41" name="Shape 38"/>
          <p:cNvSpPr/>
          <p:nvPr/>
        </p:nvSpPr>
        <p:spPr>
          <a:xfrm>
            <a:off x="8787155" y="4425696"/>
            <a:ext cx="2142668" cy="0"/>
          </a:xfrm>
          <a:prstGeom prst="line">
            <a:avLst/>
          </a:prstGeom>
          <a:noFill/>
          <a:ln w="9525">
            <a:solidFill>
              <a:srgbClr val="E2EAF1"/>
            </a:solidFill>
            <a:prstDash val="solid"/>
          </a:ln>
        </p:spPr>
      </p:sp>
      <p:sp>
        <p:nvSpPr>
          <p:cNvPr id="42" name="Text 39"/>
          <p:cNvSpPr txBox="1"/>
          <p:nvPr/>
        </p:nvSpPr>
        <p:spPr>
          <a:xfrm>
            <a:off x="8787155" y="4517136"/>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Roofing</a:t>
            </a:r>
            <a:endParaRPr lang="en-US" sz="1400" dirty="0"/>
          </a:p>
        </p:txBody>
      </p:sp>
      <p:sp>
        <p:nvSpPr>
          <p:cNvPr id="43" name="Shape 40"/>
          <p:cNvSpPr/>
          <p:nvPr/>
        </p:nvSpPr>
        <p:spPr>
          <a:xfrm>
            <a:off x="8787155" y="5084064"/>
            <a:ext cx="2142668" cy="0"/>
          </a:xfrm>
          <a:prstGeom prst="line">
            <a:avLst/>
          </a:prstGeom>
          <a:noFill/>
          <a:ln w="9525">
            <a:solidFill>
              <a:srgbClr val="E2EAF1"/>
            </a:solidFill>
            <a:prstDash val="solid"/>
          </a:ln>
        </p:spPr>
      </p:sp>
      <p:sp>
        <p:nvSpPr>
          <p:cNvPr id="44" name="Text 41"/>
          <p:cNvSpPr txBox="1"/>
          <p:nvPr/>
        </p:nvSpPr>
        <p:spPr>
          <a:xfrm>
            <a:off x="8787155" y="5175504"/>
            <a:ext cx="2142668" cy="566928"/>
          </a:xfrm>
          <a:prstGeom prst="rect">
            <a:avLst/>
          </a:prstGeom>
          <a:noFill/>
          <a:ln/>
        </p:spPr>
        <p:txBody>
          <a:bodyPr wrap="square" lIns="0" tIns="0" rIns="0" bIns="0" rtlCol="0" anchor="t"/>
          <a:lstStyle/>
          <a:p>
            <a:pPr marL="0" indent="0" algn="l">
              <a:lnSpc>
                <a:spcPct val="108000"/>
              </a:lnSpc>
              <a:buNone/>
            </a:pPr>
            <a:r>
              <a:rPr lang="en-US" sz="1400" b="1" dirty="0">
                <a:solidFill>
                  <a:srgbClr val="0F151B"/>
                </a:solidFill>
                <a:latin typeface="Arial" pitchFamily="34" charset="0"/>
                <a:ea typeface="Arial" pitchFamily="34" charset="-122"/>
                <a:cs typeface="Arial" pitchFamily="34" charset="-120"/>
              </a:rPr>
              <a:t>Tattoo studios</a:t>
            </a:r>
            <a:endParaRPr lang="en-US" sz="1400" dirty="0"/>
          </a:p>
        </p:txBody>
      </p:sp>
      <p:sp>
        <p:nvSpPr>
          <p:cNvPr id="45" name="Text 42"/>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Momentum also runs an ecommerce partnership with Dutchie for cannabis retailers.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280"/>
                                        <p:tgtEl>
                                          <p:spTgt spid="9"/>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280"/>
                                        <p:tgtEl>
                                          <p:spTgt spid="1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280"/>
                                        <p:tgtEl>
                                          <p:spTgt spid="2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280"/>
                                        <p:tgtEl>
                                          <p:spTgt spid="36"/>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280"/>
                                        <p:tgtEl>
                                          <p:spTgt spid="11"/>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280"/>
                                        <p:tgtEl>
                                          <p:spTgt spid="20"/>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280"/>
                                        <p:tgtEl>
                                          <p:spTgt spid="29"/>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38"/>
                                        </p:tgtEl>
                                        <p:attrNameLst>
                                          <p:attrName>style.visibility</p:attrName>
                                        </p:attrNameLst>
                                      </p:cBhvr>
                                      <p:to>
                                        <p:strVal val="visible"/>
                                      </p:to>
                                    </p:set>
                                    <p:animEffect transition="in" filter="fade">
                                      <p:cBhvr>
                                        <p:cTn id="34" dur="280"/>
                                        <p:tgtEl>
                                          <p:spTgt spid="38"/>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280"/>
                                        <p:tgtEl>
                                          <p:spTgt spid="13"/>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28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9" grpId="0" animBg="1"/>
      <p:bldP spid="11" grpId="0" animBg="1"/>
      <p:bldP spid="13" grpId="0" animBg="1"/>
      <p:bldP spid="18" grpId="0" animBg="1"/>
      <p:bldP spid="20" grpId="0" animBg="1"/>
      <p:bldP spid="22" grpId="0" animBg="1"/>
      <p:bldP spid="27" grpId="0" animBg="1"/>
      <p:bldP spid="29" grpId="0" animBg="1"/>
      <p:bldP spid="36" grpId="0" animBg="1"/>
      <p:bldP spid="3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825"/>
        </a:solidFill>
        <a:effectLst/>
      </p:bgPr>
    </p:bg>
    <p:spTree>
      <p:nvGrpSpPr>
        <p:cNvPr id="1" name=""/>
        <p:cNvGrpSpPr/>
        <p:nvPr/>
      </p:nvGrpSpPr>
      <p:grpSpPr>
        <a:xfrm>
          <a:off x="0" y="0"/>
          <a:ext cx="0" cy="0"/>
          <a:chOff x="0" y="0"/>
          <a:chExt cx="0" cy="0"/>
        </a:xfrm>
      </p:grpSpPr>
      <p:sp>
        <p:nvSpPr>
          <p:cNvPr id="2" name="Text 0"/>
          <p:cNvSpPr txBox="1"/>
          <p:nvPr/>
        </p:nvSpPr>
        <p:spPr>
          <a:xfrm>
            <a:off x="4480560" y="502920"/>
            <a:ext cx="8138160" cy="6949440"/>
          </a:xfrm>
          <a:prstGeom prst="rect">
            <a:avLst/>
          </a:prstGeom>
          <a:noFill/>
          <a:ln/>
        </p:spPr>
        <p:txBody>
          <a:bodyPr wrap="square" lIns="0" tIns="0" rIns="0" bIns="0" rtlCol="0" anchor="t"/>
          <a:lstStyle/>
          <a:p>
            <a:pPr marL="0" indent="0" algn="r">
              <a:lnSpc>
                <a:spcPct val="100000"/>
              </a:lnSpc>
              <a:buNone/>
            </a:pPr>
            <a:r>
              <a:rPr lang="en-US" sz="43000" b="1" dirty="0">
                <a:solidFill>
                  <a:srgbClr val="112B3F"/>
                </a:solidFill>
                <a:latin typeface="Arial" pitchFamily="34" charset="0"/>
                <a:ea typeface="Arial" pitchFamily="34" charset="-122"/>
                <a:cs typeface="Arial" pitchFamily="34" charset="-120"/>
              </a:rPr>
              <a:t>02</a:t>
            </a:r>
            <a:endParaRPr lang="en-US" sz="43000" dirty="0"/>
          </a:p>
        </p:txBody>
      </p:sp>
      <p:pic>
        <p:nvPicPr>
          <p:cNvPr id="3"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4" name="Text 1"/>
          <p:cNvSpPr txBox="1"/>
          <p:nvPr/>
        </p:nvSpPr>
        <p:spPr>
          <a:xfrm>
            <a:off x="713232" y="3063240"/>
            <a:ext cx="676656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SECTION TWO</a:t>
            </a:r>
            <a:endParaRPr lang="en-US" sz="1050" dirty="0"/>
          </a:p>
        </p:txBody>
      </p:sp>
      <p:sp>
        <p:nvSpPr>
          <p:cNvPr id="5" name="Text 2"/>
          <p:cNvSpPr txBox="1"/>
          <p:nvPr/>
        </p:nvSpPr>
        <p:spPr>
          <a:xfrm>
            <a:off x="713232" y="3392424"/>
            <a:ext cx="7498080" cy="633984"/>
          </a:xfrm>
          <a:prstGeom prst="rect">
            <a:avLst/>
          </a:prstGeom>
          <a:noFill/>
          <a:ln/>
        </p:spPr>
        <p:txBody>
          <a:bodyPr wrap="square" lIns="0" tIns="0" rIns="0" bIns="0" rtlCol="0" anchor="t"/>
          <a:lstStyle/>
          <a:p>
            <a:pPr marL="0" indent="0" algn="l">
              <a:lnSpc>
                <a:spcPct val="102000"/>
              </a:lnSpc>
              <a:buNone/>
            </a:pPr>
            <a:r>
              <a:rPr lang="en-US" sz="4400" b="1" dirty="0">
                <a:solidFill>
                  <a:srgbClr val="FFFFFF"/>
                </a:solidFill>
                <a:latin typeface="Arial" pitchFamily="34" charset="0"/>
                <a:ea typeface="Arial" pitchFamily="34" charset="-122"/>
                <a:cs typeface="Arial" pitchFamily="34" charset="-120"/>
              </a:rPr>
              <a:t>Proof</a:t>
            </a:r>
            <a:endParaRPr lang="en-US" sz="4400" dirty="0"/>
          </a:p>
        </p:txBody>
      </p:sp>
      <p:sp>
        <p:nvSpPr>
          <p:cNvPr id="6" name="Text 3"/>
          <p:cNvSpPr txBox="1"/>
          <p:nvPr/>
        </p:nvSpPr>
        <p:spPr>
          <a:xfrm>
            <a:off x="713232" y="4282440"/>
            <a:ext cx="6766560" cy="806958"/>
          </a:xfrm>
          <a:prstGeom prst="rect">
            <a:avLst/>
          </a:prstGeom>
          <a:noFill/>
          <a:ln/>
        </p:spPr>
        <p:txBody>
          <a:bodyPr wrap="square" lIns="0" tIns="0" rIns="0" bIns="0" rtlCol="0" anchor="t"/>
          <a:lstStyle/>
          <a:p>
            <a:pPr marL="0" indent="0" algn="l">
              <a:lnSpc>
                <a:spcPct val="130000"/>
              </a:lnSpc>
              <a:buNone/>
            </a:pPr>
            <a:r>
              <a:rPr lang="en-US" sz="1500" dirty="0">
                <a:solidFill>
                  <a:srgbClr val="9DB5C8"/>
                </a:solidFill>
                <a:latin typeface="Arial" pitchFamily="34" charset="0"/>
                <a:ea typeface="Arial" pitchFamily="34" charset="-122"/>
                <a:cs typeface="Arial" pitchFamily="34" charset="-120"/>
              </a:rPr>
              <a:t>Every figure on the next eight slides is published on needmomentum.com, and is repeated in the speaker notes with its source.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80"/>
                                        <p:tgtEl>
                                          <p:spTgt spid="2"/>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8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825"/>
        </a:solidFill>
        <a:effectLst/>
      </p:bgPr>
    </p:bg>
    <p:spTree>
      <p:nvGrpSpPr>
        <p:cNvPr id="1" name=""/>
        <p:cNvGrpSpPr/>
        <p:nvPr/>
      </p:nvGrpSpPr>
      <p:grpSpPr>
        <a:xfrm>
          <a:off x="0" y="0"/>
          <a:ext cx="0" cy="0"/>
          <a:chOff x="0" y="0"/>
          <a:chExt cx="0" cy="0"/>
        </a:xfrm>
      </p:grpSpPr>
      <p:pic>
        <p:nvPicPr>
          <p:cNvPr id="2" name="Image 0" descr="C:\Users\dillo\.claude\skills\client-deck\assets\momentum-digital\momentum-mark-white.png"/>
          <p:cNvPicPr>
            <a:picLocks noChangeAspect="1"/>
          </p:cNvPicPr>
          <p:nvPr/>
        </p:nvPicPr>
        <p:blipFill>
          <a:blip r:embed="rId3">
            <a:alphaModFix amt="9000"/>
          </a:blip>
          <a:stretch>
            <a:fillRect/>
          </a:stretch>
        </p:blipFill>
        <p:spPr>
          <a:xfrm>
            <a:off x="9509760" y="-1463040"/>
            <a:ext cx="3840480" cy="4555730"/>
          </a:xfrm>
          <a:prstGeom prst="rect">
            <a:avLst/>
          </a:prstGeom>
        </p:spPr>
      </p:pic>
      <p:pic>
        <p:nvPicPr>
          <p:cNvPr id="3" name="Image 1" descr="Momentum Digital logo"/>
          <p:cNvPicPr>
            <a:picLocks noChangeAspect="1"/>
          </p:cNvPicPr>
          <p:nvPr/>
        </p:nvPicPr>
        <p:blipFill>
          <a:blip r:embed="rId4"/>
          <a:stretch>
            <a:fillRect/>
          </a:stretch>
        </p:blipFill>
        <p:spPr>
          <a:xfrm>
            <a:off x="10106863" y="658368"/>
            <a:ext cx="1371600" cy="294904"/>
          </a:xfrm>
          <a:prstGeom prst="rect">
            <a:avLst/>
          </a:prstGeom>
        </p:spPr>
      </p:pic>
      <p:sp>
        <p:nvSpPr>
          <p:cNvPr id="4"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RESULTS</a:t>
            </a:r>
            <a:endParaRPr lang="en-US" sz="1050" dirty="0"/>
          </a:p>
        </p:txBody>
      </p:sp>
      <p:sp>
        <p:nvSpPr>
          <p:cNvPr id="5" name="Text 1"/>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FFFFFF"/>
                </a:solidFill>
                <a:latin typeface="Arial" pitchFamily="34" charset="0"/>
                <a:ea typeface="Arial" pitchFamily="34" charset="-122"/>
                <a:cs typeface="Arial" pitchFamily="34" charset="-120"/>
              </a:rPr>
              <a:t>A year of client outcomes, in eight numbers</a:t>
            </a:r>
            <a:endParaRPr lang="en-US" sz="3900" dirty="0"/>
          </a:p>
        </p:txBody>
      </p:sp>
      <p:sp>
        <p:nvSpPr>
          <p:cNvPr id="6"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1C3D56"/>
                </a:solidFill>
                <a:latin typeface="Arial" pitchFamily="34" charset="0"/>
                <a:ea typeface="Arial" pitchFamily="34" charset="-122"/>
                <a:cs typeface="Arial" pitchFamily="34" charset="-120"/>
              </a:rPr>
              <a:t>12</a:t>
            </a:r>
            <a:endParaRPr lang="en-US" sz="1050" dirty="0"/>
          </a:p>
        </p:txBody>
      </p:sp>
      <p:sp>
        <p:nvSpPr>
          <p:cNvPr id="7" name="Text 3"/>
          <p:cNvSpPr txBox="1"/>
          <p:nvPr/>
        </p:nvSpPr>
        <p:spPr>
          <a:xfrm>
            <a:off x="713232" y="278892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5AA7E0"/>
                </a:solidFill>
                <a:latin typeface="Arial" pitchFamily="34" charset="0"/>
                <a:ea typeface="Arial" pitchFamily="34" charset="-122"/>
                <a:cs typeface="Arial" pitchFamily="34" charset="-120"/>
              </a:rPr>
              <a:t>+314%</a:t>
            </a:r>
            <a:endParaRPr lang="en-US" sz="4000" dirty="0"/>
          </a:p>
        </p:txBody>
      </p:sp>
      <p:sp>
        <p:nvSpPr>
          <p:cNvPr id="8" name="Text 4"/>
          <p:cNvSpPr txBox="1"/>
          <p:nvPr/>
        </p:nvSpPr>
        <p:spPr>
          <a:xfrm>
            <a:off x="713232" y="338836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a:t>
            </a:r>
            <a:endParaRPr lang="en-US" sz="1200" dirty="0"/>
          </a:p>
        </p:txBody>
      </p:sp>
      <p:sp>
        <p:nvSpPr>
          <p:cNvPr id="9" name="Text 5"/>
          <p:cNvSpPr txBox="1"/>
          <p:nvPr/>
        </p:nvSpPr>
        <p:spPr>
          <a:xfrm>
            <a:off x="713232" y="38729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The Kind Insurance</a:t>
            </a:r>
            <a:endParaRPr lang="en-US" sz="1050" dirty="0"/>
          </a:p>
        </p:txBody>
      </p:sp>
      <p:sp>
        <p:nvSpPr>
          <p:cNvPr id="10" name="Shape 6"/>
          <p:cNvSpPr/>
          <p:nvPr/>
        </p:nvSpPr>
        <p:spPr>
          <a:xfrm>
            <a:off x="3166796" y="2788920"/>
            <a:ext cx="0" cy="1408684"/>
          </a:xfrm>
          <a:prstGeom prst="line">
            <a:avLst/>
          </a:prstGeom>
          <a:noFill/>
          <a:ln w="9525">
            <a:solidFill>
              <a:srgbClr val="1E4460"/>
            </a:solidFill>
            <a:prstDash val="solid"/>
          </a:ln>
        </p:spPr>
      </p:sp>
      <p:sp>
        <p:nvSpPr>
          <p:cNvPr id="11" name="Text 7"/>
          <p:cNvSpPr txBox="1"/>
          <p:nvPr/>
        </p:nvSpPr>
        <p:spPr>
          <a:xfrm>
            <a:off x="3404540" y="278892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5AA7E0"/>
                </a:solidFill>
                <a:latin typeface="Arial" pitchFamily="34" charset="0"/>
                <a:ea typeface="Arial" pitchFamily="34" charset="-122"/>
                <a:cs typeface="Arial" pitchFamily="34" charset="-120"/>
              </a:rPr>
              <a:t>+129%</a:t>
            </a:r>
            <a:endParaRPr lang="en-US" sz="4000" dirty="0"/>
          </a:p>
        </p:txBody>
      </p:sp>
      <p:sp>
        <p:nvSpPr>
          <p:cNvPr id="12" name="Text 8"/>
          <p:cNvSpPr txBox="1"/>
          <p:nvPr/>
        </p:nvSpPr>
        <p:spPr>
          <a:xfrm>
            <a:off x="3404540" y="338836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Organic clicks year on year</a:t>
            </a:r>
            <a:endParaRPr lang="en-US" sz="1200" dirty="0"/>
          </a:p>
        </p:txBody>
      </p:sp>
      <p:sp>
        <p:nvSpPr>
          <p:cNvPr id="13" name="Text 9"/>
          <p:cNvSpPr txBox="1"/>
          <p:nvPr/>
        </p:nvSpPr>
        <p:spPr>
          <a:xfrm>
            <a:off x="3404540" y="38729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Detroit Dispensing Solutions</a:t>
            </a:r>
            <a:endParaRPr lang="en-US" sz="1050" dirty="0"/>
          </a:p>
        </p:txBody>
      </p:sp>
      <p:sp>
        <p:nvSpPr>
          <p:cNvPr id="14" name="Shape 10"/>
          <p:cNvSpPr/>
          <p:nvPr/>
        </p:nvSpPr>
        <p:spPr>
          <a:xfrm>
            <a:off x="5858104" y="2788920"/>
            <a:ext cx="0" cy="1408684"/>
          </a:xfrm>
          <a:prstGeom prst="line">
            <a:avLst/>
          </a:prstGeom>
          <a:noFill/>
          <a:ln w="9525">
            <a:solidFill>
              <a:srgbClr val="1E4460"/>
            </a:solidFill>
            <a:prstDash val="solid"/>
          </a:ln>
        </p:spPr>
      </p:sp>
      <p:sp>
        <p:nvSpPr>
          <p:cNvPr id="15" name="Text 11"/>
          <p:cNvSpPr txBox="1"/>
          <p:nvPr/>
        </p:nvSpPr>
        <p:spPr>
          <a:xfrm>
            <a:off x="6095848" y="278892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5AA7E0"/>
                </a:solidFill>
                <a:latin typeface="Arial" pitchFamily="34" charset="0"/>
                <a:ea typeface="Arial" pitchFamily="34" charset="-122"/>
                <a:cs typeface="Arial" pitchFamily="34" charset="-120"/>
              </a:rPr>
              <a:t>+121%</a:t>
            </a:r>
            <a:endParaRPr lang="en-US" sz="4000" dirty="0"/>
          </a:p>
        </p:txBody>
      </p:sp>
      <p:sp>
        <p:nvSpPr>
          <p:cNvPr id="16" name="Text 12"/>
          <p:cNvSpPr txBox="1"/>
          <p:nvPr/>
        </p:nvSpPr>
        <p:spPr>
          <a:xfrm>
            <a:off x="6095848" y="338836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Search visibility</a:t>
            </a:r>
            <a:endParaRPr lang="en-US" sz="1200" dirty="0"/>
          </a:p>
        </p:txBody>
      </p:sp>
      <p:sp>
        <p:nvSpPr>
          <p:cNvPr id="17" name="Text 13"/>
          <p:cNvSpPr txBox="1"/>
          <p:nvPr/>
        </p:nvSpPr>
        <p:spPr>
          <a:xfrm>
            <a:off x="6095848" y="38729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UnderX ecommerce SEO</a:t>
            </a:r>
            <a:endParaRPr lang="en-US" sz="1050" dirty="0"/>
          </a:p>
        </p:txBody>
      </p:sp>
      <p:sp>
        <p:nvSpPr>
          <p:cNvPr id="18" name="Shape 14"/>
          <p:cNvSpPr/>
          <p:nvPr/>
        </p:nvSpPr>
        <p:spPr>
          <a:xfrm>
            <a:off x="8549411" y="2788920"/>
            <a:ext cx="0" cy="1408684"/>
          </a:xfrm>
          <a:prstGeom prst="line">
            <a:avLst/>
          </a:prstGeom>
          <a:noFill/>
          <a:ln w="9525">
            <a:solidFill>
              <a:srgbClr val="1E4460"/>
            </a:solidFill>
            <a:prstDash val="solid"/>
          </a:ln>
        </p:spPr>
      </p:sp>
      <p:sp>
        <p:nvSpPr>
          <p:cNvPr id="19" name="Text 15"/>
          <p:cNvSpPr txBox="1"/>
          <p:nvPr/>
        </p:nvSpPr>
        <p:spPr>
          <a:xfrm>
            <a:off x="8787155" y="278892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5AA7E0"/>
                </a:solidFill>
                <a:latin typeface="Arial" pitchFamily="34" charset="0"/>
                <a:ea typeface="Arial" pitchFamily="34" charset="-122"/>
                <a:cs typeface="Arial" pitchFamily="34" charset="-120"/>
              </a:rPr>
              <a:t>+933%</a:t>
            </a:r>
            <a:endParaRPr lang="en-US" sz="4000" dirty="0"/>
          </a:p>
        </p:txBody>
      </p:sp>
      <p:sp>
        <p:nvSpPr>
          <p:cNvPr id="20" name="Text 16"/>
          <p:cNvSpPr txBox="1"/>
          <p:nvPr/>
        </p:nvSpPr>
        <p:spPr>
          <a:xfrm>
            <a:off x="8787155" y="338836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Organic sessions</a:t>
            </a:r>
            <a:endParaRPr lang="en-US" sz="1200" dirty="0"/>
          </a:p>
        </p:txBody>
      </p:sp>
      <p:sp>
        <p:nvSpPr>
          <p:cNvPr id="21" name="Text 17"/>
          <p:cNvSpPr txBox="1"/>
          <p:nvPr/>
        </p:nvSpPr>
        <p:spPr>
          <a:xfrm>
            <a:off x="8787155" y="38729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Drip IV, Q1 2025</a:t>
            </a:r>
            <a:endParaRPr lang="en-US" sz="1050" dirty="0"/>
          </a:p>
        </p:txBody>
      </p:sp>
      <p:sp>
        <p:nvSpPr>
          <p:cNvPr id="22" name="Shape 18"/>
          <p:cNvSpPr/>
          <p:nvPr/>
        </p:nvSpPr>
        <p:spPr>
          <a:xfrm>
            <a:off x="713232" y="4553712"/>
            <a:ext cx="10765231" cy="0"/>
          </a:xfrm>
          <a:prstGeom prst="line">
            <a:avLst/>
          </a:prstGeom>
          <a:noFill/>
          <a:ln w="9525">
            <a:solidFill>
              <a:srgbClr val="1E4460"/>
            </a:solidFill>
            <a:prstDash val="solid"/>
          </a:ln>
        </p:spPr>
      </p:sp>
      <p:sp>
        <p:nvSpPr>
          <p:cNvPr id="23" name="Text 19"/>
          <p:cNvSpPr txBox="1"/>
          <p:nvPr/>
        </p:nvSpPr>
        <p:spPr>
          <a:xfrm>
            <a:off x="713232" y="475488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23A455"/>
                </a:solidFill>
                <a:latin typeface="Arial" pitchFamily="34" charset="0"/>
                <a:ea typeface="Arial" pitchFamily="34" charset="-122"/>
                <a:cs typeface="Arial" pitchFamily="34" charset="-120"/>
              </a:rPr>
              <a:t>+816%</a:t>
            </a:r>
            <a:endParaRPr lang="en-US" sz="4000" dirty="0"/>
          </a:p>
        </p:txBody>
      </p:sp>
      <p:sp>
        <p:nvSpPr>
          <p:cNvPr id="24" name="Text 20"/>
          <p:cNvSpPr txBox="1"/>
          <p:nvPr/>
        </p:nvSpPr>
        <p:spPr>
          <a:xfrm>
            <a:off x="713232" y="535432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Conversions after redesign</a:t>
            </a:r>
            <a:endParaRPr lang="en-US" sz="1200" dirty="0"/>
          </a:p>
        </p:txBody>
      </p:sp>
      <p:sp>
        <p:nvSpPr>
          <p:cNvPr id="25" name="Text 21"/>
          <p:cNvSpPr txBox="1"/>
          <p:nvPr/>
        </p:nvSpPr>
        <p:spPr>
          <a:xfrm>
            <a:off x="713232" y="583895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Nenner Law</a:t>
            </a:r>
            <a:endParaRPr lang="en-US" sz="1050" dirty="0"/>
          </a:p>
        </p:txBody>
      </p:sp>
      <p:sp>
        <p:nvSpPr>
          <p:cNvPr id="26" name="Shape 22"/>
          <p:cNvSpPr/>
          <p:nvPr/>
        </p:nvSpPr>
        <p:spPr>
          <a:xfrm>
            <a:off x="3166796" y="4754880"/>
            <a:ext cx="0" cy="1408684"/>
          </a:xfrm>
          <a:prstGeom prst="line">
            <a:avLst/>
          </a:prstGeom>
          <a:noFill/>
          <a:ln w="9525">
            <a:solidFill>
              <a:srgbClr val="1E4460"/>
            </a:solidFill>
            <a:prstDash val="solid"/>
          </a:ln>
        </p:spPr>
      </p:sp>
      <p:sp>
        <p:nvSpPr>
          <p:cNvPr id="27" name="Text 23"/>
          <p:cNvSpPr txBox="1"/>
          <p:nvPr/>
        </p:nvSpPr>
        <p:spPr>
          <a:xfrm>
            <a:off x="3404540" y="475488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23A455"/>
                </a:solidFill>
                <a:latin typeface="Arial" pitchFamily="34" charset="0"/>
                <a:ea typeface="Arial" pitchFamily="34" charset="-122"/>
                <a:cs typeface="Arial" pitchFamily="34" charset="-120"/>
              </a:rPr>
              <a:t>3.3x</a:t>
            </a:r>
            <a:endParaRPr lang="en-US" sz="4000" dirty="0"/>
          </a:p>
        </p:txBody>
      </p:sp>
      <p:sp>
        <p:nvSpPr>
          <p:cNvPr id="28" name="Text 24"/>
          <p:cNvSpPr txBox="1"/>
          <p:nvPr/>
        </p:nvSpPr>
        <p:spPr>
          <a:xfrm>
            <a:off x="3404540" y="535432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Return on ad spend</a:t>
            </a:r>
            <a:endParaRPr lang="en-US" sz="1200" dirty="0"/>
          </a:p>
        </p:txBody>
      </p:sp>
      <p:sp>
        <p:nvSpPr>
          <p:cNvPr id="29" name="Text 25"/>
          <p:cNvSpPr txBox="1"/>
          <p:nvPr/>
        </p:nvSpPr>
        <p:spPr>
          <a:xfrm>
            <a:off x="3404540" y="583895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Drip IV, Google Ads</a:t>
            </a:r>
            <a:endParaRPr lang="en-US" sz="1050" dirty="0"/>
          </a:p>
        </p:txBody>
      </p:sp>
      <p:sp>
        <p:nvSpPr>
          <p:cNvPr id="30" name="Shape 26"/>
          <p:cNvSpPr/>
          <p:nvPr/>
        </p:nvSpPr>
        <p:spPr>
          <a:xfrm>
            <a:off x="5858104" y="4754880"/>
            <a:ext cx="0" cy="1408684"/>
          </a:xfrm>
          <a:prstGeom prst="line">
            <a:avLst/>
          </a:prstGeom>
          <a:noFill/>
          <a:ln w="9525">
            <a:solidFill>
              <a:srgbClr val="1E4460"/>
            </a:solidFill>
            <a:prstDash val="solid"/>
          </a:ln>
        </p:spPr>
      </p:sp>
      <p:sp>
        <p:nvSpPr>
          <p:cNvPr id="31" name="Text 27"/>
          <p:cNvSpPr txBox="1"/>
          <p:nvPr/>
        </p:nvSpPr>
        <p:spPr>
          <a:xfrm>
            <a:off x="6095848" y="475488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23A455"/>
                </a:solidFill>
                <a:latin typeface="Arial" pitchFamily="34" charset="0"/>
                <a:ea typeface="Arial" pitchFamily="34" charset="-122"/>
                <a:cs typeface="Arial" pitchFamily="34" charset="-120"/>
              </a:rPr>
              <a:t>1,130</a:t>
            </a:r>
            <a:endParaRPr lang="en-US" sz="4000" dirty="0"/>
          </a:p>
        </p:txBody>
      </p:sp>
      <p:sp>
        <p:nvSpPr>
          <p:cNvPr id="32" name="Text 28"/>
          <p:cNvSpPr txBox="1"/>
          <p:nvPr/>
        </p:nvSpPr>
        <p:spPr>
          <a:xfrm>
            <a:off x="6095848" y="535432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Form conversions</a:t>
            </a:r>
            <a:endParaRPr lang="en-US" sz="1200" dirty="0"/>
          </a:p>
        </p:txBody>
      </p:sp>
      <p:sp>
        <p:nvSpPr>
          <p:cNvPr id="33" name="Text 29"/>
          <p:cNvSpPr txBox="1"/>
          <p:nvPr/>
        </p:nvSpPr>
        <p:spPr>
          <a:xfrm>
            <a:off x="6095848" y="583895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Bedford Housing, $38.88 CPL</a:t>
            </a:r>
            <a:endParaRPr lang="en-US" sz="1050" dirty="0"/>
          </a:p>
        </p:txBody>
      </p:sp>
      <p:sp>
        <p:nvSpPr>
          <p:cNvPr id="34" name="Shape 30"/>
          <p:cNvSpPr/>
          <p:nvPr/>
        </p:nvSpPr>
        <p:spPr>
          <a:xfrm>
            <a:off x="8549411" y="4754880"/>
            <a:ext cx="0" cy="1408684"/>
          </a:xfrm>
          <a:prstGeom prst="line">
            <a:avLst/>
          </a:prstGeom>
          <a:noFill/>
          <a:ln w="9525">
            <a:solidFill>
              <a:srgbClr val="1E4460"/>
            </a:solidFill>
            <a:prstDash val="solid"/>
          </a:ln>
        </p:spPr>
      </p:sp>
      <p:sp>
        <p:nvSpPr>
          <p:cNvPr id="35" name="Text 31"/>
          <p:cNvSpPr txBox="1"/>
          <p:nvPr/>
        </p:nvSpPr>
        <p:spPr>
          <a:xfrm>
            <a:off x="8787155" y="4754880"/>
            <a:ext cx="2179244" cy="544576"/>
          </a:xfrm>
          <a:prstGeom prst="rect">
            <a:avLst/>
          </a:prstGeom>
          <a:noFill/>
          <a:ln/>
        </p:spPr>
        <p:txBody>
          <a:bodyPr wrap="square" lIns="0" tIns="0" rIns="0" bIns="0" rtlCol="0" anchor="t"/>
          <a:lstStyle/>
          <a:p>
            <a:pPr marL="0" indent="0" algn="l">
              <a:lnSpc>
                <a:spcPct val="100000"/>
              </a:lnSpc>
              <a:buNone/>
            </a:pPr>
            <a:r>
              <a:rPr lang="en-US" sz="4000" b="1" dirty="0">
                <a:solidFill>
                  <a:srgbClr val="23A455"/>
                </a:solidFill>
                <a:latin typeface="Arial" pitchFamily="34" charset="0"/>
                <a:ea typeface="Arial" pitchFamily="34" charset="-122"/>
                <a:cs typeface="Arial" pitchFamily="34" charset="-120"/>
              </a:rPr>
              <a:t>6.09M</a:t>
            </a:r>
            <a:endParaRPr lang="en-US" sz="4000" dirty="0"/>
          </a:p>
        </p:txBody>
      </p:sp>
      <p:sp>
        <p:nvSpPr>
          <p:cNvPr id="36" name="Text 32"/>
          <p:cNvSpPr txBox="1"/>
          <p:nvPr/>
        </p:nvSpPr>
        <p:spPr>
          <a:xfrm>
            <a:off x="8787155" y="535432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FFFFFF"/>
                </a:solidFill>
                <a:latin typeface="Arial" pitchFamily="34" charset="0"/>
                <a:ea typeface="Arial" pitchFamily="34" charset="-122"/>
                <a:cs typeface="Arial" pitchFamily="34" charset="-120"/>
              </a:rPr>
              <a:t>Pinterest impressions</a:t>
            </a:r>
            <a:endParaRPr lang="en-US" sz="1200" dirty="0"/>
          </a:p>
        </p:txBody>
      </p:sp>
      <p:sp>
        <p:nvSpPr>
          <p:cNvPr id="37" name="Text 33"/>
          <p:cNvSpPr txBox="1"/>
          <p:nvPr/>
        </p:nvSpPr>
        <p:spPr>
          <a:xfrm>
            <a:off x="8787155" y="583895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Grand Entry Doors, 2025</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80"/>
                                        <p:tgtEl>
                                          <p:spTgt spid="2"/>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280"/>
                                        <p:tgtEl>
                                          <p:spTgt spid="11"/>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280"/>
                                        <p:tgtEl>
                                          <p:spTgt spid="15"/>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280"/>
                                        <p:tgtEl>
                                          <p:spTgt spid="19"/>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80"/>
                                        <p:tgtEl>
                                          <p:spTgt spid="8"/>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280"/>
                                        <p:tgtEl>
                                          <p:spTgt spid="12"/>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280"/>
                                        <p:tgtEl>
                                          <p:spTgt spid="16"/>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280"/>
                                        <p:tgtEl>
                                          <p:spTgt spid="20"/>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28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5" grpId="0" animBg="1"/>
      <p:bldP spid="16" grpId="0" animBg="1"/>
      <p:bldP spid="19" grpId="0" animBg="1"/>
      <p:bldP spid="2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2889504"/>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732520" y="-1188720"/>
            <a:ext cx="4389120" cy="5206548"/>
          </a:xfrm>
          <a:prstGeom prst="rect">
            <a:avLst/>
          </a:prstGeom>
        </p:spPr>
      </p:pic>
      <p:pic>
        <p:nvPicPr>
          <p:cNvPr id="4" name="Image 1" descr="Momentum Digital logo"/>
          <p:cNvPicPr>
            <a:picLocks noChangeAspect="1"/>
          </p:cNvPicPr>
          <p:nvPr/>
        </p:nvPicPr>
        <p:blipFill>
          <a:blip r:embed="rId4"/>
          <a:stretch>
            <a:fillRect/>
          </a:stretch>
        </p:blipFill>
        <p:spPr>
          <a:xfrm>
            <a:off x="10106863" y="502920"/>
            <a:ext cx="1371600" cy="294904"/>
          </a:xfrm>
          <a:prstGeom prst="rect">
            <a:avLst/>
          </a:prstGeom>
        </p:spPr>
      </p:pic>
      <p:sp>
        <p:nvSpPr>
          <p:cNvPr id="5" name="Text 1"/>
          <p:cNvSpPr txBox="1"/>
          <p:nvPr/>
        </p:nvSpPr>
        <p:spPr>
          <a:xfrm>
            <a:off x="713232" y="548640"/>
            <a:ext cx="54864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Text 2"/>
          <p:cNvSpPr txBox="1"/>
          <p:nvPr/>
        </p:nvSpPr>
        <p:spPr>
          <a:xfrm>
            <a:off x="713232" y="877824"/>
            <a:ext cx="5943600" cy="504444"/>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UnderX</a:t>
            </a:r>
            <a:endParaRPr lang="en-US" sz="3400" dirty="0"/>
          </a:p>
        </p:txBody>
      </p:sp>
      <p:sp>
        <p:nvSpPr>
          <p:cNvPr id="7" name="Text 3"/>
          <p:cNvSpPr txBox="1"/>
          <p:nvPr/>
        </p:nvSpPr>
        <p:spPr>
          <a:xfrm>
            <a:off x="713232" y="1510284"/>
            <a:ext cx="5760720" cy="664083"/>
          </a:xfrm>
          <a:prstGeom prst="rect">
            <a:avLst/>
          </a:prstGeom>
          <a:noFill/>
          <a:ln/>
        </p:spPr>
        <p:txBody>
          <a:bodyPr wrap="square" lIns="0" tIns="0" rIns="0" bIns="0" rtlCol="0" anchor="t"/>
          <a:lstStyle/>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Ecommerce apparel · twelve months</a:t>
            </a:r>
            <a:endParaRPr lang="en-US" sz="1250" dirty="0"/>
          </a:p>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Keyword clustering, topical mapping, SEO landing pages, schema, GA4 reporting</a:t>
            </a:r>
            <a:endParaRPr lang="en-US" sz="1250" dirty="0"/>
          </a:p>
        </p:txBody>
      </p:sp>
      <p:sp>
        <p:nvSpPr>
          <p:cNvPr id="8" name="Text 4"/>
          <p:cNvSpPr txBox="1"/>
          <p:nvPr/>
        </p:nvSpPr>
        <p:spPr>
          <a:xfrm>
            <a:off x="6583680" y="1060704"/>
            <a:ext cx="4892040" cy="1133856"/>
          </a:xfrm>
          <a:prstGeom prst="rect">
            <a:avLst/>
          </a:prstGeom>
          <a:noFill/>
          <a:ln/>
        </p:spPr>
        <p:txBody>
          <a:bodyPr wrap="square" lIns="0" tIns="0" rIns="0" bIns="0" rtlCol="0" anchor="t"/>
          <a:lstStyle/>
          <a:p>
            <a:pPr marL="0" indent="0" algn="r">
              <a:lnSpc>
                <a:spcPct val="95000"/>
              </a:lnSpc>
              <a:buNone/>
            </a:pPr>
            <a:r>
              <a:rPr lang="en-US" sz="9200" b="1" dirty="0">
                <a:solidFill>
                  <a:srgbClr val="5AA7E0"/>
                </a:solidFill>
                <a:latin typeface="Arial" pitchFamily="34" charset="0"/>
                <a:ea typeface="Arial" pitchFamily="34" charset="-122"/>
                <a:cs typeface="Arial" pitchFamily="34" charset="-120"/>
              </a:rPr>
              <a:t>+121%</a:t>
            </a:r>
            <a:endParaRPr lang="en-US" sz="9200" dirty="0"/>
          </a:p>
        </p:txBody>
      </p:sp>
      <p:sp>
        <p:nvSpPr>
          <p:cNvPr id="9" name="Text 5"/>
          <p:cNvSpPr txBox="1"/>
          <p:nvPr/>
        </p:nvSpPr>
        <p:spPr>
          <a:xfrm>
            <a:off x="6583680" y="2231136"/>
            <a:ext cx="4892040" cy="246888"/>
          </a:xfrm>
          <a:prstGeom prst="rect">
            <a:avLst/>
          </a:prstGeom>
          <a:noFill/>
          <a:ln/>
        </p:spPr>
        <p:txBody>
          <a:bodyPr wrap="square" lIns="0" tIns="0" rIns="0" bIns="0" rtlCol="0" anchor="t"/>
          <a:lstStyle/>
          <a:p>
            <a:pPr marL="0" indent="0" algn="r">
              <a:lnSpc>
                <a:spcPct val="120000"/>
              </a:lnSpc>
              <a:buNone/>
            </a:pPr>
            <a:r>
              <a:rPr lang="en-US" sz="1200" b="1" dirty="0">
                <a:solidFill>
                  <a:srgbClr val="FFFFFF"/>
                </a:solidFill>
                <a:latin typeface="Arial" pitchFamily="34" charset="0"/>
                <a:ea typeface="Arial" pitchFamily="34" charset="-122"/>
                <a:cs typeface="Arial" pitchFamily="34" charset="-120"/>
              </a:rPr>
              <a:t>Search visibility, 512K to 1.12M SERP impressions</a:t>
            </a:r>
            <a:endParaRPr lang="en-US" sz="1200" dirty="0"/>
          </a:p>
        </p:txBody>
      </p:sp>
      <p:sp>
        <p:nvSpPr>
          <p:cNvPr id="10" name="Text 6"/>
          <p:cNvSpPr txBox="1"/>
          <p:nvPr/>
        </p:nvSpPr>
        <p:spPr>
          <a:xfrm>
            <a:off x="713232"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+79%</a:t>
            </a:r>
            <a:endParaRPr lang="en-US" sz="3100" dirty="0"/>
          </a:p>
        </p:txBody>
      </p:sp>
      <p:sp>
        <p:nvSpPr>
          <p:cNvPr id="11" name="Text 7"/>
          <p:cNvSpPr txBox="1"/>
          <p:nvPr/>
        </p:nvSpPr>
        <p:spPr>
          <a:xfrm>
            <a:off x="713232"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Monthly clicks</a:t>
            </a:r>
            <a:endParaRPr lang="en-US" sz="1200" dirty="0"/>
          </a:p>
        </p:txBody>
      </p:sp>
      <p:sp>
        <p:nvSpPr>
          <p:cNvPr id="12" name="Text 8"/>
          <p:cNvSpPr txBox="1"/>
          <p:nvPr/>
        </p:nvSpPr>
        <p:spPr>
          <a:xfrm>
            <a:off x="713232" y="39872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4.24K to 7.6K</a:t>
            </a:r>
            <a:endParaRPr lang="en-US" sz="1050" dirty="0"/>
          </a:p>
        </p:txBody>
      </p:sp>
      <p:sp>
        <p:nvSpPr>
          <p:cNvPr id="13" name="Shape 9"/>
          <p:cNvSpPr/>
          <p:nvPr/>
        </p:nvSpPr>
        <p:spPr>
          <a:xfrm>
            <a:off x="3166796" y="3200400"/>
            <a:ext cx="0" cy="1111504"/>
          </a:xfrm>
          <a:prstGeom prst="line">
            <a:avLst/>
          </a:prstGeom>
          <a:noFill/>
          <a:ln w="9525">
            <a:solidFill>
              <a:srgbClr val="E2EAF1"/>
            </a:solidFill>
            <a:prstDash val="solid"/>
          </a:ln>
        </p:spPr>
      </p:sp>
      <p:sp>
        <p:nvSpPr>
          <p:cNvPr id="14" name="Text 10"/>
          <p:cNvSpPr txBox="1"/>
          <p:nvPr/>
        </p:nvSpPr>
        <p:spPr>
          <a:xfrm>
            <a:off x="3404540"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+28%</a:t>
            </a:r>
            <a:endParaRPr lang="en-US" sz="3100" dirty="0"/>
          </a:p>
        </p:txBody>
      </p:sp>
      <p:sp>
        <p:nvSpPr>
          <p:cNvPr id="15" name="Text 11"/>
          <p:cNvSpPr txBox="1"/>
          <p:nvPr/>
        </p:nvSpPr>
        <p:spPr>
          <a:xfrm>
            <a:off x="3404540"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Total sales revenue</a:t>
            </a:r>
            <a:endParaRPr lang="en-US" sz="1200" dirty="0"/>
          </a:p>
        </p:txBody>
      </p:sp>
      <p:sp>
        <p:nvSpPr>
          <p:cNvPr id="16" name="Shape 12"/>
          <p:cNvSpPr/>
          <p:nvPr/>
        </p:nvSpPr>
        <p:spPr>
          <a:xfrm>
            <a:off x="5858104" y="3200400"/>
            <a:ext cx="0" cy="1111504"/>
          </a:xfrm>
          <a:prstGeom prst="line">
            <a:avLst/>
          </a:prstGeom>
          <a:noFill/>
          <a:ln w="9525">
            <a:solidFill>
              <a:srgbClr val="E2EAF1"/>
            </a:solidFill>
            <a:prstDash val="solid"/>
          </a:ln>
        </p:spPr>
      </p:sp>
      <p:sp>
        <p:nvSpPr>
          <p:cNvPr id="17" name="Text 13"/>
          <p:cNvSpPr txBox="1"/>
          <p:nvPr/>
        </p:nvSpPr>
        <p:spPr>
          <a:xfrm>
            <a:off x="6095848"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+11%</a:t>
            </a:r>
            <a:endParaRPr lang="en-US" sz="3100" dirty="0"/>
          </a:p>
        </p:txBody>
      </p:sp>
      <p:sp>
        <p:nvSpPr>
          <p:cNvPr id="18" name="Text 14"/>
          <p:cNvSpPr txBox="1"/>
          <p:nvPr/>
        </p:nvSpPr>
        <p:spPr>
          <a:xfrm>
            <a:off x="6095848"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Conversion rate</a:t>
            </a:r>
            <a:endParaRPr lang="en-US" sz="1200" dirty="0"/>
          </a:p>
        </p:txBody>
      </p:sp>
      <p:sp>
        <p:nvSpPr>
          <p:cNvPr id="19" name="Shape 15"/>
          <p:cNvSpPr/>
          <p:nvPr/>
        </p:nvSpPr>
        <p:spPr>
          <a:xfrm>
            <a:off x="8549411" y="3200400"/>
            <a:ext cx="0" cy="1111504"/>
          </a:xfrm>
          <a:prstGeom prst="line">
            <a:avLst/>
          </a:prstGeom>
          <a:noFill/>
          <a:ln w="9525">
            <a:solidFill>
              <a:srgbClr val="E2EAF1"/>
            </a:solidFill>
            <a:prstDash val="solid"/>
          </a:ln>
        </p:spPr>
      </p:sp>
      <p:sp>
        <p:nvSpPr>
          <p:cNvPr id="20" name="Text 16"/>
          <p:cNvSpPr txBox="1"/>
          <p:nvPr/>
        </p:nvSpPr>
        <p:spPr>
          <a:xfrm>
            <a:off x="8787155"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+11.2%</a:t>
            </a:r>
            <a:endParaRPr lang="en-US" sz="3100" dirty="0"/>
          </a:p>
        </p:txBody>
      </p:sp>
      <p:sp>
        <p:nvSpPr>
          <p:cNvPr id="21" name="Text 17"/>
          <p:cNvSpPr txBox="1"/>
          <p:nvPr/>
        </p:nvSpPr>
        <p:spPr>
          <a:xfrm>
            <a:off x="8787155"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Purchase revenue</a:t>
            </a:r>
            <a:endParaRPr lang="en-US" sz="1200" dirty="0"/>
          </a:p>
        </p:txBody>
      </p:sp>
      <p:sp>
        <p:nvSpPr>
          <p:cNvPr id="22" name="Shape 18"/>
          <p:cNvSpPr/>
          <p:nvPr/>
        </p:nvSpPr>
        <p:spPr>
          <a:xfrm>
            <a:off x="713232" y="4257040"/>
            <a:ext cx="10765231" cy="0"/>
          </a:xfrm>
          <a:prstGeom prst="line">
            <a:avLst/>
          </a:prstGeom>
          <a:noFill/>
          <a:ln w="9525">
            <a:solidFill>
              <a:srgbClr val="E2EAF1"/>
            </a:solidFill>
            <a:prstDash val="solid"/>
          </a:ln>
        </p:spPr>
      </p:sp>
      <p:sp>
        <p:nvSpPr>
          <p:cNvPr id="23" name="Text 19"/>
          <p:cNvSpPr txBox="1"/>
          <p:nvPr/>
        </p:nvSpPr>
        <p:spPr>
          <a:xfrm>
            <a:off x="713232" y="443992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BEFORE</a:t>
            </a:r>
            <a:endParaRPr lang="en-US" sz="1050" dirty="0"/>
          </a:p>
        </p:txBody>
      </p:sp>
      <p:sp>
        <p:nvSpPr>
          <p:cNvPr id="24" name="Text 20"/>
          <p:cNvSpPr txBox="1"/>
          <p:nvPr/>
        </p:nvSpPr>
        <p:spPr>
          <a:xfrm>
            <a:off x="713232" y="476910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Traffic that did not translate</a:t>
            </a:r>
            <a:endParaRPr lang="en-US" sz="1700" dirty="0"/>
          </a:p>
        </p:txBody>
      </p:sp>
      <p:sp>
        <p:nvSpPr>
          <p:cNvPr id="25" name="Text 21"/>
          <p:cNvSpPr txBox="1"/>
          <p:nvPr/>
        </p:nvSpPr>
        <p:spPr>
          <a:xfrm>
            <a:off x="71323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Visibility flat across product categories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Thin metadata and weak topical coverage</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measurement of SEO against revenue</a:t>
            </a:r>
            <a:endParaRPr lang="en-US" sz="1150" dirty="0"/>
          </a:p>
        </p:txBody>
      </p:sp>
      <p:sp>
        <p:nvSpPr>
          <p:cNvPr id="26" name="Text 22"/>
          <p:cNvSpPr txBox="1"/>
          <p:nvPr/>
        </p:nvSpPr>
        <p:spPr>
          <a:xfrm>
            <a:off x="6379312" y="443992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WHAT CHANGED</a:t>
            </a:r>
            <a:endParaRPr lang="en-US" sz="1050" dirty="0"/>
          </a:p>
        </p:txBody>
      </p:sp>
      <p:sp>
        <p:nvSpPr>
          <p:cNvPr id="27" name="Text 23"/>
          <p:cNvSpPr txBox="1"/>
          <p:nvPr/>
        </p:nvSpPr>
        <p:spPr>
          <a:xfrm>
            <a:off x="6379312" y="476910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Search built around what people buy</a:t>
            </a:r>
            <a:endParaRPr lang="en-US" sz="1700" dirty="0"/>
          </a:p>
        </p:txBody>
      </p:sp>
      <p:sp>
        <p:nvSpPr>
          <p:cNvPr id="28" name="Text 24"/>
          <p:cNvSpPr txBox="1"/>
          <p:nvPr/>
        </p:nvSpPr>
        <p:spPr>
          <a:xfrm>
            <a:off x="637931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Keyword clustering and topical mapping by category</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SEO aligned landing pages and rewritten meta content</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Internal linking and schema for crawlability</a:t>
            </a:r>
            <a:endParaRPr lang="en-US" sz="1150" dirty="0"/>
          </a:p>
        </p:txBody>
      </p:sp>
      <p:sp>
        <p:nvSpPr>
          <p:cNvPr id="29" name="Text 25"/>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13</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280"/>
                                        <p:tgtEl>
                                          <p:spTgt spid="1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280"/>
                                        <p:tgtEl>
                                          <p:spTgt spid="17"/>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280"/>
                                        <p:tgtEl>
                                          <p:spTgt spid="20"/>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280"/>
                                        <p:tgtEl>
                                          <p:spTgt spid="1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4" grpId="0" animBg="1"/>
      <p:bldP spid="15" grpId="0" animBg="1"/>
      <p:bldP spid="17" grpId="0" animBg="1"/>
      <p:bldP spid="2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2889504"/>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732520" y="-1188720"/>
            <a:ext cx="4389120" cy="5206548"/>
          </a:xfrm>
          <a:prstGeom prst="rect">
            <a:avLst/>
          </a:prstGeom>
        </p:spPr>
      </p:pic>
      <p:pic>
        <p:nvPicPr>
          <p:cNvPr id="4" name="Image 1" descr="Momentum Digital logo"/>
          <p:cNvPicPr>
            <a:picLocks noChangeAspect="1"/>
          </p:cNvPicPr>
          <p:nvPr/>
        </p:nvPicPr>
        <p:blipFill>
          <a:blip r:embed="rId4"/>
          <a:stretch>
            <a:fillRect/>
          </a:stretch>
        </p:blipFill>
        <p:spPr>
          <a:xfrm>
            <a:off x="10106863" y="502920"/>
            <a:ext cx="1371600" cy="294904"/>
          </a:xfrm>
          <a:prstGeom prst="rect">
            <a:avLst/>
          </a:prstGeom>
        </p:spPr>
      </p:pic>
      <p:sp>
        <p:nvSpPr>
          <p:cNvPr id="5" name="Text 1"/>
          <p:cNvSpPr txBox="1"/>
          <p:nvPr/>
        </p:nvSpPr>
        <p:spPr>
          <a:xfrm>
            <a:off x="713232" y="548640"/>
            <a:ext cx="54864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Text 2"/>
          <p:cNvSpPr txBox="1"/>
          <p:nvPr/>
        </p:nvSpPr>
        <p:spPr>
          <a:xfrm>
            <a:off x="713232" y="877824"/>
            <a:ext cx="5943600" cy="94488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Detroit Dispensing</a:t>
            </a:r>
            <a:endParaRPr lang="en-US" sz="3400" dirty="0"/>
          </a:p>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Solutions</a:t>
            </a:r>
            <a:endParaRPr lang="en-US" sz="3400" dirty="0"/>
          </a:p>
        </p:txBody>
      </p:sp>
      <p:sp>
        <p:nvSpPr>
          <p:cNvPr id="7" name="Text 3"/>
          <p:cNvSpPr txBox="1"/>
          <p:nvPr/>
        </p:nvSpPr>
        <p:spPr>
          <a:xfrm>
            <a:off x="713232" y="1950720"/>
            <a:ext cx="5760720" cy="664083"/>
          </a:xfrm>
          <a:prstGeom prst="rect">
            <a:avLst/>
          </a:prstGeom>
          <a:noFill/>
          <a:ln/>
        </p:spPr>
        <p:txBody>
          <a:bodyPr wrap="square" lIns="0" tIns="0" rIns="0" bIns="0" rtlCol="0" anchor="t"/>
          <a:lstStyle/>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B2B equipment manufacturer · six months</a:t>
            </a:r>
            <a:endParaRPr lang="en-US" sz="1250" dirty="0"/>
          </a:p>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Non branded SEO, new service pages, AISEO, lead tracking, LinkedIn retargeting</a:t>
            </a:r>
            <a:endParaRPr lang="en-US" sz="1250" dirty="0"/>
          </a:p>
        </p:txBody>
      </p:sp>
      <p:sp>
        <p:nvSpPr>
          <p:cNvPr id="8" name="Text 4"/>
          <p:cNvSpPr txBox="1"/>
          <p:nvPr/>
        </p:nvSpPr>
        <p:spPr>
          <a:xfrm>
            <a:off x="6583680" y="1060704"/>
            <a:ext cx="4892040" cy="1133856"/>
          </a:xfrm>
          <a:prstGeom prst="rect">
            <a:avLst/>
          </a:prstGeom>
          <a:noFill/>
          <a:ln/>
        </p:spPr>
        <p:txBody>
          <a:bodyPr wrap="square" lIns="0" tIns="0" rIns="0" bIns="0" rtlCol="0" anchor="t"/>
          <a:lstStyle/>
          <a:p>
            <a:pPr marL="0" indent="0" algn="r">
              <a:lnSpc>
                <a:spcPct val="95000"/>
              </a:lnSpc>
              <a:buNone/>
            </a:pPr>
            <a:r>
              <a:rPr lang="en-US" sz="9200" b="1" dirty="0">
                <a:solidFill>
                  <a:srgbClr val="5AA7E0"/>
                </a:solidFill>
                <a:latin typeface="Arial" pitchFamily="34" charset="0"/>
                <a:ea typeface="Arial" pitchFamily="34" charset="-122"/>
                <a:cs typeface="Arial" pitchFamily="34" charset="-120"/>
              </a:rPr>
              <a:t>334</a:t>
            </a:r>
            <a:endParaRPr lang="en-US" sz="9200" dirty="0"/>
          </a:p>
        </p:txBody>
      </p:sp>
      <p:sp>
        <p:nvSpPr>
          <p:cNvPr id="9" name="Text 5"/>
          <p:cNvSpPr txBox="1"/>
          <p:nvPr/>
        </p:nvSpPr>
        <p:spPr>
          <a:xfrm>
            <a:off x="6583680" y="2231136"/>
            <a:ext cx="4892040" cy="246888"/>
          </a:xfrm>
          <a:prstGeom prst="rect">
            <a:avLst/>
          </a:prstGeom>
          <a:noFill/>
          <a:ln/>
        </p:spPr>
        <p:txBody>
          <a:bodyPr wrap="square" lIns="0" tIns="0" rIns="0" bIns="0" rtlCol="0" anchor="t"/>
          <a:lstStyle/>
          <a:p>
            <a:pPr marL="0" indent="0" algn="r">
              <a:lnSpc>
                <a:spcPct val="120000"/>
              </a:lnSpc>
              <a:buNone/>
            </a:pPr>
            <a:r>
              <a:rPr lang="en-US" sz="1200" b="1" dirty="0">
                <a:solidFill>
                  <a:srgbClr val="FFFFFF"/>
                </a:solidFill>
                <a:latin typeface="Arial" pitchFamily="34" charset="0"/>
                <a:ea typeface="Arial" pitchFamily="34" charset="-122"/>
                <a:cs typeface="Arial" pitchFamily="34" charset="-120"/>
              </a:rPr>
              <a:t>Tracked leads, June to December: 176 calls and 158 forms</a:t>
            </a:r>
            <a:endParaRPr lang="en-US" sz="1200" dirty="0"/>
          </a:p>
        </p:txBody>
      </p:sp>
      <p:sp>
        <p:nvSpPr>
          <p:cNvPr id="10" name="Text 6"/>
          <p:cNvSpPr txBox="1"/>
          <p:nvPr/>
        </p:nvSpPr>
        <p:spPr>
          <a:xfrm>
            <a:off x="713232"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+129%</a:t>
            </a:r>
            <a:endParaRPr lang="en-US" sz="3100" dirty="0"/>
          </a:p>
        </p:txBody>
      </p:sp>
      <p:sp>
        <p:nvSpPr>
          <p:cNvPr id="11" name="Text 7"/>
          <p:cNvSpPr txBox="1"/>
          <p:nvPr/>
        </p:nvSpPr>
        <p:spPr>
          <a:xfrm>
            <a:off x="713232"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Organic clicks year on year</a:t>
            </a:r>
            <a:endParaRPr lang="en-US" sz="1200" dirty="0"/>
          </a:p>
        </p:txBody>
      </p:sp>
      <p:sp>
        <p:nvSpPr>
          <p:cNvPr id="12" name="Text 8"/>
          <p:cNvSpPr txBox="1"/>
          <p:nvPr/>
        </p:nvSpPr>
        <p:spPr>
          <a:xfrm>
            <a:off x="713232"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3,095 total</a:t>
            </a:r>
            <a:endParaRPr lang="en-US" sz="1050" dirty="0"/>
          </a:p>
        </p:txBody>
      </p:sp>
      <p:sp>
        <p:nvSpPr>
          <p:cNvPr id="13" name="Shape 9"/>
          <p:cNvSpPr/>
          <p:nvPr/>
        </p:nvSpPr>
        <p:spPr>
          <a:xfrm>
            <a:off x="3166796" y="3200400"/>
            <a:ext cx="0" cy="1294384"/>
          </a:xfrm>
          <a:prstGeom prst="line">
            <a:avLst/>
          </a:prstGeom>
          <a:noFill/>
          <a:ln w="9525">
            <a:solidFill>
              <a:srgbClr val="E2EAF1"/>
            </a:solidFill>
            <a:prstDash val="solid"/>
          </a:ln>
        </p:spPr>
      </p:sp>
      <p:sp>
        <p:nvSpPr>
          <p:cNvPr id="14" name="Text 10"/>
          <p:cNvSpPr txBox="1"/>
          <p:nvPr/>
        </p:nvSpPr>
        <p:spPr>
          <a:xfrm>
            <a:off x="3404540"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+70%</a:t>
            </a:r>
            <a:endParaRPr lang="en-US" sz="3100" dirty="0"/>
          </a:p>
        </p:txBody>
      </p:sp>
      <p:sp>
        <p:nvSpPr>
          <p:cNvPr id="15" name="Text 11"/>
          <p:cNvSpPr txBox="1"/>
          <p:nvPr/>
        </p:nvSpPr>
        <p:spPr>
          <a:xfrm>
            <a:off x="3404540"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Impressions year on year</a:t>
            </a:r>
            <a:endParaRPr lang="en-US" sz="1200" dirty="0"/>
          </a:p>
        </p:txBody>
      </p:sp>
      <p:sp>
        <p:nvSpPr>
          <p:cNvPr id="16" name="Text 12"/>
          <p:cNvSpPr txBox="1"/>
          <p:nvPr/>
        </p:nvSpPr>
        <p:spPr>
          <a:xfrm>
            <a:off x="3404540"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136,000+</a:t>
            </a:r>
            <a:endParaRPr lang="en-US" sz="1050" dirty="0"/>
          </a:p>
        </p:txBody>
      </p:sp>
      <p:sp>
        <p:nvSpPr>
          <p:cNvPr id="17" name="Shape 13"/>
          <p:cNvSpPr/>
          <p:nvPr/>
        </p:nvSpPr>
        <p:spPr>
          <a:xfrm>
            <a:off x="5858104" y="3200400"/>
            <a:ext cx="0" cy="1294384"/>
          </a:xfrm>
          <a:prstGeom prst="line">
            <a:avLst/>
          </a:prstGeom>
          <a:noFill/>
          <a:ln w="9525">
            <a:solidFill>
              <a:srgbClr val="E2EAF1"/>
            </a:solidFill>
            <a:prstDash val="solid"/>
          </a:ln>
        </p:spPr>
      </p:sp>
      <p:sp>
        <p:nvSpPr>
          <p:cNvPr id="18" name="Text 14"/>
          <p:cNvSpPr txBox="1"/>
          <p:nvPr/>
        </p:nvSpPr>
        <p:spPr>
          <a:xfrm>
            <a:off x="6095848"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+67%</a:t>
            </a:r>
            <a:endParaRPr lang="en-US" sz="3100" dirty="0"/>
          </a:p>
        </p:txBody>
      </p:sp>
      <p:sp>
        <p:nvSpPr>
          <p:cNvPr id="19" name="Text 15"/>
          <p:cNvSpPr txBox="1"/>
          <p:nvPr/>
        </p:nvSpPr>
        <p:spPr>
          <a:xfrm>
            <a:off x="6095848"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New users</a:t>
            </a:r>
            <a:endParaRPr lang="en-US" sz="1200" dirty="0"/>
          </a:p>
        </p:txBody>
      </p:sp>
      <p:sp>
        <p:nvSpPr>
          <p:cNvPr id="20" name="Text 16"/>
          <p:cNvSpPr txBox="1"/>
          <p:nvPr/>
        </p:nvSpPr>
        <p:spPr>
          <a:xfrm>
            <a:off x="6095848"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45,740</a:t>
            </a:r>
            <a:endParaRPr lang="en-US" sz="1050" dirty="0"/>
          </a:p>
        </p:txBody>
      </p:sp>
      <p:sp>
        <p:nvSpPr>
          <p:cNvPr id="21" name="Shape 17"/>
          <p:cNvSpPr/>
          <p:nvPr/>
        </p:nvSpPr>
        <p:spPr>
          <a:xfrm>
            <a:off x="8549411" y="3200400"/>
            <a:ext cx="0" cy="1294384"/>
          </a:xfrm>
          <a:prstGeom prst="line">
            <a:avLst/>
          </a:prstGeom>
          <a:noFill/>
          <a:ln w="9525">
            <a:solidFill>
              <a:srgbClr val="E2EAF1"/>
            </a:solidFill>
            <a:prstDash val="solid"/>
          </a:ln>
        </p:spPr>
      </p:sp>
      <p:sp>
        <p:nvSpPr>
          <p:cNvPr id="22" name="Text 18"/>
          <p:cNvSpPr txBox="1"/>
          <p:nvPr/>
        </p:nvSpPr>
        <p:spPr>
          <a:xfrm>
            <a:off x="8787155"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F58320"/>
                </a:solidFill>
                <a:latin typeface="Arial" pitchFamily="34" charset="0"/>
                <a:ea typeface="Arial" pitchFamily="34" charset="-122"/>
                <a:cs typeface="Arial" pitchFamily="34" charset="-120"/>
              </a:rPr>
              <a:t>35</a:t>
            </a:r>
            <a:endParaRPr lang="en-US" sz="3100" dirty="0"/>
          </a:p>
        </p:txBody>
      </p:sp>
      <p:sp>
        <p:nvSpPr>
          <p:cNvPr id="23" name="Text 19"/>
          <p:cNvSpPr txBox="1"/>
          <p:nvPr/>
        </p:nvSpPr>
        <p:spPr>
          <a:xfrm>
            <a:off x="8787155"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AI visibility score</a:t>
            </a:r>
            <a:endParaRPr lang="en-US" sz="1200" dirty="0"/>
          </a:p>
        </p:txBody>
      </p:sp>
      <p:sp>
        <p:nvSpPr>
          <p:cNvPr id="24" name="Text 20"/>
          <p:cNvSpPr txBox="1"/>
          <p:nvPr/>
        </p:nvSpPr>
        <p:spPr>
          <a:xfrm>
            <a:off x="8787155"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More cited pages</a:t>
            </a:r>
            <a:endParaRPr lang="en-US" sz="1050" dirty="0"/>
          </a:p>
        </p:txBody>
      </p:sp>
      <p:sp>
        <p:nvSpPr>
          <p:cNvPr id="25" name="Shape 21"/>
          <p:cNvSpPr/>
          <p:nvPr/>
        </p:nvSpPr>
        <p:spPr>
          <a:xfrm>
            <a:off x="713232" y="4439920"/>
            <a:ext cx="10765231" cy="0"/>
          </a:xfrm>
          <a:prstGeom prst="line">
            <a:avLst/>
          </a:prstGeom>
          <a:noFill/>
          <a:ln w="9525">
            <a:solidFill>
              <a:srgbClr val="E2EAF1"/>
            </a:solidFill>
            <a:prstDash val="solid"/>
          </a:ln>
        </p:spPr>
      </p:sp>
      <p:sp>
        <p:nvSpPr>
          <p:cNvPr id="26" name="Text 22"/>
          <p:cNvSpPr txBox="1"/>
          <p:nvPr/>
        </p:nvSpPr>
        <p:spPr>
          <a:xfrm>
            <a:off x="71323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BEFORE</a:t>
            </a:r>
            <a:endParaRPr lang="en-US" sz="1050" dirty="0"/>
          </a:p>
        </p:txBody>
      </p:sp>
      <p:sp>
        <p:nvSpPr>
          <p:cNvPr id="27" name="Text 23"/>
          <p:cNvSpPr txBox="1"/>
          <p:nvPr/>
        </p:nvSpPr>
        <p:spPr>
          <a:xfrm>
            <a:off x="71323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Invisible for the searches that matter</a:t>
            </a:r>
            <a:endParaRPr lang="en-US" sz="1700" dirty="0"/>
          </a:p>
        </p:txBody>
      </p:sp>
      <p:sp>
        <p:nvSpPr>
          <p:cNvPr id="28" name="Text 24"/>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Almost no non branded visibility for equipment terms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Content gaps across high intent product searches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Lead attribution unclear across calls and forms</a:t>
            </a:r>
            <a:endParaRPr lang="en-US" sz="1150" dirty="0"/>
          </a:p>
        </p:txBody>
      </p:sp>
      <p:sp>
        <p:nvSpPr>
          <p:cNvPr id="29" name="Text 25"/>
          <p:cNvSpPr txBox="1"/>
          <p:nvPr/>
        </p:nvSpPr>
        <p:spPr>
          <a:xfrm>
            <a:off x="637931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Text 26"/>
          <p:cNvSpPr txBox="1"/>
          <p:nvPr/>
        </p:nvSpPr>
        <p:spPr>
          <a:xfrm>
            <a:off x="637931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Product intent search, tracked</a:t>
            </a:r>
            <a:endParaRPr lang="en-US" sz="1700" dirty="0"/>
          </a:p>
        </p:txBody>
      </p:sp>
      <p:sp>
        <p:nvSpPr>
          <p:cNvPr id="31" name="Text 27"/>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cfm 1800 ranks #1, concentrate dispenser machine #3</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December delivered 85 inbound leads, organic and paid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ChatGPT now appears in the monthly lead mix</a:t>
            </a:r>
            <a:endParaRPr lang="en-US" sz="1150" dirty="0"/>
          </a:p>
        </p:txBody>
      </p:sp>
      <p:sp>
        <p:nvSpPr>
          <p:cNvPr id="32" name="Text 28"/>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14</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280"/>
                                        <p:tgtEl>
                                          <p:spTgt spid="1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280"/>
                                        <p:tgtEl>
                                          <p:spTgt spid="18"/>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280"/>
                                        <p:tgtEl>
                                          <p:spTgt spid="22"/>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280"/>
                                        <p:tgtEl>
                                          <p:spTgt spid="1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4" grpId="0" animBg="1"/>
      <p:bldP spid="15" grpId="0" animBg="1"/>
      <p:bldP spid="18"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2889504"/>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732520" y="-1188720"/>
            <a:ext cx="4389120" cy="5206548"/>
          </a:xfrm>
          <a:prstGeom prst="rect">
            <a:avLst/>
          </a:prstGeom>
        </p:spPr>
      </p:pic>
      <p:pic>
        <p:nvPicPr>
          <p:cNvPr id="4" name="Image 1" descr="Momentum Digital logo"/>
          <p:cNvPicPr>
            <a:picLocks noChangeAspect="1"/>
          </p:cNvPicPr>
          <p:nvPr/>
        </p:nvPicPr>
        <p:blipFill>
          <a:blip r:embed="rId4"/>
          <a:stretch>
            <a:fillRect/>
          </a:stretch>
        </p:blipFill>
        <p:spPr>
          <a:xfrm>
            <a:off x="10106863" y="502920"/>
            <a:ext cx="1371600" cy="294904"/>
          </a:xfrm>
          <a:prstGeom prst="rect">
            <a:avLst/>
          </a:prstGeom>
        </p:spPr>
      </p:pic>
      <p:sp>
        <p:nvSpPr>
          <p:cNvPr id="5" name="Text 1"/>
          <p:cNvSpPr txBox="1"/>
          <p:nvPr/>
        </p:nvSpPr>
        <p:spPr>
          <a:xfrm>
            <a:off x="713232" y="548640"/>
            <a:ext cx="54864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Text 2"/>
          <p:cNvSpPr txBox="1"/>
          <p:nvPr/>
        </p:nvSpPr>
        <p:spPr>
          <a:xfrm>
            <a:off x="713232" y="877824"/>
            <a:ext cx="5943600" cy="504444"/>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Kind Insurance</a:t>
            </a:r>
            <a:endParaRPr lang="en-US" sz="3400" dirty="0"/>
          </a:p>
        </p:txBody>
      </p:sp>
      <p:sp>
        <p:nvSpPr>
          <p:cNvPr id="7" name="Text 3"/>
          <p:cNvSpPr txBox="1"/>
          <p:nvPr/>
        </p:nvSpPr>
        <p:spPr>
          <a:xfrm>
            <a:off x="713232" y="1510284"/>
            <a:ext cx="5760720" cy="464058"/>
          </a:xfrm>
          <a:prstGeom prst="rect">
            <a:avLst/>
          </a:prstGeom>
          <a:noFill/>
          <a:ln/>
        </p:spPr>
        <p:txBody>
          <a:bodyPr wrap="square" lIns="0" tIns="0" rIns="0" bIns="0" rtlCol="0" anchor="t"/>
          <a:lstStyle/>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Insurance brokerage · 2025 against 2024</a:t>
            </a:r>
            <a:endParaRPr lang="en-US" sz="1250" dirty="0"/>
          </a:p>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Call first conversion setup, budget reallocation, search term control</a:t>
            </a:r>
            <a:endParaRPr lang="en-US" sz="1250" dirty="0"/>
          </a:p>
        </p:txBody>
      </p:sp>
      <p:sp>
        <p:nvSpPr>
          <p:cNvPr id="8" name="Text 4"/>
          <p:cNvSpPr txBox="1"/>
          <p:nvPr/>
        </p:nvSpPr>
        <p:spPr>
          <a:xfrm>
            <a:off x="6583680" y="1060704"/>
            <a:ext cx="4892040" cy="1133856"/>
          </a:xfrm>
          <a:prstGeom prst="rect">
            <a:avLst/>
          </a:prstGeom>
          <a:noFill/>
          <a:ln/>
        </p:spPr>
        <p:txBody>
          <a:bodyPr wrap="square" lIns="0" tIns="0" rIns="0" bIns="0" rtlCol="0" anchor="t"/>
          <a:lstStyle/>
          <a:p>
            <a:pPr marL="0" indent="0" algn="r">
              <a:lnSpc>
                <a:spcPct val="95000"/>
              </a:lnSpc>
              <a:buNone/>
            </a:pPr>
            <a:r>
              <a:rPr lang="en-US" sz="9200" b="1" dirty="0">
                <a:solidFill>
                  <a:srgbClr val="5AA7E0"/>
                </a:solidFill>
                <a:latin typeface="Arial" pitchFamily="34" charset="0"/>
                <a:ea typeface="Arial" pitchFamily="34" charset="-122"/>
                <a:cs typeface="Arial" pitchFamily="34" charset="-120"/>
              </a:rPr>
              <a:t>638</a:t>
            </a:r>
            <a:endParaRPr lang="en-US" sz="9200" dirty="0"/>
          </a:p>
        </p:txBody>
      </p:sp>
      <p:sp>
        <p:nvSpPr>
          <p:cNvPr id="9" name="Text 5"/>
          <p:cNvSpPr txBox="1"/>
          <p:nvPr/>
        </p:nvSpPr>
        <p:spPr>
          <a:xfrm>
            <a:off x="6583680" y="2231136"/>
            <a:ext cx="4892040" cy="246888"/>
          </a:xfrm>
          <a:prstGeom prst="rect">
            <a:avLst/>
          </a:prstGeom>
          <a:noFill/>
          <a:ln/>
        </p:spPr>
        <p:txBody>
          <a:bodyPr wrap="square" lIns="0" tIns="0" rIns="0" bIns="0" rtlCol="0" anchor="t"/>
          <a:lstStyle/>
          <a:p>
            <a:pPr marL="0" indent="0" algn="r">
              <a:lnSpc>
                <a:spcPct val="120000"/>
              </a:lnSpc>
              <a:buNone/>
            </a:pPr>
            <a:r>
              <a:rPr lang="en-US" sz="1200" b="1" dirty="0">
                <a:solidFill>
                  <a:srgbClr val="FFFFFF"/>
                </a:solidFill>
                <a:latin typeface="Arial" pitchFamily="34" charset="0"/>
                <a:ea typeface="Arial" pitchFamily="34" charset="-122"/>
                <a:cs typeface="Arial" pitchFamily="34" charset="-120"/>
              </a:rPr>
              <a:t>Phone call conversions in 2025, up 314% from 154</a:t>
            </a:r>
            <a:endParaRPr lang="en-US" sz="1200" dirty="0"/>
          </a:p>
        </p:txBody>
      </p:sp>
      <p:sp>
        <p:nvSpPr>
          <p:cNvPr id="10" name="Text 6"/>
          <p:cNvSpPr txBox="1"/>
          <p:nvPr/>
        </p:nvSpPr>
        <p:spPr>
          <a:xfrm>
            <a:off x="713232"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+37%</a:t>
            </a:r>
            <a:endParaRPr lang="en-US" sz="3100" dirty="0"/>
          </a:p>
        </p:txBody>
      </p:sp>
      <p:sp>
        <p:nvSpPr>
          <p:cNvPr id="11" name="Text 7"/>
          <p:cNvSpPr txBox="1"/>
          <p:nvPr/>
        </p:nvSpPr>
        <p:spPr>
          <a:xfrm>
            <a:off x="713232"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Clicks</a:t>
            </a:r>
            <a:endParaRPr lang="en-US" sz="1200" dirty="0"/>
          </a:p>
        </p:txBody>
      </p:sp>
      <p:sp>
        <p:nvSpPr>
          <p:cNvPr id="12" name="Text 8"/>
          <p:cNvSpPr txBox="1"/>
          <p:nvPr/>
        </p:nvSpPr>
        <p:spPr>
          <a:xfrm>
            <a:off x="713232" y="39872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14,111 to 19,305</a:t>
            </a:r>
            <a:endParaRPr lang="en-US" sz="1050" dirty="0"/>
          </a:p>
        </p:txBody>
      </p:sp>
      <p:sp>
        <p:nvSpPr>
          <p:cNvPr id="13" name="Shape 9"/>
          <p:cNvSpPr/>
          <p:nvPr/>
        </p:nvSpPr>
        <p:spPr>
          <a:xfrm>
            <a:off x="3166796" y="3200400"/>
            <a:ext cx="0" cy="1111504"/>
          </a:xfrm>
          <a:prstGeom prst="line">
            <a:avLst/>
          </a:prstGeom>
          <a:noFill/>
          <a:ln w="9525">
            <a:solidFill>
              <a:srgbClr val="E2EAF1"/>
            </a:solidFill>
            <a:prstDash val="solid"/>
          </a:ln>
        </p:spPr>
      </p:sp>
      <p:sp>
        <p:nvSpPr>
          <p:cNvPr id="14" name="Text 10"/>
          <p:cNvSpPr txBox="1"/>
          <p:nvPr/>
        </p:nvSpPr>
        <p:spPr>
          <a:xfrm>
            <a:off x="3404540"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33.06%</a:t>
            </a:r>
            <a:endParaRPr lang="en-US" sz="3100" dirty="0"/>
          </a:p>
        </p:txBody>
      </p:sp>
      <p:sp>
        <p:nvSpPr>
          <p:cNvPr id="15" name="Text 11"/>
          <p:cNvSpPr txBox="1"/>
          <p:nvPr/>
        </p:nvSpPr>
        <p:spPr>
          <a:xfrm>
            <a:off x="3404540"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Call conversion rate</a:t>
            </a:r>
            <a:endParaRPr lang="en-US" sz="1200" dirty="0"/>
          </a:p>
        </p:txBody>
      </p:sp>
      <p:sp>
        <p:nvSpPr>
          <p:cNvPr id="16" name="Text 12"/>
          <p:cNvSpPr txBox="1"/>
          <p:nvPr/>
        </p:nvSpPr>
        <p:spPr>
          <a:xfrm>
            <a:off x="3404540" y="39872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Up from 10.91%</a:t>
            </a:r>
            <a:endParaRPr lang="en-US" sz="1050" dirty="0"/>
          </a:p>
        </p:txBody>
      </p:sp>
      <p:sp>
        <p:nvSpPr>
          <p:cNvPr id="17" name="Shape 13"/>
          <p:cNvSpPr/>
          <p:nvPr/>
        </p:nvSpPr>
        <p:spPr>
          <a:xfrm>
            <a:off x="5858104" y="3200400"/>
            <a:ext cx="0" cy="1111504"/>
          </a:xfrm>
          <a:prstGeom prst="line">
            <a:avLst/>
          </a:prstGeom>
          <a:noFill/>
          <a:ln w="9525">
            <a:solidFill>
              <a:srgbClr val="E2EAF1"/>
            </a:solidFill>
            <a:prstDash val="solid"/>
          </a:ln>
        </p:spPr>
      </p:sp>
      <p:sp>
        <p:nvSpPr>
          <p:cNvPr id="18" name="Text 14"/>
          <p:cNvSpPr txBox="1"/>
          <p:nvPr/>
        </p:nvSpPr>
        <p:spPr>
          <a:xfrm>
            <a:off x="6095848"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$42.09</a:t>
            </a:r>
            <a:endParaRPr lang="en-US" sz="3100" dirty="0"/>
          </a:p>
        </p:txBody>
      </p:sp>
      <p:sp>
        <p:nvSpPr>
          <p:cNvPr id="19" name="Text 15"/>
          <p:cNvSpPr txBox="1"/>
          <p:nvPr/>
        </p:nvSpPr>
        <p:spPr>
          <a:xfrm>
            <a:off x="6095848"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Cost per conversion</a:t>
            </a:r>
            <a:endParaRPr lang="en-US" sz="1200" dirty="0"/>
          </a:p>
        </p:txBody>
      </p:sp>
      <p:sp>
        <p:nvSpPr>
          <p:cNvPr id="20" name="Text 16"/>
          <p:cNvSpPr txBox="1"/>
          <p:nvPr/>
        </p:nvSpPr>
        <p:spPr>
          <a:xfrm>
            <a:off x="6095848" y="39872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Up from $13.27</a:t>
            </a:r>
            <a:endParaRPr lang="en-US" sz="1050" dirty="0"/>
          </a:p>
        </p:txBody>
      </p:sp>
      <p:sp>
        <p:nvSpPr>
          <p:cNvPr id="21" name="Shape 17"/>
          <p:cNvSpPr/>
          <p:nvPr/>
        </p:nvSpPr>
        <p:spPr>
          <a:xfrm>
            <a:off x="8549411" y="3200400"/>
            <a:ext cx="0" cy="1111504"/>
          </a:xfrm>
          <a:prstGeom prst="line">
            <a:avLst/>
          </a:prstGeom>
          <a:noFill/>
          <a:ln w="9525">
            <a:solidFill>
              <a:srgbClr val="E2EAF1"/>
            </a:solidFill>
            <a:prstDash val="solid"/>
          </a:ln>
        </p:spPr>
      </p:sp>
      <p:sp>
        <p:nvSpPr>
          <p:cNvPr id="22" name="Text 18"/>
          <p:cNvSpPr txBox="1"/>
          <p:nvPr/>
        </p:nvSpPr>
        <p:spPr>
          <a:xfrm>
            <a:off x="8787155"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10.37%</a:t>
            </a:r>
            <a:endParaRPr lang="en-US" sz="3100" dirty="0"/>
          </a:p>
        </p:txBody>
      </p:sp>
      <p:sp>
        <p:nvSpPr>
          <p:cNvPr id="23" name="Text 19"/>
          <p:cNvSpPr txBox="1"/>
          <p:nvPr/>
        </p:nvSpPr>
        <p:spPr>
          <a:xfrm>
            <a:off x="8787155" y="3685540"/>
            <a:ext cx="2179244" cy="23774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Search impression share</a:t>
            </a:r>
            <a:endParaRPr lang="en-US" sz="1200" dirty="0"/>
          </a:p>
        </p:txBody>
      </p:sp>
      <p:sp>
        <p:nvSpPr>
          <p:cNvPr id="24" name="Text 20"/>
          <p:cNvSpPr txBox="1"/>
          <p:nvPr/>
        </p:nvSpPr>
        <p:spPr>
          <a:xfrm>
            <a:off x="8787155" y="398729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2025</a:t>
            </a:r>
            <a:endParaRPr lang="en-US" sz="1050" dirty="0"/>
          </a:p>
        </p:txBody>
      </p:sp>
      <p:sp>
        <p:nvSpPr>
          <p:cNvPr id="25" name="Shape 21"/>
          <p:cNvSpPr/>
          <p:nvPr/>
        </p:nvSpPr>
        <p:spPr>
          <a:xfrm>
            <a:off x="713232" y="4257040"/>
            <a:ext cx="10765231" cy="0"/>
          </a:xfrm>
          <a:prstGeom prst="line">
            <a:avLst/>
          </a:prstGeom>
          <a:noFill/>
          <a:ln w="9525">
            <a:solidFill>
              <a:srgbClr val="E2EAF1"/>
            </a:solidFill>
            <a:prstDash val="solid"/>
          </a:ln>
        </p:spPr>
      </p:sp>
      <p:sp>
        <p:nvSpPr>
          <p:cNvPr id="26" name="Text 22"/>
          <p:cNvSpPr txBox="1"/>
          <p:nvPr/>
        </p:nvSpPr>
        <p:spPr>
          <a:xfrm>
            <a:off x="713232" y="443992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BEFORE</a:t>
            </a:r>
            <a:endParaRPr lang="en-US" sz="1050" dirty="0"/>
          </a:p>
        </p:txBody>
      </p:sp>
      <p:sp>
        <p:nvSpPr>
          <p:cNvPr id="27" name="Text 23"/>
          <p:cNvSpPr txBox="1"/>
          <p:nvPr/>
        </p:nvSpPr>
        <p:spPr>
          <a:xfrm>
            <a:off x="713232" y="476910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Cheap conversions that were not calls</a:t>
            </a:r>
            <a:endParaRPr lang="en-US" sz="1700" dirty="0"/>
          </a:p>
        </p:txBody>
      </p:sp>
      <p:sp>
        <p:nvSpPr>
          <p:cNvPr id="28" name="Text 24"/>
          <p:cNvSpPr txBox="1"/>
          <p:nvPr/>
        </p:nvSpPr>
        <p:spPr>
          <a:xfrm>
            <a:off x="71323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Phone calls were not consistently the goal</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Budget pacing drifted and wasted spend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Too many campaigns slowed optimization</a:t>
            </a:r>
            <a:endParaRPr lang="en-US" sz="1150" dirty="0"/>
          </a:p>
        </p:txBody>
      </p:sp>
      <p:sp>
        <p:nvSpPr>
          <p:cNvPr id="29" name="Text 25"/>
          <p:cNvSpPr txBox="1"/>
          <p:nvPr/>
        </p:nvSpPr>
        <p:spPr>
          <a:xfrm>
            <a:off x="6379312" y="443992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Text 26"/>
          <p:cNvSpPr txBox="1"/>
          <p:nvPr/>
        </p:nvSpPr>
        <p:spPr>
          <a:xfrm>
            <a:off x="6379312" y="476910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One KPI, defended every week</a:t>
            </a:r>
            <a:endParaRPr lang="en-US" sz="1700" dirty="0"/>
          </a:p>
        </p:txBody>
      </p:sp>
      <p:sp>
        <p:nvSpPr>
          <p:cNvPr id="31" name="Text 27"/>
          <p:cNvSpPr txBox="1"/>
          <p:nvPr/>
        </p:nvSpPr>
        <p:spPr>
          <a:xfrm>
            <a:off x="6379312" y="517601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Calls set as the main conversion, quality checked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Spend shifted to winners, weak campaigns paused</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Search terms reviewed often, negatives added</a:t>
            </a:r>
            <a:endParaRPr lang="en-US" sz="1150" dirty="0"/>
          </a:p>
        </p:txBody>
      </p:sp>
      <p:sp>
        <p:nvSpPr>
          <p:cNvPr id="32" name="Text 28"/>
          <p:cNvSpPr txBox="1"/>
          <p:nvPr/>
        </p:nvSpPr>
        <p:spPr>
          <a:xfrm>
            <a:off x="713232" y="6291072"/>
            <a:ext cx="9942271" cy="329184"/>
          </a:xfrm>
          <a:prstGeom prst="rect">
            <a:avLst/>
          </a:prstGeom>
          <a:noFill/>
          <a:ln/>
        </p:spPr>
        <p:txBody>
          <a:bodyPr wrap="square" lIns="0" tIns="0" rIns="0" bIns="0" rtlCol="0" anchor="t"/>
          <a:lstStyle/>
          <a:p>
            <a:pPr marL="0" indent="0" algn="l">
              <a:lnSpc>
                <a:spcPct val="120000"/>
              </a:lnSpc>
              <a:buNone/>
            </a:pPr>
            <a:r>
              <a:rPr lang="en-US" sz="950" i="1" dirty="0">
                <a:solidFill>
                  <a:srgbClr val="5A6772"/>
                </a:solidFill>
                <a:latin typeface="Arial" pitchFamily="34" charset="0"/>
                <a:ea typeface="Arial" pitchFamily="34" charset="-122"/>
                <a:cs typeface="Arial" pitchFamily="34" charset="-120"/>
              </a:rPr>
              <a:t>Cost per conversion rose on purpose. The account stopped buying cheap non call conversions, so call volume more than quadrupled.</a:t>
            </a:r>
            <a:endParaRPr lang="en-US" sz="950" dirty="0"/>
          </a:p>
        </p:txBody>
      </p:sp>
      <p:sp>
        <p:nvSpPr>
          <p:cNvPr id="33" name="Text 29"/>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15</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280"/>
                                        <p:tgtEl>
                                          <p:spTgt spid="1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280"/>
                                        <p:tgtEl>
                                          <p:spTgt spid="18"/>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280"/>
                                        <p:tgtEl>
                                          <p:spTgt spid="22"/>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280"/>
                                        <p:tgtEl>
                                          <p:spTgt spid="1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4" grpId="0" animBg="1"/>
      <p:bldP spid="15" grpId="0" animBg="1"/>
      <p:bldP spid="18" grpId="0" animBg="1"/>
      <p:bldP spid="2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2889504"/>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732520" y="-1188720"/>
            <a:ext cx="4389120" cy="5206548"/>
          </a:xfrm>
          <a:prstGeom prst="rect">
            <a:avLst/>
          </a:prstGeom>
        </p:spPr>
      </p:pic>
      <p:pic>
        <p:nvPicPr>
          <p:cNvPr id="4" name="Image 1" descr="Momentum Digital logo"/>
          <p:cNvPicPr>
            <a:picLocks noChangeAspect="1"/>
          </p:cNvPicPr>
          <p:nvPr/>
        </p:nvPicPr>
        <p:blipFill>
          <a:blip r:embed="rId4"/>
          <a:stretch>
            <a:fillRect/>
          </a:stretch>
        </p:blipFill>
        <p:spPr>
          <a:xfrm>
            <a:off x="10106863" y="502920"/>
            <a:ext cx="1371600" cy="294904"/>
          </a:xfrm>
          <a:prstGeom prst="rect">
            <a:avLst/>
          </a:prstGeom>
        </p:spPr>
      </p:pic>
      <p:sp>
        <p:nvSpPr>
          <p:cNvPr id="5" name="Text 1"/>
          <p:cNvSpPr txBox="1"/>
          <p:nvPr/>
        </p:nvSpPr>
        <p:spPr>
          <a:xfrm>
            <a:off x="713232" y="548640"/>
            <a:ext cx="54864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Text 2"/>
          <p:cNvSpPr txBox="1"/>
          <p:nvPr/>
        </p:nvSpPr>
        <p:spPr>
          <a:xfrm>
            <a:off x="713232" y="877824"/>
            <a:ext cx="5943600" cy="94488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Bedford Corporate</a:t>
            </a:r>
            <a:endParaRPr lang="en-US" sz="3400" dirty="0"/>
          </a:p>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Housing</a:t>
            </a:r>
            <a:endParaRPr lang="en-US" sz="3400" dirty="0"/>
          </a:p>
        </p:txBody>
      </p:sp>
      <p:sp>
        <p:nvSpPr>
          <p:cNvPr id="7" name="Text 3"/>
          <p:cNvSpPr txBox="1"/>
          <p:nvPr/>
        </p:nvSpPr>
        <p:spPr>
          <a:xfrm>
            <a:off x="713232" y="1950720"/>
            <a:ext cx="5760720" cy="664083"/>
          </a:xfrm>
          <a:prstGeom prst="rect">
            <a:avLst/>
          </a:prstGeom>
          <a:noFill/>
          <a:ln/>
        </p:spPr>
        <p:txBody>
          <a:bodyPr wrap="square" lIns="0" tIns="0" rIns="0" bIns="0" rtlCol="0" anchor="t"/>
          <a:lstStyle/>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Corporate housing, Los Angeles</a:t>
            </a:r>
            <a:endParaRPr lang="en-US" sz="1250" dirty="0"/>
          </a:p>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Google Ads rebuilt around qualified form fills, plus SEO from a standing start</a:t>
            </a:r>
            <a:endParaRPr lang="en-US" sz="1250" dirty="0"/>
          </a:p>
        </p:txBody>
      </p:sp>
      <p:sp>
        <p:nvSpPr>
          <p:cNvPr id="8" name="Text 4"/>
          <p:cNvSpPr txBox="1"/>
          <p:nvPr/>
        </p:nvSpPr>
        <p:spPr>
          <a:xfrm>
            <a:off x="6583680" y="1060704"/>
            <a:ext cx="4892040" cy="1133856"/>
          </a:xfrm>
          <a:prstGeom prst="rect">
            <a:avLst/>
          </a:prstGeom>
          <a:noFill/>
          <a:ln/>
        </p:spPr>
        <p:txBody>
          <a:bodyPr wrap="square" lIns="0" tIns="0" rIns="0" bIns="0" rtlCol="0" anchor="t"/>
          <a:lstStyle/>
          <a:p>
            <a:pPr marL="0" indent="0" algn="r">
              <a:lnSpc>
                <a:spcPct val="95000"/>
              </a:lnSpc>
              <a:buNone/>
            </a:pPr>
            <a:r>
              <a:rPr lang="en-US" sz="9200" b="1" dirty="0">
                <a:solidFill>
                  <a:srgbClr val="5AA7E0"/>
                </a:solidFill>
                <a:latin typeface="Arial" pitchFamily="34" charset="0"/>
                <a:ea typeface="Arial" pitchFamily="34" charset="-122"/>
                <a:cs typeface="Arial" pitchFamily="34" charset="-120"/>
              </a:rPr>
              <a:t>1,130</a:t>
            </a:r>
            <a:endParaRPr lang="en-US" sz="9200" dirty="0"/>
          </a:p>
        </p:txBody>
      </p:sp>
      <p:sp>
        <p:nvSpPr>
          <p:cNvPr id="9" name="Text 5"/>
          <p:cNvSpPr txBox="1"/>
          <p:nvPr/>
        </p:nvSpPr>
        <p:spPr>
          <a:xfrm>
            <a:off x="6583680" y="2231136"/>
            <a:ext cx="4892040" cy="246888"/>
          </a:xfrm>
          <a:prstGeom prst="rect">
            <a:avLst/>
          </a:prstGeom>
          <a:noFill/>
          <a:ln/>
        </p:spPr>
        <p:txBody>
          <a:bodyPr wrap="square" lIns="0" tIns="0" rIns="0" bIns="0" rtlCol="0" anchor="t"/>
          <a:lstStyle/>
          <a:p>
            <a:pPr marL="0" indent="0" algn="r">
              <a:lnSpc>
                <a:spcPct val="120000"/>
              </a:lnSpc>
              <a:buNone/>
            </a:pPr>
            <a:r>
              <a:rPr lang="en-US" sz="1200" b="1" dirty="0">
                <a:solidFill>
                  <a:srgbClr val="FFFFFF"/>
                </a:solidFill>
                <a:latin typeface="Arial" pitchFamily="34" charset="0"/>
                <a:ea typeface="Arial" pitchFamily="34" charset="-122"/>
                <a:cs typeface="Arial" pitchFamily="34" charset="-120"/>
              </a:rPr>
              <a:t>Form conversions on $44K of ad spend</a:t>
            </a:r>
            <a:endParaRPr lang="en-US" sz="1200" dirty="0"/>
          </a:p>
        </p:txBody>
      </p:sp>
      <p:sp>
        <p:nvSpPr>
          <p:cNvPr id="10" name="Text 6"/>
          <p:cNvSpPr txBox="1"/>
          <p:nvPr/>
        </p:nvSpPr>
        <p:spPr>
          <a:xfrm>
            <a:off x="713232"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$38.88</a:t>
            </a:r>
            <a:endParaRPr lang="en-US" sz="3100" dirty="0"/>
          </a:p>
        </p:txBody>
      </p:sp>
      <p:sp>
        <p:nvSpPr>
          <p:cNvPr id="11" name="Text 7"/>
          <p:cNvSpPr txBox="1"/>
          <p:nvPr/>
        </p:nvSpPr>
        <p:spPr>
          <a:xfrm>
            <a:off x="713232"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Average cost per lead</a:t>
            </a:r>
            <a:endParaRPr lang="en-US" sz="1200" dirty="0"/>
          </a:p>
        </p:txBody>
      </p:sp>
      <p:sp>
        <p:nvSpPr>
          <p:cNvPr id="12" name="Text 8"/>
          <p:cNvSpPr txBox="1"/>
          <p:nvPr/>
        </p:nvSpPr>
        <p:spPr>
          <a:xfrm>
            <a:off x="713232"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About $25 since Aug 2025</a:t>
            </a:r>
            <a:endParaRPr lang="en-US" sz="1050" dirty="0"/>
          </a:p>
        </p:txBody>
      </p:sp>
      <p:sp>
        <p:nvSpPr>
          <p:cNvPr id="13" name="Shape 9"/>
          <p:cNvSpPr/>
          <p:nvPr/>
        </p:nvSpPr>
        <p:spPr>
          <a:xfrm>
            <a:off x="3166796" y="3200400"/>
            <a:ext cx="0" cy="1294384"/>
          </a:xfrm>
          <a:prstGeom prst="line">
            <a:avLst/>
          </a:prstGeom>
          <a:noFill/>
          <a:ln w="9525">
            <a:solidFill>
              <a:srgbClr val="E2EAF1"/>
            </a:solidFill>
            <a:prstDash val="solid"/>
          </a:ln>
        </p:spPr>
      </p:sp>
      <p:sp>
        <p:nvSpPr>
          <p:cNvPr id="14" name="Text 10"/>
          <p:cNvSpPr txBox="1"/>
          <p:nvPr/>
        </p:nvSpPr>
        <p:spPr>
          <a:xfrm>
            <a:off x="3404540"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10.12%</a:t>
            </a:r>
            <a:endParaRPr lang="en-US" sz="3100" dirty="0"/>
          </a:p>
        </p:txBody>
      </p:sp>
      <p:sp>
        <p:nvSpPr>
          <p:cNvPr id="15" name="Text 11"/>
          <p:cNvSpPr txBox="1"/>
          <p:nvPr/>
        </p:nvSpPr>
        <p:spPr>
          <a:xfrm>
            <a:off x="3404540"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Average click through rate</a:t>
            </a:r>
            <a:endParaRPr lang="en-US" sz="1200" dirty="0"/>
          </a:p>
        </p:txBody>
      </p:sp>
      <p:sp>
        <p:nvSpPr>
          <p:cNvPr id="16" name="Shape 12"/>
          <p:cNvSpPr/>
          <p:nvPr/>
        </p:nvSpPr>
        <p:spPr>
          <a:xfrm>
            <a:off x="5858104" y="3200400"/>
            <a:ext cx="0" cy="1294384"/>
          </a:xfrm>
          <a:prstGeom prst="line">
            <a:avLst/>
          </a:prstGeom>
          <a:noFill/>
          <a:ln w="9525">
            <a:solidFill>
              <a:srgbClr val="E2EAF1"/>
            </a:solidFill>
            <a:prstDash val="solid"/>
          </a:ln>
        </p:spPr>
      </p:sp>
      <p:sp>
        <p:nvSpPr>
          <p:cNvPr id="17" name="Text 13"/>
          <p:cNvSpPr txBox="1"/>
          <p:nvPr/>
        </p:nvSpPr>
        <p:spPr>
          <a:xfrm>
            <a:off x="6095848"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137</a:t>
            </a:r>
            <a:endParaRPr lang="en-US" sz="3100" dirty="0"/>
          </a:p>
        </p:txBody>
      </p:sp>
      <p:sp>
        <p:nvSpPr>
          <p:cNvPr id="18" name="Text 14"/>
          <p:cNvSpPr txBox="1"/>
          <p:nvPr/>
        </p:nvSpPr>
        <p:spPr>
          <a:xfrm>
            <a:off x="6095848"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Leads in three weeks</a:t>
            </a:r>
            <a:endParaRPr lang="en-US" sz="1200" dirty="0"/>
          </a:p>
        </p:txBody>
      </p:sp>
      <p:sp>
        <p:nvSpPr>
          <p:cNvPr id="19" name="Text 15"/>
          <p:cNvSpPr txBox="1"/>
          <p:nvPr/>
        </p:nvSpPr>
        <p:spPr>
          <a:xfrm>
            <a:off x="6095848"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130 forms and 7 calls</a:t>
            </a:r>
            <a:endParaRPr lang="en-US" sz="1050" dirty="0"/>
          </a:p>
        </p:txBody>
      </p:sp>
      <p:sp>
        <p:nvSpPr>
          <p:cNvPr id="20" name="Shape 16"/>
          <p:cNvSpPr/>
          <p:nvPr/>
        </p:nvSpPr>
        <p:spPr>
          <a:xfrm>
            <a:off x="8549411" y="3200400"/>
            <a:ext cx="0" cy="1294384"/>
          </a:xfrm>
          <a:prstGeom prst="line">
            <a:avLst/>
          </a:prstGeom>
          <a:noFill/>
          <a:ln w="9525">
            <a:solidFill>
              <a:srgbClr val="E2EAF1"/>
            </a:solidFill>
            <a:prstDash val="solid"/>
          </a:ln>
        </p:spPr>
      </p:sp>
      <p:sp>
        <p:nvSpPr>
          <p:cNvPr id="21" name="Text 17"/>
          <p:cNvSpPr txBox="1"/>
          <p:nvPr/>
        </p:nvSpPr>
        <p:spPr>
          <a:xfrm>
            <a:off x="8787155"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~80</a:t>
            </a:r>
            <a:endParaRPr lang="en-US" sz="3100" dirty="0"/>
          </a:p>
        </p:txBody>
      </p:sp>
      <p:sp>
        <p:nvSpPr>
          <p:cNvPr id="22" name="Text 18"/>
          <p:cNvSpPr txBox="1"/>
          <p:nvPr/>
        </p:nvSpPr>
        <p:spPr>
          <a:xfrm>
            <a:off x="8787155"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Forms per month</a:t>
            </a:r>
            <a:endParaRPr lang="en-US" sz="1200" dirty="0"/>
          </a:p>
        </p:txBody>
      </p:sp>
      <p:sp>
        <p:nvSpPr>
          <p:cNvPr id="23" name="Text 19"/>
          <p:cNvSpPr txBox="1"/>
          <p:nvPr/>
        </p:nvSpPr>
        <p:spPr>
          <a:xfrm>
            <a:off x="8787155"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Ongoing average</a:t>
            </a:r>
            <a:endParaRPr lang="en-US" sz="1050" dirty="0"/>
          </a:p>
        </p:txBody>
      </p:sp>
      <p:sp>
        <p:nvSpPr>
          <p:cNvPr id="24" name="Shape 20"/>
          <p:cNvSpPr/>
          <p:nvPr/>
        </p:nvSpPr>
        <p:spPr>
          <a:xfrm>
            <a:off x="713232" y="4439920"/>
            <a:ext cx="10765231" cy="0"/>
          </a:xfrm>
          <a:prstGeom prst="line">
            <a:avLst/>
          </a:prstGeom>
          <a:noFill/>
          <a:ln w="9525">
            <a:solidFill>
              <a:srgbClr val="E2EAF1"/>
            </a:solidFill>
            <a:prstDash val="solid"/>
          </a:ln>
        </p:spPr>
      </p:sp>
      <p:sp>
        <p:nvSpPr>
          <p:cNvPr id="25" name="Text 21"/>
          <p:cNvSpPr txBox="1"/>
          <p:nvPr/>
        </p:nvSpPr>
        <p:spPr>
          <a:xfrm>
            <a:off x="71323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BEFORE</a:t>
            </a:r>
            <a:endParaRPr lang="en-US" sz="1050" dirty="0"/>
          </a:p>
        </p:txBody>
      </p:sp>
      <p:sp>
        <p:nvSpPr>
          <p:cNvPr id="26" name="Text 22"/>
          <p:cNvSpPr txBox="1"/>
          <p:nvPr/>
        </p:nvSpPr>
        <p:spPr>
          <a:xfrm>
            <a:off x="71323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Calls that were the wrong fit</a:t>
            </a:r>
            <a:endParaRPr lang="en-US" sz="1700" dirty="0"/>
          </a:p>
        </p:txBody>
      </p:sp>
      <p:sp>
        <p:nvSpPr>
          <p:cNvPr id="27" name="Text 23"/>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Built around calls on a $60 to $70 daily budget</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Lead quality and cost both unsatisfactory</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rankings and no Google Maps local pack presence</a:t>
            </a:r>
            <a:endParaRPr lang="en-US" sz="1150" dirty="0"/>
          </a:p>
        </p:txBody>
      </p:sp>
      <p:sp>
        <p:nvSpPr>
          <p:cNvPr id="28" name="Text 24"/>
          <p:cNvSpPr txBox="1"/>
          <p:nvPr/>
        </p:nvSpPr>
        <p:spPr>
          <a:xfrm>
            <a:off x="637931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WHAT CHANGED</a:t>
            </a:r>
            <a:endParaRPr lang="en-US" sz="1050" dirty="0"/>
          </a:p>
        </p:txBody>
      </p:sp>
      <p:sp>
        <p:nvSpPr>
          <p:cNvPr id="29" name="Text 25"/>
          <p:cNvSpPr txBox="1"/>
          <p:nvPr/>
        </p:nvSpPr>
        <p:spPr>
          <a:xfrm>
            <a:off x="637931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Qualified forms, then scale</a:t>
            </a:r>
            <a:endParaRPr lang="en-US" sz="1700" dirty="0"/>
          </a:p>
        </p:txBody>
      </p:sp>
      <p:sp>
        <p:nvSpPr>
          <p:cNvPr id="30" name="Text 26"/>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Rebuilt for qualified form fills, with clean tracking</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Targeting tightened to Los Angeles high intent search</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48 paid and 48 organic leads in the same three weeks</a:t>
            </a:r>
            <a:endParaRPr lang="en-US" sz="1150" dirty="0"/>
          </a:p>
        </p:txBody>
      </p:sp>
      <p:sp>
        <p:nvSpPr>
          <p:cNvPr id="31" name="Text 27"/>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16</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280"/>
                                        <p:tgtEl>
                                          <p:spTgt spid="1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280"/>
                                        <p:tgtEl>
                                          <p:spTgt spid="17"/>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280"/>
                                        <p:tgtEl>
                                          <p:spTgt spid="21"/>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280"/>
                                        <p:tgtEl>
                                          <p:spTgt spid="1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4" grpId="0" animBg="1"/>
      <p:bldP spid="15" grpId="0" animBg="1"/>
      <p:bldP spid="17"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2889504"/>
          </a:xfrm>
          <a:prstGeom prst="rect">
            <a:avLst/>
          </a:prstGeom>
          <a:solidFill>
            <a:srgbClr val="0A1825"/>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9000"/>
          </a:blip>
          <a:stretch>
            <a:fillRect/>
          </a:stretch>
        </p:blipFill>
        <p:spPr>
          <a:xfrm>
            <a:off x="8732520" y="-1188720"/>
            <a:ext cx="4389120" cy="5206548"/>
          </a:xfrm>
          <a:prstGeom prst="rect">
            <a:avLst/>
          </a:prstGeom>
        </p:spPr>
      </p:pic>
      <p:pic>
        <p:nvPicPr>
          <p:cNvPr id="4" name="Image 1" descr="Momentum Digital logo"/>
          <p:cNvPicPr>
            <a:picLocks noChangeAspect="1"/>
          </p:cNvPicPr>
          <p:nvPr/>
        </p:nvPicPr>
        <p:blipFill>
          <a:blip r:embed="rId4"/>
          <a:stretch>
            <a:fillRect/>
          </a:stretch>
        </p:blipFill>
        <p:spPr>
          <a:xfrm>
            <a:off x="10106863" y="502920"/>
            <a:ext cx="1371600" cy="294904"/>
          </a:xfrm>
          <a:prstGeom prst="rect">
            <a:avLst/>
          </a:prstGeom>
        </p:spPr>
      </p:pic>
      <p:sp>
        <p:nvSpPr>
          <p:cNvPr id="5" name="Text 1"/>
          <p:cNvSpPr txBox="1"/>
          <p:nvPr/>
        </p:nvSpPr>
        <p:spPr>
          <a:xfrm>
            <a:off x="713232" y="548640"/>
            <a:ext cx="54864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CASE STUDY</a:t>
            </a:r>
            <a:endParaRPr lang="en-US" sz="1050" dirty="0"/>
          </a:p>
        </p:txBody>
      </p:sp>
      <p:sp>
        <p:nvSpPr>
          <p:cNvPr id="6" name="Text 2"/>
          <p:cNvSpPr txBox="1"/>
          <p:nvPr/>
        </p:nvSpPr>
        <p:spPr>
          <a:xfrm>
            <a:off x="713232" y="877824"/>
            <a:ext cx="5943600" cy="504444"/>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Drip IV</a:t>
            </a:r>
            <a:endParaRPr lang="en-US" sz="3400" dirty="0"/>
          </a:p>
        </p:txBody>
      </p:sp>
      <p:sp>
        <p:nvSpPr>
          <p:cNvPr id="7" name="Text 3"/>
          <p:cNvSpPr txBox="1"/>
          <p:nvPr/>
        </p:nvSpPr>
        <p:spPr>
          <a:xfrm>
            <a:off x="713232" y="1510284"/>
            <a:ext cx="5760720" cy="664083"/>
          </a:xfrm>
          <a:prstGeom prst="rect">
            <a:avLst/>
          </a:prstGeom>
          <a:noFill/>
          <a:ln/>
        </p:spPr>
        <p:txBody>
          <a:bodyPr wrap="square" lIns="0" tIns="0" rIns="0" bIns="0" rtlCol="0" anchor="t"/>
          <a:lstStyle/>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Med spa and IV lounge, Michigan and Florida</a:t>
            </a:r>
            <a:endParaRPr lang="en-US" sz="1250" dirty="0"/>
          </a:p>
          <a:p>
            <a:pPr marL="0" indent="0" algn="l">
              <a:lnSpc>
                <a:spcPct val="126000"/>
              </a:lnSpc>
              <a:buNone/>
            </a:pPr>
            <a:r>
              <a:rPr lang="en-US" sz="1250" dirty="0">
                <a:solidFill>
                  <a:srgbClr val="9DB5C8"/>
                </a:solidFill>
                <a:latin typeface="Arial" pitchFamily="34" charset="0"/>
                <a:ea typeface="Arial" pitchFamily="34" charset="-122"/>
                <a:cs typeface="Arial" pitchFamily="34" charset="-120"/>
              </a:rPr>
              <a:t>Website redesign, SEO and local SEO, citations, Meta Ads and Google Ads</a:t>
            </a:r>
            <a:endParaRPr lang="en-US" sz="1250" dirty="0"/>
          </a:p>
        </p:txBody>
      </p:sp>
      <p:sp>
        <p:nvSpPr>
          <p:cNvPr id="8" name="Text 4"/>
          <p:cNvSpPr txBox="1"/>
          <p:nvPr/>
        </p:nvSpPr>
        <p:spPr>
          <a:xfrm>
            <a:off x="6583680" y="1060704"/>
            <a:ext cx="4892040" cy="1133856"/>
          </a:xfrm>
          <a:prstGeom prst="rect">
            <a:avLst/>
          </a:prstGeom>
          <a:noFill/>
          <a:ln/>
        </p:spPr>
        <p:txBody>
          <a:bodyPr wrap="square" lIns="0" tIns="0" rIns="0" bIns="0" rtlCol="0" anchor="t"/>
          <a:lstStyle/>
          <a:p>
            <a:pPr marL="0" indent="0" algn="r">
              <a:lnSpc>
                <a:spcPct val="95000"/>
              </a:lnSpc>
              <a:buNone/>
            </a:pPr>
            <a:r>
              <a:rPr lang="en-US" sz="9200" b="1" dirty="0">
                <a:solidFill>
                  <a:srgbClr val="5AA7E0"/>
                </a:solidFill>
                <a:latin typeface="Arial" pitchFamily="34" charset="0"/>
                <a:ea typeface="Arial" pitchFamily="34" charset="-122"/>
                <a:cs typeface="Arial" pitchFamily="34" charset="-120"/>
              </a:rPr>
              <a:t>413</a:t>
            </a:r>
            <a:endParaRPr lang="en-US" sz="9200" dirty="0"/>
          </a:p>
        </p:txBody>
      </p:sp>
      <p:sp>
        <p:nvSpPr>
          <p:cNvPr id="9" name="Text 5"/>
          <p:cNvSpPr txBox="1"/>
          <p:nvPr/>
        </p:nvSpPr>
        <p:spPr>
          <a:xfrm>
            <a:off x="6583680" y="2231136"/>
            <a:ext cx="4892040" cy="429768"/>
          </a:xfrm>
          <a:prstGeom prst="rect">
            <a:avLst/>
          </a:prstGeom>
          <a:noFill/>
          <a:ln/>
        </p:spPr>
        <p:txBody>
          <a:bodyPr wrap="square" lIns="0" tIns="0" rIns="0" bIns="0" rtlCol="0" anchor="t"/>
          <a:lstStyle/>
          <a:p>
            <a:pPr marL="0" indent="0" algn="r">
              <a:lnSpc>
                <a:spcPct val="120000"/>
              </a:lnSpc>
              <a:buNone/>
            </a:pPr>
            <a:r>
              <a:rPr lang="en-US" sz="1200" b="1" dirty="0">
                <a:solidFill>
                  <a:srgbClr val="FFFFFF"/>
                </a:solidFill>
                <a:latin typeface="Arial" pitchFamily="34" charset="0"/>
                <a:ea typeface="Arial" pitchFamily="34" charset="-122"/>
                <a:cs typeface="Arial" pitchFamily="34" charset="-120"/>
              </a:rPr>
              <a:t>Booked calls from organic, Google Business Profile and paid</a:t>
            </a:r>
            <a:endParaRPr lang="en-US" sz="1200" dirty="0"/>
          </a:p>
        </p:txBody>
      </p:sp>
      <p:sp>
        <p:nvSpPr>
          <p:cNvPr id="10" name="Text 6"/>
          <p:cNvSpPr txBox="1"/>
          <p:nvPr/>
        </p:nvSpPr>
        <p:spPr>
          <a:xfrm>
            <a:off x="713232"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+933%</a:t>
            </a:r>
            <a:endParaRPr lang="en-US" sz="3100" dirty="0"/>
          </a:p>
        </p:txBody>
      </p:sp>
      <p:sp>
        <p:nvSpPr>
          <p:cNvPr id="11" name="Text 7"/>
          <p:cNvSpPr txBox="1"/>
          <p:nvPr/>
        </p:nvSpPr>
        <p:spPr>
          <a:xfrm>
            <a:off x="713232"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Organic sessions</a:t>
            </a:r>
            <a:endParaRPr lang="en-US" sz="1200" dirty="0"/>
          </a:p>
        </p:txBody>
      </p:sp>
      <p:sp>
        <p:nvSpPr>
          <p:cNvPr id="12" name="Text 8"/>
          <p:cNvSpPr txBox="1"/>
          <p:nvPr/>
        </p:nvSpPr>
        <p:spPr>
          <a:xfrm>
            <a:off x="713232"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Q1 2025</a:t>
            </a:r>
            <a:endParaRPr lang="en-US" sz="1050" dirty="0"/>
          </a:p>
        </p:txBody>
      </p:sp>
      <p:sp>
        <p:nvSpPr>
          <p:cNvPr id="13" name="Shape 9"/>
          <p:cNvSpPr/>
          <p:nvPr/>
        </p:nvSpPr>
        <p:spPr>
          <a:xfrm>
            <a:off x="3166796" y="3200400"/>
            <a:ext cx="0" cy="1294384"/>
          </a:xfrm>
          <a:prstGeom prst="line">
            <a:avLst/>
          </a:prstGeom>
          <a:noFill/>
          <a:ln w="9525">
            <a:solidFill>
              <a:srgbClr val="E2EAF1"/>
            </a:solidFill>
            <a:prstDash val="solid"/>
          </a:ln>
        </p:spPr>
      </p:sp>
      <p:sp>
        <p:nvSpPr>
          <p:cNvPr id="14" name="Text 10"/>
          <p:cNvSpPr txBox="1"/>
          <p:nvPr/>
        </p:nvSpPr>
        <p:spPr>
          <a:xfrm>
            <a:off x="3404540"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3.3x</a:t>
            </a:r>
            <a:endParaRPr lang="en-US" sz="3100" dirty="0"/>
          </a:p>
        </p:txBody>
      </p:sp>
      <p:sp>
        <p:nvSpPr>
          <p:cNvPr id="15" name="Text 11"/>
          <p:cNvSpPr txBox="1"/>
          <p:nvPr/>
        </p:nvSpPr>
        <p:spPr>
          <a:xfrm>
            <a:off x="3404540"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Google Ads return on ad spend</a:t>
            </a:r>
            <a:endParaRPr lang="en-US" sz="1200" dirty="0"/>
          </a:p>
        </p:txBody>
      </p:sp>
      <p:sp>
        <p:nvSpPr>
          <p:cNvPr id="16" name="Text 12"/>
          <p:cNvSpPr txBox="1"/>
          <p:nvPr/>
        </p:nvSpPr>
        <p:spPr>
          <a:xfrm>
            <a:off x="3404540"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2.07x blended</a:t>
            </a:r>
            <a:endParaRPr lang="en-US" sz="1050" dirty="0"/>
          </a:p>
        </p:txBody>
      </p:sp>
      <p:sp>
        <p:nvSpPr>
          <p:cNvPr id="17" name="Shape 13"/>
          <p:cNvSpPr/>
          <p:nvPr/>
        </p:nvSpPr>
        <p:spPr>
          <a:xfrm>
            <a:off x="5858104" y="3200400"/>
            <a:ext cx="0" cy="1294384"/>
          </a:xfrm>
          <a:prstGeom prst="line">
            <a:avLst/>
          </a:prstGeom>
          <a:noFill/>
          <a:ln w="9525">
            <a:solidFill>
              <a:srgbClr val="E2EAF1"/>
            </a:solidFill>
            <a:prstDash val="solid"/>
          </a:ln>
        </p:spPr>
      </p:sp>
      <p:sp>
        <p:nvSpPr>
          <p:cNvPr id="18" name="Text 14"/>
          <p:cNvSpPr txBox="1"/>
          <p:nvPr/>
        </p:nvSpPr>
        <p:spPr>
          <a:xfrm>
            <a:off x="6095848"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3A455"/>
                </a:solidFill>
                <a:latin typeface="Arial" pitchFamily="34" charset="0"/>
                <a:ea typeface="Arial" pitchFamily="34" charset="-122"/>
                <a:cs typeface="Arial" pitchFamily="34" charset="-120"/>
              </a:rPr>
              <a:t>$11.88</a:t>
            </a:r>
            <a:endParaRPr lang="en-US" sz="3100" dirty="0"/>
          </a:p>
        </p:txBody>
      </p:sp>
      <p:sp>
        <p:nvSpPr>
          <p:cNvPr id="19" name="Text 15"/>
          <p:cNvSpPr txBox="1"/>
          <p:nvPr/>
        </p:nvSpPr>
        <p:spPr>
          <a:xfrm>
            <a:off x="6095848"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Cost per lead</a:t>
            </a:r>
            <a:endParaRPr lang="en-US" sz="1200" dirty="0"/>
          </a:p>
        </p:txBody>
      </p:sp>
      <p:sp>
        <p:nvSpPr>
          <p:cNvPr id="20" name="Text 16"/>
          <p:cNvSpPr txBox="1"/>
          <p:nvPr/>
        </p:nvSpPr>
        <p:spPr>
          <a:xfrm>
            <a:off x="6095848"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Healthcare lead generation</a:t>
            </a:r>
            <a:endParaRPr lang="en-US" sz="1050" dirty="0"/>
          </a:p>
        </p:txBody>
      </p:sp>
      <p:sp>
        <p:nvSpPr>
          <p:cNvPr id="21" name="Shape 17"/>
          <p:cNvSpPr/>
          <p:nvPr/>
        </p:nvSpPr>
        <p:spPr>
          <a:xfrm>
            <a:off x="8549411" y="3200400"/>
            <a:ext cx="0" cy="1294384"/>
          </a:xfrm>
          <a:prstGeom prst="line">
            <a:avLst/>
          </a:prstGeom>
          <a:noFill/>
          <a:ln w="9525">
            <a:solidFill>
              <a:srgbClr val="E2EAF1"/>
            </a:solidFill>
            <a:prstDash val="solid"/>
          </a:ln>
        </p:spPr>
      </p:sp>
      <p:sp>
        <p:nvSpPr>
          <p:cNvPr id="22" name="Text 18"/>
          <p:cNvSpPr txBox="1"/>
          <p:nvPr/>
        </p:nvSpPr>
        <p:spPr>
          <a:xfrm>
            <a:off x="8787155" y="3200400"/>
            <a:ext cx="2179244" cy="430276"/>
          </a:xfrm>
          <a:prstGeom prst="rect">
            <a:avLst/>
          </a:prstGeom>
          <a:noFill/>
          <a:ln/>
        </p:spPr>
        <p:txBody>
          <a:bodyPr wrap="square" lIns="0" tIns="0" rIns="0" bIns="0" rtlCol="0" anchor="t"/>
          <a:lstStyle/>
          <a:p>
            <a:pPr marL="0" indent="0" algn="l">
              <a:lnSpc>
                <a:spcPct val="100000"/>
              </a:lnSpc>
              <a:buNone/>
            </a:pPr>
            <a:r>
              <a:rPr lang="en-US" sz="3100" b="1" dirty="0">
                <a:solidFill>
                  <a:srgbClr val="2A80C2"/>
                </a:solidFill>
                <a:latin typeface="Arial" pitchFamily="34" charset="0"/>
                <a:ea typeface="Arial" pitchFamily="34" charset="-122"/>
                <a:cs typeface="Arial" pitchFamily="34" charset="-120"/>
              </a:rPr>
              <a:t>146</a:t>
            </a:r>
            <a:endParaRPr lang="en-US" sz="3100" dirty="0"/>
          </a:p>
        </p:txBody>
      </p:sp>
      <p:sp>
        <p:nvSpPr>
          <p:cNvPr id="23" name="Text 19"/>
          <p:cNvSpPr txBox="1"/>
          <p:nvPr/>
        </p:nvSpPr>
        <p:spPr>
          <a:xfrm>
            <a:off x="8787155" y="3685540"/>
            <a:ext cx="2179244"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Bookings from Meta sale ads</a:t>
            </a:r>
            <a:endParaRPr lang="en-US" sz="1200" dirty="0"/>
          </a:p>
        </p:txBody>
      </p:sp>
      <p:sp>
        <p:nvSpPr>
          <p:cNvPr id="24" name="Text 20"/>
          <p:cNvSpPr txBox="1"/>
          <p:nvPr/>
        </p:nvSpPr>
        <p:spPr>
          <a:xfrm>
            <a:off x="8787155" y="4170172"/>
            <a:ext cx="2179244" cy="21488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Plus 73 from Google Ads calls</a:t>
            </a:r>
            <a:endParaRPr lang="en-US" sz="1050" dirty="0"/>
          </a:p>
        </p:txBody>
      </p:sp>
      <p:sp>
        <p:nvSpPr>
          <p:cNvPr id="25" name="Shape 21"/>
          <p:cNvSpPr/>
          <p:nvPr/>
        </p:nvSpPr>
        <p:spPr>
          <a:xfrm>
            <a:off x="713232" y="4439920"/>
            <a:ext cx="10765231" cy="0"/>
          </a:xfrm>
          <a:prstGeom prst="line">
            <a:avLst/>
          </a:prstGeom>
          <a:noFill/>
          <a:ln w="9525">
            <a:solidFill>
              <a:srgbClr val="E2EAF1"/>
            </a:solidFill>
            <a:prstDash val="solid"/>
          </a:ln>
        </p:spPr>
      </p:sp>
      <p:sp>
        <p:nvSpPr>
          <p:cNvPr id="26" name="Text 22"/>
          <p:cNvSpPr txBox="1"/>
          <p:nvPr/>
        </p:nvSpPr>
        <p:spPr>
          <a:xfrm>
            <a:off x="71323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BEFORE</a:t>
            </a:r>
            <a:endParaRPr lang="en-US" sz="1050" dirty="0"/>
          </a:p>
        </p:txBody>
      </p:sp>
      <p:sp>
        <p:nvSpPr>
          <p:cNvPr id="27" name="Text 23"/>
          <p:cNvSpPr txBox="1"/>
          <p:nvPr/>
        </p:nvSpPr>
        <p:spPr>
          <a:xfrm>
            <a:off x="71323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Growth ambitions, no system</a:t>
            </a:r>
            <a:endParaRPr lang="en-US" sz="1700" dirty="0"/>
          </a:p>
        </p:txBody>
      </p:sp>
      <p:sp>
        <p:nvSpPr>
          <p:cNvPr id="28" name="Text 24"/>
          <p:cNvSpPr txBox="1"/>
          <p:nvPr/>
        </p:nvSpPr>
        <p:spPr>
          <a:xfrm>
            <a:off x="71323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Expansion planned across two states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Low visibility in competitive local markets</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No sustainable way to capture and convert leads</a:t>
            </a:r>
            <a:endParaRPr lang="en-US" sz="1150" dirty="0"/>
          </a:p>
        </p:txBody>
      </p:sp>
      <p:sp>
        <p:nvSpPr>
          <p:cNvPr id="29" name="Text 25"/>
          <p:cNvSpPr txBox="1"/>
          <p:nvPr/>
        </p:nvSpPr>
        <p:spPr>
          <a:xfrm>
            <a:off x="6379312" y="4622800"/>
            <a:ext cx="5099152"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WHAT CHANGED</a:t>
            </a:r>
            <a:endParaRPr lang="en-US" sz="1050" dirty="0"/>
          </a:p>
        </p:txBody>
      </p:sp>
      <p:sp>
        <p:nvSpPr>
          <p:cNvPr id="30" name="Text 26"/>
          <p:cNvSpPr txBox="1"/>
          <p:nvPr/>
        </p:nvSpPr>
        <p:spPr>
          <a:xfrm>
            <a:off x="6379312" y="4951984"/>
            <a:ext cx="5099152" cy="297180"/>
          </a:xfrm>
          <a:prstGeom prst="rect">
            <a:avLst/>
          </a:prstGeom>
          <a:noFill/>
          <a:ln/>
        </p:spPr>
        <p:txBody>
          <a:bodyPr wrap="square" lIns="0" tIns="0" rIns="0" bIns="0" rtlCol="0" anchor="t"/>
          <a:lstStyle/>
          <a:p>
            <a:pPr marL="0" indent="0" algn="l">
              <a:lnSpc>
                <a:spcPct val="108000"/>
              </a:lnSpc>
              <a:buNone/>
            </a:pPr>
            <a:r>
              <a:rPr lang="en-US" sz="1700" b="1" dirty="0">
                <a:solidFill>
                  <a:srgbClr val="0F151B"/>
                </a:solidFill>
                <a:latin typeface="Arial" pitchFamily="34" charset="0"/>
                <a:ea typeface="Arial" pitchFamily="34" charset="-122"/>
                <a:cs typeface="Arial" pitchFamily="34" charset="-120"/>
              </a:rPr>
              <a:t>One funnel, three locations</a:t>
            </a:r>
            <a:endParaRPr lang="en-US" sz="1700" dirty="0"/>
          </a:p>
        </p:txBody>
      </p:sp>
      <p:sp>
        <p:nvSpPr>
          <p:cNvPr id="31" name="Text 27"/>
          <p:cNvSpPr txBox="1"/>
          <p:nvPr/>
        </p:nvSpPr>
        <p:spPr>
          <a:xfrm>
            <a:off x="6379312" y="5358892"/>
            <a:ext cx="5099152" cy="790194"/>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Separate campaigns and profiles per location</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Conversion focused site with streamlined booking</a:t>
            </a:r>
            <a:endParaRPr lang="en-US" sz="1150" dirty="0"/>
          </a:p>
          <a:p>
            <a:pPr marL="342900" indent="-342900">
              <a:lnSpc>
                <a:spcPct val="124000"/>
              </a:lnSpc>
              <a:spcAft>
                <a:spcPts val="700"/>
              </a:spcAft>
              <a:buSzPct val="100000"/>
              <a:buChar char="•"/>
            </a:pPr>
            <a:r>
              <a:rPr lang="en-US" sz="1150" dirty="0">
                <a:solidFill>
                  <a:srgbClr val="5A6772"/>
                </a:solidFill>
                <a:latin typeface="Arial" pitchFamily="34" charset="0"/>
                <a:ea typeface="Arial" pitchFamily="34" charset="-122"/>
                <a:cs typeface="Arial" pitchFamily="34" charset="-120"/>
              </a:rPr>
              <a:t>$8,035 in tracked revenue from Google Ads</a:t>
            </a:r>
            <a:endParaRPr lang="en-US" sz="1150" dirty="0"/>
          </a:p>
        </p:txBody>
      </p:sp>
      <p:sp>
        <p:nvSpPr>
          <p:cNvPr id="32" name="Text 28"/>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17</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280"/>
                                        <p:tgtEl>
                                          <p:spTgt spid="7"/>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8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280"/>
                                        <p:tgtEl>
                                          <p:spTgt spid="1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280"/>
                                        <p:tgtEl>
                                          <p:spTgt spid="18"/>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280"/>
                                        <p:tgtEl>
                                          <p:spTgt spid="22"/>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280"/>
                                        <p:tgtEl>
                                          <p:spTgt spid="11"/>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8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4" grpId="0" animBg="1"/>
      <p:bldP spid="15" grpId="0" animBg="1"/>
      <p:bldP spid="18" grpId="0" animBg="1"/>
      <p:bldP spid="2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MORE PROOF</a:t>
            </a:r>
            <a:endParaRPr lang="en-US" sz="1050" dirty="0"/>
          </a:p>
        </p:txBody>
      </p:sp>
      <p:sp>
        <p:nvSpPr>
          <p:cNvPr id="4" name="Text 1"/>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Nine more clients, nine more numbers</a:t>
            </a:r>
            <a:endParaRPr lang="en-US" sz="3900" dirty="0"/>
          </a:p>
        </p:txBody>
      </p:sp>
      <p:sp>
        <p:nvSpPr>
          <p:cNvPr id="5"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18</a:t>
            </a:r>
            <a:endParaRPr lang="en-US" sz="1050" dirty="0"/>
          </a:p>
        </p:txBody>
      </p:sp>
      <p:sp>
        <p:nvSpPr>
          <p:cNvPr id="6" name="Text 3"/>
          <p:cNvSpPr txBox="1"/>
          <p:nvPr/>
        </p:nvSpPr>
        <p:spPr>
          <a:xfrm>
            <a:off x="713232" y="2487168"/>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53</a:t>
            </a:r>
            <a:endParaRPr lang="en-US" sz="3400" dirty="0"/>
          </a:p>
        </p:txBody>
      </p:sp>
      <p:sp>
        <p:nvSpPr>
          <p:cNvPr id="7" name="Text 4"/>
          <p:cNvSpPr txBox="1"/>
          <p:nvPr/>
        </p:nvSpPr>
        <p:spPr>
          <a:xfrm>
            <a:off x="713232" y="3010408"/>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Qualified leads in 30 days</a:t>
            </a:r>
            <a:endParaRPr lang="en-US" sz="1200" dirty="0"/>
          </a:p>
        </p:txBody>
      </p:sp>
      <p:sp>
        <p:nvSpPr>
          <p:cNvPr id="8" name="Text 5"/>
          <p:cNvSpPr txBox="1"/>
          <p:nvPr/>
        </p:nvSpPr>
        <p:spPr>
          <a:xfrm>
            <a:off x="713232" y="3495040"/>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Tristate Window and Siding, plus 19 booked appointments</a:t>
            </a:r>
            <a:endParaRPr lang="en-US" sz="1050" dirty="0"/>
          </a:p>
        </p:txBody>
      </p:sp>
      <p:sp>
        <p:nvSpPr>
          <p:cNvPr id="9" name="Shape 6"/>
          <p:cNvSpPr/>
          <p:nvPr/>
        </p:nvSpPr>
        <p:spPr>
          <a:xfrm>
            <a:off x="2628534" y="2487168"/>
            <a:ext cx="0" cy="1652524"/>
          </a:xfrm>
          <a:prstGeom prst="line">
            <a:avLst/>
          </a:prstGeom>
          <a:noFill/>
          <a:ln w="9525">
            <a:solidFill>
              <a:srgbClr val="E2EAF1"/>
            </a:solidFill>
            <a:prstDash val="solid"/>
          </a:ln>
        </p:spPr>
      </p:sp>
      <p:sp>
        <p:nvSpPr>
          <p:cNvPr id="10" name="Text 7"/>
          <p:cNvSpPr txBox="1"/>
          <p:nvPr/>
        </p:nvSpPr>
        <p:spPr>
          <a:xfrm>
            <a:off x="2866278" y="2487168"/>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71</a:t>
            </a:r>
            <a:endParaRPr lang="en-US" sz="3400" dirty="0"/>
          </a:p>
        </p:txBody>
      </p:sp>
      <p:sp>
        <p:nvSpPr>
          <p:cNvPr id="11" name="Text 8"/>
          <p:cNvSpPr txBox="1"/>
          <p:nvPr/>
        </p:nvSpPr>
        <p:spPr>
          <a:xfrm>
            <a:off x="2866278" y="3010408"/>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Paid leads</a:t>
            </a:r>
            <a:endParaRPr lang="en-US" sz="1200" dirty="0"/>
          </a:p>
        </p:txBody>
      </p:sp>
      <p:sp>
        <p:nvSpPr>
          <p:cNvPr id="12" name="Text 9"/>
          <p:cNvSpPr txBox="1"/>
          <p:nvPr/>
        </p:nvSpPr>
        <p:spPr>
          <a:xfrm>
            <a:off x="2866278" y="3495040"/>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Jade International freight, $19.58 Google CPL</a:t>
            </a:r>
            <a:endParaRPr lang="en-US" sz="1050" dirty="0"/>
          </a:p>
        </p:txBody>
      </p:sp>
      <p:sp>
        <p:nvSpPr>
          <p:cNvPr id="13" name="Shape 10"/>
          <p:cNvSpPr/>
          <p:nvPr/>
        </p:nvSpPr>
        <p:spPr>
          <a:xfrm>
            <a:off x="4781580" y="2487168"/>
            <a:ext cx="0" cy="1652524"/>
          </a:xfrm>
          <a:prstGeom prst="line">
            <a:avLst/>
          </a:prstGeom>
          <a:noFill/>
          <a:ln w="9525">
            <a:solidFill>
              <a:srgbClr val="E2EAF1"/>
            </a:solidFill>
            <a:prstDash val="solid"/>
          </a:ln>
        </p:spPr>
      </p:sp>
      <p:sp>
        <p:nvSpPr>
          <p:cNvPr id="14" name="Text 11"/>
          <p:cNvSpPr txBox="1"/>
          <p:nvPr/>
        </p:nvSpPr>
        <p:spPr>
          <a:xfrm>
            <a:off x="5019324" y="2487168"/>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7.9K</a:t>
            </a:r>
            <a:endParaRPr lang="en-US" sz="3400" dirty="0"/>
          </a:p>
        </p:txBody>
      </p:sp>
      <p:sp>
        <p:nvSpPr>
          <p:cNvPr id="15" name="Text 12"/>
          <p:cNvSpPr txBox="1"/>
          <p:nvPr/>
        </p:nvSpPr>
        <p:spPr>
          <a:xfrm>
            <a:off x="5019324" y="3010408"/>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Organic clicks</a:t>
            </a:r>
            <a:endParaRPr lang="en-US" sz="1200" dirty="0"/>
          </a:p>
        </p:txBody>
      </p:sp>
      <p:sp>
        <p:nvSpPr>
          <p:cNvPr id="16" name="Text 13"/>
          <p:cNvSpPr txBox="1"/>
          <p:nvPr/>
        </p:nvSpPr>
        <p:spPr>
          <a:xfrm>
            <a:off x="5019324" y="3495040"/>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Sweetlife NYC, Wix to WordPress with no traffic loss</a:t>
            </a:r>
            <a:endParaRPr lang="en-US" sz="1050" dirty="0"/>
          </a:p>
        </p:txBody>
      </p:sp>
      <p:sp>
        <p:nvSpPr>
          <p:cNvPr id="17" name="Shape 14"/>
          <p:cNvSpPr/>
          <p:nvPr/>
        </p:nvSpPr>
        <p:spPr>
          <a:xfrm>
            <a:off x="6934627" y="2487168"/>
            <a:ext cx="0" cy="1652524"/>
          </a:xfrm>
          <a:prstGeom prst="line">
            <a:avLst/>
          </a:prstGeom>
          <a:noFill/>
          <a:ln w="9525">
            <a:solidFill>
              <a:srgbClr val="E2EAF1"/>
            </a:solidFill>
            <a:prstDash val="solid"/>
          </a:ln>
        </p:spPr>
      </p:sp>
      <p:sp>
        <p:nvSpPr>
          <p:cNvPr id="18" name="Text 15"/>
          <p:cNvSpPr txBox="1"/>
          <p:nvPr/>
        </p:nvSpPr>
        <p:spPr>
          <a:xfrm>
            <a:off x="7172371" y="2487168"/>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172</a:t>
            </a:r>
            <a:endParaRPr lang="en-US" sz="3400" dirty="0"/>
          </a:p>
        </p:txBody>
      </p:sp>
      <p:sp>
        <p:nvSpPr>
          <p:cNvPr id="19" name="Text 16"/>
          <p:cNvSpPr txBox="1"/>
          <p:nvPr/>
        </p:nvSpPr>
        <p:spPr>
          <a:xfrm>
            <a:off x="7172371" y="3010408"/>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Tracked conversions</a:t>
            </a:r>
            <a:endParaRPr lang="en-US" sz="1200" dirty="0"/>
          </a:p>
        </p:txBody>
      </p:sp>
      <p:sp>
        <p:nvSpPr>
          <p:cNvPr id="20" name="Text 17"/>
          <p:cNvSpPr txBox="1"/>
          <p:nvPr/>
        </p:nvSpPr>
        <p:spPr>
          <a:xfrm>
            <a:off x="7172371" y="3495040"/>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LaserSkin MedSpa, 21 booked appointments</a:t>
            </a:r>
            <a:endParaRPr lang="en-US" sz="1050" dirty="0"/>
          </a:p>
        </p:txBody>
      </p:sp>
      <p:sp>
        <p:nvSpPr>
          <p:cNvPr id="21" name="Shape 18"/>
          <p:cNvSpPr/>
          <p:nvPr/>
        </p:nvSpPr>
        <p:spPr>
          <a:xfrm>
            <a:off x="9087673" y="2487168"/>
            <a:ext cx="0" cy="1652524"/>
          </a:xfrm>
          <a:prstGeom prst="line">
            <a:avLst/>
          </a:prstGeom>
          <a:noFill/>
          <a:ln w="9525">
            <a:solidFill>
              <a:srgbClr val="E2EAF1"/>
            </a:solidFill>
            <a:prstDash val="solid"/>
          </a:ln>
        </p:spPr>
      </p:sp>
      <p:sp>
        <p:nvSpPr>
          <p:cNvPr id="22" name="Text 19"/>
          <p:cNvSpPr txBox="1"/>
          <p:nvPr/>
        </p:nvSpPr>
        <p:spPr>
          <a:xfrm>
            <a:off x="9325417" y="2487168"/>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A80C2"/>
                </a:solidFill>
                <a:latin typeface="Arial" pitchFamily="34" charset="0"/>
                <a:ea typeface="Arial" pitchFamily="34" charset="-122"/>
                <a:cs typeface="Arial" pitchFamily="34" charset="-120"/>
              </a:rPr>
              <a:t>24,688</a:t>
            </a:r>
            <a:endParaRPr lang="en-US" sz="3400" dirty="0"/>
          </a:p>
        </p:txBody>
      </p:sp>
      <p:sp>
        <p:nvSpPr>
          <p:cNvPr id="23" name="Text 20"/>
          <p:cNvSpPr txBox="1"/>
          <p:nvPr/>
        </p:nvSpPr>
        <p:spPr>
          <a:xfrm>
            <a:off x="9325417" y="3010408"/>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Sessions</a:t>
            </a:r>
            <a:endParaRPr lang="en-US" sz="1200" dirty="0"/>
          </a:p>
        </p:txBody>
      </p:sp>
      <p:sp>
        <p:nvSpPr>
          <p:cNvPr id="24" name="Text 21"/>
          <p:cNvSpPr txBox="1"/>
          <p:nvPr/>
        </p:nvSpPr>
        <p:spPr>
          <a:xfrm>
            <a:off x="9325417" y="3495040"/>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Mosser Legal appellate practice</a:t>
            </a:r>
            <a:endParaRPr lang="en-US" sz="1050" dirty="0"/>
          </a:p>
        </p:txBody>
      </p:sp>
      <p:sp>
        <p:nvSpPr>
          <p:cNvPr id="25" name="Shape 22"/>
          <p:cNvSpPr/>
          <p:nvPr/>
        </p:nvSpPr>
        <p:spPr>
          <a:xfrm>
            <a:off x="713232" y="4224528"/>
            <a:ext cx="10765231" cy="0"/>
          </a:xfrm>
          <a:prstGeom prst="line">
            <a:avLst/>
          </a:prstGeom>
          <a:noFill/>
          <a:ln w="9525">
            <a:solidFill>
              <a:srgbClr val="E2EAF1"/>
            </a:solidFill>
            <a:prstDash val="solid"/>
          </a:ln>
        </p:spPr>
      </p:sp>
      <p:sp>
        <p:nvSpPr>
          <p:cNvPr id="26" name="Text 23"/>
          <p:cNvSpPr txBox="1"/>
          <p:nvPr/>
        </p:nvSpPr>
        <p:spPr>
          <a:xfrm>
            <a:off x="713232" y="4443984"/>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$594K</a:t>
            </a:r>
            <a:endParaRPr lang="en-US" sz="3400" dirty="0"/>
          </a:p>
        </p:txBody>
      </p:sp>
      <p:sp>
        <p:nvSpPr>
          <p:cNvPr id="27" name="Text 24"/>
          <p:cNvSpPr txBox="1"/>
          <p:nvPr/>
        </p:nvSpPr>
        <p:spPr>
          <a:xfrm>
            <a:off x="713232" y="4967224"/>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Annual sales in 2021</a:t>
            </a:r>
            <a:endParaRPr lang="en-US" sz="1200" dirty="0"/>
          </a:p>
        </p:txBody>
      </p:sp>
      <p:sp>
        <p:nvSpPr>
          <p:cNvPr id="28" name="Text 25"/>
          <p:cNvSpPr txBox="1"/>
          <p:nvPr/>
        </p:nvSpPr>
        <p:spPr>
          <a:xfrm>
            <a:off x="713232" y="5451856"/>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Alex Mika Jewelry, up from $142K in 2016</a:t>
            </a:r>
            <a:endParaRPr lang="en-US" sz="1050" dirty="0"/>
          </a:p>
        </p:txBody>
      </p:sp>
      <p:sp>
        <p:nvSpPr>
          <p:cNvPr id="29" name="Shape 26"/>
          <p:cNvSpPr/>
          <p:nvPr/>
        </p:nvSpPr>
        <p:spPr>
          <a:xfrm>
            <a:off x="2628534" y="4443984"/>
            <a:ext cx="0" cy="1652524"/>
          </a:xfrm>
          <a:prstGeom prst="line">
            <a:avLst/>
          </a:prstGeom>
          <a:noFill/>
          <a:ln w="9525">
            <a:solidFill>
              <a:srgbClr val="E2EAF1"/>
            </a:solidFill>
            <a:prstDash val="solid"/>
          </a:ln>
        </p:spPr>
      </p:sp>
      <p:sp>
        <p:nvSpPr>
          <p:cNvPr id="30" name="Text 27"/>
          <p:cNvSpPr txBox="1"/>
          <p:nvPr/>
        </p:nvSpPr>
        <p:spPr>
          <a:xfrm>
            <a:off x="2866278" y="4443984"/>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5 → 35</a:t>
            </a:r>
            <a:endParaRPr lang="en-US" sz="3400" dirty="0"/>
          </a:p>
        </p:txBody>
      </p:sp>
      <p:sp>
        <p:nvSpPr>
          <p:cNvPr id="31" name="Text 28"/>
          <p:cNvSpPr txBox="1"/>
          <p:nvPr/>
        </p:nvSpPr>
        <p:spPr>
          <a:xfrm>
            <a:off x="2866278" y="4967224"/>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Domain authority</a:t>
            </a:r>
            <a:endParaRPr lang="en-US" sz="1200" dirty="0"/>
          </a:p>
        </p:txBody>
      </p:sp>
      <p:sp>
        <p:nvSpPr>
          <p:cNvPr id="32" name="Text 29"/>
          <p:cNvSpPr txBox="1"/>
          <p:nvPr/>
        </p:nvSpPr>
        <p:spPr>
          <a:xfrm>
            <a:off x="2866278" y="5451856"/>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Alex Mika Jewelry, backlinks 224 to 2,408</a:t>
            </a:r>
            <a:endParaRPr lang="en-US" sz="1050" dirty="0"/>
          </a:p>
        </p:txBody>
      </p:sp>
      <p:sp>
        <p:nvSpPr>
          <p:cNvPr id="33" name="Shape 30"/>
          <p:cNvSpPr/>
          <p:nvPr/>
        </p:nvSpPr>
        <p:spPr>
          <a:xfrm>
            <a:off x="4781580" y="4443984"/>
            <a:ext cx="0" cy="1652524"/>
          </a:xfrm>
          <a:prstGeom prst="line">
            <a:avLst/>
          </a:prstGeom>
          <a:noFill/>
          <a:ln w="9525">
            <a:solidFill>
              <a:srgbClr val="E2EAF1"/>
            </a:solidFill>
            <a:prstDash val="solid"/>
          </a:ln>
        </p:spPr>
      </p:sp>
      <p:sp>
        <p:nvSpPr>
          <p:cNvPr id="34" name="Text 31"/>
          <p:cNvSpPr txBox="1"/>
          <p:nvPr/>
        </p:nvSpPr>
        <p:spPr>
          <a:xfrm>
            <a:off x="5019324" y="4443984"/>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1,200+</a:t>
            </a:r>
            <a:endParaRPr lang="en-US" sz="3400" dirty="0"/>
          </a:p>
        </p:txBody>
      </p:sp>
      <p:sp>
        <p:nvSpPr>
          <p:cNvPr id="35" name="Text 32"/>
          <p:cNvSpPr txBox="1"/>
          <p:nvPr/>
        </p:nvSpPr>
        <p:spPr>
          <a:xfrm>
            <a:off x="5019324" y="4967224"/>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Ranking keywords from zero</a:t>
            </a:r>
            <a:endParaRPr lang="en-US" sz="1200" dirty="0"/>
          </a:p>
        </p:txBody>
      </p:sp>
      <p:sp>
        <p:nvSpPr>
          <p:cNvPr id="36" name="Text 33"/>
          <p:cNvSpPr txBox="1"/>
          <p:nvPr/>
        </p:nvSpPr>
        <p:spPr>
          <a:xfrm>
            <a:off x="5019324" y="5451856"/>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7Bros Apparel Shopify build</a:t>
            </a:r>
            <a:endParaRPr lang="en-US" sz="1050" dirty="0"/>
          </a:p>
        </p:txBody>
      </p:sp>
      <p:sp>
        <p:nvSpPr>
          <p:cNvPr id="37" name="Shape 34"/>
          <p:cNvSpPr/>
          <p:nvPr/>
        </p:nvSpPr>
        <p:spPr>
          <a:xfrm>
            <a:off x="6934627" y="4443984"/>
            <a:ext cx="0" cy="1652524"/>
          </a:xfrm>
          <a:prstGeom prst="line">
            <a:avLst/>
          </a:prstGeom>
          <a:noFill/>
          <a:ln w="9525">
            <a:solidFill>
              <a:srgbClr val="E2EAF1"/>
            </a:solidFill>
            <a:prstDash val="solid"/>
          </a:ln>
        </p:spPr>
      </p:sp>
      <p:sp>
        <p:nvSpPr>
          <p:cNvPr id="38" name="Text 35"/>
          <p:cNvSpPr txBox="1"/>
          <p:nvPr/>
        </p:nvSpPr>
        <p:spPr>
          <a:xfrm>
            <a:off x="7172371" y="4443984"/>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130+</a:t>
            </a:r>
            <a:endParaRPr lang="en-US" sz="3400" dirty="0"/>
          </a:p>
        </p:txBody>
      </p:sp>
      <p:sp>
        <p:nvSpPr>
          <p:cNvPr id="39" name="Text 36"/>
          <p:cNvSpPr txBox="1"/>
          <p:nvPr/>
        </p:nvSpPr>
        <p:spPr>
          <a:xfrm>
            <a:off x="7172371" y="4967224"/>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New signups</a:t>
            </a:r>
            <a:endParaRPr lang="en-US" sz="1200" dirty="0"/>
          </a:p>
        </p:txBody>
      </p:sp>
      <p:sp>
        <p:nvSpPr>
          <p:cNvPr id="40" name="Text 37"/>
          <p:cNvSpPr txBox="1"/>
          <p:nvPr/>
        </p:nvSpPr>
        <p:spPr>
          <a:xfrm>
            <a:off x="7172371" y="5451856"/>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Sweetlife NYC, QR to form flow in under a month</a:t>
            </a:r>
            <a:endParaRPr lang="en-US" sz="1050" dirty="0"/>
          </a:p>
        </p:txBody>
      </p:sp>
      <p:sp>
        <p:nvSpPr>
          <p:cNvPr id="41" name="Shape 38"/>
          <p:cNvSpPr/>
          <p:nvPr/>
        </p:nvSpPr>
        <p:spPr>
          <a:xfrm>
            <a:off x="9087673" y="4443984"/>
            <a:ext cx="0" cy="1652524"/>
          </a:xfrm>
          <a:prstGeom prst="line">
            <a:avLst/>
          </a:prstGeom>
          <a:noFill/>
          <a:ln w="9525">
            <a:solidFill>
              <a:srgbClr val="E2EAF1"/>
            </a:solidFill>
            <a:prstDash val="solid"/>
          </a:ln>
        </p:spPr>
      </p:sp>
      <p:sp>
        <p:nvSpPr>
          <p:cNvPr id="42" name="Text 39"/>
          <p:cNvSpPr txBox="1"/>
          <p:nvPr/>
        </p:nvSpPr>
        <p:spPr>
          <a:xfrm>
            <a:off x="9325417" y="4443984"/>
            <a:ext cx="1640982" cy="468376"/>
          </a:xfrm>
          <a:prstGeom prst="rect">
            <a:avLst/>
          </a:prstGeom>
          <a:noFill/>
          <a:ln/>
        </p:spPr>
        <p:txBody>
          <a:bodyPr wrap="square" lIns="0" tIns="0" rIns="0" bIns="0" rtlCol="0" anchor="t"/>
          <a:lstStyle/>
          <a:p>
            <a:pPr marL="0" indent="0" algn="l">
              <a:lnSpc>
                <a:spcPct val="100000"/>
              </a:lnSpc>
              <a:buNone/>
            </a:pPr>
            <a:r>
              <a:rPr lang="en-US" sz="3400" b="1" dirty="0">
                <a:solidFill>
                  <a:srgbClr val="23A455"/>
                </a:solidFill>
                <a:latin typeface="Arial" pitchFamily="34" charset="0"/>
                <a:ea typeface="Arial" pitchFamily="34" charset="-122"/>
                <a:cs typeface="Arial" pitchFamily="34" charset="-120"/>
              </a:rPr>
              <a:t>100K+</a:t>
            </a:r>
            <a:endParaRPr lang="en-US" sz="3400" dirty="0"/>
          </a:p>
        </p:txBody>
      </p:sp>
      <p:sp>
        <p:nvSpPr>
          <p:cNvPr id="43" name="Text 40"/>
          <p:cNvSpPr txBox="1"/>
          <p:nvPr/>
        </p:nvSpPr>
        <p:spPr>
          <a:xfrm>
            <a:off x="9325417" y="4967224"/>
            <a:ext cx="1640982" cy="420624"/>
          </a:xfrm>
          <a:prstGeom prst="rect">
            <a:avLst/>
          </a:prstGeom>
          <a:noFill/>
          <a:ln/>
        </p:spPr>
        <p:txBody>
          <a:bodyPr wrap="square" lIns="0" tIns="0" rIns="0" bIns="0" rtlCol="0" anchor="t"/>
          <a:lstStyle/>
          <a:p>
            <a:pPr marL="0" indent="0" algn="l">
              <a:lnSpc>
                <a:spcPct val="120000"/>
              </a:lnSpc>
              <a:buNone/>
            </a:pPr>
            <a:r>
              <a:rPr lang="en-US" sz="1200" b="1" dirty="0">
                <a:solidFill>
                  <a:srgbClr val="0F151B"/>
                </a:solidFill>
                <a:latin typeface="Arial" pitchFamily="34" charset="0"/>
                <a:ea typeface="Arial" pitchFamily="34" charset="-122"/>
                <a:cs typeface="Arial" pitchFamily="34" charset="-120"/>
              </a:rPr>
              <a:t>Guests and site visitors</a:t>
            </a:r>
            <a:endParaRPr lang="en-US" sz="1200" dirty="0"/>
          </a:p>
        </p:txBody>
      </p:sp>
      <p:sp>
        <p:nvSpPr>
          <p:cNvPr id="44" name="Text 41"/>
          <p:cNvSpPr txBox="1"/>
          <p:nvPr/>
        </p:nvSpPr>
        <p:spPr>
          <a:xfrm>
            <a:off x="9325417" y="5451856"/>
            <a:ext cx="1640982" cy="534924"/>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NOTO PHL and NOTO HTX, 200+ reviews</a:t>
            </a:r>
            <a:endParaRPr lang="en-US" sz="10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280"/>
                                        <p:tgtEl>
                                          <p:spTgt spid="10"/>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280"/>
                                        <p:tgtEl>
                                          <p:spTgt spid="14"/>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280"/>
                                        <p:tgtEl>
                                          <p:spTgt spid="18"/>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280"/>
                                        <p:tgtEl>
                                          <p:spTgt spid="22"/>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280"/>
                                        <p:tgtEl>
                                          <p:spTgt spid="7"/>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280"/>
                                        <p:tgtEl>
                                          <p:spTgt spid="11"/>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280"/>
                                        <p:tgtEl>
                                          <p:spTgt spid="15"/>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280"/>
                                        <p:tgtEl>
                                          <p:spTgt spid="19"/>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28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10" grpId="0" animBg="1"/>
      <p:bldP spid="11" grpId="0" animBg="1"/>
      <p:bldP spid="14" grpId="0" animBg="1"/>
      <p:bldP spid="15" grpId="0" animBg="1"/>
      <p:bldP spid="18" grpId="0" animBg="1"/>
      <p:bldP spid="19" grpId="0" animBg="1"/>
      <p:bldP spid="22" grpId="0" animBg="1"/>
      <p:bldP spid="2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1825"/>
        </a:solidFill>
        <a:effectLst/>
      </p:bgPr>
    </p:bg>
    <p:spTree>
      <p:nvGrpSpPr>
        <p:cNvPr id="1" name=""/>
        <p:cNvGrpSpPr/>
        <p:nvPr/>
      </p:nvGrpSpPr>
      <p:grpSpPr>
        <a:xfrm>
          <a:off x="0" y="0"/>
          <a:ext cx="0" cy="0"/>
          <a:chOff x="0" y="0"/>
          <a:chExt cx="0" cy="0"/>
        </a:xfrm>
      </p:grpSpPr>
      <p:sp>
        <p:nvSpPr>
          <p:cNvPr id="2" name="Text 0"/>
          <p:cNvSpPr txBox="1"/>
          <p:nvPr/>
        </p:nvSpPr>
        <p:spPr>
          <a:xfrm>
            <a:off x="4480560" y="502920"/>
            <a:ext cx="8138160" cy="6949440"/>
          </a:xfrm>
          <a:prstGeom prst="rect">
            <a:avLst/>
          </a:prstGeom>
          <a:noFill/>
          <a:ln/>
        </p:spPr>
        <p:txBody>
          <a:bodyPr wrap="square" lIns="0" tIns="0" rIns="0" bIns="0" rtlCol="0" anchor="t"/>
          <a:lstStyle/>
          <a:p>
            <a:pPr marL="0" indent="0" algn="r">
              <a:lnSpc>
                <a:spcPct val="100000"/>
              </a:lnSpc>
              <a:buNone/>
            </a:pPr>
            <a:r>
              <a:rPr lang="en-US" sz="43000" b="1" dirty="0">
                <a:solidFill>
                  <a:srgbClr val="112B3F"/>
                </a:solidFill>
                <a:latin typeface="Arial" pitchFamily="34" charset="0"/>
                <a:ea typeface="Arial" pitchFamily="34" charset="-122"/>
                <a:cs typeface="Arial" pitchFamily="34" charset="-120"/>
              </a:rPr>
              <a:t>03</a:t>
            </a:r>
            <a:endParaRPr lang="en-US" sz="43000" dirty="0"/>
          </a:p>
        </p:txBody>
      </p:sp>
      <p:pic>
        <p:nvPicPr>
          <p:cNvPr id="3"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4" name="Text 1"/>
          <p:cNvSpPr txBox="1"/>
          <p:nvPr/>
        </p:nvSpPr>
        <p:spPr>
          <a:xfrm>
            <a:off x="713232" y="3063240"/>
            <a:ext cx="676656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SECTION THREE</a:t>
            </a:r>
            <a:endParaRPr lang="en-US" sz="1050" dirty="0"/>
          </a:p>
        </p:txBody>
      </p:sp>
      <p:sp>
        <p:nvSpPr>
          <p:cNvPr id="5" name="Text 2"/>
          <p:cNvSpPr txBox="1"/>
          <p:nvPr/>
        </p:nvSpPr>
        <p:spPr>
          <a:xfrm>
            <a:off x="713232" y="3392424"/>
            <a:ext cx="7498080" cy="633984"/>
          </a:xfrm>
          <a:prstGeom prst="rect">
            <a:avLst/>
          </a:prstGeom>
          <a:noFill/>
          <a:ln/>
        </p:spPr>
        <p:txBody>
          <a:bodyPr wrap="square" lIns="0" tIns="0" rIns="0" bIns="0" rtlCol="0" anchor="t"/>
          <a:lstStyle/>
          <a:p>
            <a:pPr marL="0" indent="0" algn="l">
              <a:lnSpc>
                <a:spcPct val="102000"/>
              </a:lnSpc>
              <a:buNone/>
            </a:pPr>
            <a:r>
              <a:rPr lang="en-US" sz="4400" b="1" dirty="0">
                <a:solidFill>
                  <a:srgbClr val="FFFFFF"/>
                </a:solidFill>
                <a:latin typeface="Arial" pitchFamily="34" charset="0"/>
                <a:ea typeface="Arial" pitchFamily="34" charset="-122"/>
                <a:cs typeface="Arial" pitchFamily="34" charset="-120"/>
              </a:rPr>
              <a:t>Working together</a:t>
            </a:r>
            <a:endParaRPr lang="en-US" sz="4400" dirty="0"/>
          </a:p>
        </p:txBody>
      </p:sp>
      <p:sp>
        <p:nvSpPr>
          <p:cNvPr id="6" name="Text 3"/>
          <p:cNvSpPr txBox="1"/>
          <p:nvPr/>
        </p:nvSpPr>
        <p:spPr>
          <a:xfrm>
            <a:off x="713232" y="4282440"/>
            <a:ext cx="6766560" cy="559308"/>
          </a:xfrm>
          <a:prstGeom prst="rect">
            <a:avLst/>
          </a:prstGeom>
          <a:noFill/>
          <a:ln/>
        </p:spPr>
        <p:txBody>
          <a:bodyPr wrap="square" lIns="0" tIns="0" rIns="0" bIns="0" rtlCol="0" anchor="t"/>
          <a:lstStyle/>
          <a:p>
            <a:pPr marL="0" indent="0" algn="l">
              <a:lnSpc>
                <a:spcPct val="130000"/>
              </a:lnSpc>
              <a:buNone/>
            </a:pPr>
            <a:r>
              <a:rPr lang="en-US" sz="1500" dirty="0">
                <a:solidFill>
                  <a:srgbClr val="9DB5C8"/>
                </a:solidFill>
                <a:latin typeface="Arial" pitchFamily="34" charset="0"/>
                <a:ea typeface="Arial" pitchFamily="34" charset="-122"/>
                <a:cs typeface="Arial" pitchFamily="34" charset="-120"/>
              </a:rPr>
              <a:t>How an engagement starts, what it costs, and what you get back every month.</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80"/>
                                        <p:tgtEl>
                                          <p:spTgt spid="2"/>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28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4983480"/>
            <a:ext cx="12191695" cy="1874520"/>
          </a:xfrm>
          <a:prstGeom prst="rect">
            <a:avLst/>
          </a:prstGeom>
          <a:solidFill>
            <a:srgbClr val="0A1825"/>
          </a:solidFill>
          <a:ln w="12700">
            <a:solidFill>
              <a:srgbClr val="333333"/>
            </a:solidFill>
            <a:prstDash val="solid"/>
          </a:ln>
        </p:spPr>
      </p:sp>
      <p:pic>
        <p:nvPicPr>
          <p:cNvPr id="3"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4" name="Text 1"/>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PROCESS</a:t>
            </a:r>
            <a:endParaRPr lang="en-US" sz="1050" dirty="0"/>
          </a:p>
        </p:txBody>
      </p:sp>
      <p:sp>
        <p:nvSpPr>
          <p:cNvPr id="5" name="Text 2"/>
          <p:cNvSpPr txBox="1"/>
          <p:nvPr/>
        </p:nvSpPr>
        <p:spPr>
          <a:xfrm>
            <a:off x="713232" y="987552"/>
            <a:ext cx="8570671"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How an engagement runs</a:t>
            </a:r>
            <a:endParaRPr lang="en-US" sz="3900" dirty="0"/>
          </a:p>
        </p:txBody>
      </p:sp>
      <p:sp>
        <p:nvSpPr>
          <p:cNvPr id="6" name="Text 3"/>
          <p:cNvSpPr txBox="1"/>
          <p:nvPr/>
        </p:nvSpPr>
        <p:spPr>
          <a:xfrm>
            <a:off x="713232" y="1703070"/>
            <a:ext cx="8046720" cy="356616"/>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It starts with a free audit, and nothing is guessed after that.</a:t>
            </a:r>
            <a:endParaRPr lang="en-US" sz="1800" dirty="0"/>
          </a:p>
        </p:txBody>
      </p:sp>
      <p:sp>
        <p:nvSpPr>
          <p:cNvPr id="7" name="Text 4"/>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19</a:t>
            </a:r>
            <a:endParaRPr lang="en-US" sz="1050" dirty="0"/>
          </a:p>
        </p:txBody>
      </p:sp>
      <p:sp>
        <p:nvSpPr>
          <p:cNvPr id="8" name="Text 5"/>
          <p:cNvSpPr txBox="1"/>
          <p:nvPr/>
        </p:nvSpPr>
        <p:spPr>
          <a:xfrm>
            <a:off x="713232" y="2514600"/>
            <a:ext cx="1604406"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01</a:t>
            </a:r>
            <a:endParaRPr lang="en-US" sz="1500" dirty="0"/>
          </a:p>
        </p:txBody>
      </p:sp>
      <p:sp>
        <p:nvSpPr>
          <p:cNvPr id="9" name="Text 6"/>
          <p:cNvSpPr txBox="1"/>
          <p:nvPr/>
        </p:nvSpPr>
        <p:spPr>
          <a:xfrm>
            <a:off x="713232" y="2935224"/>
            <a:ext cx="1604406" cy="48310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Free marketing audit</a:t>
            </a:r>
            <a:endParaRPr lang="en-US" sz="1500" dirty="0"/>
          </a:p>
        </p:txBody>
      </p:sp>
      <p:sp>
        <p:nvSpPr>
          <p:cNvPr id="10" name="Text 7"/>
          <p:cNvSpPr txBox="1"/>
          <p:nvPr/>
        </p:nvSpPr>
        <p:spPr>
          <a:xfrm>
            <a:off x="713232" y="3528060"/>
            <a:ext cx="1604406"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We audit the website, SEO and full digital presence before quoting. Published as a $500 value.</a:t>
            </a:r>
            <a:endParaRPr lang="en-US" sz="1050" dirty="0"/>
          </a:p>
        </p:txBody>
      </p:sp>
      <p:sp>
        <p:nvSpPr>
          <p:cNvPr id="11" name="Shape 8"/>
          <p:cNvSpPr/>
          <p:nvPr/>
        </p:nvSpPr>
        <p:spPr>
          <a:xfrm>
            <a:off x="2610246" y="2514600"/>
            <a:ext cx="0" cy="1737360"/>
          </a:xfrm>
          <a:prstGeom prst="line">
            <a:avLst/>
          </a:prstGeom>
          <a:noFill/>
          <a:ln w="9525">
            <a:solidFill>
              <a:srgbClr val="E2EAF1"/>
            </a:solidFill>
            <a:prstDash val="solid"/>
          </a:ln>
        </p:spPr>
      </p:sp>
      <p:sp>
        <p:nvSpPr>
          <p:cNvPr id="12" name="Text 9"/>
          <p:cNvSpPr txBox="1"/>
          <p:nvPr/>
        </p:nvSpPr>
        <p:spPr>
          <a:xfrm>
            <a:off x="2866278" y="2514600"/>
            <a:ext cx="1604406"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02</a:t>
            </a:r>
            <a:endParaRPr lang="en-US" sz="1500" dirty="0"/>
          </a:p>
        </p:txBody>
      </p:sp>
      <p:sp>
        <p:nvSpPr>
          <p:cNvPr id="13" name="Text 10"/>
          <p:cNvSpPr txBox="1"/>
          <p:nvPr/>
        </p:nvSpPr>
        <p:spPr>
          <a:xfrm>
            <a:off x="2866278" y="2935224"/>
            <a:ext cx="1604406" cy="48310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Strategy and goals</a:t>
            </a:r>
            <a:endParaRPr lang="en-US" sz="1500" dirty="0"/>
          </a:p>
        </p:txBody>
      </p:sp>
      <p:sp>
        <p:nvSpPr>
          <p:cNvPr id="14" name="Text 11"/>
          <p:cNvSpPr txBox="1"/>
          <p:nvPr/>
        </p:nvSpPr>
        <p:spPr>
          <a:xfrm>
            <a:off x="2866278" y="3528060"/>
            <a:ext cx="1604406" cy="736092"/>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We agree the outcome first: calls, forms, bookings or sales, and how each is counted.</a:t>
            </a:r>
            <a:endParaRPr lang="en-US" sz="1050" dirty="0"/>
          </a:p>
        </p:txBody>
      </p:sp>
      <p:sp>
        <p:nvSpPr>
          <p:cNvPr id="15" name="Shape 12"/>
          <p:cNvSpPr/>
          <p:nvPr/>
        </p:nvSpPr>
        <p:spPr>
          <a:xfrm>
            <a:off x="4763292" y="2514600"/>
            <a:ext cx="0" cy="1737360"/>
          </a:xfrm>
          <a:prstGeom prst="line">
            <a:avLst/>
          </a:prstGeom>
          <a:noFill/>
          <a:ln w="9525">
            <a:solidFill>
              <a:srgbClr val="E2EAF1"/>
            </a:solidFill>
            <a:prstDash val="solid"/>
          </a:ln>
        </p:spPr>
      </p:sp>
      <p:sp>
        <p:nvSpPr>
          <p:cNvPr id="16" name="Text 13"/>
          <p:cNvSpPr txBox="1"/>
          <p:nvPr/>
        </p:nvSpPr>
        <p:spPr>
          <a:xfrm>
            <a:off x="5019324" y="2514600"/>
            <a:ext cx="1604406"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03</a:t>
            </a:r>
            <a:endParaRPr lang="en-US" sz="1500" dirty="0"/>
          </a:p>
        </p:txBody>
      </p:sp>
      <p:sp>
        <p:nvSpPr>
          <p:cNvPr id="17" name="Text 14"/>
          <p:cNvSpPr txBox="1"/>
          <p:nvPr/>
        </p:nvSpPr>
        <p:spPr>
          <a:xfrm>
            <a:off x="5019324" y="2935224"/>
            <a:ext cx="1604406"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Build</a:t>
            </a:r>
            <a:endParaRPr lang="en-US" sz="1500" dirty="0"/>
          </a:p>
        </p:txBody>
      </p:sp>
      <p:sp>
        <p:nvSpPr>
          <p:cNvPr id="18" name="Text 15"/>
          <p:cNvSpPr txBox="1"/>
          <p:nvPr/>
        </p:nvSpPr>
        <p:spPr>
          <a:xfrm>
            <a:off x="5019324" y="3318510"/>
            <a:ext cx="1604406"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Site, tracking, campaigns, content and automations built to that plan, with clear owners.</a:t>
            </a:r>
            <a:endParaRPr lang="en-US" sz="1050" dirty="0"/>
          </a:p>
        </p:txBody>
      </p:sp>
      <p:sp>
        <p:nvSpPr>
          <p:cNvPr id="19" name="Shape 16"/>
          <p:cNvSpPr/>
          <p:nvPr/>
        </p:nvSpPr>
        <p:spPr>
          <a:xfrm>
            <a:off x="6916339" y="2514600"/>
            <a:ext cx="0" cy="1737360"/>
          </a:xfrm>
          <a:prstGeom prst="line">
            <a:avLst/>
          </a:prstGeom>
          <a:noFill/>
          <a:ln w="9525">
            <a:solidFill>
              <a:srgbClr val="E2EAF1"/>
            </a:solidFill>
            <a:prstDash val="solid"/>
          </a:ln>
        </p:spPr>
      </p:sp>
      <p:sp>
        <p:nvSpPr>
          <p:cNvPr id="20" name="Text 17"/>
          <p:cNvSpPr txBox="1"/>
          <p:nvPr/>
        </p:nvSpPr>
        <p:spPr>
          <a:xfrm>
            <a:off x="7172371" y="2514600"/>
            <a:ext cx="1604406"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04</a:t>
            </a:r>
            <a:endParaRPr lang="en-US" sz="1500" dirty="0"/>
          </a:p>
        </p:txBody>
      </p:sp>
      <p:sp>
        <p:nvSpPr>
          <p:cNvPr id="21" name="Text 18"/>
          <p:cNvSpPr txBox="1"/>
          <p:nvPr/>
        </p:nvSpPr>
        <p:spPr>
          <a:xfrm>
            <a:off x="7172371" y="2935224"/>
            <a:ext cx="1604406" cy="48310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Launch and optimize</a:t>
            </a:r>
            <a:endParaRPr lang="en-US" sz="1500" dirty="0"/>
          </a:p>
        </p:txBody>
      </p:sp>
      <p:sp>
        <p:nvSpPr>
          <p:cNvPr id="22" name="Text 19"/>
          <p:cNvSpPr txBox="1"/>
          <p:nvPr/>
        </p:nvSpPr>
        <p:spPr>
          <a:xfrm>
            <a:off x="7172371" y="3528060"/>
            <a:ext cx="1604406" cy="904113"/>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First runs watched closely, then continuous testing on ads, pages and search terms.</a:t>
            </a:r>
            <a:endParaRPr lang="en-US" sz="1050" dirty="0"/>
          </a:p>
        </p:txBody>
      </p:sp>
      <p:sp>
        <p:nvSpPr>
          <p:cNvPr id="23" name="Shape 20"/>
          <p:cNvSpPr/>
          <p:nvPr/>
        </p:nvSpPr>
        <p:spPr>
          <a:xfrm>
            <a:off x="9069385" y="2514600"/>
            <a:ext cx="0" cy="1737360"/>
          </a:xfrm>
          <a:prstGeom prst="line">
            <a:avLst/>
          </a:prstGeom>
          <a:noFill/>
          <a:ln w="9525">
            <a:solidFill>
              <a:srgbClr val="E2EAF1"/>
            </a:solidFill>
            <a:prstDash val="solid"/>
          </a:ln>
        </p:spPr>
      </p:sp>
      <p:sp>
        <p:nvSpPr>
          <p:cNvPr id="24" name="Text 21"/>
          <p:cNvSpPr txBox="1"/>
          <p:nvPr/>
        </p:nvSpPr>
        <p:spPr>
          <a:xfrm>
            <a:off x="9325417" y="2514600"/>
            <a:ext cx="1604406" cy="292608"/>
          </a:xfrm>
          <a:prstGeom prst="rect">
            <a:avLst/>
          </a:prstGeom>
          <a:noFill/>
          <a:ln/>
        </p:spPr>
        <p:txBody>
          <a:bodyPr wrap="square" lIns="0" tIns="0" rIns="0" bIns="0" rtlCol="0" anchor="t"/>
          <a:lstStyle/>
          <a:p>
            <a:pPr marL="0" indent="0" algn="l">
              <a:buNone/>
            </a:pPr>
            <a:r>
              <a:rPr lang="en-US" sz="1500" b="1" kern="0" spc="100" dirty="0">
                <a:solidFill>
                  <a:srgbClr val="2A80C2"/>
                </a:solidFill>
                <a:latin typeface="Arial" pitchFamily="34" charset="0"/>
                <a:ea typeface="Arial" pitchFamily="34" charset="-122"/>
                <a:cs typeface="Arial" pitchFamily="34" charset="-120"/>
              </a:rPr>
              <a:t>05</a:t>
            </a:r>
            <a:endParaRPr lang="en-US" sz="1500" dirty="0"/>
          </a:p>
        </p:txBody>
      </p:sp>
      <p:sp>
        <p:nvSpPr>
          <p:cNvPr id="25" name="Text 22"/>
          <p:cNvSpPr txBox="1"/>
          <p:nvPr/>
        </p:nvSpPr>
        <p:spPr>
          <a:xfrm>
            <a:off x="9325417" y="2935224"/>
            <a:ext cx="1604406" cy="273558"/>
          </a:xfrm>
          <a:prstGeom prst="rect">
            <a:avLst/>
          </a:prstGeom>
          <a:noFill/>
          <a:ln/>
        </p:spPr>
        <p:txBody>
          <a:bodyPr wrap="square" lIns="0" tIns="0" rIns="0" bIns="0" rtlCol="0" anchor="t"/>
          <a:lstStyle/>
          <a:p>
            <a:pPr marL="0" indent="0" algn="l">
              <a:lnSpc>
                <a:spcPct val="110000"/>
              </a:lnSpc>
              <a:buNone/>
            </a:pPr>
            <a:r>
              <a:rPr lang="en-US" sz="1500" b="1" dirty="0">
                <a:solidFill>
                  <a:srgbClr val="0F151B"/>
                </a:solidFill>
                <a:latin typeface="Arial" pitchFamily="34" charset="0"/>
                <a:ea typeface="Arial" pitchFamily="34" charset="-122"/>
                <a:cs typeface="Arial" pitchFamily="34" charset="-120"/>
              </a:rPr>
              <a:t>Report</a:t>
            </a:r>
            <a:endParaRPr lang="en-US" sz="1500" dirty="0"/>
          </a:p>
        </p:txBody>
      </p:sp>
      <p:sp>
        <p:nvSpPr>
          <p:cNvPr id="26" name="Text 23"/>
          <p:cNvSpPr txBox="1"/>
          <p:nvPr/>
        </p:nvSpPr>
        <p:spPr>
          <a:xfrm>
            <a:off x="9325417" y="3318510"/>
            <a:ext cx="1604406" cy="736092"/>
          </a:xfrm>
          <a:prstGeom prst="rect">
            <a:avLst/>
          </a:prstGeom>
          <a:noFill/>
          <a:ln/>
        </p:spPr>
        <p:txBody>
          <a:bodyPr wrap="square" lIns="0" tIns="0" rIns="0" bIns="0" rtlCol="0" anchor="t"/>
          <a:lstStyle/>
          <a:p>
            <a:pPr marL="0" indent="0" algn="l">
              <a:lnSpc>
                <a:spcPct val="126000"/>
              </a:lnSpc>
              <a:buNone/>
            </a:pPr>
            <a:r>
              <a:rPr lang="en-US" sz="1050" dirty="0">
                <a:solidFill>
                  <a:srgbClr val="5A6772"/>
                </a:solidFill>
                <a:latin typeface="Arial" pitchFamily="34" charset="0"/>
                <a:ea typeface="Arial" pitchFamily="34" charset="-122"/>
                <a:cs typeface="Arial" pitchFamily="34" charset="-120"/>
              </a:rPr>
              <a:t>Analytics, tracking and consulting are in every retainer. You see the same numbers we do.</a:t>
            </a:r>
            <a:endParaRPr lang="en-US" sz="1050" dirty="0"/>
          </a:p>
        </p:txBody>
      </p:sp>
      <p:sp>
        <p:nvSpPr>
          <p:cNvPr id="27" name="Text 24"/>
          <p:cNvSpPr txBox="1"/>
          <p:nvPr/>
        </p:nvSpPr>
        <p:spPr>
          <a:xfrm>
            <a:off x="713232" y="5230368"/>
            <a:ext cx="731520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MOMENTUM'S OWN PUBLISHED COMMITMENT</a:t>
            </a:r>
            <a:endParaRPr lang="en-US" sz="1050" dirty="0"/>
          </a:p>
        </p:txBody>
      </p:sp>
      <p:sp>
        <p:nvSpPr>
          <p:cNvPr id="28" name="Text 25"/>
          <p:cNvSpPr txBox="1"/>
          <p:nvPr/>
        </p:nvSpPr>
        <p:spPr>
          <a:xfrm>
            <a:off x="713232" y="5541264"/>
            <a:ext cx="10515600" cy="352044"/>
          </a:xfrm>
          <a:prstGeom prst="rect">
            <a:avLst/>
          </a:prstGeom>
          <a:noFill/>
          <a:ln/>
        </p:spPr>
        <p:txBody>
          <a:bodyPr wrap="square" lIns="0" tIns="0" rIns="0" bIns="0" rtlCol="0" anchor="t"/>
          <a:lstStyle/>
          <a:p>
            <a:pPr marL="0" indent="0" algn="l">
              <a:lnSpc>
                <a:spcPct val="108000"/>
              </a:lnSpc>
              <a:buNone/>
            </a:pPr>
            <a:r>
              <a:rPr lang="en-US" sz="2100" b="1" dirty="0">
                <a:solidFill>
                  <a:srgbClr val="FFFFFF"/>
                </a:solidFill>
                <a:latin typeface="Arial" pitchFamily="34" charset="0"/>
                <a:ea typeface="Arial" pitchFamily="34" charset="-122"/>
                <a:cs typeface="Arial" pitchFamily="34" charset="-120"/>
              </a:rPr>
              <a:t>"We guarantee to grow your business online or your money back"</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80"/>
                                        <p:tgtEl>
                                          <p:spTgt spid="4"/>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280"/>
                                        <p:tgtEl>
                                          <p:spTgt spid="8"/>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280"/>
                                        <p:tgtEl>
                                          <p:spTgt spid="12"/>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280"/>
                                        <p:tgtEl>
                                          <p:spTgt spid="16"/>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280"/>
                                        <p:tgtEl>
                                          <p:spTgt spid="20"/>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280"/>
                                        <p:tgtEl>
                                          <p:spTgt spid="24"/>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80"/>
                                        <p:tgtEl>
                                          <p:spTgt spid="9"/>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280"/>
                                        <p:tgtEl>
                                          <p:spTgt spid="13"/>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280"/>
                                        <p:tgtEl>
                                          <p:spTgt spid="17"/>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28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2" grpId="0" animBg="1"/>
      <p:bldP spid="13" grpId="0" animBg="1"/>
      <p:bldP spid="16" grpId="0" animBg="1"/>
      <p:bldP spid="17" grpId="0" animBg="1"/>
      <p:bldP spid="20" grpId="0" animBg="1"/>
      <p:bldP spid="21"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PRICING</a:t>
            </a:r>
            <a:endParaRPr lang="en-US" sz="1050" dirty="0"/>
          </a:p>
        </p:txBody>
      </p:sp>
      <p:sp>
        <p:nvSpPr>
          <p:cNvPr id="4" name="Text 1"/>
          <p:cNvSpPr txBox="1"/>
          <p:nvPr/>
        </p:nvSpPr>
        <p:spPr>
          <a:xfrm>
            <a:off x="713232" y="987552"/>
            <a:ext cx="8570671" cy="569214"/>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Three ways to start</a:t>
            </a:r>
            <a:endParaRPr lang="en-US" sz="3900" dirty="0"/>
          </a:p>
        </p:txBody>
      </p:sp>
      <p:sp>
        <p:nvSpPr>
          <p:cNvPr id="5" name="Text 2"/>
          <p:cNvSpPr txBox="1"/>
          <p:nvPr/>
        </p:nvSpPr>
        <p:spPr>
          <a:xfrm>
            <a:off x="713232" y="1703070"/>
            <a:ext cx="8046720" cy="649224"/>
          </a:xfrm>
          <a:prstGeom prst="rect">
            <a:avLst/>
          </a:prstGeom>
          <a:noFill/>
          <a:ln/>
        </p:spPr>
        <p:txBody>
          <a:bodyPr wrap="square" lIns="0" tIns="0" rIns="0" bIns="0" rtlCol="0" anchor="t"/>
          <a:lstStyle/>
          <a:p>
            <a:pPr marL="0" indent="0" algn="l">
              <a:lnSpc>
                <a:spcPct val="128000"/>
              </a:lnSpc>
              <a:buNone/>
            </a:pPr>
            <a:r>
              <a:rPr lang="en-US" sz="1800" dirty="0">
                <a:solidFill>
                  <a:srgbClr val="5A6772"/>
                </a:solidFill>
                <a:latin typeface="Arial" pitchFamily="34" charset="0"/>
                <a:ea typeface="Arial" pitchFamily="34" charset="-122"/>
                <a:cs typeface="Arial" pitchFamily="34" charset="-120"/>
              </a:rPr>
              <a:t>Published pricing. Every monthly package runs on a three month minimum.</a:t>
            </a:r>
            <a:endParaRPr lang="en-US" sz="1800" dirty="0"/>
          </a:p>
        </p:txBody>
      </p:sp>
      <p:sp>
        <p:nvSpPr>
          <p:cNvPr id="6" name="Text 3"/>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20</a:t>
            </a:r>
            <a:endParaRPr lang="en-US" sz="1050" dirty="0"/>
          </a:p>
        </p:txBody>
      </p:sp>
      <p:sp>
        <p:nvSpPr>
          <p:cNvPr id="7" name="Text 4"/>
          <p:cNvSpPr txBox="1"/>
          <p:nvPr/>
        </p:nvSpPr>
        <p:spPr>
          <a:xfrm>
            <a:off x="713232" y="2651760"/>
            <a:ext cx="3017520" cy="310896"/>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Small Business Kickstart</a:t>
            </a:r>
            <a:endParaRPr lang="en-US" sz="1600" dirty="0"/>
          </a:p>
        </p:txBody>
      </p:sp>
      <p:sp>
        <p:nvSpPr>
          <p:cNvPr id="8" name="Text 5"/>
          <p:cNvSpPr txBox="1"/>
          <p:nvPr/>
        </p:nvSpPr>
        <p:spPr>
          <a:xfrm>
            <a:off x="713232" y="3008376"/>
            <a:ext cx="3017520" cy="219456"/>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Local marketing package</a:t>
            </a:r>
            <a:endParaRPr lang="en-US" sz="1050" dirty="0"/>
          </a:p>
        </p:txBody>
      </p:sp>
      <p:sp>
        <p:nvSpPr>
          <p:cNvPr id="9" name="Text 6"/>
          <p:cNvSpPr txBox="1"/>
          <p:nvPr/>
        </p:nvSpPr>
        <p:spPr>
          <a:xfrm>
            <a:off x="713232" y="3392424"/>
            <a:ext cx="3017520" cy="445008"/>
          </a:xfrm>
          <a:prstGeom prst="rect">
            <a:avLst/>
          </a:prstGeom>
          <a:noFill/>
          <a:ln/>
        </p:spPr>
        <p:txBody>
          <a:bodyPr wrap="square" lIns="0" tIns="0" rIns="0" bIns="0" rtlCol="0" anchor="t"/>
          <a:lstStyle/>
          <a:p>
            <a:pPr marL="0" indent="0" algn="l">
              <a:lnSpc>
                <a:spcPct val="100000"/>
              </a:lnSpc>
              <a:buNone/>
            </a:pPr>
            <a:r>
              <a:rPr lang="en-US" sz="3000" b="1" dirty="0">
                <a:solidFill>
                  <a:srgbClr val="2A80C2"/>
                </a:solidFill>
                <a:latin typeface="Arial" pitchFamily="34" charset="0"/>
                <a:ea typeface="Arial" pitchFamily="34" charset="-122"/>
                <a:cs typeface="Arial" pitchFamily="34" charset="-120"/>
              </a:rPr>
              <a:t>$999/mo</a:t>
            </a:r>
            <a:endParaRPr lang="en-US" sz="3000" dirty="0"/>
          </a:p>
        </p:txBody>
      </p:sp>
      <p:sp>
        <p:nvSpPr>
          <p:cNvPr id="10" name="Text 7"/>
          <p:cNvSpPr txBox="1"/>
          <p:nvPr/>
        </p:nvSpPr>
        <p:spPr>
          <a:xfrm>
            <a:off x="713232" y="3874008"/>
            <a:ext cx="3017520" cy="224028"/>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Monthly · 3 month minimum</a:t>
            </a:r>
            <a:endParaRPr lang="en-US" sz="1050" dirty="0"/>
          </a:p>
        </p:txBody>
      </p:sp>
      <p:sp>
        <p:nvSpPr>
          <p:cNvPr id="11" name="Shape 8"/>
          <p:cNvSpPr/>
          <p:nvPr/>
        </p:nvSpPr>
        <p:spPr>
          <a:xfrm>
            <a:off x="713232" y="4162044"/>
            <a:ext cx="3017520" cy="0"/>
          </a:xfrm>
          <a:prstGeom prst="line">
            <a:avLst/>
          </a:prstGeom>
          <a:noFill/>
          <a:ln w="9525">
            <a:solidFill>
              <a:srgbClr val="E2EAF1"/>
            </a:solidFill>
            <a:prstDash val="solid"/>
          </a:ln>
        </p:spPr>
      </p:sp>
      <p:sp>
        <p:nvSpPr>
          <p:cNvPr id="12" name="Text 9"/>
          <p:cNvSpPr txBox="1"/>
          <p:nvPr/>
        </p:nvSpPr>
        <p:spPr>
          <a:xfrm>
            <a:off x="713232" y="4299204"/>
            <a:ext cx="301752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Full marketing audit</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Local SEO</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Google Business Profile</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Basic website optimizations</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Analytics and reporting</a:t>
            </a:r>
            <a:endParaRPr lang="en-US" sz="1000" dirty="0"/>
          </a:p>
        </p:txBody>
      </p:sp>
      <p:sp>
        <p:nvSpPr>
          <p:cNvPr id="13" name="Text 10"/>
          <p:cNvSpPr txBox="1"/>
          <p:nvPr/>
        </p:nvSpPr>
        <p:spPr>
          <a:xfrm>
            <a:off x="713232" y="5687568"/>
            <a:ext cx="3017520" cy="274320"/>
          </a:xfrm>
          <a:prstGeom prst="rect">
            <a:avLst/>
          </a:prstGeom>
          <a:noFill/>
          <a:ln/>
        </p:spPr>
        <p:txBody>
          <a:bodyPr wrap="square" lIns="0" tIns="0" rIns="0" bIns="0" rtlCol="0" anchor="t"/>
          <a:lstStyle/>
          <a:p>
            <a:pPr marL="0" indent="0" algn="l">
              <a:buNone/>
            </a:pPr>
            <a:r>
              <a:rPr lang="en-US" sz="950" i="1" dirty="0">
                <a:solidFill>
                  <a:srgbClr val="5A6772"/>
                </a:solidFill>
                <a:latin typeface="Arial" pitchFamily="34" charset="0"/>
                <a:ea typeface="Arial" pitchFamily="34" charset="-122"/>
                <a:cs typeface="Arial" pitchFamily="34" charset="-120"/>
              </a:rPr>
              <a:t>Published as guaranteed growth.</a:t>
            </a:r>
            <a:endParaRPr lang="en-US" sz="950" dirty="0"/>
          </a:p>
        </p:txBody>
      </p:sp>
      <p:sp>
        <p:nvSpPr>
          <p:cNvPr id="14" name="Shape 11"/>
          <p:cNvSpPr/>
          <p:nvPr/>
        </p:nvSpPr>
        <p:spPr>
          <a:xfrm>
            <a:off x="4389120" y="2377440"/>
            <a:ext cx="3931920" cy="3913632"/>
          </a:xfrm>
          <a:prstGeom prst="rect">
            <a:avLst/>
          </a:prstGeom>
          <a:solidFill>
            <a:srgbClr val="0A1825"/>
          </a:solidFill>
          <a:ln w="12700">
            <a:solidFill>
              <a:srgbClr val="333333"/>
            </a:solidFill>
            <a:prstDash val="solid"/>
          </a:ln>
        </p:spPr>
      </p:sp>
      <p:sp>
        <p:nvSpPr>
          <p:cNvPr id="15" name="Text 12"/>
          <p:cNvSpPr txBox="1"/>
          <p:nvPr/>
        </p:nvSpPr>
        <p:spPr>
          <a:xfrm>
            <a:off x="4754880" y="2651760"/>
            <a:ext cx="3200400" cy="310896"/>
          </a:xfrm>
          <a:prstGeom prst="rect">
            <a:avLst/>
          </a:prstGeom>
          <a:noFill/>
          <a:ln/>
        </p:spPr>
        <p:txBody>
          <a:bodyPr wrap="square" lIns="0" tIns="0" rIns="0" bIns="0" rtlCol="0" anchor="t"/>
          <a:lstStyle/>
          <a:p>
            <a:pPr marL="0" indent="0" algn="l">
              <a:lnSpc>
                <a:spcPct val="110000"/>
              </a:lnSpc>
              <a:buNone/>
            </a:pPr>
            <a:r>
              <a:rPr lang="en-US" sz="1600" b="1" dirty="0">
                <a:solidFill>
                  <a:srgbClr val="FFFFFF"/>
                </a:solidFill>
                <a:latin typeface="Arial" pitchFamily="34" charset="0"/>
                <a:ea typeface="Arial" pitchFamily="34" charset="-122"/>
                <a:cs typeface="Arial" pitchFamily="34" charset="-120"/>
              </a:rPr>
              <a:t>Small Business Growth</a:t>
            </a:r>
            <a:endParaRPr lang="en-US" sz="1600" dirty="0"/>
          </a:p>
        </p:txBody>
      </p:sp>
      <p:sp>
        <p:nvSpPr>
          <p:cNvPr id="16" name="Text 13"/>
          <p:cNvSpPr txBox="1"/>
          <p:nvPr/>
        </p:nvSpPr>
        <p:spPr>
          <a:xfrm>
            <a:off x="4754880" y="3008376"/>
            <a:ext cx="3200400" cy="219456"/>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Digital marketing expansion</a:t>
            </a:r>
            <a:endParaRPr lang="en-US" sz="1050" dirty="0"/>
          </a:p>
        </p:txBody>
      </p:sp>
      <p:sp>
        <p:nvSpPr>
          <p:cNvPr id="17" name="Text 14"/>
          <p:cNvSpPr txBox="1"/>
          <p:nvPr/>
        </p:nvSpPr>
        <p:spPr>
          <a:xfrm>
            <a:off x="4754880" y="3392424"/>
            <a:ext cx="3200400" cy="445008"/>
          </a:xfrm>
          <a:prstGeom prst="rect">
            <a:avLst/>
          </a:prstGeom>
          <a:noFill/>
          <a:ln/>
        </p:spPr>
        <p:txBody>
          <a:bodyPr wrap="square" lIns="0" tIns="0" rIns="0" bIns="0" rtlCol="0" anchor="t"/>
          <a:lstStyle/>
          <a:p>
            <a:pPr marL="0" indent="0" algn="l">
              <a:lnSpc>
                <a:spcPct val="100000"/>
              </a:lnSpc>
              <a:buNone/>
            </a:pPr>
            <a:r>
              <a:rPr lang="en-US" sz="3000" b="1" dirty="0">
                <a:solidFill>
                  <a:srgbClr val="5AA7E0"/>
                </a:solidFill>
                <a:latin typeface="Arial" pitchFamily="34" charset="0"/>
                <a:ea typeface="Arial" pitchFamily="34" charset="-122"/>
                <a:cs typeface="Arial" pitchFamily="34" charset="-120"/>
              </a:rPr>
              <a:t>$2,999/mo</a:t>
            </a:r>
            <a:endParaRPr lang="en-US" sz="3000" dirty="0"/>
          </a:p>
        </p:txBody>
      </p:sp>
      <p:sp>
        <p:nvSpPr>
          <p:cNvPr id="18" name="Text 15"/>
          <p:cNvSpPr txBox="1"/>
          <p:nvPr/>
        </p:nvSpPr>
        <p:spPr>
          <a:xfrm>
            <a:off x="4754880" y="3874008"/>
            <a:ext cx="3200400" cy="224028"/>
          </a:xfrm>
          <a:prstGeom prst="rect">
            <a:avLst/>
          </a:prstGeom>
          <a:noFill/>
          <a:ln/>
        </p:spPr>
        <p:txBody>
          <a:bodyPr wrap="square" lIns="0" tIns="0" rIns="0" bIns="0" rtlCol="0" anchor="t"/>
          <a:lstStyle/>
          <a:p>
            <a:pPr marL="0" indent="0" algn="l">
              <a:lnSpc>
                <a:spcPct val="120000"/>
              </a:lnSpc>
              <a:buNone/>
            </a:pPr>
            <a:r>
              <a:rPr lang="en-US" sz="1050" dirty="0">
                <a:solidFill>
                  <a:srgbClr val="9DB5C8"/>
                </a:solidFill>
                <a:latin typeface="Arial" pitchFamily="34" charset="0"/>
                <a:ea typeface="Arial" pitchFamily="34" charset="-122"/>
                <a:cs typeface="Arial" pitchFamily="34" charset="-120"/>
              </a:rPr>
              <a:t>Monthly · 3 month minimum</a:t>
            </a:r>
            <a:endParaRPr lang="en-US" sz="1050" dirty="0"/>
          </a:p>
        </p:txBody>
      </p:sp>
      <p:sp>
        <p:nvSpPr>
          <p:cNvPr id="19" name="Shape 16"/>
          <p:cNvSpPr/>
          <p:nvPr/>
        </p:nvSpPr>
        <p:spPr>
          <a:xfrm>
            <a:off x="4754880" y="4162044"/>
            <a:ext cx="3200400" cy="0"/>
          </a:xfrm>
          <a:prstGeom prst="line">
            <a:avLst/>
          </a:prstGeom>
          <a:noFill/>
          <a:ln w="9525">
            <a:solidFill>
              <a:srgbClr val="1E4460"/>
            </a:solidFill>
            <a:prstDash val="solid"/>
          </a:ln>
        </p:spPr>
      </p:sp>
      <p:sp>
        <p:nvSpPr>
          <p:cNvPr id="20" name="Text 17"/>
          <p:cNvSpPr txBox="1"/>
          <p:nvPr/>
        </p:nvSpPr>
        <p:spPr>
          <a:xfrm>
            <a:off x="4754880" y="4299204"/>
            <a:ext cx="320040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Everything in Kickstart</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Website management and SEO</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Backlinking, content and blogging</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Google Ads, PPC, social and design</a:t>
            </a:r>
            <a:endParaRPr lang="en-US" sz="1000" dirty="0"/>
          </a:p>
          <a:p>
            <a:pPr marL="342900" indent="-342900">
              <a:lnSpc>
                <a:spcPct val="124000"/>
              </a:lnSpc>
              <a:spcAft>
                <a:spcPts val="700"/>
              </a:spcAft>
              <a:buSzPct val="100000"/>
              <a:buChar char="•"/>
            </a:pPr>
            <a:r>
              <a:rPr lang="en-US" sz="1000" dirty="0">
                <a:solidFill>
                  <a:srgbClr val="9DB5C8"/>
                </a:solidFill>
                <a:latin typeface="Arial" pitchFamily="34" charset="0"/>
                <a:ea typeface="Arial" pitchFamily="34" charset="-122"/>
                <a:cs typeface="Arial" pitchFamily="34" charset="-120"/>
              </a:rPr>
              <a:t>Strategy, analytics and consulting</a:t>
            </a:r>
            <a:endParaRPr lang="en-US" sz="1000" dirty="0"/>
          </a:p>
        </p:txBody>
      </p:sp>
      <p:sp>
        <p:nvSpPr>
          <p:cNvPr id="21" name="Text 18"/>
          <p:cNvSpPr txBox="1"/>
          <p:nvPr/>
        </p:nvSpPr>
        <p:spPr>
          <a:xfrm>
            <a:off x="4754880" y="5687568"/>
            <a:ext cx="3200400" cy="274320"/>
          </a:xfrm>
          <a:prstGeom prst="rect">
            <a:avLst/>
          </a:prstGeom>
          <a:noFill/>
          <a:ln/>
        </p:spPr>
        <p:txBody>
          <a:bodyPr wrap="square" lIns="0" tIns="0" rIns="0" bIns="0" rtlCol="0" anchor="t"/>
          <a:lstStyle/>
          <a:p>
            <a:pPr marL="0" indent="0" algn="l">
              <a:buNone/>
            </a:pPr>
            <a:r>
              <a:rPr lang="en-US" sz="950" i="1" dirty="0">
                <a:solidFill>
                  <a:srgbClr val="9DB5C8"/>
                </a:solidFill>
                <a:latin typeface="Arial" pitchFamily="34" charset="0"/>
                <a:ea typeface="Arial" pitchFamily="34" charset="-122"/>
                <a:cs typeface="Arial" pitchFamily="34" charset="-120"/>
              </a:rPr>
              <a:t>Most complete monthly package.</a:t>
            </a:r>
            <a:endParaRPr lang="en-US" sz="950" dirty="0"/>
          </a:p>
        </p:txBody>
      </p:sp>
      <p:sp>
        <p:nvSpPr>
          <p:cNvPr id="22" name="Shape 19"/>
          <p:cNvSpPr/>
          <p:nvPr/>
        </p:nvSpPr>
        <p:spPr>
          <a:xfrm>
            <a:off x="8604504" y="2560320"/>
            <a:ext cx="0" cy="3675888"/>
          </a:xfrm>
          <a:prstGeom prst="line">
            <a:avLst/>
          </a:prstGeom>
          <a:noFill/>
          <a:ln w="9525">
            <a:solidFill>
              <a:srgbClr val="E2EAF1"/>
            </a:solidFill>
            <a:prstDash val="solid"/>
          </a:ln>
        </p:spPr>
      </p:sp>
      <p:sp>
        <p:nvSpPr>
          <p:cNvPr id="23" name="Text 20"/>
          <p:cNvSpPr txBox="1"/>
          <p:nvPr/>
        </p:nvSpPr>
        <p:spPr>
          <a:xfrm>
            <a:off x="8988552" y="2651760"/>
            <a:ext cx="2971800" cy="310896"/>
          </a:xfrm>
          <a:prstGeom prst="rect">
            <a:avLst/>
          </a:prstGeom>
          <a:noFill/>
          <a:ln/>
        </p:spPr>
        <p:txBody>
          <a:bodyPr wrap="square" lIns="0" tIns="0" rIns="0" bIns="0" rtlCol="0" anchor="t"/>
          <a:lstStyle/>
          <a:p>
            <a:pPr marL="0" indent="0" algn="l">
              <a:lnSpc>
                <a:spcPct val="110000"/>
              </a:lnSpc>
              <a:buNone/>
            </a:pPr>
            <a:r>
              <a:rPr lang="en-US" sz="1600" b="1" dirty="0">
                <a:solidFill>
                  <a:srgbClr val="0F151B"/>
                </a:solidFill>
                <a:latin typeface="Arial" pitchFamily="34" charset="0"/>
                <a:ea typeface="Arial" pitchFamily="34" charset="-122"/>
                <a:cs typeface="Arial" pitchFamily="34" charset="-120"/>
              </a:rPr>
              <a:t>Ultimate Small Business SEO</a:t>
            </a:r>
            <a:endParaRPr lang="en-US" sz="1600" dirty="0"/>
          </a:p>
        </p:txBody>
      </p:sp>
      <p:sp>
        <p:nvSpPr>
          <p:cNvPr id="24" name="Text 21"/>
          <p:cNvSpPr txBox="1"/>
          <p:nvPr/>
        </p:nvSpPr>
        <p:spPr>
          <a:xfrm>
            <a:off x="8988552" y="3008376"/>
            <a:ext cx="2971800" cy="219456"/>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Full service Google SEO</a:t>
            </a:r>
            <a:endParaRPr lang="en-US" sz="1050" dirty="0"/>
          </a:p>
        </p:txBody>
      </p:sp>
      <p:sp>
        <p:nvSpPr>
          <p:cNvPr id="25" name="Text 22"/>
          <p:cNvSpPr txBox="1"/>
          <p:nvPr/>
        </p:nvSpPr>
        <p:spPr>
          <a:xfrm>
            <a:off x="8988552" y="3392424"/>
            <a:ext cx="2971800" cy="445008"/>
          </a:xfrm>
          <a:prstGeom prst="rect">
            <a:avLst/>
          </a:prstGeom>
          <a:noFill/>
          <a:ln/>
        </p:spPr>
        <p:txBody>
          <a:bodyPr wrap="square" lIns="0" tIns="0" rIns="0" bIns="0" rtlCol="0" anchor="t"/>
          <a:lstStyle/>
          <a:p>
            <a:pPr marL="0" indent="0" algn="l">
              <a:lnSpc>
                <a:spcPct val="100000"/>
              </a:lnSpc>
              <a:buNone/>
            </a:pPr>
            <a:r>
              <a:rPr lang="en-US" sz="3000" b="1" dirty="0">
                <a:solidFill>
                  <a:srgbClr val="2A80C2"/>
                </a:solidFill>
                <a:latin typeface="Arial" pitchFamily="34" charset="0"/>
                <a:ea typeface="Arial" pitchFamily="34" charset="-122"/>
                <a:cs typeface="Arial" pitchFamily="34" charset="-120"/>
              </a:rPr>
              <a:t>$10,000</a:t>
            </a:r>
            <a:endParaRPr lang="en-US" sz="3000" dirty="0"/>
          </a:p>
        </p:txBody>
      </p:sp>
      <p:sp>
        <p:nvSpPr>
          <p:cNvPr id="26" name="Text 23"/>
          <p:cNvSpPr txBox="1"/>
          <p:nvPr/>
        </p:nvSpPr>
        <p:spPr>
          <a:xfrm>
            <a:off x="8988552" y="3874008"/>
            <a:ext cx="2971800" cy="224028"/>
          </a:xfrm>
          <a:prstGeom prst="rect">
            <a:avLst/>
          </a:prstGeom>
          <a:noFill/>
          <a:ln/>
        </p:spPr>
        <p:txBody>
          <a:bodyPr wrap="square" lIns="0" tIns="0" rIns="0" bIns="0" rtlCol="0" anchor="t"/>
          <a:lstStyle/>
          <a:p>
            <a:pPr marL="0" indent="0" algn="l">
              <a:lnSpc>
                <a:spcPct val="120000"/>
              </a:lnSpc>
              <a:buNone/>
            </a:pPr>
            <a:r>
              <a:rPr lang="en-US" sz="1050" dirty="0">
                <a:solidFill>
                  <a:srgbClr val="5A6772"/>
                </a:solidFill>
                <a:latin typeface="Arial" pitchFamily="34" charset="0"/>
                <a:ea typeface="Arial" pitchFamily="34" charset="-122"/>
                <a:cs typeface="Arial" pitchFamily="34" charset="-120"/>
              </a:rPr>
              <a:t>12 months, or $1,000/mo x 12</a:t>
            </a:r>
            <a:endParaRPr lang="en-US" sz="1050" dirty="0"/>
          </a:p>
        </p:txBody>
      </p:sp>
      <p:sp>
        <p:nvSpPr>
          <p:cNvPr id="27" name="Shape 24"/>
          <p:cNvSpPr/>
          <p:nvPr/>
        </p:nvSpPr>
        <p:spPr>
          <a:xfrm>
            <a:off x="8988552" y="4162044"/>
            <a:ext cx="2971800" cy="0"/>
          </a:xfrm>
          <a:prstGeom prst="line">
            <a:avLst/>
          </a:prstGeom>
          <a:noFill/>
          <a:ln w="9525">
            <a:solidFill>
              <a:srgbClr val="E2EAF1"/>
            </a:solidFill>
            <a:prstDash val="solid"/>
          </a:ln>
        </p:spPr>
      </p:sp>
      <p:sp>
        <p:nvSpPr>
          <p:cNvPr id="28" name="Text 25"/>
          <p:cNvSpPr txBox="1"/>
          <p:nvPr/>
        </p:nvSpPr>
        <p:spPr>
          <a:xfrm>
            <a:off x="8988552" y="4299204"/>
            <a:ext cx="2971800" cy="1198880"/>
          </a:xfrm>
          <a:prstGeom prst="rect">
            <a:avLst/>
          </a:prstGeom>
          <a:noFill/>
          <a:ln/>
        </p:spPr>
        <p:txBody>
          <a:bodyPr wrap="square" lIns="0" tIns="0" rIns="0" bIns="0" rtlCol="0" anchor="t"/>
          <a:lstStyle/>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Full SEO audit</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Local SEO and GBP marketing</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Website support and SEO</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Google Local Ads</a:t>
            </a:r>
            <a:endParaRPr lang="en-US" sz="1000" dirty="0"/>
          </a:p>
          <a:p>
            <a:pPr marL="342900" indent="-342900">
              <a:lnSpc>
                <a:spcPct val="124000"/>
              </a:lnSpc>
              <a:spcAft>
                <a:spcPts val="700"/>
              </a:spcAft>
              <a:buSzPct val="100000"/>
              <a:buChar char="•"/>
            </a:pPr>
            <a:r>
              <a:rPr lang="en-US" sz="1000" dirty="0">
                <a:solidFill>
                  <a:srgbClr val="5A6772"/>
                </a:solidFill>
                <a:latin typeface="Arial" pitchFamily="34" charset="0"/>
                <a:ea typeface="Arial" pitchFamily="34" charset="-122"/>
                <a:cs typeface="Arial" pitchFamily="34" charset="-120"/>
              </a:rPr>
              <a:t>Strategy and consulting</a:t>
            </a:r>
            <a:endParaRPr lang="en-US" sz="1000" dirty="0"/>
          </a:p>
        </p:txBody>
      </p:sp>
      <p:sp>
        <p:nvSpPr>
          <p:cNvPr id="29" name="Text 26"/>
          <p:cNvSpPr txBox="1"/>
          <p:nvPr/>
        </p:nvSpPr>
        <p:spPr>
          <a:xfrm>
            <a:off x="8988552" y="5687568"/>
            <a:ext cx="2971800" cy="274320"/>
          </a:xfrm>
          <a:prstGeom prst="rect">
            <a:avLst/>
          </a:prstGeom>
          <a:noFill/>
          <a:ln/>
        </p:spPr>
        <p:txBody>
          <a:bodyPr wrap="square" lIns="0" tIns="0" rIns="0" bIns="0" rtlCol="0" anchor="t"/>
          <a:lstStyle/>
          <a:p>
            <a:pPr marL="0" indent="0" algn="l">
              <a:buNone/>
            </a:pPr>
            <a:r>
              <a:rPr lang="en-US" sz="950" i="1" dirty="0">
                <a:solidFill>
                  <a:srgbClr val="5A6772"/>
                </a:solidFill>
                <a:latin typeface="Arial" pitchFamily="34" charset="0"/>
                <a:ea typeface="Arial" pitchFamily="34" charset="-122"/>
                <a:cs typeface="Arial" pitchFamily="34" charset="-120"/>
              </a:rPr>
              <a:t>Published guarantee: first page of Google.</a:t>
            </a:r>
            <a:endParaRPr lang="en-US" sz="950" dirty="0"/>
          </a:p>
        </p:txBody>
      </p:sp>
      <p:sp>
        <p:nvSpPr>
          <p:cNvPr id="30" name="Text 27"/>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Stated minimum retainers: $1,000 per month for standard packages, $3,000 per month for custom packages. Refer a business and you both get 20% off the next month.</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80"/>
                                        <p:tgtEl>
                                          <p:spTgt spid="5"/>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280"/>
                                        <p:tgtEl>
                                          <p:spTgt spid="15"/>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280"/>
                                        <p:tgtEl>
                                          <p:spTgt spid="23"/>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80"/>
                                        <p:tgtEl>
                                          <p:spTgt spid="8"/>
                                        </p:tgtEl>
                                      </p:cBhvr>
                                    </p:animEffect>
                                  </p:childTnLst>
                                </p:cTn>
                              </p:par>
                              <p:par>
                                <p:cTn id="26" presetID="10" presetClass="entr" presetSubtype="0" fill="hold" grpId="0" nodeType="withEffect">
                                  <p:stCondLst>
                                    <p:cond delay="42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280"/>
                                        <p:tgtEl>
                                          <p:spTgt spid="16"/>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280"/>
                                        <p:tgtEl>
                                          <p:spTgt spid="24"/>
                                        </p:tgtEl>
                                      </p:cBhvr>
                                    </p:animEffect>
                                  </p:childTnLst>
                                </p:cTn>
                              </p:par>
                              <p:par>
                                <p:cTn id="32" presetID="10" presetClass="entr" presetSubtype="0" fill="hold" grpId="0" nodeType="withEffect">
                                  <p:stCondLst>
                                    <p:cond delay="54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280"/>
                                        <p:tgtEl>
                                          <p:spTgt spid="9"/>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280"/>
                                        <p:tgtEl>
                                          <p:spTgt spid="17"/>
                                        </p:tgtEl>
                                      </p:cBhvr>
                                    </p:animEffect>
                                  </p:childTnLst>
                                </p:cTn>
                              </p:par>
                              <p:par>
                                <p:cTn id="38" presetID="10" presetClass="entr" presetSubtype="0" fill="hold" grpId="0" nodeType="withEffect">
                                  <p:stCondLst>
                                    <p:cond delay="66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28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5" grpId="0" animBg="1"/>
      <p:bldP spid="16" grpId="0" animBg="1"/>
      <p:bldP spid="17" grpId="0" animBg="1"/>
      <p:bldP spid="23" grpId="0" animBg="1"/>
      <p:bldP spid="24" grpId="0" animBg="1"/>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2" name="Image 0" descr="Momentum Digital logo"/>
          <p:cNvPicPr>
            <a:picLocks noChangeAspect="1"/>
          </p:cNvPicPr>
          <p:nvPr/>
        </p:nvPicPr>
        <p:blipFill>
          <a:blip r:embed="rId3"/>
          <a:stretch>
            <a:fillRect/>
          </a:stretch>
        </p:blipFill>
        <p:spPr>
          <a:xfrm>
            <a:off x="10106863" y="658368"/>
            <a:ext cx="1371600" cy="294904"/>
          </a:xfrm>
          <a:prstGeom prst="rect">
            <a:avLst/>
          </a:prstGeom>
        </p:spPr>
      </p:pic>
      <p:sp>
        <p:nvSpPr>
          <p:cNvPr id="3" name="Text 0"/>
          <p:cNvSpPr txBox="1"/>
          <p:nvPr/>
        </p:nvSpPr>
        <p:spPr>
          <a:xfrm>
            <a:off x="713232" y="658368"/>
            <a:ext cx="8753551" cy="201168"/>
          </a:xfrm>
          <a:prstGeom prst="rect">
            <a:avLst/>
          </a:prstGeom>
          <a:noFill/>
          <a:ln/>
        </p:spPr>
        <p:txBody>
          <a:bodyPr wrap="square" lIns="0" tIns="0" rIns="0" bIns="0" rtlCol="0" anchor="t"/>
          <a:lstStyle/>
          <a:p>
            <a:pPr marL="0" indent="0" algn="l">
              <a:buNone/>
            </a:pPr>
            <a:r>
              <a:rPr lang="en-US" sz="1050" b="1" kern="0" spc="240" dirty="0">
                <a:solidFill>
                  <a:srgbClr val="2A80C2"/>
                </a:solidFill>
                <a:latin typeface="Arial" pitchFamily="34" charset="0"/>
                <a:ea typeface="Arial" pitchFamily="34" charset="-122"/>
                <a:cs typeface="Arial" pitchFamily="34" charset="-120"/>
              </a:rPr>
              <a:t>PRICING</a:t>
            </a:r>
            <a:endParaRPr lang="en-US" sz="1050" dirty="0"/>
          </a:p>
        </p:txBody>
      </p:sp>
      <p:sp>
        <p:nvSpPr>
          <p:cNvPr id="4" name="Text 1"/>
          <p:cNvSpPr txBox="1"/>
          <p:nvPr/>
        </p:nvSpPr>
        <p:spPr>
          <a:xfrm>
            <a:off x="713232" y="987552"/>
            <a:ext cx="8570671" cy="1074420"/>
          </a:xfrm>
          <a:prstGeom prst="rect">
            <a:avLst/>
          </a:prstGeom>
          <a:noFill/>
          <a:ln/>
        </p:spPr>
        <p:txBody>
          <a:bodyPr wrap="square" lIns="0" tIns="0" rIns="0" bIns="0" rtlCol="0" anchor="t"/>
          <a:lstStyle/>
          <a:p>
            <a:pPr marL="0" indent="0" algn="l">
              <a:lnSpc>
                <a:spcPct val="102000"/>
              </a:lnSpc>
              <a:buNone/>
            </a:pPr>
            <a:r>
              <a:rPr lang="en-US" sz="3900" b="1" dirty="0">
                <a:solidFill>
                  <a:srgbClr val="0F151B"/>
                </a:solidFill>
                <a:latin typeface="Arial" pitchFamily="34" charset="0"/>
                <a:ea typeface="Arial" pitchFamily="34" charset="-122"/>
                <a:cs typeface="Arial" pitchFamily="34" charset="-120"/>
              </a:rPr>
              <a:t>Add on and single service pricing</a:t>
            </a:r>
            <a:endParaRPr lang="en-US" sz="3900" dirty="0"/>
          </a:p>
        </p:txBody>
      </p:sp>
      <p:sp>
        <p:nvSpPr>
          <p:cNvPr id="5" name="Text 2"/>
          <p:cNvSpPr txBox="1"/>
          <p:nvPr/>
        </p:nvSpPr>
        <p:spPr>
          <a:xfrm>
            <a:off x="10929823" y="6437376"/>
            <a:ext cx="548640" cy="219456"/>
          </a:xfrm>
          <a:prstGeom prst="rect">
            <a:avLst/>
          </a:prstGeom>
          <a:noFill/>
          <a:ln/>
        </p:spPr>
        <p:txBody>
          <a:bodyPr wrap="square" lIns="0" tIns="0" rIns="0" bIns="0" rtlCol="0" anchor="t"/>
          <a:lstStyle/>
          <a:p>
            <a:pPr marL="0" indent="0" algn="r">
              <a:buNone/>
            </a:pPr>
            <a:r>
              <a:rPr lang="en-US" sz="1050" b="1" kern="0" spc="100" dirty="0">
                <a:solidFill>
                  <a:srgbClr val="CBD8E3"/>
                </a:solidFill>
                <a:latin typeface="Arial" pitchFamily="34" charset="0"/>
                <a:ea typeface="Arial" pitchFamily="34" charset="-122"/>
                <a:cs typeface="Arial" pitchFamily="34" charset="-120"/>
              </a:rPr>
              <a:t>21</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13232" y="2194560"/>
          <a:ext cx="10765231" cy="914400"/>
        </p:xfrm>
        <a:graphic>
          <a:graphicData uri="http://schemas.openxmlformats.org/drawingml/2006/table">
            <a:tbl>
              <a:tblPr/>
              <a:tblGrid>
                <a:gridCol w="27889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4864608">
                  <a:extLst>
                    <a:ext uri="{9D8B030D-6E8A-4147-A177-3AD203B41FA5}">
                      <a16:colId xmlns:a16="http://schemas.microsoft.com/office/drawing/2014/main" val="20003"/>
                    </a:ext>
                  </a:extLst>
                </a:gridCol>
              </a:tblGrid>
              <a:tr h="420624">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Service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Price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Term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What it covers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0" cap="flat" cmpd="sng" algn="ctr">
                      <a:noFill/>
                    </a:lnT>
                    <a:lnB w="6350" cap="flat" cmpd="sng" algn="ctr">
                      <a:solidFill>
                        <a:srgbClr val="E2EAF1"/>
                      </a:solidFill>
                      <a:prstDash val="solid"/>
                      <a:round/>
                      <a:headEnd type="none" w="med" len="med"/>
                      <a:tailEnd type="none" w="med" len="med"/>
                    </a:lnB>
                    <a:solidFill>
                      <a:srgbClr val="0A1825"/>
                    </a:solidFill>
                  </a:tcPr>
                </a:tc>
                <a:extLst>
                  <a:ext uri="{0D108BD9-81ED-4DB2-BD59-A6C34878D82A}">
                    <a16:rowId xmlns:a16="http://schemas.microsoft.com/office/drawing/2014/main" val="10000"/>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Google My Business management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GMB audit and makeover, posts, pictures, reviews, content, reporting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Backlinking and domain authority</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Citations, directories, profile links, niche blog networks, premium sites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extLst>
                  <a:ext uri="{0D108BD9-81ED-4DB2-BD59-A6C34878D82A}">
                    <a16:rowId xmlns:a16="http://schemas.microsoft.com/office/drawing/2014/main" val="10002"/>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Full SEO marketing package</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GMB, local and website SEO, speed and mobile, citations, backlinks, content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Content and blogging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Four blogs or pages a month, research, writing, edits, SEO and linking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extLst>
                  <a:ext uri="{0D108BD9-81ED-4DB2-BD59-A6C34878D82A}">
                    <a16:rowId xmlns:a16="http://schemas.microsoft.com/office/drawing/2014/main" val="10004"/>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Social media marketing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Calendar, design, posting 3x weekly, stories, hashtags, engagement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Custom marketing solutions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from $1,000/mo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Monthly</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Any combination of web, social, SEO, local SEO, PPC and graphic design</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extLst>
                  <a:ext uri="{0D108BD9-81ED-4DB2-BD59-A6C34878D82A}">
                    <a16:rowId xmlns:a16="http://schemas.microsoft.com/office/drawing/2014/main" val="10006"/>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Paid advertising management</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$1,500/mo</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 month minimum</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Audit, setup or takeover, buildout, targeting, creative, conversion tracking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Design and branding</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One time, about 3 months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tc>
                  <a:txBody>
                    <a:bodyPr/>
                    <a:lstStyle/>
                    <a:p>
                      <a:pPr marL="0" indent="0" algn="l">
                        <a:buNone/>
                      </a:pPr>
                      <a:r>
                        <a:rPr lang="en-US" sz="1150" dirty="0">
                          <a:solidFill>
                            <a:srgbClr val="0F151B"/>
                          </a:solidFill>
                          <a:latin typeface="Arial" pitchFamily="34" charset="0"/>
                          <a:ea typeface="Arial" pitchFamily="34" charset="-122"/>
                          <a:cs typeface="Arial" pitchFamily="34" charset="-120"/>
                        </a:rPr>
                        <a:t>Strategy, research, mockups, unlimited edits, logo and social design, full rights</a:t>
                      </a:r>
                      <a:endParaRPr lang="en-US" sz="1150" dirty="0">
                        <a:latin typeface="Arial" charset="0"/>
                        <a:ea typeface="Arial" charset="0"/>
                        <a:cs typeface="Arial" charset="0"/>
                      </a:endParaRPr>
                    </a:p>
                  </a:txBody>
                  <a:tcPr marL="146304" marR="146304" marT="54864" marB="54864" anchor="ctr">
                    <a:lnL w="0" cap="flat" cmpd="sng" algn="ctr">
                      <a:noFill/>
                    </a:lnL>
                    <a:lnR w="0" cap="flat" cmpd="sng" algn="ctr">
                      <a:noFill/>
                    </a:lnR>
                    <a:lnT w="6350" cap="flat" cmpd="sng" algn="ctr">
                      <a:solidFill>
                        <a:srgbClr val="E2EAF1"/>
                      </a:solidFill>
                      <a:prstDash val="solid"/>
                      <a:round/>
                      <a:headEnd type="none" w="med" len="med"/>
                      <a:tailEnd type="none" w="med" len="med"/>
                    </a:lnT>
                    <a:lnB w="6350" cap="flat" cmpd="sng" algn="ctr">
                      <a:solidFill>
                        <a:srgbClr val="E2EAF1"/>
                      </a:solidFill>
                      <a:prstDash val="solid"/>
                      <a:round/>
                      <a:headEnd type="none" w="med" len="med"/>
                      <a:tailEnd type="none" w="med" len="med"/>
                    </a:lnB>
                    <a:solidFill>
                      <a:srgbClr val="F1F6FA"/>
                    </a:solidFill>
                  </a:tcPr>
                </a:tc>
                <a:extLst>
                  <a:ext uri="{0D108BD9-81ED-4DB2-BD59-A6C34878D82A}">
                    <a16:rowId xmlns:a16="http://schemas.microsoft.com/office/drawing/2014/main" val="10008"/>
                  </a:ext>
                </a:extLst>
              </a:tr>
            </a:tbl>
          </a:graphicData>
        </a:graphic>
      </p:graphicFrame>
      <p:sp>
        <p:nvSpPr>
          <p:cNvPr id="7" name="Text 3"/>
          <p:cNvSpPr txBox="1"/>
          <p:nvPr/>
        </p:nvSpPr>
        <p:spPr>
          <a:xfrm>
            <a:off x="713232" y="6400800"/>
            <a:ext cx="9942271" cy="237744"/>
          </a:xfrm>
          <a:prstGeom prst="rect">
            <a:avLst/>
          </a:prstGeom>
          <a:noFill/>
          <a:ln/>
        </p:spPr>
        <p:txBody>
          <a:bodyPr wrap="square" lIns="0" tIns="0" rIns="0" bIns="0" rtlCol="0" anchor="t"/>
          <a:lstStyle/>
          <a:p>
            <a:pPr marL="0" indent="0" algn="l">
              <a:buNone/>
            </a:pPr>
            <a:r>
              <a:rPr lang="en-US" sz="950" i="1" dirty="0">
                <a:solidFill>
                  <a:srgbClr val="8A97A2"/>
                </a:solidFill>
                <a:latin typeface="Arial" pitchFamily="34" charset="0"/>
                <a:ea typeface="Arial" pitchFamily="34" charset="-122"/>
                <a:cs typeface="Arial" pitchFamily="34" charset="-120"/>
              </a:rPr>
              <a:t>Paid advertising management is quoted plus your ad media budget. Backlinking and social pricing range with volume. All figures published at needmomentum.com/marketing-prices/.</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80"/>
                                        <p:tgtEl>
                                          <p:spTgt spid="4"/>
                                        </p:tgtEl>
                                      </p:cBhvr>
                                    </p:animEffect>
                                  </p:childTnLst>
                                </p:cTn>
                              </p:par>
                              <p:par>
                                <p:cTn id="11" presetID="10" presetClass="entr" presetSubtype="0" fill="hold" nodeType="withEffect">
                                  <p:stCondLst>
                                    <p:cond delay="12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280"/>
                                        <p:tgtEl>
                                          <p:spTgt spid="2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1825"/>
        </a:solidFill>
        <a:effectLst/>
      </p:bgPr>
    </p:bg>
    <p:spTree>
      <p:nvGrpSpPr>
        <p:cNvPr id="1" name=""/>
        <p:cNvGrpSpPr/>
        <p:nvPr/>
      </p:nvGrpSpPr>
      <p:grpSpPr>
        <a:xfrm>
          <a:off x="0" y="0"/>
          <a:ext cx="0" cy="0"/>
          <a:chOff x="0" y="0"/>
          <a:chExt cx="0" cy="0"/>
        </a:xfrm>
      </p:grpSpPr>
      <p:sp>
        <p:nvSpPr>
          <p:cNvPr id="2" name="Shape 0"/>
          <p:cNvSpPr/>
          <p:nvPr/>
        </p:nvSpPr>
        <p:spPr>
          <a:xfrm>
            <a:off x="7086600" y="0"/>
            <a:ext cx="5105095" cy="6858000"/>
          </a:xfrm>
          <a:prstGeom prst="rect">
            <a:avLst/>
          </a:prstGeom>
          <a:solidFill>
            <a:srgbClr val="112B3F"/>
          </a:solidFill>
          <a:ln w="12700">
            <a:solidFill>
              <a:srgbClr val="333333"/>
            </a:solidFill>
            <a:prstDash val="solid"/>
          </a:ln>
        </p:spPr>
      </p:sp>
      <p:pic>
        <p:nvPicPr>
          <p:cNvPr id="3" name="Image 0" descr="C:\Users\dillo\.claude\skills\client-deck\assets\momentum-digital\momentum-mark-white.png"/>
          <p:cNvPicPr>
            <a:picLocks noChangeAspect="1"/>
          </p:cNvPicPr>
          <p:nvPr/>
        </p:nvPicPr>
        <p:blipFill>
          <a:blip r:embed="rId3">
            <a:alphaModFix amt="10000"/>
          </a:blip>
          <a:stretch>
            <a:fillRect/>
          </a:stretch>
        </p:blipFill>
        <p:spPr>
          <a:xfrm>
            <a:off x="8686800" y="1051560"/>
            <a:ext cx="5852160" cy="6942064"/>
          </a:xfrm>
          <a:prstGeom prst="rect">
            <a:avLst/>
          </a:prstGeom>
        </p:spPr>
      </p:pic>
      <p:pic>
        <p:nvPicPr>
          <p:cNvPr id="4" name="Image 1" descr="Momentum Digital logo"/>
          <p:cNvPicPr>
            <a:picLocks noChangeAspect="1"/>
          </p:cNvPicPr>
          <p:nvPr/>
        </p:nvPicPr>
        <p:blipFill>
          <a:blip r:embed="rId4"/>
          <a:stretch>
            <a:fillRect/>
          </a:stretch>
        </p:blipFill>
        <p:spPr>
          <a:xfrm>
            <a:off x="713232" y="658368"/>
            <a:ext cx="2880360" cy="619299"/>
          </a:xfrm>
          <a:prstGeom prst="rect">
            <a:avLst/>
          </a:prstGeom>
        </p:spPr>
      </p:pic>
      <p:sp>
        <p:nvSpPr>
          <p:cNvPr id="5" name="Text 1"/>
          <p:cNvSpPr txBox="1"/>
          <p:nvPr/>
        </p:nvSpPr>
        <p:spPr>
          <a:xfrm>
            <a:off x="713232" y="2286000"/>
            <a:ext cx="5852160" cy="201168"/>
          </a:xfrm>
          <a:prstGeom prst="rect">
            <a:avLst/>
          </a:prstGeom>
          <a:noFill/>
          <a:ln/>
        </p:spPr>
        <p:txBody>
          <a:bodyPr wrap="square" lIns="0" tIns="0" rIns="0" bIns="0" rtlCol="0" anchor="t"/>
          <a:lstStyle/>
          <a:p>
            <a:pPr marL="0" indent="0" algn="l">
              <a:buNone/>
            </a:pPr>
            <a:r>
              <a:rPr lang="en-US" sz="1050" b="1" kern="0" spc="240" dirty="0">
                <a:solidFill>
                  <a:srgbClr val="5AA7E0"/>
                </a:solidFill>
                <a:latin typeface="Arial" pitchFamily="34" charset="0"/>
                <a:ea typeface="Arial" pitchFamily="34" charset="-122"/>
                <a:cs typeface="Arial" pitchFamily="34" charset="-120"/>
              </a:rPr>
              <a:t>NEXT STEP</a:t>
            </a:r>
            <a:endParaRPr lang="en-US" sz="1050" dirty="0"/>
          </a:p>
        </p:txBody>
      </p:sp>
      <p:sp>
        <p:nvSpPr>
          <p:cNvPr id="6" name="Text 2"/>
          <p:cNvSpPr txBox="1"/>
          <p:nvPr/>
        </p:nvSpPr>
        <p:spPr>
          <a:xfrm>
            <a:off x="713232" y="2615184"/>
            <a:ext cx="6400800" cy="1421892"/>
          </a:xfrm>
          <a:prstGeom prst="rect">
            <a:avLst/>
          </a:prstGeom>
          <a:noFill/>
          <a:ln/>
        </p:spPr>
        <p:txBody>
          <a:bodyPr wrap="square" lIns="0" tIns="0" rIns="0" bIns="0" rtlCol="0" anchor="t"/>
          <a:lstStyle/>
          <a:p>
            <a:pPr marL="0" indent="0" algn="l">
              <a:lnSpc>
                <a:spcPct val="99000"/>
              </a:lnSpc>
              <a:buNone/>
            </a:pPr>
            <a:r>
              <a:rPr lang="en-US" sz="5400" b="1" dirty="0">
                <a:solidFill>
                  <a:srgbClr val="FFFFFF"/>
                </a:solidFill>
                <a:latin typeface="Arial" pitchFamily="34" charset="0"/>
                <a:ea typeface="Arial" pitchFamily="34" charset="-122"/>
                <a:cs typeface="Arial" pitchFamily="34" charset="-120"/>
              </a:rPr>
              <a:t>Start with the</a:t>
            </a:r>
            <a:endParaRPr lang="en-US" sz="5400" dirty="0"/>
          </a:p>
          <a:p>
            <a:pPr marL="0" indent="0" algn="l">
              <a:lnSpc>
                <a:spcPct val="99000"/>
              </a:lnSpc>
              <a:buNone/>
            </a:pPr>
            <a:r>
              <a:rPr lang="en-US" sz="5400" b="1" dirty="0">
                <a:solidFill>
                  <a:srgbClr val="FFFFFF"/>
                </a:solidFill>
                <a:latin typeface="Arial" pitchFamily="34" charset="0"/>
                <a:ea typeface="Arial" pitchFamily="34" charset="-122"/>
                <a:cs typeface="Arial" pitchFamily="34" charset="-120"/>
              </a:rPr>
              <a:t>free audit.</a:t>
            </a:r>
            <a:endParaRPr lang="en-US" sz="5400" dirty="0"/>
          </a:p>
        </p:txBody>
      </p:sp>
      <p:sp>
        <p:nvSpPr>
          <p:cNvPr id="7" name="Text 3"/>
          <p:cNvSpPr txBox="1"/>
          <p:nvPr/>
        </p:nvSpPr>
        <p:spPr>
          <a:xfrm>
            <a:off x="713232" y="4347972"/>
            <a:ext cx="6035040" cy="778764"/>
          </a:xfrm>
          <a:prstGeom prst="rect">
            <a:avLst/>
          </a:prstGeom>
          <a:noFill/>
          <a:ln/>
        </p:spPr>
        <p:txBody>
          <a:bodyPr wrap="square" lIns="0" tIns="0" rIns="0" bIns="0" rtlCol="0" anchor="t"/>
          <a:lstStyle/>
          <a:p>
            <a:pPr marL="0" indent="0" algn="l">
              <a:lnSpc>
                <a:spcPct val="134000"/>
              </a:lnSpc>
              <a:buNone/>
            </a:pPr>
            <a:r>
              <a:rPr lang="en-US" sz="1400" dirty="0">
                <a:solidFill>
                  <a:srgbClr val="9DB5C8"/>
                </a:solidFill>
                <a:latin typeface="Arial" pitchFamily="34" charset="0"/>
                <a:ea typeface="Arial" pitchFamily="34" charset="-122"/>
                <a:cs typeface="Arial" pitchFamily="34" charset="-120"/>
              </a:rPr>
              <a:t>We audit the website, SEO, Google Business Profile and the current digital presence, then walk through what we found and what we would do first. Published on the site as a $500 value.</a:t>
            </a:r>
            <a:endParaRPr lang="en-US" sz="1400" dirty="0"/>
          </a:p>
        </p:txBody>
      </p:sp>
      <p:sp>
        <p:nvSpPr>
          <p:cNvPr id="8" name="Shape 4"/>
          <p:cNvSpPr/>
          <p:nvPr/>
        </p:nvSpPr>
        <p:spPr>
          <a:xfrm>
            <a:off x="713232" y="5532120"/>
            <a:ext cx="6309360" cy="0"/>
          </a:xfrm>
          <a:prstGeom prst="line">
            <a:avLst/>
          </a:prstGeom>
          <a:noFill/>
          <a:ln w="9525">
            <a:solidFill>
              <a:srgbClr val="1E4460"/>
            </a:solidFill>
            <a:prstDash val="solid"/>
          </a:ln>
        </p:spPr>
      </p:sp>
      <p:sp>
        <p:nvSpPr>
          <p:cNvPr id="9" name="Text 5"/>
          <p:cNvSpPr txBox="1"/>
          <p:nvPr/>
        </p:nvSpPr>
        <p:spPr>
          <a:xfrm>
            <a:off x="713232" y="5760720"/>
            <a:ext cx="2743200" cy="310896"/>
          </a:xfrm>
          <a:prstGeom prst="rect">
            <a:avLst/>
          </a:prstGeom>
          <a:noFill/>
          <a:ln/>
        </p:spPr>
        <p:txBody>
          <a:bodyPr wrap="square" lIns="0" tIns="0" rIns="0" bIns="0" rtlCol="0" anchor="t"/>
          <a:lstStyle/>
          <a:p>
            <a:pPr marL="0" indent="0" algn="l">
              <a:buNone/>
            </a:pPr>
            <a:r>
              <a:rPr lang="en-US" sz="1700" b="1" dirty="0">
                <a:solidFill>
                  <a:srgbClr val="5AA7E0"/>
                </a:solidFill>
                <a:latin typeface="Arial" pitchFamily="34" charset="0"/>
                <a:ea typeface="Arial" pitchFamily="34" charset="-122"/>
                <a:cs typeface="Arial" pitchFamily="34" charset="-120"/>
              </a:rPr>
              <a:t>(215) 876-2954</a:t>
            </a:r>
            <a:endParaRPr lang="en-US" sz="1700" dirty="0"/>
          </a:p>
        </p:txBody>
      </p:sp>
      <p:sp>
        <p:nvSpPr>
          <p:cNvPr id="10" name="Text 6"/>
          <p:cNvSpPr txBox="1"/>
          <p:nvPr/>
        </p:nvSpPr>
        <p:spPr>
          <a:xfrm>
            <a:off x="713232" y="6144768"/>
            <a:ext cx="2743200" cy="548640"/>
          </a:xfrm>
          <a:prstGeom prst="rect">
            <a:avLst/>
          </a:prstGeom>
          <a:noFill/>
          <a:ln/>
        </p:spPr>
        <p:txBody>
          <a:bodyPr wrap="square" lIns="0" tIns="0" rIns="0" bIns="0" rtlCol="0" anchor="t"/>
          <a:lstStyle/>
          <a:p>
            <a:pPr marL="0" indent="0" algn="l">
              <a:lnSpc>
                <a:spcPct val="130000"/>
              </a:lnSpc>
              <a:buNone/>
            </a:pPr>
            <a:r>
              <a:rPr lang="en-US" sz="1150" dirty="0">
                <a:solidFill>
                  <a:srgbClr val="9DB5C8"/>
                </a:solidFill>
                <a:latin typeface="Arial" pitchFamily="34" charset="0"/>
                <a:ea typeface="Arial" pitchFamily="34" charset="-122"/>
                <a:cs typeface="Arial" pitchFamily="34" charset="-120"/>
              </a:rPr>
              <a:t>hi@needmomentum.com</a:t>
            </a:r>
            <a:endParaRPr lang="en-US" sz="1150" dirty="0"/>
          </a:p>
          <a:p>
            <a:pPr marL="0" indent="0" algn="l">
              <a:lnSpc>
                <a:spcPct val="130000"/>
              </a:lnSpc>
              <a:buNone/>
            </a:pPr>
            <a:r>
              <a:rPr lang="en-US" sz="1150" dirty="0">
                <a:solidFill>
                  <a:srgbClr val="9DB5C8"/>
                </a:solidFill>
                <a:latin typeface="Arial" pitchFamily="34" charset="0"/>
                <a:ea typeface="Arial" pitchFamily="34" charset="-122"/>
                <a:cs typeface="Arial" pitchFamily="34" charset="-120"/>
              </a:rPr>
              <a:t>needmomentum.com</a:t>
            </a:r>
            <a:endParaRPr lang="en-US" sz="1150" dirty="0"/>
          </a:p>
        </p:txBody>
      </p:sp>
      <p:sp>
        <p:nvSpPr>
          <p:cNvPr id="11" name="Text 7"/>
          <p:cNvSpPr txBox="1"/>
          <p:nvPr/>
        </p:nvSpPr>
        <p:spPr>
          <a:xfrm>
            <a:off x="3913632" y="5760720"/>
            <a:ext cx="3108960" cy="822960"/>
          </a:xfrm>
          <a:prstGeom prst="rect">
            <a:avLst/>
          </a:prstGeom>
          <a:noFill/>
          <a:ln/>
        </p:spPr>
        <p:txBody>
          <a:bodyPr wrap="square" lIns="0" tIns="0" rIns="0" bIns="0" rtlCol="0" anchor="t"/>
          <a:lstStyle/>
          <a:p>
            <a:pPr marL="0" indent="0" algn="l">
              <a:lnSpc>
                <a:spcPct val="130000"/>
              </a:lnSpc>
              <a:buNone/>
            </a:pPr>
            <a:r>
              <a:rPr lang="en-US" sz="1150" dirty="0">
                <a:solidFill>
                  <a:srgbClr val="9DB5C8"/>
                </a:solidFill>
                <a:latin typeface="Arial" pitchFamily="34" charset="0"/>
                <a:ea typeface="Arial" pitchFamily="34" charset="-122"/>
                <a:cs typeface="Arial" pitchFamily="34" charset="-120"/>
              </a:rPr>
              <a:t>1635 Market St. #1601</a:t>
            </a:r>
            <a:endParaRPr lang="en-US" sz="1150" dirty="0"/>
          </a:p>
          <a:p>
            <a:pPr marL="0" indent="0" algn="l">
              <a:lnSpc>
                <a:spcPct val="130000"/>
              </a:lnSpc>
              <a:buNone/>
            </a:pPr>
            <a:r>
              <a:rPr lang="en-US" sz="1150" dirty="0">
                <a:solidFill>
                  <a:srgbClr val="9DB5C8"/>
                </a:solidFill>
                <a:latin typeface="Arial" pitchFamily="34" charset="0"/>
                <a:ea typeface="Arial" pitchFamily="34" charset="-122"/>
                <a:cs typeface="Arial" pitchFamily="34" charset="-120"/>
              </a:rPr>
              <a:t>Philadelphia, PA 19103</a:t>
            </a:r>
            <a:endParaRPr lang="en-US" sz="1150" dirty="0"/>
          </a:p>
          <a:p>
            <a:pPr marL="0" indent="0" algn="l">
              <a:lnSpc>
                <a:spcPct val="130000"/>
              </a:lnSpc>
              <a:buNone/>
            </a:pPr>
            <a:r>
              <a:rPr lang="en-US" sz="1150" dirty="0">
                <a:solidFill>
                  <a:srgbClr val="9DB5C8"/>
                </a:solidFill>
                <a:latin typeface="Arial" pitchFamily="34" charset="0"/>
                <a:ea typeface="Arial" pitchFamily="34" charset="-122"/>
                <a:cs typeface="Arial" pitchFamily="34" charset="-120"/>
              </a:rPr>
              <a:t>Mon to Fri, 9:00am to 7:00pm</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80"/>
                                        <p:tgtEl>
                                          <p:spTgt spid="3"/>
                                        </p:tgtEl>
                                      </p:cBhvr>
                                    </p:animEffect>
                                  </p:childTnLst>
                                </p:cTn>
                              </p:par>
                              <p:par>
                                <p:cTn id="8" presetID="10" presetClass="entr" presetSubtype="0" fill="hold" grpId="0"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8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80"/>
                                        <p:tgtEl>
                                          <p:spTgt spid="6"/>
                                        </p:tgtEl>
                                      </p:cBhvr>
                                    </p:animEffect>
                                  </p:childTnLst>
                                </p:cTn>
                              </p:par>
                              <p:par>
                                <p:cTn id="14" presetID="10" presetClass="entr" presetSubtype="0" fill="hold" grpId="0" nodeType="withEffect">
                                  <p:stCondLst>
                                    <p:cond delay="18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8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280"/>
                                        <p:tgtEl>
                                          <p:spTgt spid="9"/>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80"/>
                                        <p:tgtEl>
                                          <p:spTgt spid="11"/>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8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4383</Words>
  <Application>Microsoft Office PowerPoint</Application>
  <PresentationFormat>Widescreen</PresentationFormat>
  <Paragraphs>590</Paragraphs>
  <Slides>26</Slides>
  <Notes>26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26</vt:i4>
      </vt:variant>
    </vt:vector>
  </HeadingPairs>
  <TitlesOfParts>
    <vt:vector size="2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Momentum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Momentum Digital, marketing that makes the phone ring</dc:title>
  <dc:subject>Capabilities, case studies and pricing</dc:subject>
  <dc:creator>Momentum Digital</dc:creator>
  <cp:lastModifiedBy>Dillon Mohr</cp:lastModifiedBy>
  <cp:revision>2</cp:revision>
  <dcterms:created xsi:type="dcterms:W3CDTF">2026-09-04T15:57:13Z</dcterms:created>
  <dcterms:modified xsi:type="dcterms:W3CDTF">2026-09-04T15:57:25Z</dcterms:modified>
</cp:coreProperties>
</file>