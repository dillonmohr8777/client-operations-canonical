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promise, not the service list. Momentum sells measurable local demand: calls, forms and booked appointments. Every claim in this deck traces to a published Momentum source.
[Sources]
needmomentum.com, captured September 4, 2026.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founder story: Google experience applied to businesses Google's own sales org never had time for. The 1,000+ figure and the $500 to $5,000 range are both published on the site.
[Sources]
needmomentum.com/about-us/
needmomentum.com/marketing-case-studies/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Credibility slide. Do not add badges Momentum has not published. Every name here appears as a badge or in copy on needmomentum.com.
[Sources]
needmomentum.com, captured September 4, 2026.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menu slide. Ask which two lines are already running and which are not, then jump straight to the matching service slide.
[Sources]
needmomentum.com, captured September 4, 2026.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SEO is the anchor line. Both proof points are non branded search, which answers the objection most prospects raise: we already rank for our own name.
[Sources]
needmomentum.com/marketing-case-studies/it-services-seo-microtech-systems-boise/
needmomentum.com/marketing-case-studies/on-page-seo-case-study/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Kind Insurance number is the headline: phone calls went from 154 in 2024 to 638 in 2025. Cost per conversion rose to $42.09 because the account stopped optimizing for cheap non call conversions.
[Sources]
needmomentum.com/marketing-case-studies/ppc-phone-call-lead-generation/
needmomentum.com/marketing-case-studies/google-ads-case-study/
needmomentum.com/marketing-case-studies/freight-company-google-ads/
needmomentum.com/marketing-case-studies/med-spa-google-ads-case-study/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Grand Entry Doors is the strongest organic social proof: 775,990 impressions in September 2025 alone. Good answer to whether organic social actually does anything.
[Sources]
needmomentum.com/marketing-case-studies/pinterest-organic-case-study/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Conversions rose by up to 816% and sessions by 66%. Say up to, exactly as the case study does. The performance scores are before and after samples, not permanent scores.
[Sources]
needmomentum.com/marketing-case-studies/wordpress-website-redesign/
needmomentum.com/marketing-prices/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Momentum 360 is the differentiator against pure play SEO shops: the same agency shoots the media that makes the local listing work. momentumvirtualtours.com
[Sources]
needmomentum.com, captured September 4, 2026.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Small numbers, told honestly. Five conversations and one closed policy in the first thirty days is a real result for an insurance brokerage, and more credible than a vague automation promise.
[Sources]
needmomentum.com/ai-powered-marketing-automation/
needmomentum.com/marketing-case-studies/lead-automation/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 slide in the deck not built from published Momentum material. It carries no invented metrics: the only figure on it, AI visibility 35, comes from the Detroit Dispensing Solutions case study. Do not quote a price until Mac sets one.
[Sources]
needmomentum.com/marketing-case-studies/b2b-seo-lead-generation/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the grid. Point at the prospect's industry and move to the matching case study.
[Sources]
needmomentum.com, captured September 4, 2026.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fast version for a short meeting. Each figure has a full slide behind it. Nothing here is an average or a blended agency claim; every number belongs to one named client.
[Sources]
needmomentum.com, captured September 4, 2026.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this one is that SEO was measured on revenue, not sessions. First measurable movement inside three months, full result over twelve.
[Sources]
needmomentum.com/ecommerce-seo-case-study-underx/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best AEO story Momentum has today. AI visibility grew to 35 and ChatGPT shows up as a named source in the December lead mix. Use it when a prospect asks about AI search. LinkedIn retargeting CTR was 2.92%, up 356% on prospecting.
[Sources]
needmomentum.com/marketing-case-studies/b2b-seo-lead-generation/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Handle the CPA objection before the prospect raises it. $13.27 to $42.09 looks like a regression until you say what was being counted. Call conversion rate went 10.91% to 33.06%.
[Sources]
needmomentum.com/marketing-case-studies/ppc-phone-call-lead-generation/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slide for a prospect who says their ads bring the wrong people. The fix was changing what the account optimizes toward, then scaling.
[Sources]
needmomentum.com/marketing-case-studies/google-ads-case-study/
needmomentum.com/marketing-case-studies/corporate-housing-marketing-bedford/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multi location story. Three profiles, three ad campaigns, one funnel. The next phase on the case study page is concierge medicine plus email and SMS retention.
[Sources]
needmomentum.com/drip-iv-case-study/
needmomentum.com/marketing-case-studies/iv-therapy-paid-ads/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Rapid fire. Alex Mika ran four years and the page is honest that traffic declined 40% after the contract ended, which is a useful retention argument if a prospect asks what happens when they stop.
[Sources]
needmomentum.com/marketing-case-studies/home-services-lead-generation/
needmomentum.com/marketing-case-studies/freight-company-google-ads/
needmomentum.com/marketing-case-studies/site-migration-case-study/
needmomentum.com/marketing-case-studies/med-spa-google-ads-case-study/
needmomentum.com/ecommerce-jewelry-marketing-case-study/
needmomentum.com/shopify-seo-case-study/
needmomentum.com/marketing-case-studies/legal-seo-mosser-legal/
needmomentum.com/nightclub-marketing-case-study/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guarantee wording exactly as published. Do not paraphrase it into a stronger promise, and do not extend it to packages that do not carry it. Individual packages carry their own: guaranteed growth on Kickstart, first page of Google on the twelve month SEO package, a rank increase on GBP management. Confirm with Mac that the language is current.
[Sources]
needmomentum.com/marketing-prices/
needmomentum.com/marketing-case-studies/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prices are published on needmomentum.com/marketing-prices/. The middle card is the one to anchor on. Custom or specific projects are quoted on a call.
[Sources]
needmomentum.com/marketing-prices/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rows, all published. If a prospect wants to mix services, the answer is the custom package at a $1,000 monthly floor, or $3,000 for a genuinely custom build.
[Sources]
needmomentum.com/marketing-prices/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booking the audit, not by sending pricing. The audit is the qualification step and it is already published as free. Office: 1635 Market St. #1601, Philadelphia PA 19103, Mon to Fri 9:00am to 7:00pm.
[Sources]
needmomentum.com/marketing-prices/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825"/>
        </a:solidFill>
      </p:bgPr>
    </p:bg>
    <p:spTree>
      <p:nvGrpSpPr>
        <p:cNvPr id="1" name=""/>
        <p:cNvGrpSpPr/>
        <p:nvPr/>
      </p:nvGrpSpPr>
      <p:grpSpPr>
        <a:xfrm>
          <a:off x="0" y="0"/>
          <a:ext cx="0" cy="0"/>
          <a:chOff x="0" y="0"/>
          <a:chExt cx="0" cy="0"/>
        </a:xfrm>
      </p:grpSpPr>
      <p:sp>
        <p:nvSpPr>
          <p:cNvPr id="2" name="Shape 0"/>
          <p:cNvSpPr/>
          <p:nvPr/>
        </p:nvSpPr>
        <p:spPr>
          <a:xfrm>
            <a:off x="7086600" y="0"/>
            <a:ext cx="5105095" cy="6858000"/>
          </a:xfrm>
          <a:prstGeom prst="rect">
            <a:avLst/>
          </a:prstGeom>
          <a:solidFill>
            <a:srgbClr val="112B3F"/>
          </a:solidFill>
          <a:ln w="12700">
            <a:solidFill>
              <a:srgbClr val="333333"/>
            </a:solidFill>
            <a:prstDash val="solid"/>
          </a:ln>
        </p:spPr>
      </p:sp>
      <p:pic>
        <p:nvPicPr>
          <p:cNvPr id="3" name="Image 0" descr="C:\Users\dillo\.claude\skills\client-deck\assets\momentum-digital\momentum-mark-white.png">    </p:cNvPr>
          <p:cNvPicPr>
            <a:picLocks noChangeAspect="1"/>
          </p:cNvPicPr>
          <p:nvPr/>
        </p:nvPicPr>
        <p:blipFill>
          <a:blip r:embed="rId1">
            <a:alphaModFix amt="10000"/>
          </a:blip>
          <a:stretch>
            <a:fillRect/>
          </a:stretch>
        </p:blipFill>
        <p:spPr>
          <a:xfrm>
            <a:off x="8686800" y="1051560"/>
            <a:ext cx="5852160" cy="6942064"/>
          </a:xfrm>
          <a:prstGeom prst="rect">
            <a:avLst/>
          </a:prstGeom>
        </p:spPr>
      </p:pic>
      <p:pic>
        <p:nvPicPr>
          <p:cNvPr id="4" name="Image 1" descr="Momentum Digital logo">    </p:cNvPr>
          <p:cNvPicPr>
            <a:picLocks noChangeAspect="1"/>
          </p:cNvPicPr>
          <p:nvPr/>
        </p:nvPicPr>
        <p:blipFill>
          <a:blip r:embed="rId2"/>
          <a:stretch>
            <a:fillRect/>
          </a:stretch>
        </p:blipFill>
        <p:spPr>
          <a:xfrm>
            <a:off x="713232" y="658368"/>
            <a:ext cx="2880360" cy="619299"/>
          </a:xfrm>
          <a:prstGeom prst="rect">
            <a:avLst/>
          </a:prstGeom>
        </p:spPr>
      </p:pic>
      <p:sp>
        <p:nvSpPr>
          <p:cNvPr id="5" name="Text 1"/>
          <p:cNvSpPr txBox="1"/>
          <p:nvPr/>
        </p:nvSpPr>
        <p:spPr>
          <a:xfrm>
            <a:off x="713232" y="1810512"/>
            <a:ext cx="6035040" cy="201168"/>
          </a:xfrm>
          <a:prstGeom prst="rect">
            <a:avLst/>
          </a:prstGeom>
          <a:noFill/>
          <a:ln/>
        </p:spPr>
        <p:txBody>
          <a:bodyPr wrap="square" lIns="0" tIns="0" rIns="0" bIns="0" rtlCol="0" anchor="t"/>
          <a:lstStyle/>
          <a:p>
            <a:pPr algn="l" indent="0" marL="0">
              <a:buNone/>
            </a:pPr>
            <a:r>
              <a:rPr lang="en-US" sz="1050" b="1" spc="240" kern="0" dirty="0">
                <a:solidFill>
                  <a:srgbClr val="5AA7E0"/>
                </a:solidFill>
                <a:latin typeface="Arial" pitchFamily="34" charset="0"/>
                <a:ea typeface="Arial" pitchFamily="34" charset="-122"/>
                <a:cs typeface="Arial" pitchFamily="34" charset="-120"/>
              </a:rPr>
              <a:t>PHILADELPHIA · SINCE 2015</a:t>
            </a:r>
            <a:endParaRPr lang="en-US" sz="1050" dirty="0"/>
          </a:p>
        </p:txBody>
      </p:sp>
      <p:sp>
        <p:nvSpPr>
          <p:cNvPr id="6" name="Text 2"/>
          <p:cNvSpPr txBox="1"/>
          <p:nvPr/>
        </p:nvSpPr>
        <p:spPr>
          <a:xfrm>
            <a:off x="713232" y="2139696"/>
            <a:ext cx="6309360" cy="2121408"/>
          </a:xfrm>
          <a:prstGeom prst="rect">
            <a:avLst/>
          </a:prstGeom>
          <a:noFill/>
          <a:ln/>
        </p:spPr>
        <p:txBody>
          <a:bodyPr wrap="square" lIns="0" tIns="0" rIns="0" bIns="0" rtlCol="0" anchor="t"/>
          <a:lstStyle/>
          <a:p>
            <a:pPr algn="l" indent="0" marL="0">
              <a:lnSpc>
                <a:spcPct val="100000"/>
              </a:lnSpc>
              <a:buNone/>
            </a:pPr>
            <a:r>
              <a:rPr lang="en-US" sz="5400" b="1" dirty="0">
                <a:solidFill>
                  <a:srgbClr val="FFFFFF"/>
                </a:solidFill>
                <a:latin typeface="Arial" pitchFamily="34" charset="0"/>
                <a:ea typeface="Arial" pitchFamily="34" charset="-122"/>
                <a:cs typeface="Arial" pitchFamily="34" charset="-120"/>
              </a:rPr>
              <a:t>Marketing that</a:t>
            </a:r>
            <a:endParaRPr lang="en-US" sz="5400" dirty="0"/>
          </a:p>
          <a:p>
            <a:pPr algn="l" indent="0" marL="0">
              <a:lnSpc>
                <a:spcPct val="100000"/>
              </a:lnSpc>
              <a:buNone/>
            </a:pPr>
            <a:r>
              <a:rPr lang="en-US" sz="5400" b="1" dirty="0">
                <a:solidFill>
                  <a:srgbClr val="FFFFFF"/>
                </a:solidFill>
                <a:latin typeface="Arial" pitchFamily="34" charset="0"/>
                <a:ea typeface="Arial" pitchFamily="34" charset="-122"/>
                <a:cs typeface="Arial" pitchFamily="34" charset="-120"/>
              </a:rPr>
              <a:t>makes the</a:t>
            </a:r>
            <a:endParaRPr lang="en-US" sz="5400" dirty="0"/>
          </a:p>
          <a:p>
            <a:pPr algn="l" indent="0" marL="0">
              <a:lnSpc>
                <a:spcPct val="100000"/>
              </a:lnSpc>
              <a:buNone/>
            </a:pPr>
            <a:r>
              <a:rPr lang="en-US" sz="5400" b="1" dirty="0">
                <a:solidFill>
                  <a:srgbClr val="FFFFFF"/>
                </a:solidFill>
                <a:latin typeface="Arial" pitchFamily="34" charset="0"/>
                <a:ea typeface="Arial" pitchFamily="34" charset="-122"/>
                <a:cs typeface="Arial" pitchFamily="34" charset="-120"/>
              </a:rPr>
              <a:t>phone ring.</a:t>
            </a:r>
            <a:endParaRPr lang="en-US" sz="5400" dirty="0"/>
          </a:p>
        </p:txBody>
      </p:sp>
      <p:sp>
        <p:nvSpPr>
          <p:cNvPr id="7" name="Text 3"/>
          <p:cNvSpPr txBox="1"/>
          <p:nvPr/>
        </p:nvSpPr>
        <p:spPr>
          <a:xfrm>
            <a:off x="713232" y="4681728"/>
            <a:ext cx="5852160" cy="1019556"/>
          </a:xfrm>
          <a:prstGeom prst="rect">
            <a:avLst/>
          </a:prstGeom>
          <a:noFill/>
          <a:ln/>
        </p:spPr>
        <p:txBody>
          <a:bodyPr wrap="square" lIns="0" tIns="0" rIns="0" bIns="0" rtlCol="0" anchor="t"/>
          <a:lstStyle/>
          <a:p>
            <a:pPr algn="l" indent="0" marL="0">
              <a:lnSpc>
                <a:spcPct val="132000"/>
              </a:lnSpc>
              <a:buNone/>
            </a:pPr>
            <a:r>
              <a:rPr lang="en-US" sz="1900" dirty="0">
                <a:solidFill>
                  <a:srgbClr val="9DB5C8"/>
                </a:solidFill>
                <a:latin typeface="Arial" pitchFamily="34" charset="0"/>
                <a:ea typeface="Arial" pitchFamily="34" charset="-122"/>
                <a:cs typeface="Arial" pitchFamily="34" charset="-120"/>
              </a:rPr>
              <a:t>SEO, paid media, social, design, content and AI automation for small and local businesses, run by a team that shows you the numbers.</a:t>
            </a:r>
            <a:endParaRPr lang="en-US" sz="1900" dirty="0"/>
          </a:p>
        </p:txBody>
      </p:sp>
      <p:sp>
        <p:nvSpPr>
          <p:cNvPr id="8" name="Text 4"/>
          <p:cNvSpPr txBox="1"/>
          <p:nvPr/>
        </p:nvSpPr>
        <p:spPr>
          <a:xfrm>
            <a:off x="713232" y="6016752"/>
            <a:ext cx="6400800" cy="237744"/>
          </a:xfrm>
          <a:prstGeom prst="rect">
            <a:avLst/>
          </a:prstGeom>
          <a:noFill/>
          <a:ln/>
        </p:spPr>
        <p:txBody>
          <a:bodyPr wrap="square" lIns="0" tIns="0" rIns="0" bIns="0" rtlCol="0" anchor="t"/>
          <a:lstStyle/>
          <a:p>
            <a:pPr algn="l" indent="0" marL="0">
              <a:buNone/>
            </a:pPr>
            <a:r>
              <a:rPr lang="en-US" sz="1100" b="1" spc="120" kern="0" dirty="0">
                <a:solidFill>
                  <a:srgbClr val="9DB5C8"/>
                </a:solidFill>
                <a:latin typeface="Arial" pitchFamily="34" charset="0"/>
                <a:ea typeface="Arial" pitchFamily="34" charset="-122"/>
                <a:cs typeface="Arial" pitchFamily="34" charset="-120"/>
              </a:rPr>
              <a:t>needmomentum.com   ·   (215) 876-2954   ·   hi@needmomentum.com</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14055" y="0"/>
            <a:ext cx="3977640" cy="6858000"/>
          </a:xfrm>
          <a:prstGeom prst="rect">
            <a:avLst/>
          </a:prstGeom>
          <a:solidFill>
            <a:srgbClr val="0A1825"/>
          </a:solidFill>
          <a:ln w="12700">
            <a:solidFill>
              <a:srgbClr val="333333"/>
            </a:solidFill>
            <a:prstDash val="solid"/>
          </a:ln>
        </p:spPr>
      </p:sp>
      <p:pic>
        <p:nvPicPr>
          <p:cNvPr id="3" name="Image 0" descr="C:\Users\dillo\.claude\skills\client-deck\assets\momentum-digital\momentum-mark-white.png">    </p:cNvPr>
          <p:cNvPicPr>
            <a:picLocks noChangeAspect="1"/>
          </p:cNvPicPr>
          <p:nvPr/>
        </p:nvPicPr>
        <p:blipFill>
          <a:blip r:embed="rId1">
            <a:alphaModFix amt="10000"/>
          </a:blip>
          <a:stretch>
            <a:fillRect/>
          </a:stretch>
        </p:blipFill>
        <p:spPr>
          <a:xfrm>
            <a:off x="9601200" y="4114800"/>
            <a:ext cx="3931920" cy="4664199"/>
          </a:xfrm>
          <a:prstGeom prst="rect">
            <a:avLst/>
          </a:prstGeom>
        </p:spPr>
      </p:pic>
      <p:pic>
        <p:nvPicPr>
          <p:cNvPr id="4" name="Image 1" descr="Momentum Digital logo">    </p:cNvPr>
          <p:cNvPicPr>
            <a:picLocks noChangeAspect="1"/>
          </p:cNvPicPr>
          <p:nvPr/>
        </p:nvPicPr>
        <p:blipFill>
          <a:blip r:embed="rId2"/>
          <a:stretch>
            <a:fillRect/>
          </a:stretch>
        </p:blipFill>
        <p:spPr>
          <a:xfrm>
            <a:off x="10106863" y="658368"/>
            <a:ext cx="1371600" cy="294904"/>
          </a:xfrm>
          <a:prstGeom prst="rect">
            <a:avLst/>
          </a:prstGeom>
        </p:spPr>
      </p:pic>
      <p:sp>
        <p:nvSpPr>
          <p:cNvPr id="5" name="Text 1"/>
          <p:cNvSpPr txBox="1"/>
          <p:nvPr/>
        </p:nvSpPr>
        <p:spPr>
          <a:xfrm>
            <a:off x="713232" y="658368"/>
            <a:ext cx="8753551" cy="201168"/>
          </a:xfrm>
          <a:prstGeom prst="rect">
            <a:avLst/>
          </a:prstGeom>
          <a:noFill/>
          <a:ln/>
        </p:spPr>
        <p:txBody>
          <a:bodyPr wrap="square" lIns="0" tIns="0" rIns="0" bIns="0" rtlCol="0" anchor="t"/>
          <a:lstStyle/>
          <a:p>
            <a:pPr algn="l" indent="0" marL="0">
              <a:buNone/>
            </a:pPr>
            <a:r>
              <a:rPr lang="en-US" sz="1050" b="1" spc="240" kern="0" dirty="0">
                <a:solidFill>
                  <a:srgbClr val="2A80C2"/>
                </a:solidFill>
                <a:latin typeface="Arial" pitchFamily="34" charset="0"/>
                <a:ea typeface="Arial" pitchFamily="34" charset="-122"/>
                <a:cs typeface="Arial" pitchFamily="34" charset="-120"/>
              </a:rPr>
              <a:t>WHO WE ARE</a:t>
            </a:r>
            <a:endParaRPr lang="en-US" sz="1050" dirty="0"/>
          </a:p>
        </p:txBody>
      </p:sp>
      <p:sp>
        <p:nvSpPr>
          <p:cNvPr id="6" name="Text 2"/>
          <p:cNvSpPr txBox="1"/>
          <p:nvPr/>
        </p:nvSpPr>
        <p:spPr>
          <a:xfrm>
            <a:off x="713232" y="987552"/>
            <a:ext cx="6766560" cy="1074420"/>
          </a:xfrm>
          <a:prstGeom prst="rect">
            <a:avLst/>
          </a:prstGeom>
          <a:noFill/>
          <a:ln/>
        </p:spPr>
        <p:txBody>
          <a:bodyPr wrap="square" lIns="0" tIns="0" rIns="0" bIns="0" rtlCol="0" anchor="t"/>
          <a:lstStyle/>
          <a:p>
            <a:pPr algn="l" indent="0" marL="0">
              <a:lnSpc>
                <a:spcPct val="102000"/>
              </a:lnSpc>
              <a:buNone/>
            </a:pPr>
            <a:r>
              <a:rPr lang="en-US" sz="3900" b="1" dirty="0">
                <a:solidFill>
                  <a:srgbClr val="0F151B"/>
                </a:solidFill>
                <a:latin typeface="Arial" pitchFamily="34" charset="0"/>
                <a:ea typeface="Arial" pitchFamily="34" charset="-122"/>
                <a:cs typeface="Arial" pitchFamily="34" charset="-120"/>
              </a:rPr>
              <a:t>A Philadelphia agency</a:t>
            </a:r>
            <a:endParaRPr lang="en-US" sz="3900" dirty="0"/>
          </a:p>
          <a:p>
            <a:pPr algn="l" indent="0" marL="0">
              <a:lnSpc>
                <a:spcPct val="102000"/>
              </a:lnSpc>
              <a:buNone/>
            </a:pPr>
            <a:r>
              <a:rPr lang="en-US" sz="3900" b="1" dirty="0">
                <a:solidFill>
                  <a:srgbClr val="0F151B"/>
                </a:solidFill>
                <a:latin typeface="Arial" pitchFamily="34" charset="0"/>
                <a:ea typeface="Arial" pitchFamily="34" charset="-122"/>
                <a:cs typeface="Arial" pitchFamily="34" charset="-120"/>
              </a:rPr>
              <a:t>built for small business</a:t>
            </a:r>
            <a:endParaRPr lang="en-US" sz="3900" dirty="0"/>
          </a:p>
        </p:txBody>
      </p:sp>
      <p:sp>
        <p:nvSpPr>
          <p:cNvPr id="7" name="Text 3"/>
          <p:cNvSpPr txBox="1"/>
          <p:nvPr/>
        </p:nvSpPr>
        <p:spPr>
          <a:xfrm>
            <a:off x="10929823" y="6437376"/>
            <a:ext cx="548640" cy="219456"/>
          </a:xfrm>
          <a:prstGeom prst="rect">
            <a:avLst/>
          </a:prstGeom>
          <a:noFill/>
          <a:ln/>
        </p:spPr>
        <p:txBody>
          <a:bodyPr wrap="square" lIns="0" tIns="0" rIns="0" bIns="0" rtlCol="0" anchor="t"/>
          <a:lstStyle/>
          <a:p>
            <a:pPr algn="r" indent="0" marL="0">
              <a:buNone/>
            </a:pPr>
            <a:r>
              <a:rPr lang="en-US" sz="1050" b="1" spc="100" kern="0" dirty="0">
                <a:solidFill>
                  <a:srgbClr val="CBD8E3"/>
                </a:solidFill>
                <a:latin typeface="Arial" pitchFamily="34" charset="0"/>
                <a:ea typeface="Arial" pitchFamily="34" charset="-122"/>
                <a:cs typeface="Arial" pitchFamily="34" charset="-120"/>
              </a:rPr>
              <a:t>01</a:t>
            </a:r>
            <a:endParaRPr lang="en-US" sz="1050" dirty="0"/>
          </a:p>
        </p:txBody>
      </p:sp>
      <p:sp>
        <p:nvSpPr>
          <p:cNvPr id="8" name="Text 4"/>
          <p:cNvSpPr txBox="1"/>
          <p:nvPr/>
        </p:nvSpPr>
        <p:spPr>
          <a:xfrm>
            <a:off x="713232" y="2788920"/>
            <a:ext cx="1956816" cy="519176"/>
          </a:xfrm>
          <a:prstGeom prst="rect">
            <a:avLst/>
          </a:prstGeom>
          <a:noFill/>
          <a:ln/>
        </p:spPr>
        <p:txBody>
          <a:bodyPr wrap="square" lIns="0" tIns="0" rIns="0" bIns="0" rtlCol="0" anchor="t"/>
          <a:lstStyle/>
          <a:p>
            <a:pPr algn="l" indent="0" marL="0">
              <a:lnSpc>
                <a:spcPct val="100000"/>
              </a:lnSpc>
              <a:buNone/>
            </a:pPr>
            <a:r>
              <a:rPr lang="en-US" sz="3800" b="1" dirty="0">
                <a:solidFill>
                  <a:srgbClr val="2A80C2"/>
                </a:solidFill>
                <a:latin typeface="Arial" pitchFamily="34" charset="0"/>
                <a:ea typeface="Arial" pitchFamily="34" charset="-122"/>
                <a:cs typeface="Arial" pitchFamily="34" charset="-120"/>
              </a:rPr>
              <a:t>1,000+</a:t>
            </a:r>
            <a:endParaRPr lang="en-US" sz="3800" dirty="0"/>
          </a:p>
        </p:txBody>
      </p:sp>
      <p:sp>
        <p:nvSpPr>
          <p:cNvPr id="9" name="Text 5"/>
          <p:cNvSpPr txBox="1"/>
          <p:nvPr/>
        </p:nvSpPr>
        <p:spPr>
          <a:xfrm>
            <a:off x="713232" y="3362960"/>
            <a:ext cx="1956816" cy="237744"/>
          </a:xfrm>
          <a:prstGeom prst="rect">
            <a:avLst/>
          </a:prstGeom>
          <a:noFill/>
          <a:ln/>
        </p:spPr>
        <p:txBody>
          <a:bodyPr wrap="square" lIns="0" tIns="0" rIns="0" bIns="0" rtlCol="0" anchor="t"/>
          <a:lstStyle/>
          <a:p>
            <a:pPr algn="l" indent="0" marL="0">
              <a:lnSpc>
                <a:spcPct val="120000"/>
              </a:lnSpc>
              <a:buNone/>
            </a:pPr>
            <a:r>
              <a:rPr lang="en-US" sz="1200" b="1" dirty="0">
                <a:solidFill>
                  <a:srgbClr val="0F151B"/>
                </a:solidFill>
                <a:latin typeface="Arial" pitchFamily="34" charset="0"/>
                <a:ea typeface="Arial" pitchFamily="34" charset="-122"/>
                <a:cs typeface="Arial" pitchFamily="34" charset="-120"/>
              </a:rPr>
              <a:t>Small businesses served</a:t>
            </a:r>
            <a:endParaRPr lang="en-US" sz="1200" dirty="0"/>
          </a:p>
        </p:txBody>
      </p:sp>
      <p:sp>
        <p:nvSpPr>
          <p:cNvPr id="10" name="Text 6"/>
          <p:cNvSpPr txBox="1"/>
          <p:nvPr/>
        </p:nvSpPr>
        <p:spPr>
          <a:xfrm>
            <a:off x="713232" y="3664712"/>
            <a:ext cx="1956816" cy="374904"/>
          </a:xfrm>
          <a:prstGeom prst="rect">
            <a:avLst/>
          </a:prstGeom>
          <a:noFill/>
          <a:ln/>
        </p:spPr>
        <p:txBody>
          <a:bodyPr wrap="square" lIns="0" tIns="0" rIns="0" bIns="0" rtlCol="0" anchor="t"/>
          <a:lstStyle/>
          <a:p>
            <a:pPr algn="l" indent="0" marL="0">
              <a:lnSpc>
                <a:spcPct val="120000"/>
              </a:lnSpc>
              <a:buNone/>
            </a:pPr>
            <a:r>
              <a:rPr lang="en-US" sz="1050" dirty="0">
                <a:solidFill>
                  <a:srgbClr val="5A6772"/>
                </a:solidFill>
                <a:latin typeface="Arial" pitchFamily="34" charset="0"/>
                <a:ea typeface="Arial" pitchFamily="34" charset="-122"/>
                <a:cs typeface="Arial" pitchFamily="34" charset="-120"/>
              </a:rPr>
              <a:t>Philadelphia region, since 2015</a:t>
            </a:r>
            <a:endParaRPr lang="en-US" sz="1050" dirty="0"/>
          </a:p>
        </p:txBody>
      </p:sp>
      <p:sp>
        <p:nvSpPr>
          <p:cNvPr id="11" name="Shape 7"/>
          <p:cNvSpPr/>
          <p:nvPr/>
        </p:nvSpPr>
        <p:spPr>
          <a:xfrm>
            <a:off x="2944368" y="2788920"/>
            <a:ext cx="0" cy="1360424"/>
          </a:xfrm>
          <a:prstGeom prst="line">
            <a:avLst/>
          </a:prstGeom>
          <a:noFill/>
          <a:ln w="9525">
            <a:solidFill>
              <a:srgbClr val="E2EAF1"/>
            </a:solidFill>
            <a:prstDash val="solid"/>
          </a:ln>
        </p:spPr>
      </p:sp>
      <p:sp>
        <p:nvSpPr>
          <p:cNvPr id="12" name="Text 8"/>
          <p:cNvSpPr txBox="1"/>
          <p:nvPr/>
        </p:nvSpPr>
        <p:spPr>
          <a:xfrm>
            <a:off x="3182112" y="2788920"/>
            <a:ext cx="1956816" cy="519176"/>
          </a:xfrm>
          <a:prstGeom prst="rect">
            <a:avLst/>
          </a:prstGeom>
          <a:noFill/>
          <a:ln/>
        </p:spPr>
        <p:txBody>
          <a:bodyPr wrap="square" lIns="0" tIns="0" rIns="0" bIns="0" rtlCol="0" anchor="t"/>
          <a:lstStyle/>
          <a:p>
            <a:pPr algn="l" indent="0" marL="0">
              <a:lnSpc>
                <a:spcPct val="100000"/>
              </a:lnSpc>
              <a:buNone/>
            </a:pPr>
            <a:r>
              <a:rPr lang="en-US" sz="3800" b="1" dirty="0">
                <a:solidFill>
                  <a:srgbClr val="2A80C2"/>
                </a:solidFill>
                <a:latin typeface="Arial" pitchFamily="34" charset="0"/>
                <a:ea typeface="Arial" pitchFamily="34" charset="-122"/>
                <a:cs typeface="Arial" pitchFamily="34" charset="-120"/>
              </a:rPr>
              <a:t>2015</a:t>
            </a:r>
            <a:endParaRPr lang="en-US" sz="3800" dirty="0"/>
          </a:p>
        </p:txBody>
      </p:sp>
      <p:sp>
        <p:nvSpPr>
          <p:cNvPr id="13" name="Text 9"/>
          <p:cNvSpPr txBox="1"/>
          <p:nvPr/>
        </p:nvSpPr>
        <p:spPr>
          <a:xfrm>
            <a:off x="3182112" y="3362960"/>
            <a:ext cx="1956816" cy="237744"/>
          </a:xfrm>
          <a:prstGeom prst="rect">
            <a:avLst/>
          </a:prstGeom>
          <a:noFill/>
          <a:ln/>
        </p:spPr>
        <p:txBody>
          <a:bodyPr wrap="square" lIns="0" tIns="0" rIns="0" bIns="0" rtlCol="0" anchor="t"/>
          <a:lstStyle/>
          <a:p>
            <a:pPr algn="l" indent="0" marL="0">
              <a:lnSpc>
                <a:spcPct val="120000"/>
              </a:lnSpc>
              <a:buNone/>
            </a:pPr>
            <a:r>
              <a:rPr lang="en-US" sz="1200" b="1" dirty="0">
                <a:solidFill>
                  <a:srgbClr val="0F151B"/>
                </a:solidFill>
                <a:latin typeface="Arial" pitchFamily="34" charset="0"/>
                <a:ea typeface="Arial" pitchFamily="34" charset="-122"/>
                <a:cs typeface="Arial" pitchFamily="34" charset="-120"/>
              </a:rPr>
              <a:t>Founded in Philadelphia</a:t>
            </a:r>
            <a:endParaRPr lang="en-US" sz="1200" dirty="0"/>
          </a:p>
        </p:txBody>
      </p:sp>
      <p:sp>
        <p:nvSpPr>
          <p:cNvPr id="14" name="Text 10"/>
          <p:cNvSpPr txBox="1"/>
          <p:nvPr/>
        </p:nvSpPr>
        <p:spPr>
          <a:xfrm>
            <a:off x="3182112" y="3664712"/>
            <a:ext cx="1956816" cy="374904"/>
          </a:xfrm>
          <a:prstGeom prst="rect">
            <a:avLst/>
          </a:prstGeom>
          <a:noFill/>
          <a:ln/>
        </p:spPr>
        <p:txBody>
          <a:bodyPr wrap="square" lIns="0" tIns="0" rIns="0" bIns="0" rtlCol="0" anchor="t"/>
          <a:lstStyle/>
          <a:p>
            <a:pPr algn="l" indent="0" marL="0">
              <a:lnSpc>
                <a:spcPct val="120000"/>
              </a:lnSpc>
              <a:buNone/>
            </a:pPr>
            <a:r>
              <a:rPr lang="en-US" sz="1050" dirty="0">
                <a:solidFill>
                  <a:srgbClr val="5A6772"/>
                </a:solidFill>
                <a:latin typeface="Arial" pitchFamily="34" charset="0"/>
                <a:ea typeface="Arial" pitchFamily="34" charset="-122"/>
                <a:cs typeface="Arial" pitchFamily="34" charset="-120"/>
              </a:rPr>
              <a:t>1635 Market St. #1601</a:t>
            </a:r>
            <a:endParaRPr lang="en-US" sz="1050" dirty="0"/>
          </a:p>
        </p:txBody>
      </p:sp>
      <p:sp>
        <p:nvSpPr>
          <p:cNvPr id="15" name="Shape 11"/>
          <p:cNvSpPr/>
          <p:nvPr/>
        </p:nvSpPr>
        <p:spPr>
          <a:xfrm>
            <a:off x="5413248" y="2788920"/>
            <a:ext cx="0" cy="1360424"/>
          </a:xfrm>
          <a:prstGeom prst="line">
            <a:avLst/>
          </a:prstGeom>
          <a:noFill/>
          <a:ln w="9525">
            <a:solidFill>
              <a:srgbClr val="E2EAF1"/>
            </a:solidFill>
            <a:prstDash val="solid"/>
          </a:ln>
        </p:spPr>
      </p:sp>
      <p:sp>
        <p:nvSpPr>
          <p:cNvPr id="16" name="Text 12"/>
          <p:cNvSpPr txBox="1"/>
          <p:nvPr/>
        </p:nvSpPr>
        <p:spPr>
          <a:xfrm>
            <a:off x="5650992" y="2788920"/>
            <a:ext cx="1956816" cy="519176"/>
          </a:xfrm>
          <a:prstGeom prst="rect">
            <a:avLst/>
          </a:prstGeom>
          <a:noFill/>
          <a:ln/>
        </p:spPr>
        <p:txBody>
          <a:bodyPr wrap="square" lIns="0" tIns="0" rIns="0" bIns="0" rtlCol="0" anchor="t"/>
          <a:lstStyle/>
          <a:p>
            <a:pPr algn="l" indent="0" marL="0">
              <a:lnSpc>
                <a:spcPct val="100000"/>
              </a:lnSpc>
              <a:buNone/>
            </a:pPr>
            <a:r>
              <a:rPr lang="en-US" sz="3800" b="1" dirty="0">
                <a:solidFill>
                  <a:srgbClr val="2A80C2"/>
                </a:solidFill>
                <a:latin typeface="Arial" pitchFamily="34" charset="0"/>
                <a:ea typeface="Arial" pitchFamily="34" charset="-122"/>
                <a:cs typeface="Arial" pitchFamily="34" charset="-120"/>
              </a:rPr>
              <a:t>16</a:t>
            </a:r>
            <a:endParaRPr lang="en-US" sz="3800" dirty="0"/>
          </a:p>
        </p:txBody>
      </p:sp>
      <p:sp>
        <p:nvSpPr>
          <p:cNvPr id="17" name="Text 13"/>
          <p:cNvSpPr txBox="1"/>
          <p:nvPr/>
        </p:nvSpPr>
        <p:spPr>
          <a:xfrm>
            <a:off x="5650992" y="3362960"/>
            <a:ext cx="1956816" cy="237744"/>
          </a:xfrm>
          <a:prstGeom prst="rect">
            <a:avLst/>
          </a:prstGeom>
          <a:noFill/>
          <a:ln/>
        </p:spPr>
        <p:txBody>
          <a:bodyPr wrap="square" lIns="0" tIns="0" rIns="0" bIns="0" rtlCol="0" anchor="t"/>
          <a:lstStyle/>
          <a:p>
            <a:pPr algn="l" indent="0" marL="0">
              <a:lnSpc>
                <a:spcPct val="120000"/>
              </a:lnSpc>
              <a:buNone/>
            </a:pPr>
            <a:r>
              <a:rPr lang="en-US" sz="1200" b="1" dirty="0">
                <a:solidFill>
                  <a:srgbClr val="0F151B"/>
                </a:solidFill>
                <a:latin typeface="Arial" pitchFamily="34" charset="0"/>
                <a:ea typeface="Arial" pitchFamily="34" charset="-122"/>
                <a:cs typeface="Arial" pitchFamily="34" charset="-120"/>
              </a:rPr>
              <a:t>Clutch reviews</a:t>
            </a:r>
            <a:endParaRPr lang="en-US" sz="1200" dirty="0"/>
          </a:p>
        </p:txBody>
      </p:sp>
      <p:sp>
        <p:nvSpPr>
          <p:cNvPr id="18" name="Text 14"/>
          <p:cNvSpPr txBox="1"/>
          <p:nvPr/>
        </p:nvSpPr>
        <p:spPr>
          <a:xfrm>
            <a:off x="5650992" y="3664712"/>
            <a:ext cx="1956816" cy="374904"/>
          </a:xfrm>
          <a:prstGeom prst="rect">
            <a:avLst/>
          </a:prstGeom>
          <a:noFill/>
          <a:ln/>
        </p:spPr>
        <p:txBody>
          <a:bodyPr wrap="square" lIns="0" tIns="0" rIns="0" bIns="0" rtlCol="0" anchor="t"/>
          <a:lstStyle/>
          <a:p>
            <a:pPr algn="l" indent="0" marL="0">
              <a:lnSpc>
                <a:spcPct val="120000"/>
              </a:lnSpc>
              <a:buNone/>
            </a:pPr>
            <a:r>
              <a:rPr lang="en-US" sz="1050" dirty="0">
                <a:solidFill>
                  <a:srgbClr val="5A6772"/>
                </a:solidFill>
                <a:latin typeface="Arial" pitchFamily="34" charset="0"/>
                <a:ea typeface="Arial" pitchFamily="34" charset="-122"/>
                <a:cs typeface="Arial" pitchFamily="34" charset="-120"/>
              </a:rPr>
              <a:t>Verified client feedback</a:t>
            </a:r>
            <a:endParaRPr lang="en-US" sz="1050" dirty="0"/>
          </a:p>
        </p:txBody>
      </p:sp>
      <p:sp>
        <p:nvSpPr>
          <p:cNvPr id="19" name="Shape 15"/>
          <p:cNvSpPr/>
          <p:nvPr/>
        </p:nvSpPr>
        <p:spPr>
          <a:xfrm>
            <a:off x="713232" y="4754880"/>
            <a:ext cx="7406640" cy="0"/>
          </a:xfrm>
          <a:prstGeom prst="line">
            <a:avLst/>
          </a:prstGeom>
          <a:noFill/>
          <a:ln w="9525">
            <a:solidFill>
              <a:srgbClr val="E2EAF1"/>
            </a:solidFill>
            <a:prstDash val="solid"/>
          </a:ln>
        </p:spPr>
      </p:sp>
      <p:sp>
        <p:nvSpPr>
          <p:cNvPr id="20" name="Text 16"/>
          <p:cNvSpPr txBox="1"/>
          <p:nvPr/>
        </p:nvSpPr>
        <p:spPr>
          <a:xfrm>
            <a:off x="713232" y="4983480"/>
            <a:ext cx="7223760" cy="753237"/>
          </a:xfrm>
          <a:prstGeom prst="rect">
            <a:avLst/>
          </a:prstGeom>
          <a:noFill/>
          <a:ln/>
        </p:spPr>
        <p:txBody>
          <a:bodyPr wrap="square" lIns="0" tIns="0" rIns="0" bIns="0" rtlCol="0" anchor="t"/>
          <a:lstStyle/>
          <a:p>
            <a:pPr algn="l" indent="0" marL="0">
              <a:lnSpc>
                <a:spcPct val="134000"/>
              </a:lnSpc>
              <a:buNone/>
            </a:pPr>
            <a:r>
              <a:rPr lang="en-US" sz="1350" dirty="0">
                <a:solidFill>
                  <a:srgbClr val="5A6772"/>
                </a:solidFill>
                <a:latin typeface="Arial" pitchFamily="34" charset="0"/>
                <a:ea typeface="Arial" pitchFamily="34" charset="-122"/>
                <a:cs typeface="Arial" pitchFamily="34" charset="-120"/>
              </a:rPr>
              <a:t>Momentum Digital was founded in 2015 to help small businesses grow online without breaking the bank. Mac Frederick started his career at Google, working directly with small and medium businesses, and built Momentum around that experience.</a:t>
            </a:r>
            <a:endParaRPr lang="en-US" sz="1350" dirty="0"/>
          </a:p>
        </p:txBody>
      </p:sp>
      <p:sp>
        <p:nvSpPr>
          <p:cNvPr id="21" name="Text 17"/>
          <p:cNvSpPr txBox="1"/>
          <p:nvPr/>
        </p:nvSpPr>
        <p:spPr>
          <a:xfrm>
            <a:off x="8549640" y="1417320"/>
            <a:ext cx="3108960" cy="201168"/>
          </a:xfrm>
          <a:prstGeom prst="rect">
            <a:avLst/>
          </a:prstGeom>
          <a:noFill/>
          <a:ln/>
        </p:spPr>
        <p:txBody>
          <a:bodyPr wrap="square" lIns="0" tIns="0" rIns="0" bIns="0" rtlCol="0" anchor="t"/>
          <a:lstStyle/>
          <a:p>
            <a:pPr algn="l" indent="0" marL="0">
              <a:buNone/>
            </a:pPr>
            <a:r>
              <a:rPr lang="en-US" sz="1050" b="1" spc="240" kern="0" dirty="0">
                <a:solidFill>
                  <a:srgbClr val="5AA7E0"/>
                </a:solidFill>
                <a:latin typeface="Arial" pitchFamily="34" charset="0"/>
                <a:ea typeface="Arial" pitchFamily="34" charset="-122"/>
                <a:cs typeface="Arial" pitchFamily="34" charset="-120"/>
              </a:rPr>
              <a:t>WHO WE WORK WITH</a:t>
            </a:r>
            <a:endParaRPr lang="en-US" sz="1050" dirty="0"/>
          </a:p>
        </p:txBody>
      </p:sp>
      <p:sp>
        <p:nvSpPr>
          <p:cNvPr id="22" name="Text 18"/>
          <p:cNvSpPr txBox="1"/>
          <p:nvPr/>
        </p:nvSpPr>
        <p:spPr>
          <a:xfrm>
            <a:off x="8549640" y="1746504"/>
            <a:ext cx="3108960" cy="658368"/>
          </a:xfrm>
          <a:prstGeom prst="rect">
            <a:avLst/>
          </a:prstGeom>
          <a:noFill/>
          <a:ln/>
        </p:spPr>
        <p:txBody>
          <a:bodyPr wrap="square" lIns="0" tIns="0" rIns="0" bIns="0" rtlCol="0" anchor="t"/>
          <a:lstStyle/>
          <a:p>
            <a:pPr algn="l" indent="0" marL="0">
              <a:lnSpc>
                <a:spcPct val="105000"/>
              </a:lnSpc>
              <a:buNone/>
            </a:pPr>
            <a:r>
              <a:rPr lang="en-US" sz="2200" b="1" dirty="0">
                <a:solidFill>
                  <a:srgbClr val="FFFFFF"/>
                </a:solidFill>
                <a:latin typeface="Arial" pitchFamily="34" charset="0"/>
                <a:ea typeface="Arial" pitchFamily="34" charset="-122"/>
                <a:cs typeface="Arial" pitchFamily="34" charset="-120"/>
              </a:rPr>
              <a:t>Local, and</a:t>
            </a:r>
            <a:endParaRPr lang="en-US" sz="2200" dirty="0"/>
          </a:p>
          <a:p>
            <a:pPr algn="l" indent="0" marL="0">
              <a:lnSpc>
                <a:spcPct val="105000"/>
              </a:lnSpc>
              <a:buNone/>
            </a:pPr>
            <a:r>
              <a:rPr lang="en-US" sz="2200" b="1" dirty="0">
                <a:solidFill>
                  <a:srgbClr val="FFFFFF"/>
                </a:solidFill>
                <a:latin typeface="Arial" pitchFamily="34" charset="0"/>
                <a:ea typeface="Arial" pitchFamily="34" charset="-122"/>
                <a:cs typeface="Arial" pitchFamily="34" charset="-120"/>
              </a:rPr>
              <a:t>staying local</a:t>
            </a:r>
            <a:endParaRPr lang="en-US" sz="2200" dirty="0"/>
          </a:p>
        </p:txBody>
      </p:sp>
      <p:sp>
        <p:nvSpPr>
          <p:cNvPr id="23" name="Text 19"/>
          <p:cNvSpPr txBox="1"/>
          <p:nvPr/>
        </p:nvSpPr>
        <p:spPr>
          <a:xfrm>
            <a:off x="8549640" y="2551176"/>
            <a:ext cx="3108960" cy="3145536"/>
          </a:xfrm>
          <a:prstGeom prst="rect">
            <a:avLst/>
          </a:prstGeom>
          <a:noFill/>
          <a:ln/>
        </p:spPr>
        <p:txBody>
          <a:bodyPr wrap="square" lIns="0" tIns="0" rIns="0" bIns="0" rtlCol="0" anchor="t"/>
          <a:lstStyle/>
          <a:p>
            <a:pPr marL="342900" indent="-342900">
              <a:lnSpc>
                <a:spcPct val="124000"/>
              </a:lnSpc>
              <a:spcAft>
                <a:spcPts val="700"/>
              </a:spcAft>
              <a:buSzPct val="100000"/>
              <a:buChar char="•"/>
            </a:pPr>
            <a:r>
              <a:rPr lang="en-US" sz="1200" dirty="0">
                <a:solidFill>
                  <a:srgbClr val="9DB5C8"/>
                </a:solidFill>
                <a:latin typeface="Arial" pitchFamily="34" charset="0"/>
                <a:ea typeface="Arial" pitchFamily="34" charset="-122"/>
                <a:cs typeface="Arial" pitchFamily="34" charset="-120"/>
              </a:rPr>
              <a:t>Small businesses building a digital presence</a:t>
            </a:r>
            <a:endParaRPr lang="en-US" sz="1200" dirty="0"/>
          </a:p>
          <a:p>
            <a:pPr marL="342900" indent="-342900">
              <a:lnSpc>
                <a:spcPct val="124000"/>
              </a:lnSpc>
              <a:spcAft>
                <a:spcPts val="700"/>
              </a:spcAft>
              <a:buSzPct val="100000"/>
              <a:buChar char="•"/>
            </a:pPr>
            <a:r>
              <a:rPr lang="en-US" sz="1200" dirty="0">
                <a:solidFill>
                  <a:srgbClr val="9DB5C8"/>
                </a:solidFill>
                <a:latin typeface="Arial" pitchFamily="34" charset="0"/>
                <a:ea typeface="Arial" pitchFamily="34" charset="-122"/>
                <a:cs typeface="Arial" pitchFamily="34" charset="-120"/>
              </a:rPr>
              <a:t>Local service providers and trades</a:t>
            </a:r>
            <a:endParaRPr lang="en-US" sz="1200" dirty="0"/>
          </a:p>
          <a:p>
            <a:pPr marL="342900" indent="-342900">
              <a:lnSpc>
                <a:spcPct val="124000"/>
              </a:lnSpc>
              <a:spcAft>
                <a:spcPts val="700"/>
              </a:spcAft>
              <a:buSzPct val="100000"/>
              <a:buChar char="•"/>
            </a:pPr>
            <a:r>
              <a:rPr lang="en-US" sz="1200" dirty="0">
                <a:solidFill>
                  <a:srgbClr val="9DB5C8"/>
                </a:solidFill>
                <a:latin typeface="Arial" pitchFamily="34" charset="0"/>
                <a:ea typeface="Arial" pitchFamily="34" charset="-122"/>
                <a:cs typeface="Arial" pitchFamily="34" charset="-120"/>
              </a:rPr>
              <a:t>Entrepreneurs and startups that need affordable scale</a:t>
            </a:r>
            <a:endParaRPr lang="en-US" sz="1200" dirty="0"/>
          </a:p>
          <a:p>
            <a:pPr marL="342900" indent="-342900">
              <a:lnSpc>
                <a:spcPct val="124000"/>
              </a:lnSpc>
              <a:spcAft>
                <a:spcPts val="700"/>
              </a:spcAft>
              <a:buSzPct val="100000"/>
              <a:buChar char="•"/>
            </a:pPr>
            <a:r>
              <a:rPr lang="en-US" sz="1200" dirty="0">
                <a:solidFill>
                  <a:srgbClr val="9DB5C8"/>
                </a:solidFill>
                <a:latin typeface="Arial" pitchFamily="34" charset="0"/>
                <a:ea typeface="Arial" pitchFamily="34" charset="-122"/>
                <a:cs typeface="Arial" pitchFamily="34" charset="-120"/>
              </a:rPr>
              <a:t>Healthcare, construction, real estate and retail</a:t>
            </a:r>
            <a:endParaRPr lang="en-US" sz="1200" dirty="0"/>
          </a:p>
        </p:txBody>
      </p:sp>
      <p:sp>
        <p:nvSpPr>
          <p:cNvPr id="24" name="Text 20"/>
          <p:cNvSpPr txBox="1"/>
          <p:nvPr/>
        </p:nvSpPr>
        <p:spPr>
          <a:xfrm>
            <a:off x="713232" y="6400800"/>
            <a:ext cx="9942271" cy="237744"/>
          </a:xfrm>
          <a:prstGeom prst="rect">
            <a:avLst/>
          </a:prstGeom>
          <a:noFill/>
          <a:ln/>
        </p:spPr>
        <p:txBody>
          <a:bodyPr wrap="square" lIns="0" tIns="0" rIns="0" bIns="0" rtlCol="0" anchor="t"/>
          <a:lstStyle/>
          <a:p>
            <a:pPr algn="l" indent="0" marL="0">
              <a:buNone/>
            </a:pPr>
            <a:r>
              <a:rPr lang="en-US" sz="950" i="1" dirty="0">
                <a:solidFill>
                  <a:srgbClr val="8A97A2"/>
                </a:solidFill>
                <a:latin typeface="Arial" pitchFamily="34" charset="0"/>
                <a:ea typeface="Arial" pitchFamily="34" charset="-122"/>
                <a:cs typeface="Arial" pitchFamily="34" charset="-120"/>
              </a:rPr>
              <a:t>Typical projects and retainers run $500 to $5,000 and last one to twelve months.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Momentum Digital logo">    </p:cNvPr>
          <p:cNvPicPr>
            <a:picLocks noChangeAspect="1"/>
          </p:cNvPicPr>
          <p:nvPr/>
        </p:nvPicPr>
        <p:blipFill>
          <a:blip r:embed="rId1"/>
          <a:stretch>
            <a:fillRect/>
          </a:stretch>
        </p:blipFill>
        <p:spPr>
          <a:xfrm>
            <a:off x="10106863" y="658368"/>
            <a:ext cx="1371600" cy="294904"/>
          </a:xfrm>
          <a:prstGeom prst="rect">
            <a:avLst/>
          </a:prstGeom>
        </p:spPr>
      </p:pic>
      <p:sp>
        <p:nvSpPr>
          <p:cNvPr id="3" name="Text 0"/>
          <p:cNvSpPr txBox="1"/>
          <p:nvPr/>
        </p:nvSpPr>
        <p:spPr>
          <a:xfrm>
            <a:off x="713232" y="658368"/>
            <a:ext cx="8753551" cy="201168"/>
          </a:xfrm>
          <a:prstGeom prst="rect">
            <a:avLst/>
          </a:prstGeom>
          <a:noFill/>
          <a:ln/>
        </p:spPr>
        <p:txBody>
          <a:bodyPr wrap="square" lIns="0" tIns="0" rIns="0" bIns="0" rtlCol="0" anchor="t"/>
          <a:lstStyle/>
          <a:p>
            <a:pPr algn="l" indent="0" marL="0">
              <a:buNone/>
            </a:pPr>
            <a:r>
              <a:rPr lang="en-US" sz="1050" b="1" spc="240" kern="0" dirty="0">
                <a:solidFill>
                  <a:srgbClr val="2A80C2"/>
                </a:solidFill>
                <a:latin typeface="Arial" pitchFamily="34" charset="0"/>
                <a:ea typeface="Arial" pitchFamily="34" charset="-122"/>
                <a:cs typeface="Arial" pitchFamily="34" charset="-120"/>
              </a:rPr>
              <a:t>CREDENTIALS</a:t>
            </a:r>
            <a:endParaRPr lang="en-US" sz="1050" dirty="0"/>
          </a:p>
        </p:txBody>
      </p:sp>
      <p:sp>
        <p:nvSpPr>
          <p:cNvPr id="4" name="Text 1"/>
          <p:cNvSpPr txBox="1"/>
          <p:nvPr/>
        </p:nvSpPr>
        <p:spPr>
          <a:xfrm>
            <a:off x="713232" y="987552"/>
            <a:ext cx="8570671" cy="1074420"/>
          </a:xfrm>
          <a:prstGeom prst="rect">
            <a:avLst/>
          </a:prstGeom>
          <a:noFill/>
          <a:ln/>
        </p:spPr>
        <p:txBody>
          <a:bodyPr wrap="square" lIns="0" tIns="0" rIns="0" bIns="0" rtlCol="0" anchor="t"/>
          <a:lstStyle/>
          <a:p>
            <a:pPr algn="l" indent="0" marL="0">
              <a:lnSpc>
                <a:spcPct val="102000"/>
              </a:lnSpc>
              <a:buNone/>
            </a:pPr>
            <a:r>
              <a:rPr lang="en-US" sz="3900" b="1" dirty="0">
                <a:solidFill>
                  <a:srgbClr val="0F151B"/>
                </a:solidFill>
                <a:latin typeface="Arial" pitchFamily="34" charset="0"/>
                <a:ea typeface="Arial" pitchFamily="34" charset="-122"/>
                <a:cs typeface="Arial" pitchFamily="34" charset="-120"/>
              </a:rPr>
              <a:t>Recognized by the platforms we run on</a:t>
            </a:r>
            <a:endParaRPr lang="en-US" sz="3900" dirty="0"/>
          </a:p>
        </p:txBody>
      </p:sp>
      <p:sp>
        <p:nvSpPr>
          <p:cNvPr id="5" name="Text 2"/>
          <p:cNvSpPr txBox="1"/>
          <p:nvPr/>
        </p:nvSpPr>
        <p:spPr>
          <a:xfrm>
            <a:off x="10929823" y="6437376"/>
            <a:ext cx="548640" cy="219456"/>
          </a:xfrm>
          <a:prstGeom prst="rect">
            <a:avLst/>
          </a:prstGeom>
          <a:noFill/>
          <a:ln/>
        </p:spPr>
        <p:txBody>
          <a:bodyPr wrap="square" lIns="0" tIns="0" rIns="0" bIns="0" rtlCol="0" anchor="t"/>
          <a:lstStyle/>
          <a:p>
            <a:pPr algn="r" indent="0" marL="0">
              <a:buNone/>
            </a:pPr>
            <a:r>
              <a:rPr lang="en-US" sz="1050" b="1" spc="100" kern="0" dirty="0">
                <a:solidFill>
                  <a:srgbClr val="CBD8E3"/>
                </a:solidFill>
                <a:latin typeface="Arial" pitchFamily="34" charset="0"/>
                <a:ea typeface="Arial" pitchFamily="34" charset="-122"/>
                <a:cs typeface="Arial" pitchFamily="34" charset="-120"/>
              </a:rPr>
              <a:t>02</a:t>
            </a:r>
            <a:endParaRPr lang="en-US" sz="1050" dirty="0"/>
          </a:p>
        </p:txBody>
      </p:sp>
      <p:sp>
        <p:nvSpPr>
          <p:cNvPr id="6" name="Text 3"/>
          <p:cNvSpPr txBox="1"/>
          <p:nvPr/>
        </p:nvSpPr>
        <p:spPr>
          <a:xfrm>
            <a:off x="713232" y="2331720"/>
            <a:ext cx="3200400" cy="296672"/>
          </a:xfrm>
          <a:prstGeom prst="rect">
            <a:avLst/>
          </a:prstGeom>
          <a:noFill/>
          <a:ln/>
        </p:spPr>
        <p:txBody>
          <a:bodyPr wrap="square" lIns="0" tIns="0" rIns="0" bIns="0" rtlCol="0" anchor="t"/>
          <a:lstStyle/>
          <a:p>
            <a:pPr algn="l" indent="0" marL="0">
              <a:lnSpc>
                <a:spcPct val="110000"/>
              </a:lnSpc>
              <a:buNone/>
            </a:pPr>
            <a:r>
              <a:rPr lang="en-US" sz="1700" b="1" dirty="0">
                <a:solidFill>
                  <a:srgbClr val="0F151B"/>
                </a:solidFill>
                <a:latin typeface="Arial" pitchFamily="34" charset="0"/>
                <a:ea typeface="Arial" pitchFamily="34" charset="-122"/>
                <a:cs typeface="Arial" pitchFamily="34" charset="-120"/>
              </a:rPr>
              <a:t>Google Partner</a:t>
            </a:r>
            <a:endParaRPr lang="en-US" sz="1700" dirty="0"/>
          </a:p>
        </p:txBody>
      </p:sp>
      <p:sp>
        <p:nvSpPr>
          <p:cNvPr id="7" name="Text 4"/>
          <p:cNvSpPr txBox="1"/>
          <p:nvPr/>
        </p:nvSpPr>
        <p:spPr>
          <a:xfrm>
            <a:off x="4325112" y="2331720"/>
            <a:ext cx="7153351" cy="266192"/>
          </a:xfrm>
          <a:prstGeom prst="rect">
            <a:avLst/>
          </a:prstGeom>
          <a:noFill/>
          <a:ln/>
        </p:spPr>
        <p:txBody>
          <a:bodyPr wrap="square" lIns="0" tIns="0" rIns="0" bIns="0" rtlCol="0" anchor="t"/>
          <a:lstStyle/>
          <a:p>
            <a:pPr algn="l" indent="0" marL="0">
              <a:lnSpc>
                <a:spcPct val="128000"/>
              </a:lnSpc>
              <a:buNone/>
            </a:pPr>
            <a:r>
              <a:rPr lang="en-US" sz="1300" dirty="0">
                <a:solidFill>
                  <a:srgbClr val="5A6772"/>
                </a:solidFill>
                <a:latin typeface="Arial" pitchFamily="34" charset="0"/>
                <a:ea typeface="Arial" pitchFamily="34" charset="-122"/>
                <a:cs typeface="Arial" pitchFamily="34" charset="-120"/>
              </a:rPr>
              <a:t>Certified on Google Ads and Google Business Profile.</a:t>
            </a:r>
            <a:endParaRPr lang="en-US" sz="1300" dirty="0"/>
          </a:p>
        </p:txBody>
      </p:sp>
      <p:sp>
        <p:nvSpPr>
          <p:cNvPr id="8" name="Shape 5"/>
          <p:cNvSpPr/>
          <p:nvPr/>
        </p:nvSpPr>
        <p:spPr>
          <a:xfrm>
            <a:off x="713232" y="2783840"/>
            <a:ext cx="10765231" cy="0"/>
          </a:xfrm>
          <a:prstGeom prst="line">
            <a:avLst/>
          </a:prstGeom>
          <a:noFill/>
          <a:ln w="9525">
            <a:solidFill>
              <a:srgbClr val="E2EAF1"/>
            </a:solidFill>
            <a:prstDash val="solid"/>
          </a:ln>
        </p:spPr>
      </p:sp>
      <p:sp>
        <p:nvSpPr>
          <p:cNvPr id="9" name="Text 6"/>
          <p:cNvSpPr txBox="1"/>
          <p:nvPr/>
        </p:nvSpPr>
        <p:spPr>
          <a:xfrm>
            <a:off x="713232" y="2939288"/>
            <a:ext cx="3200400" cy="296672"/>
          </a:xfrm>
          <a:prstGeom prst="rect">
            <a:avLst/>
          </a:prstGeom>
          <a:noFill/>
          <a:ln/>
        </p:spPr>
        <p:txBody>
          <a:bodyPr wrap="square" lIns="0" tIns="0" rIns="0" bIns="0" rtlCol="0" anchor="t"/>
          <a:lstStyle/>
          <a:p>
            <a:pPr algn="l" indent="0" marL="0">
              <a:lnSpc>
                <a:spcPct val="110000"/>
              </a:lnSpc>
              <a:buNone/>
            </a:pPr>
            <a:r>
              <a:rPr lang="en-US" sz="1700" b="1" dirty="0">
                <a:solidFill>
                  <a:srgbClr val="0F151B"/>
                </a:solidFill>
                <a:latin typeface="Arial" pitchFamily="34" charset="0"/>
                <a:ea typeface="Arial" pitchFamily="34" charset="-122"/>
                <a:cs typeface="Arial" pitchFamily="34" charset="-120"/>
              </a:rPr>
              <a:t>Meta Business Partner</a:t>
            </a:r>
            <a:endParaRPr lang="en-US" sz="1700" dirty="0"/>
          </a:p>
        </p:txBody>
      </p:sp>
      <p:sp>
        <p:nvSpPr>
          <p:cNvPr id="10" name="Text 7"/>
          <p:cNvSpPr txBox="1"/>
          <p:nvPr/>
        </p:nvSpPr>
        <p:spPr>
          <a:xfrm>
            <a:off x="4325112" y="2939288"/>
            <a:ext cx="7153351" cy="266192"/>
          </a:xfrm>
          <a:prstGeom prst="rect">
            <a:avLst/>
          </a:prstGeom>
          <a:noFill/>
          <a:ln/>
        </p:spPr>
        <p:txBody>
          <a:bodyPr wrap="square" lIns="0" tIns="0" rIns="0" bIns="0" rtlCol="0" anchor="t"/>
          <a:lstStyle/>
          <a:p>
            <a:pPr algn="l" indent="0" marL="0">
              <a:lnSpc>
                <a:spcPct val="128000"/>
              </a:lnSpc>
              <a:buNone/>
            </a:pPr>
            <a:r>
              <a:rPr lang="en-US" sz="1300" dirty="0">
                <a:solidFill>
                  <a:srgbClr val="5A6772"/>
                </a:solidFill>
                <a:latin typeface="Arial" pitchFamily="34" charset="0"/>
                <a:ea typeface="Arial" pitchFamily="34" charset="-122"/>
                <a:cs typeface="Arial" pitchFamily="34" charset="-120"/>
              </a:rPr>
              <a:t>Certified on Facebook and Instagram advertising.</a:t>
            </a:r>
            <a:endParaRPr lang="en-US" sz="1300" dirty="0"/>
          </a:p>
        </p:txBody>
      </p:sp>
      <p:sp>
        <p:nvSpPr>
          <p:cNvPr id="11" name="Shape 8"/>
          <p:cNvSpPr/>
          <p:nvPr/>
        </p:nvSpPr>
        <p:spPr>
          <a:xfrm>
            <a:off x="713232" y="3391408"/>
            <a:ext cx="10765231" cy="0"/>
          </a:xfrm>
          <a:prstGeom prst="line">
            <a:avLst/>
          </a:prstGeom>
          <a:noFill/>
          <a:ln w="9525">
            <a:solidFill>
              <a:srgbClr val="E2EAF1"/>
            </a:solidFill>
            <a:prstDash val="solid"/>
          </a:ln>
        </p:spPr>
      </p:sp>
      <p:sp>
        <p:nvSpPr>
          <p:cNvPr id="12" name="Text 9"/>
          <p:cNvSpPr txBox="1"/>
          <p:nvPr/>
        </p:nvSpPr>
        <p:spPr>
          <a:xfrm>
            <a:off x="713232" y="3546856"/>
            <a:ext cx="3200400" cy="296672"/>
          </a:xfrm>
          <a:prstGeom prst="rect">
            <a:avLst/>
          </a:prstGeom>
          <a:noFill/>
          <a:ln/>
        </p:spPr>
        <p:txBody>
          <a:bodyPr wrap="square" lIns="0" tIns="0" rIns="0" bIns="0" rtlCol="0" anchor="t"/>
          <a:lstStyle/>
          <a:p>
            <a:pPr algn="l" indent="0" marL="0">
              <a:lnSpc>
                <a:spcPct val="110000"/>
              </a:lnSpc>
              <a:buNone/>
            </a:pPr>
            <a:r>
              <a:rPr lang="en-US" sz="1700" b="1" dirty="0">
                <a:solidFill>
                  <a:srgbClr val="0F151B"/>
                </a:solidFill>
                <a:latin typeface="Arial" pitchFamily="34" charset="0"/>
                <a:ea typeface="Arial" pitchFamily="34" charset="-122"/>
                <a:cs typeface="Arial" pitchFamily="34" charset="-120"/>
              </a:rPr>
              <a:t>HubSpot</a:t>
            </a:r>
            <a:endParaRPr lang="en-US" sz="1700" dirty="0"/>
          </a:p>
        </p:txBody>
      </p:sp>
      <p:sp>
        <p:nvSpPr>
          <p:cNvPr id="13" name="Text 10"/>
          <p:cNvSpPr txBox="1"/>
          <p:nvPr/>
        </p:nvSpPr>
        <p:spPr>
          <a:xfrm>
            <a:off x="4325112" y="3546856"/>
            <a:ext cx="7153351" cy="266192"/>
          </a:xfrm>
          <a:prstGeom prst="rect">
            <a:avLst/>
          </a:prstGeom>
          <a:noFill/>
          <a:ln/>
        </p:spPr>
        <p:txBody>
          <a:bodyPr wrap="square" lIns="0" tIns="0" rIns="0" bIns="0" rtlCol="0" anchor="t"/>
          <a:lstStyle/>
          <a:p>
            <a:pPr algn="l" indent="0" marL="0">
              <a:lnSpc>
                <a:spcPct val="128000"/>
              </a:lnSpc>
              <a:buNone/>
            </a:pPr>
            <a:r>
              <a:rPr lang="en-US" sz="1300" dirty="0">
                <a:solidFill>
                  <a:srgbClr val="5A6772"/>
                </a:solidFill>
                <a:latin typeface="Arial" pitchFamily="34" charset="0"/>
                <a:ea typeface="Arial" pitchFamily="34" charset="-122"/>
                <a:cs typeface="Arial" pitchFamily="34" charset="-120"/>
              </a:rPr>
              <a:t>CRM, lifecycle and marketing automation.</a:t>
            </a:r>
            <a:endParaRPr lang="en-US" sz="1300" dirty="0"/>
          </a:p>
        </p:txBody>
      </p:sp>
      <p:sp>
        <p:nvSpPr>
          <p:cNvPr id="14" name="Shape 11"/>
          <p:cNvSpPr/>
          <p:nvPr/>
        </p:nvSpPr>
        <p:spPr>
          <a:xfrm>
            <a:off x="713232" y="3998976"/>
            <a:ext cx="10765231" cy="0"/>
          </a:xfrm>
          <a:prstGeom prst="line">
            <a:avLst/>
          </a:prstGeom>
          <a:noFill/>
          <a:ln w="9525">
            <a:solidFill>
              <a:srgbClr val="E2EAF1"/>
            </a:solidFill>
            <a:prstDash val="solid"/>
          </a:ln>
        </p:spPr>
      </p:sp>
      <p:sp>
        <p:nvSpPr>
          <p:cNvPr id="15" name="Text 12"/>
          <p:cNvSpPr txBox="1"/>
          <p:nvPr/>
        </p:nvSpPr>
        <p:spPr>
          <a:xfrm>
            <a:off x="713232" y="4154424"/>
            <a:ext cx="3200400" cy="296672"/>
          </a:xfrm>
          <a:prstGeom prst="rect">
            <a:avLst/>
          </a:prstGeom>
          <a:noFill/>
          <a:ln/>
        </p:spPr>
        <p:txBody>
          <a:bodyPr wrap="square" lIns="0" tIns="0" rIns="0" bIns="0" rtlCol="0" anchor="t"/>
          <a:lstStyle/>
          <a:p>
            <a:pPr algn="l" indent="0" marL="0">
              <a:lnSpc>
                <a:spcPct val="110000"/>
              </a:lnSpc>
              <a:buNone/>
            </a:pPr>
            <a:r>
              <a:rPr lang="en-US" sz="1700" b="1" dirty="0">
                <a:solidFill>
                  <a:srgbClr val="0F151B"/>
                </a:solidFill>
                <a:latin typeface="Arial" pitchFamily="34" charset="0"/>
                <a:ea typeface="Arial" pitchFamily="34" charset="-122"/>
                <a:cs typeface="Arial" pitchFamily="34" charset="-120"/>
              </a:rPr>
              <a:t>Inc. 5000 Regionals</a:t>
            </a:r>
            <a:endParaRPr lang="en-US" sz="1700" dirty="0"/>
          </a:p>
        </p:txBody>
      </p:sp>
      <p:sp>
        <p:nvSpPr>
          <p:cNvPr id="16" name="Text 13"/>
          <p:cNvSpPr txBox="1"/>
          <p:nvPr/>
        </p:nvSpPr>
        <p:spPr>
          <a:xfrm>
            <a:off x="4325112" y="4154424"/>
            <a:ext cx="7153351" cy="266192"/>
          </a:xfrm>
          <a:prstGeom prst="rect">
            <a:avLst/>
          </a:prstGeom>
          <a:noFill/>
          <a:ln/>
        </p:spPr>
        <p:txBody>
          <a:bodyPr wrap="square" lIns="0" tIns="0" rIns="0" bIns="0" rtlCol="0" anchor="t"/>
          <a:lstStyle/>
          <a:p>
            <a:pPr algn="l" indent="0" marL="0">
              <a:lnSpc>
                <a:spcPct val="128000"/>
              </a:lnSpc>
              <a:buNone/>
            </a:pPr>
            <a:r>
              <a:rPr lang="en-US" sz="1300" dirty="0">
                <a:solidFill>
                  <a:srgbClr val="5A6772"/>
                </a:solidFill>
                <a:latin typeface="Arial" pitchFamily="34" charset="0"/>
                <a:ea typeface="Arial" pitchFamily="34" charset="-122"/>
                <a:cs typeface="Arial" pitchFamily="34" charset="-120"/>
              </a:rPr>
              <a:t>Recognized among the fastest growing regional companies.</a:t>
            </a:r>
            <a:endParaRPr lang="en-US" sz="1300" dirty="0"/>
          </a:p>
        </p:txBody>
      </p:sp>
      <p:sp>
        <p:nvSpPr>
          <p:cNvPr id="17" name="Shape 14"/>
          <p:cNvSpPr/>
          <p:nvPr/>
        </p:nvSpPr>
        <p:spPr>
          <a:xfrm>
            <a:off x="713232" y="4606544"/>
            <a:ext cx="10765231" cy="0"/>
          </a:xfrm>
          <a:prstGeom prst="line">
            <a:avLst/>
          </a:prstGeom>
          <a:noFill/>
          <a:ln w="9525">
            <a:solidFill>
              <a:srgbClr val="E2EAF1"/>
            </a:solidFill>
            <a:prstDash val="solid"/>
          </a:ln>
        </p:spPr>
      </p:sp>
      <p:sp>
        <p:nvSpPr>
          <p:cNvPr id="18" name="Text 15"/>
          <p:cNvSpPr txBox="1"/>
          <p:nvPr/>
        </p:nvSpPr>
        <p:spPr>
          <a:xfrm>
            <a:off x="713232" y="4761992"/>
            <a:ext cx="3200400" cy="296672"/>
          </a:xfrm>
          <a:prstGeom prst="rect">
            <a:avLst/>
          </a:prstGeom>
          <a:noFill/>
          <a:ln/>
        </p:spPr>
        <p:txBody>
          <a:bodyPr wrap="square" lIns="0" tIns="0" rIns="0" bIns="0" rtlCol="0" anchor="t"/>
          <a:lstStyle/>
          <a:p>
            <a:pPr algn="l" indent="0" marL="0">
              <a:lnSpc>
                <a:spcPct val="110000"/>
              </a:lnSpc>
              <a:buNone/>
            </a:pPr>
            <a:r>
              <a:rPr lang="en-US" sz="1700" b="1" dirty="0">
                <a:solidFill>
                  <a:srgbClr val="0F151B"/>
                </a:solidFill>
                <a:latin typeface="Arial" pitchFamily="34" charset="0"/>
                <a:ea typeface="Arial" pitchFamily="34" charset="-122"/>
                <a:cs typeface="Arial" pitchFamily="34" charset="-120"/>
              </a:rPr>
              <a:t>ThreeBestRated</a:t>
            </a:r>
            <a:endParaRPr lang="en-US" sz="1700" dirty="0"/>
          </a:p>
        </p:txBody>
      </p:sp>
      <p:sp>
        <p:nvSpPr>
          <p:cNvPr id="19" name="Text 16"/>
          <p:cNvSpPr txBox="1"/>
          <p:nvPr/>
        </p:nvSpPr>
        <p:spPr>
          <a:xfrm>
            <a:off x="4325112" y="4761992"/>
            <a:ext cx="7153351" cy="266192"/>
          </a:xfrm>
          <a:prstGeom prst="rect">
            <a:avLst/>
          </a:prstGeom>
          <a:noFill/>
          <a:ln/>
        </p:spPr>
        <p:txBody>
          <a:bodyPr wrap="square" lIns="0" tIns="0" rIns="0" bIns="0" rtlCol="0" anchor="t"/>
          <a:lstStyle/>
          <a:p>
            <a:pPr algn="l" indent="0" marL="0">
              <a:lnSpc>
                <a:spcPct val="128000"/>
              </a:lnSpc>
              <a:buNone/>
            </a:pPr>
            <a:r>
              <a:rPr lang="en-US" sz="1300" dirty="0">
                <a:solidFill>
                  <a:srgbClr val="5A6772"/>
                </a:solidFill>
                <a:latin typeface="Arial" pitchFamily="34" charset="0"/>
                <a:ea typeface="Arial" pitchFamily="34" charset="-122"/>
                <a:cs typeface="Arial" pitchFamily="34" charset="-120"/>
              </a:rPr>
              <a:t>Independently ranked among the top local agencies.</a:t>
            </a:r>
            <a:endParaRPr lang="en-US" sz="1300" dirty="0"/>
          </a:p>
        </p:txBody>
      </p:sp>
      <p:sp>
        <p:nvSpPr>
          <p:cNvPr id="20" name="Shape 17"/>
          <p:cNvSpPr/>
          <p:nvPr/>
        </p:nvSpPr>
        <p:spPr>
          <a:xfrm>
            <a:off x="713232" y="5214112"/>
            <a:ext cx="10765231" cy="0"/>
          </a:xfrm>
          <a:prstGeom prst="line">
            <a:avLst/>
          </a:prstGeom>
          <a:noFill/>
          <a:ln w="9525">
            <a:solidFill>
              <a:srgbClr val="E2EAF1"/>
            </a:solidFill>
            <a:prstDash val="solid"/>
          </a:ln>
        </p:spPr>
      </p:sp>
      <p:sp>
        <p:nvSpPr>
          <p:cNvPr id="21" name="Text 18"/>
          <p:cNvSpPr txBox="1"/>
          <p:nvPr/>
        </p:nvSpPr>
        <p:spPr>
          <a:xfrm>
            <a:off x="713232" y="5369560"/>
            <a:ext cx="3200400" cy="296672"/>
          </a:xfrm>
          <a:prstGeom prst="rect">
            <a:avLst/>
          </a:prstGeom>
          <a:noFill/>
          <a:ln/>
        </p:spPr>
        <p:txBody>
          <a:bodyPr wrap="square" lIns="0" tIns="0" rIns="0" bIns="0" rtlCol="0" anchor="t"/>
          <a:lstStyle/>
          <a:p>
            <a:pPr algn="l" indent="0" marL="0">
              <a:lnSpc>
                <a:spcPct val="110000"/>
              </a:lnSpc>
              <a:buNone/>
            </a:pPr>
            <a:r>
              <a:rPr lang="en-US" sz="1700" b="1" dirty="0">
                <a:solidFill>
                  <a:srgbClr val="0F151B"/>
                </a:solidFill>
                <a:latin typeface="Arial" pitchFamily="34" charset="0"/>
                <a:ea typeface="Arial" pitchFamily="34" charset="-122"/>
                <a:cs typeface="Arial" pitchFamily="34" charset="-120"/>
              </a:rPr>
              <a:t>RankWatch</a:t>
            </a:r>
            <a:endParaRPr lang="en-US" sz="1700" dirty="0"/>
          </a:p>
        </p:txBody>
      </p:sp>
      <p:sp>
        <p:nvSpPr>
          <p:cNvPr id="22" name="Text 19"/>
          <p:cNvSpPr txBox="1"/>
          <p:nvPr/>
        </p:nvSpPr>
        <p:spPr>
          <a:xfrm>
            <a:off x="4325112" y="5369560"/>
            <a:ext cx="7153351" cy="266192"/>
          </a:xfrm>
          <a:prstGeom prst="rect">
            <a:avLst/>
          </a:prstGeom>
          <a:noFill/>
          <a:ln/>
        </p:spPr>
        <p:txBody>
          <a:bodyPr wrap="square" lIns="0" tIns="0" rIns="0" bIns="0" rtlCol="0" anchor="t"/>
          <a:lstStyle/>
          <a:p>
            <a:pPr algn="l" indent="0" marL="0">
              <a:lnSpc>
                <a:spcPct val="128000"/>
              </a:lnSpc>
              <a:buNone/>
            </a:pPr>
            <a:r>
              <a:rPr lang="en-US" sz="1300" dirty="0">
                <a:solidFill>
                  <a:srgbClr val="5A6772"/>
                </a:solidFill>
                <a:latin typeface="Arial" pitchFamily="34" charset="0"/>
                <a:ea typeface="Arial" pitchFamily="34" charset="-122"/>
                <a:cs typeface="Arial" pitchFamily="34" charset="-120"/>
              </a:rPr>
              <a:t>Recognized for search performance.</a:t>
            </a:r>
            <a:endParaRPr lang="en-US" sz="1300" dirty="0"/>
          </a:p>
        </p:txBody>
      </p:sp>
      <p:sp>
        <p:nvSpPr>
          <p:cNvPr id="23" name="Text 20"/>
          <p:cNvSpPr txBox="1"/>
          <p:nvPr/>
        </p:nvSpPr>
        <p:spPr>
          <a:xfrm>
            <a:off x="713232" y="6400800"/>
            <a:ext cx="9942271" cy="237744"/>
          </a:xfrm>
          <a:prstGeom prst="rect">
            <a:avLst/>
          </a:prstGeom>
          <a:noFill/>
          <a:ln/>
        </p:spPr>
        <p:txBody>
          <a:bodyPr wrap="square" lIns="0" tIns="0" rIns="0" bIns="0" rtlCol="0" anchor="t"/>
          <a:lstStyle/>
          <a:p>
            <a:pPr algn="l" indent="0" marL="0">
              <a:buNone/>
            </a:pPr>
            <a:r>
              <a:rPr lang="en-US" sz="950" i="1" dirty="0">
                <a:solidFill>
                  <a:srgbClr val="8A97A2"/>
                </a:solidFill>
                <a:latin typeface="Arial" pitchFamily="34" charset="0"/>
                <a:ea typeface="Arial" pitchFamily="34" charset="-122"/>
                <a:cs typeface="Arial" pitchFamily="34" charset="-120"/>
              </a:rPr>
              <a:t>Momentum Digital is also ranked among Philadelphia's top PPC agencies on its own published awards page.</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825"/>
        </a:solidFill>
      </p:bgPr>
    </p:bg>
    <p:spTree>
      <p:nvGrpSpPr>
        <p:cNvPr id="1" name=""/>
        <p:cNvGrpSpPr/>
        <p:nvPr/>
      </p:nvGrpSpPr>
      <p:grpSpPr>
        <a:xfrm>
          <a:off x="0" y="0"/>
          <a:ext cx="0" cy="0"/>
          <a:chOff x="0" y="0"/>
          <a:chExt cx="0" cy="0"/>
        </a:xfrm>
      </p:grpSpPr>
      <p:sp>
        <p:nvSpPr>
          <p:cNvPr id="2" name="Text 0"/>
          <p:cNvSpPr txBox="1"/>
          <p:nvPr/>
        </p:nvSpPr>
        <p:spPr>
          <a:xfrm>
            <a:off x="4480560" y="502920"/>
            <a:ext cx="8138160" cy="6949440"/>
          </a:xfrm>
          <a:prstGeom prst="rect">
            <a:avLst/>
          </a:prstGeom>
          <a:noFill/>
          <a:ln/>
        </p:spPr>
        <p:txBody>
          <a:bodyPr wrap="square" lIns="0" tIns="0" rIns="0" bIns="0" rtlCol="0" anchor="t"/>
          <a:lstStyle/>
          <a:p>
            <a:pPr algn="r" indent="0" marL="0">
              <a:lnSpc>
                <a:spcPct val="100000"/>
              </a:lnSpc>
              <a:buNone/>
            </a:pPr>
            <a:r>
              <a:rPr lang="en-US" sz="43000" b="1" dirty="0">
                <a:solidFill>
                  <a:srgbClr val="112B3F"/>
                </a:solidFill>
                <a:latin typeface="Arial" pitchFamily="34" charset="0"/>
                <a:ea typeface="Arial" pitchFamily="34" charset="-122"/>
                <a:cs typeface="Arial" pitchFamily="34" charset="-120"/>
              </a:rPr>
              <a:t>01</a:t>
            </a:r>
            <a:endParaRPr lang="en-US" sz="43000" dirty="0"/>
          </a:p>
        </p:txBody>
      </p:sp>
      <p:pic>
        <p:nvPicPr>
          <p:cNvPr id="3" name="Image 0" descr="Momentum Digital logo">    </p:cNvPr>
          <p:cNvPicPr>
            <a:picLocks noChangeAspect="1"/>
          </p:cNvPicPr>
          <p:nvPr/>
        </p:nvPicPr>
        <p:blipFill>
          <a:blip r:embed="rId1"/>
          <a:stretch>
            <a:fillRect/>
          </a:stretch>
        </p:blipFill>
        <p:spPr>
          <a:xfrm>
            <a:off x="10106863" y="658368"/>
            <a:ext cx="1371600" cy="294904"/>
          </a:xfrm>
          <a:prstGeom prst="rect">
            <a:avLst/>
          </a:prstGeom>
        </p:spPr>
      </p:pic>
      <p:sp>
        <p:nvSpPr>
          <p:cNvPr id="4" name="Text 1"/>
          <p:cNvSpPr txBox="1"/>
          <p:nvPr/>
        </p:nvSpPr>
        <p:spPr>
          <a:xfrm>
            <a:off x="713232" y="3063240"/>
            <a:ext cx="6766560" cy="201168"/>
          </a:xfrm>
          <a:prstGeom prst="rect">
            <a:avLst/>
          </a:prstGeom>
          <a:noFill/>
          <a:ln/>
        </p:spPr>
        <p:txBody>
          <a:bodyPr wrap="square" lIns="0" tIns="0" rIns="0" bIns="0" rtlCol="0" anchor="t"/>
          <a:lstStyle/>
          <a:p>
            <a:pPr algn="l" indent="0" marL="0">
              <a:buNone/>
            </a:pPr>
            <a:r>
              <a:rPr lang="en-US" sz="1050" b="1" spc="240" kern="0" dirty="0">
                <a:solidFill>
                  <a:srgbClr val="5AA7E0"/>
                </a:solidFill>
                <a:latin typeface="Arial" pitchFamily="34" charset="0"/>
                <a:ea typeface="Arial" pitchFamily="34" charset="-122"/>
                <a:cs typeface="Arial" pitchFamily="34" charset="-120"/>
              </a:rPr>
              <a:t>SECTION ONE</a:t>
            </a:r>
            <a:endParaRPr lang="en-US" sz="1050" dirty="0"/>
          </a:p>
        </p:txBody>
      </p:sp>
      <p:sp>
        <p:nvSpPr>
          <p:cNvPr id="5" name="Text 2"/>
          <p:cNvSpPr txBox="1"/>
          <p:nvPr/>
        </p:nvSpPr>
        <p:spPr>
          <a:xfrm>
            <a:off x="713232" y="3392424"/>
            <a:ext cx="7498080" cy="633984"/>
          </a:xfrm>
          <a:prstGeom prst="rect">
            <a:avLst/>
          </a:prstGeom>
          <a:noFill/>
          <a:ln/>
        </p:spPr>
        <p:txBody>
          <a:bodyPr wrap="square" lIns="0" tIns="0" rIns="0" bIns="0" rtlCol="0" anchor="t"/>
          <a:lstStyle/>
          <a:p>
            <a:pPr algn="l" indent="0" marL="0">
              <a:lnSpc>
                <a:spcPct val="102000"/>
              </a:lnSpc>
              <a:buNone/>
            </a:pPr>
            <a:r>
              <a:rPr lang="en-US" sz="4400" b="1" dirty="0">
                <a:solidFill>
                  <a:srgbClr val="FFFFFF"/>
                </a:solidFill>
                <a:latin typeface="Arial" pitchFamily="34" charset="0"/>
                <a:ea typeface="Arial" pitchFamily="34" charset="-122"/>
                <a:cs typeface="Arial" pitchFamily="34" charset="-120"/>
              </a:rPr>
              <a:t>What we do</a:t>
            </a:r>
            <a:endParaRPr lang="en-US" sz="4400" dirty="0"/>
          </a:p>
        </p:txBody>
      </p:sp>
      <p:sp>
        <p:nvSpPr>
          <p:cNvPr id="6" name="Text 3"/>
          <p:cNvSpPr txBox="1"/>
          <p:nvPr/>
        </p:nvSpPr>
        <p:spPr>
          <a:xfrm>
            <a:off x="713232" y="4282440"/>
            <a:ext cx="6766560" cy="559308"/>
          </a:xfrm>
          <a:prstGeom prst="rect">
            <a:avLst/>
          </a:prstGeom>
          <a:noFill/>
          <a:ln/>
        </p:spPr>
        <p:txBody>
          <a:bodyPr wrap="square" lIns="0" tIns="0" rIns="0" bIns="0" rtlCol="0" anchor="t"/>
          <a:lstStyle/>
          <a:p>
            <a:pPr algn="l" indent="0" marL="0">
              <a:lnSpc>
                <a:spcPct val="130000"/>
              </a:lnSpc>
              <a:buNone/>
            </a:pPr>
            <a:r>
              <a:rPr lang="en-US" sz="1500" dirty="0">
                <a:solidFill>
                  <a:srgbClr val="9DB5C8"/>
                </a:solidFill>
                <a:latin typeface="Arial" pitchFamily="34" charset="0"/>
                <a:ea typeface="Arial" pitchFamily="34" charset="-122"/>
                <a:cs typeface="Arial" pitchFamily="34" charset="-120"/>
              </a:rPr>
              <a:t>Seven service lines that share one strategy, one measurement system and one team.</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Momentum Digital logo">    </p:cNvPr>
          <p:cNvPicPr>
            <a:picLocks noChangeAspect="1"/>
          </p:cNvPicPr>
          <p:nvPr/>
        </p:nvPicPr>
        <p:blipFill>
          <a:blip r:embed="rId1"/>
          <a:stretch>
            <a:fillRect/>
          </a:stretch>
        </p:blipFill>
        <p:spPr>
          <a:xfrm>
            <a:off x="10106863" y="658368"/>
            <a:ext cx="1371600" cy="294904"/>
          </a:xfrm>
          <a:prstGeom prst="rect">
            <a:avLst/>
          </a:prstGeom>
        </p:spPr>
      </p:pic>
      <p:sp>
        <p:nvSpPr>
          <p:cNvPr id="3" name="Text 0"/>
          <p:cNvSpPr txBox="1"/>
          <p:nvPr/>
        </p:nvSpPr>
        <p:spPr>
          <a:xfrm>
            <a:off x="713232" y="658368"/>
            <a:ext cx="8753551" cy="201168"/>
          </a:xfrm>
          <a:prstGeom prst="rect">
            <a:avLst/>
          </a:prstGeom>
          <a:noFill/>
          <a:ln/>
        </p:spPr>
        <p:txBody>
          <a:bodyPr wrap="square" lIns="0" tIns="0" rIns="0" bIns="0" rtlCol="0" anchor="t"/>
          <a:lstStyle/>
          <a:p>
            <a:pPr algn="l" indent="0" marL="0">
              <a:buNone/>
            </a:pPr>
            <a:r>
              <a:rPr lang="en-US" sz="1050" b="1" spc="240" kern="0" dirty="0">
                <a:solidFill>
                  <a:srgbClr val="2A80C2"/>
                </a:solidFill>
                <a:latin typeface="Arial" pitchFamily="34" charset="0"/>
                <a:ea typeface="Arial" pitchFamily="34" charset="-122"/>
                <a:cs typeface="Arial" pitchFamily="34" charset="-120"/>
              </a:rPr>
              <a:t>CAPABILITIES</a:t>
            </a:r>
            <a:endParaRPr lang="en-US" sz="1050" dirty="0"/>
          </a:p>
        </p:txBody>
      </p:sp>
      <p:sp>
        <p:nvSpPr>
          <p:cNvPr id="4" name="Text 1"/>
          <p:cNvSpPr txBox="1"/>
          <p:nvPr/>
        </p:nvSpPr>
        <p:spPr>
          <a:xfrm>
            <a:off x="713232" y="987552"/>
            <a:ext cx="8570671" cy="569214"/>
          </a:xfrm>
          <a:prstGeom prst="rect">
            <a:avLst/>
          </a:prstGeom>
          <a:noFill/>
          <a:ln/>
        </p:spPr>
        <p:txBody>
          <a:bodyPr wrap="square" lIns="0" tIns="0" rIns="0" bIns="0" rtlCol="0" anchor="t"/>
          <a:lstStyle/>
          <a:p>
            <a:pPr algn="l" indent="0" marL="0">
              <a:lnSpc>
                <a:spcPct val="102000"/>
              </a:lnSpc>
              <a:buNone/>
            </a:pPr>
            <a:r>
              <a:rPr lang="en-US" sz="3900" b="1" dirty="0">
                <a:solidFill>
                  <a:srgbClr val="0F151B"/>
                </a:solidFill>
                <a:latin typeface="Arial" pitchFamily="34" charset="0"/>
                <a:ea typeface="Arial" pitchFamily="34" charset="-122"/>
                <a:cs typeface="Arial" pitchFamily="34" charset="-120"/>
              </a:rPr>
              <a:t>Seven lines, one growth system</a:t>
            </a:r>
            <a:endParaRPr lang="en-US" sz="3900" dirty="0"/>
          </a:p>
        </p:txBody>
      </p:sp>
      <p:sp>
        <p:nvSpPr>
          <p:cNvPr id="5" name="Text 2"/>
          <p:cNvSpPr txBox="1"/>
          <p:nvPr/>
        </p:nvSpPr>
        <p:spPr>
          <a:xfrm>
            <a:off x="10929823" y="6437376"/>
            <a:ext cx="548640" cy="219456"/>
          </a:xfrm>
          <a:prstGeom prst="rect">
            <a:avLst/>
          </a:prstGeom>
          <a:noFill/>
          <a:ln/>
        </p:spPr>
        <p:txBody>
          <a:bodyPr wrap="square" lIns="0" tIns="0" rIns="0" bIns="0" rtlCol="0" anchor="t"/>
          <a:lstStyle/>
          <a:p>
            <a:pPr algn="r" indent="0" marL="0">
              <a:buNone/>
            </a:pPr>
            <a:r>
              <a:rPr lang="en-US" sz="1050" b="1" spc="100" kern="0" dirty="0">
                <a:solidFill>
                  <a:srgbClr val="CBD8E3"/>
                </a:solidFill>
                <a:latin typeface="Arial" pitchFamily="34" charset="0"/>
                <a:ea typeface="Arial" pitchFamily="34" charset="-122"/>
                <a:cs typeface="Arial" pitchFamily="34" charset="-120"/>
              </a:rPr>
              <a:t>03</a:t>
            </a:r>
            <a:endParaRPr lang="en-US" sz="1050" dirty="0"/>
          </a:p>
        </p:txBody>
      </p:sp>
      <p:sp>
        <p:nvSpPr>
          <p:cNvPr id="6" name="Text 3"/>
          <p:cNvSpPr txBox="1"/>
          <p:nvPr/>
        </p:nvSpPr>
        <p:spPr>
          <a:xfrm>
            <a:off x="713232" y="2011680"/>
            <a:ext cx="3108960" cy="282448"/>
          </a:xfrm>
          <a:prstGeom prst="rect">
            <a:avLst/>
          </a:prstGeom>
          <a:noFill/>
          <a:ln/>
        </p:spPr>
        <p:txBody>
          <a:bodyPr wrap="square" lIns="0" tIns="0" rIns="0" bIns="0" rtlCol="0" anchor="t"/>
          <a:lstStyle/>
          <a:p>
            <a:pPr algn="l" indent="0" marL="0">
              <a:lnSpc>
                <a:spcPct val="110000"/>
              </a:lnSpc>
              <a:buNone/>
            </a:pPr>
            <a:r>
              <a:rPr lang="en-US" sz="1600" b="1" dirty="0">
                <a:solidFill>
                  <a:srgbClr val="0F151B"/>
                </a:solidFill>
                <a:latin typeface="Arial" pitchFamily="34" charset="0"/>
                <a:ea typeface="Arial" pitchFamily="34" charset="-122"/>
                <a:cs typeface="Arial" pitchFamily="34" charset="-120"/>
              </a:rPr>
              <a:t>SEO</a:t>
            </a:r>
            <a:endParaRPr lang="en-US" sz="1600" dirty="0"/>
          </a:p>
        </p:txBody>
      </p:sp>
      <p:sp>
        <p:nvSpPr>
          <p:cNvPr id="7" name="Text 4"/>
          <p:cNvSpPr txBox="1"/>
          <p:nvPr/>
        </p:nvSpPr>
        <p:spPr>
          <a:xfrm>
            <a:off x="4233672" y="2011680"/>
            <a:ext cx="7244791" cy="461264"/>
          </a:xfrm>
          <a:prstGeom prst="rect">
            <a:avLst/>
          </a:prstGeom>
          <a:noFill/>
          <a:ln/>
        </p:spPr>
        <p:txBody>
          <a:bodyPr wrap="square" lIns="0" tIns="0" rIns="0" bIns="0" rtlCol="0" anchor="t"/>
          <a:lstStyle/>
          <a:p>
            <a:pPr algn="l" indent="0" marL="0">
              <a:lnSpc>
                <a:spcPct val="128000"/>
              </a:lnSpc>
              <a:buNone/>
            </a:pPr>
            <a:r>
              <a:rPr lang="en-US" sz="1250" dirty="0">
                <a:solidFill>
                  <a:srgbClr val="5A6772"/>
                </a:solidFill>
                <a:latin typeface="Arial" pitchFamily="34" charset="0"/>
                <a:ea typeface="Arial" pitchFamily="34" charset="-122"/>
                <a:cs typeface="Arial" pitchFamily="34" charset="-120"/>
              </a:rPr>
              <a:t>Local, technical and ecommerce SEO, Google Business Profile, audits, and programs built by industry and by city.</a:t>
            </a:r>
            <a:endParaRPr lang="en-US" sz="1250" dirty="0"/>
          </a:p>
        </p:txBody>
      </p:sp>
      <p:sp>
        <p:nvSpPr>
          <p:cNvPr id="8" name="Shape 5"/>
          <p:cNvSpPr/>
          <p:nvPr/>
        </p:nvSpPr>
        <p:spPr>
          <a:xfrm>
            <a:off x="713232" y="2564384"/>
            <a:ext cx="10765231" cy="0"/>
          </a:xfrm>
          <a:prstGeom prst="line">
            <a:avLst/>
          </a:prstGeom>
          <a:noFill/>
          <a:ln w="9525">
            <a:solidFill>
              <a:srgbClr val="E2EAF1"/>
            </a:solidFill>
            <a:prstDash val="solid"/>
          </a:ln>
        </p:spPr>
      </p:sp>
      <p:sp>
        <p:nvSpPr>
          <p:cNvPr id="9" name="Text 6"/>
          <p:cNvSpPr txBox="1"/>
          <p:nvPr/>
        </p:nvSpPr>
        <p:spPr>
          <a:xfrm>
            <a:off x="713232" y="2655824"/>
            <a:ext cx="3108960" cy="282448"/>
          </a:xfrm>
          <a:prstGeom prst="rect">
            <a:avLst/>
          </a:prstGeom>
          <a:noFill/>
          <a:ln/>
        </p:spPr>
        <p:txBody>
          <a:bodyPr wrap="square" lIns="0" tIns="0" rIns="0" bIns="0" rtlCol="0" anchor="t"/>
          <a:lstStyle/>
          <a:p>
            <a:pPr algn="l" indent="0" marL="0">
              <a:lnSpc>
                <a:spcPct val="110000"/>
              </a:lnSpc>
              <a:buNone/>
            </a:pPr>
            <a:r>
              <a:rPr lang="en-US" sz="1600" b="1" dirty="0">
                <a:solidFill>
                  <a:srgbClr val="0F151B"/>
                </a:solidFill>
                <a:latin typeface="Arial" pitchFamily="34" charset="0"/>
                <a:ea typeface="Arial" pitchFamily="34" charset="-122"/>
                <a:cs typeface="Arial" pitchFamily="34" charset="-120"/>
              </a:rPr>
              <a:t>PPC and paid social</a:t>
            </a:r>
            <a:endParaRPr lang="en-US" sz="1600" dirty="0"/>
          </a:p>
        </p:txBody>
      </p:sp>
      <p:sp>
        <p:nvSpPr>
          <p:cNvPr id="10" name="Text 7"/>
          <p:cNvSpPr txBox="1"/>
          <p:nvPr/>
        </p:nvSpPr>
        <p:spPr>
          <a:xfrm>
            <a:off x="4233672" y="2655824"/>
            <a:ext cx="7244791" cy="258064"/>
          </a:xfrm>
          <a:prstGeom prst="rect">
            <a:avLst/>
          </a:prstGeom>
          <a:noFill/>
          <a:ln/>
        </p:spPr>
        <p:txBody>
          <a:bodyPr wrap="square" lIns="0" tIns="0" rIns="0" bIns="0" rtlCol="0" anchor="t"/>
          <a:lstStyle/>
          <a:p>
            <a:pPr algn="l" indent="0" marL="0">
              <a:lnSpc>
                <a:spcPct val="128000"/>
              </a:lnSpc>
              <a:buNone/>
            </a:pPr>
            <a:r>
              <a:rPr lang="en-US" sz="1250" dirty="0">
                <a:solidFill>
                  <a:srgbClr val="5A6772"/>
                </a:solidFill>
                <a:latin typeface="Arial" pitchFamily="34" charset="0"/>
                <a:ea typeface="Arial" pitchFamily="34" charset="-122"/>
                <a:cs typeface="Arial" pitchFamily="34" charset="-120"/>
              </a:rPr>
              <a:t>Google, Microsoft, Amazon, Facebook and Instagram, managed against calls and forms.</a:t>
            </a:r>
            <a:endParaRPr lang="en-US" sz="1250" dirty="0"/>
          </a:p>
        </p:txBody>
      </p:sp>
      <p:sp>
        <p:nvSpPr>
          <p:cNvPr id="11" name="Shape 8"/>
          <p:cNvSpPr/>
          <p:nvPr/>
        </p:nvSpPr>
        <p:spPr>
          <a:xfrm>
            <a:off x="713232" y="3029712"/>
            <a:ext cx="10765231" cy="0"/>
          </a:xfrm>
          <a:prstGeom prst="line">
            <a:avLst/>
          </a:prstGeom>
          <a:noFill/>
          <a:ln w="9525">
            <a:solidFill>
              <a:srgbClr val="E2EAF1"/>
            </a:solidFill>
            <a:prstDash val="solid"/>
          </a:ln>
        </p:spPr>
      </p:sp>
      <p:sp>
        <p:nvSpPr>
          <p:cNvPr id="12" name="Text 9"/>
          <p:cNvSpPr txBox="1"/>
          <p:nvPr/>
        </p:nvSpPr>
        <p:spPr>
          <a:xfrm>
            <a:off x="713232" y="3121152"/>
            <a:ext cx="3108960" cy="282448"/>
          </a:xfrm>
          <a:prstGeom prst="rect">
            <a:avLst/>
          </a:prstGeom>
          <a:noFill/>
          <a:ln/>
        </p:spPr>
        <p:txBody>
          <a:bodyPr wrap="square" lIns="0" tIns="0" rIns="0" bIns="0" rtlCol="0" anchor="t"/>
          <a:lstStyle/>
          <a:p>
            <a:pPr algn="l" indent="0" marL="0">
              <a:lnSpc>
                <a:spcPct val="110000"/>
              </a:lnSpc>
              <a:buNone/>
            </a:pPr>
            <a:r>
              <a:rPr lang="en-US" sz="1600" b="1" dirty="0">
                <a:solidFill>
                  <a:srgbClr val="0F151B"/>
                </a:solidFill>
                <a:latin typeface="Arial" pitchFamily="34" charset="0"/>
                <a:ea typeface="Arial" pitchFamily="34" charset="-122"/>
                <a:cs typeface="Arial" pitchFamily="34" charset="-120"/>
              </a:rPr>
              <a:t>Social media</a:t>
            </a:r>
            <a:endParaRPr lang="en-US" sz="1600" dirty="0"/>
          </a:p>
        </p:txBody>
      </p:sp>
      <p:sp>
        <p:nvSpPr>
          <p:cNvPr id="13" name="Text 10"/>
          <p:cNvSpPr txBox="1"/>
          <p:nvPr/>
        </p:nvSpPr>
        <p:spPr>
          <a:xfrm>
            <a:off x="4233672" y="3121152"/>
            <a:ext cx="7244791" cy="461264"/>
          </a:xfrm>
          <a:prstGeom prst="rect">
            <a:avLst/>
          </a:prstGeom>
          <a:noFill/>
          <a:ln/>
        </p:spPr>
        <p:txBody>
          <a:bodyPr wrap="square" lIns="0" tIns="0" rIns="0" bIns="0" rtlCol="0" anchor="t"/>
          <a:lstStyle/>
          <a:p>
            <a:pPr algn="l" indent="0" marL="0">
              <a:lnSpc>
                <a:spcPct val="128000"/>
              </a:lnSpc>
              <a:buNone/>
            </a:pPr>
            <a:r>
              <a:rPr lang="en-US" sz="1250" dirty="0">
                <a:solidFill>
                  <a:srgbClr val="5A6772"/>
                </a:solidFill>
                <a:latin typeface="Arial" pitchFamily="34" charset="0"/>
                <a:ea typeface="Arial" pitchFamily="34" charset="-122"/>
                <a:cs typeface="Arial" pitchFamily="34" charset="-120"/>
              </a:rPr>
              <a:t>Facebook, Instagram, TikTok, Pinterest and LinkedIn, posted and grown on a real calendar.</a:t>
            </a:r>
            <a:endParaRPr lang="en-US" sz="1250" dirty="0"/>
          </a:p>
        </p:txBody>
      </p:sp>
      <p:sp>
        <p:nvSpPr>
          <p:cNvPr id="14" name="Shape 11"/>
          <p:cNvSpPr/>
          <p:nvPr/>
        </p:nvSpPr>
        <p:spPr>
          <a:xfrm>
            <a:off x="713232" y="3673856"/>
            <a:ext cx="10765231" cy="0"/>
          </a:xfrm>
          <a:prstGeom prst="line">
            <a:avLst/>
          </a:prstGeom>
          <a:noFill/>
          <a:ln w="9525">
            <a:solidFill>
              <a:srgbClr val="E2EAF1"/>
            </a:solidFill>
            <a:prstDash val="solid"/>
          </a:ln>
        </p:spPr>
      </p:sp>
      <p:sp>
        <p:nvSpPr>
          <p:cNvPr id="15" name="Text 12"/>
          <p:cNvSpPr txBox="1"/>
          <p:nvPr/>
        </p:nvSpPr>
        <p:spPr>
          <a:xfrm>
            <a:off x="713232" y="3765296"/>
            <a:ext cx="3108960" cy="282448"/>
          </a:xfrm>
          <a:prstGeom prst="rect">
            <a:avLst/>
          </a:prstGeom>
          <a:noFill/>
          <a:ln/>
        </p:spPr>
        <p:txBody>
          <a:bodyPr wrap="square" lIns="0" tIns="0" rIns="0" bIns="0" rtlCol="0" anchor="t"/>
          <a:lstStyle/>
          <a:p>
            <a:pPr algn="l" indent="0" marL="0">
              <a:lnSpc>
                <a:spcPct val="110000"/>
              </a:lnSpc>
              <a:buNone/>
            </a:pPr>
            <a:r>
              <a:rPr lang="en-US" sz="1600" b="1" dirty="0">
                <a:solidFill>
                  <a:srgbClr val="0F151B"/>
                </a:solidFill>
                <a:latin typeface="Arial" pitchFamily="34" charset="0"/>
                <a:ea typeface="Arial" pitchFamily="34" charset="-122"/>
                <a:cs typeface="Arial" pitchFamily="34" charset="-120"/>
              </a:rPr>
              <a:t>Design and web</a:t>
            </a:r>
            <a:endParaRPr lang="en-US" sz="1600" dirty="0"/>
          </a:p>
        </p:txBody>
      </p:sp>
      <p:sp>
        <p:nvSpPr>
          <p:cNvPr id="16" name="Text 13"/>
          <p:cNvSpPr txBox="1"/>
          <p:nvPr/>
        </p:nvSpPr>
        <p:spPr>
          <a:xfrm>
            <a:off x="4233672" y="3765296"/>
            <a:ext cx="7244791" cy="258064"/>
          </a:xfrm>
          <a:prstGeom prst="rect">
            <a:avLst/>
          </a:prstGeom>
          <a:noFill/>
          <a:ln/>
        </p:spPr>
        <p:txBody>
          <a:bodyPr wrap="square" lIns="0" tIns="0" rIns="0" bIns="0" rtlCol="0" anchor="t"/>
          <a:lstStyle/>
          <a:p>
            <a:pPr algn="l" indent="0" marL="0">
              <a:lnSpc>
                <a:spcPct val="128000"/>
              </a:lnSpc>
              <a:buNone/>
            </a:pPr>
            <a:r>
              <a:rPr lang="en-US" sz="1250" dirty="0">
                <a:solidFill>
                  <a:srgbClr val="5A6772"/>
                </a:solidFill>
                <a:latin typeface="Arial" pitchFamily="34" charset="0"/>
                <a:ea typeface="Arial" pitchFamily="34" charset="-122"/>
                <a:cs typeface="Arial" pitchFamily="34" charset="-120"/>
              </a:rPr>
              <a:t>WordPress and Shopify builds, UI and UX, logo, graphic and brochure design.</a:t>
            </a:r>
            <a:endParaRPr lang="en-US" sz="1250" dirty="0"/>
          </a:p>
        </p:txBody>
      </p:sp>
      <p:sp>
        <p:nvSpPr>
          <p:cNvPr id="17" name="Shape 14"/>
          <p:cNvSpPr/>
          <p:nvPr/>
        </p:nvSpPr>
        <p:spPr>
          <a:xfrm>
            <a:off x="713232" y="4139184"/>
            <a:ext cx="10765231" cy="0"/>
          </a:xfrm>
          <a:prstGeom prst="line">
            <a:avLst/>
          </a:prstGeom>
          <a:noFill/>
          <a:ln w="9525">
            <a:solidFill>
              <a:srgbClr val="E2EAF1"/>
            </a:solidFill>
            <a:prstDash val="solid"/>
          </a:ln>
        </p:spPr>
      </p:sp>
      <p:sp>
        <p:nvSpPr>
          <p:cNvPr id="18" name="Text 15"/>
          <p:cNvSpPr txBox="1"/>
          <p:nvPr/>
        </p:nvSpPr>
        <p:spPr>
          <a:xfrm>
            <a:off x="713232" y="4230624"/>
            <a:ext cx="3108960" cy="282448"/>
          </a:xfrm>
          <a:prstGeom prst="rect">
            <a:avLst/>
          </a:prstGeom>
          <a:noFill/>
          <a:ln/>
        </p:spPr>
        <p:txBody>
          <a:bodyPr wrap="square" lIns="0" tIns="0" rIns="0" bIns="0" rtlCol="0" anchor="t"/>
          <a:lstStyle/>
          <a:p>
            <a:pPr algn="l" indent="0" marL="0">
              <a:lnSpc>
                <a:spcPct val="110000"/>
              </a:lnSpc>
              <a:buNone/>
            </a:pPr>
            <a:r>
              <a:rPr lang="en-US" sz="1600" b="1" dirty="0">
                <a:solidFill>
                  <a:srgbClr val="0F151B"/>
                </a:solidFill>
                <a:latin typeface="Arial" pitchFamily="34" charset="0"/>
                <a:ea typeface="Arial" pitchFamily="34" charset="-122"/>
                <a:cs typeface="Arial" pitchFamily="34" charset="-120"/>
              </a:rPr>
              <a:t>Content and video</a:t>
            </a:r>
            <a:endParaRPr lang="en-US" sz="1600" dirty="0"/>
          </a:p>
        </p:txBody>
      </p:sp>
      <p:sp>
        <p:nvSpPr>
          <p:cNvPr id="19" name="Text 16"/>
          <p:cNvSpPr txBox="1"/>
          <p:nvPr/>
        </p:nvSpPr>
        <p:spPr>
          <a:xfrm>
            <a:off x="4233672" y="4230624"/>
            <a:ext cx="7244791" cy="258064"/>
          </a:xfrm>
          <a:prstGeom prst="rect">
            <a:avLst/>
          </a:prstGeom>
          <a:noFill/>
          <a:ln/>
        </p:spPr>
        <p:txBody>
          <a:bodyPr wrap="square" lIns="0" tIns="0" rIns="0" bIns="0" rtlCol="0" anchor="t"/>
          <a:lstStyle/>
          <a:p>
            <a:pPr algn="l" indent="0" marL="0">
              <a:lnSpc>
                <a:spcPct val="128000"/>
              </a:lnSpc>
              <a:buNone/>
            </a:pPr>
            <a:r>
              <a:rPr lang="en-US" sz="1250" dirty="0">
                <a:solidFill>
                  <a:srgbClr val="5A6772"/>
                </a:solidFill>
                <a:latin typeface="Arial" pitchFamily="34" charset="0"/>
                <a:ea typeface="Arial" pitchFamily="34" charset="-122"/>
                <a:cs typeface="Arial" pitchFamily="34" charset="-120"/>
              </a:rPr>
              <a:t>Blogging, email, HD photography, drone video and 360 virtual tours.</a:t>
            </a:r>
            <a:endParaRPr lang="en-US" sz="1250" dirty="0"/>
          </a:p>
        </p:txBody>
      </p:sp>
      <p:sp>
        <p:nvSpPr>
          <p:cNvPr id="20" name="Shape 17"/>
          <p:cNvSpPr/>
          <p:nvPr/>
        </p:nvSpPr>
        <p:spPr>
          <a:xfrm>
            <a:off x="713232" y="4604512"/>
            <a:ext cx="10765231" cy="0"/>
          </a:xfrm>
          <a:prstGeom prst="line">
            <a:avLst/>
          </a:prstGeom>
          <a:noFill/>
          <a:ln w="9525">
            <a:solidFill>
              <a:srgbClr val="E2EAF1"/>
            </a:solidFill>
            <a:prstDash val="solid"/>
          </a:ln>
        </p:spPr>
      </p:sp>
      <p:sp>
        <p:nvSpPr>
          <p:cNvPr id="21" name="Text 18"/>
          <p:cNvSpPr txBox="1"/>
          <p:nvPr/>
        </p:nvSpPr>
        <p:spPr>
          <a:xfrm>
            <a:off x="713232" y="4695952"/>
            <a:ext cx="3108960" cy="282448"/>
          </a:xfrm>
          <a:prstGeom prst="rect">
            <a:avLst/>
          </a:prstGeom>
          <a:noFill/>
          <a:ln/>
        </p:spPr>
        <p:txBody>
          <a:bodyPr wrap="square" lIns="0" tIns="0" rIns="0" bIns="0" rtlCol="0" anchor="t"/>
          <a:lstStyle/>
          <a:p>
            <a:pPr algn="l" indent="0" marL="0">
              <a:lnSpc>
                <a:spcPct val="110000"/>
              </a:lnSpc>
              <a:buNone/>
            </a:pPr>
            <a:r>
              <a:rPr lang="en-US" sz="1600" b="1" dirty="0">
                <a:solidFill>
                  <a:srgbClr val="0F151B"/>
                </a:solidFill>
                <a:latin typeface="Arial" pitchFamily="34" charset="0"/>
                <a:ea typeface="Arial" pitchFamily="34" charset="-122"/>
                <a:cs typeface="Arial" pitchFamily="34" charset="-120"/>
              </a:rPr>
              <a:t>AI marketing and automation</a:t>
            </a:r>
            <a:endParaRPr lang="en-US" sz="1600" dirty="0"/>
          </a:p>
        </p:txBody>
      </p:sp>
      <p:sp>
        <p:nvSpPr>
          <p:cNvPr id="22" name="Text 19"/>
          <p:cNvSpPr txBox="1"/>
          <p:nvPr/>
        </p:nvSpPr>
        <p:spPr>
          <a:xfrm>
            <a:off x="4233672" y="4695952"/>
            <a:ext cx="7244791" cy="258064"/>
          </a:xfrm>
          <a:prstGeom prst="rect">
            <a:avLst/>
          </a:prstGeom>
          <a:noFill/>
          <a:ln/>
        </p:spPr>
        <p:txBody>
          <a:bodyPr wrap="square" lIns="0" tIns="0" rIns="0" bIns="0" rtlCol="0" anchor="t"/>
          <a:lstStyle/>
          <a:p>
            <a:pPr algn="l" indent="0" marL="0">
              <a:lnSpc>
                <a:spcPct val="128000"/>
              </a:lnSpc>
              <a:buNone/>
            </a:pPr>
            <a:r>
              <a:rPr lang="en-US" sz="1250" dirty="0">
                <a:solidFill>
                  <a:srgbClr val="5A6772"/>
                </a:solidFill>
                <a:latin typeface="Arial" pitchFamily="34" charset="0"/>
                <a:ea typeface="Arial" pitchFamily="34" charset="-122"/>
                <a:cs typeface="Arial" pitchFamily="34" charset="-120"/>
              </a:rPr>
              <a:t>Workflow automation, AI chat and lead routing, wired into your CRM.</a:t>
            </a:r>
            <a:endParaRPr lang="en-US" sz="1250" dirty="0"/>
          </a:p>
        </p:txBody>
      </p:sp>
      <p:sp>
        <p:nvSpPr>
          <p:cNvPr id="23" name="Shape 20"/>
          <p:cNvSpPr/>
          <p:nvPr/>
        </p:nvSpPr>
        <p:spPr>
          <a:xfrm>
            <a:off x="713232" y="5069840"/>
            <a:ext cx="10765231" cy="0"/>
          </a:xfrm>
          <a:prstGeom prst="line">
            <a:avLst/>
          </a:prstGeom>
          <a:noFill/>
          <a:ln w="9525">
            <a:solidFill>
              <a:srgbClr val="E2EAF1"/>
            </a:solidFill>
            <a:prstDash val="solid"/>
          </a:ln>
        </p:spPr>
      </p:sp>
      <p:sp>
        <p:nvSpPr>
          <p:cNvPr id="24" name="Text 21"/>
          <p:cNvSpPr txBox="1"/>
          <p:nvPr/>
        </p:nvSpPr>
        <p:spPr>
          <a:xfrm>
            <a:off x="713232" y="5161280"/>
            <a:ext cx="3108960" cy="282448"/>
          </a:xfrm>
          <a:prstGeom prst="rect">
            <a:avLst/>
          </a:prstGeom>
          <a:noFill/>
          <a:ln/>
        </p:spPr>
        <p:txBody>
          <a:bodyPr wrap="square" lIns="0" tIns="0" rIns="0" bIns="0" rtlCol="0" anchor="t"/>
          <a:lstStyle/>
          <a:p>
            <a:pPr algn="l" indent="0" marL="0">
              <a:lnSpc>
                <a:spcPct val="110000"/>
              </a:lnSpc>
              <a:buNone/>
            </a:pPr>
            <a:r>
              <a:rPr lang="en-US" sz="1600" b="1" dirty="0">
                <a:solidFill>
                  <a:srgbClr val="0F151B"/>
                </a:solidFill>
                <a:latin typeface="Arial" pitchFamily="34" charset="0"/>
                <a:ea typeface="Arial" pitchFamily="34" charset="-122"/>
                <a:cs typeface="Arial" pitchFamily="34" charset="-120"/>
              </a:rPr>
              <a:t>Fractional CMO</a:t>
            </a:r>
            <a:endParaRPr lang="en-US" sz="1600" dirty="0"/>
          </a:p>
        </p:txBody>
      </p:sp>
      <p:sp>
        <p:nvSpPr>
          <p:cNvPr id="25" name="Text 22"/>
          <p:cNvSpPr txBox="1"/>
          <p:nvPr/>
        </p:nvSpPr>
        <p:spPr>
          <a:xfrm>
            <a:off x="4233672" y="5161280"/>
            <a:ext cx="7244791" cy="258064"/>
          </a:xfrm>
          <a:prstGeom prst="rect">
            <a:avLst/>
          </a:prstGeom>
          <a:noFill/>
          <a:ln/>
        </p:spPr>
        <p:txBody>
          <a:bodyPr wrap="square" lIns="0" tIns="0" rIns="0" bIns="0" rtlCol="0" anchor="t"/>
          <a:lstStyle/>
          <a:p>
            <a:pPr algn="l" indent="0" marL="0">
              <a:lnSpc>
                <a:spcPct val="128000"/>
              </a:lnSpc>
              <a:buNone/>
            </a:pPr>
            <a:r>
              <a:rPr lang="en-US" sz="1250" dirty="0">
                <a:solidFill>
                  <a:srgbClr val="5A6772"/>
                </a:solidFill>
                <a:latin typeface="Arial" pitchFamily="34" charset="0"/>
                <a:ea typeface="Arial" pitchFamily="34" charset="-122"/>
                <a:cs typeface="Arial" pitchFamily="34" charset="-120"/>
              </a:rPr>
              <a:t>Senior marketing leadership on retainer, for when you are not ready to hire one.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19695" y="0"/>
            <a:ext cx="4572000" cy="6858000"/>
          </a:xfrm>
          <a:prstGeom prst="rect">
            <a:avLst/>
          </a:prstGeom>
          <a:solidFill>
            <a:srgbClr val="0A1825"/>
          </a:solidFill>
          <a:ln w="12700">
            <a:solidFill>
              <a:srgbClr val="333333"/>
            </a:solidFill>
            <a:prstDash val="solid"/>
          </a:ln>
        </p:spPr>
      </p:sp>
      <p:pic>
        <p:nvPicPr>
          <p:cNvPr id="3" name="Image 0" descr="C:\Users\dillo\.claude\skills\client-deck\assets\momentum-digital\momentum-mark-white.png">    </p:cNvPr>
          <p:cNvPicPr>
            <a:picLocks noChangeAspect="1"/>
          </p:cNvPicPr>
          <p:nvPr/>
        </p:nvPicPr>
        <p:blipFill>
          <a:blip r:embed="rId1">
            <a:alphaModFix amt="9000"/>
          </a:blip>
          <a:stretch>
            <a:fillRect/>
          </a:stretch>
        </p:blipFill>
        <p:spPr>
          <a:xfrm>
            <a:off x="8595360" y="-1005840"/>
            <a:ext cx="4206240" cy="4989609"/>
          </a:xfrm>
          <a:prstGeom prst="rect">
            <a:avLst/>
          </a:prstGeom>
        </p:spPr>
      </p:pic>
      <p:pic>
        <p:nvPicPr>
          <p:cNvPr id="4" name="Image 1" descr="Momentum Digital logo">    </p:cNvPr>
          <p:cNvPicPr>
            <a:picLocks noChangeAspect="1"/>
          </p:cNvPicPr>
          <p:nvPr/>
        </p:nvPicPr>
        <p:blipFill>
          <a:blip r:embed="rId2"/>
          <a:stretch>
            <a:fillRect/>
          </a:stretch>
        </p:blipFill>
        <p:spPr>
          <a:xfrm>
            <a:off x="10106863" y="658368"/>
            <a:ext cx="1371600" cy="294904"/>
          </a:xfrm>
          <a:prstGeom prst="rect">
            <a:avLst/>
          </a:prstGeom>
        </p:spPr>
      </p:pic>
      <p:sp>
        <p:nvSpPr>
          <p:cNvPr id="5" name="Text 1"/>
          <p:cNvSpPr txBox="1"/>
          <p:nvPr/>
        </p:nvSpPr>
        <p:spPr>
          <a:xfrm>
            <a:off x="713232" y="658368"/>
            <a:ext cx="8753551" cy="201168"/>
          </a:xfrm>
          <a:prstGeom prst="rect">
            <a:avLst/>
          </a:prstGeom>
          <a:noFill/>
          <a:ln/>
        </p:spPr>
        <p:txBody>
          <a:bodyPr wrap="square" lIns="0" tIns="0" rIns="0" bIns="0" rtlCol="0" anchor="t"/>
          <a:lstStyle/>
          <a:p>
            <a:pPr algn="l" indent="0" marL="0">
              <a:buNone/>
            </a:pPr>
            <a:r>
              <a:rPr lang="en-US" sz="1050" b="1" spc="240" kern="0" dirty="0">
                <a:solidFill>
                  <a:srgbClr val="2A80C2"/>
                </a:solidFill>
                <a:latin typeface="Arial" pitchFamily="34" charset="0"/>
                <a:ea typeface="Arial" pitchFamily="34" charset="-122"/>
                <a:cs typeface="Arial" pitchFamily="34" charset="-120"/>
              </a:rPr>
              <a:t>SERVICE LINE</a:t>
            </a:r>
            <a:endParaRPr lang="en-US" sz="1050" dirty="0"/>
          </a:p>
        </p:txBody>
      </p:sp>
      <p:sp>
        <p:nvSpPr>
          <p:cNvPr id="6" name="Text 2"/>
          <p:cNvSpPr txBox="1"/>
          <p:nvPr/>
        </p:nvSpPr>
        <p:spPr>
          <a:xfrm>
            <a:off x="713232" y="987552"/>
            <a:ext cx="6400800" cy="569214"/>
          </a:xfrm>
          <a:prstGeom prst="rect">
            <a:avLst/>
          </a:prstGeom>
          <a:noFill/>
          <a:ln/>
        </p:spPr>
        <p:txBody>
          <a:bodyPr wrap="square" lIns="0" tIns="0" rIns="0" bIns="0" rtlCol="0" anchor="t"/>
          <a:lstStyle/>
          <a:p>
            <a:pPr algn="l" indent="0" marL="0">
              <a:lnSpc>
                <a:spcPct val="102000"/>
              </a:lnSpc>
              <a:buNone/>
            </a:pPr>
            <a:r>
              <a:rPr lang="en-US" sz="3900" b="1" dirty="0">
                <a:solidFill>
                  <a:srgbClr val="0F151B"/>
                </a:solidFill>
                <a:latin typeface="Arial" pitchFamily="34" charset="0"/>
                <a:ea typeface="Arial" pitchFamily="34" charset="-122"/>
                <a:cs typeface="Arial" pitchFamily="34" charset="-120"/>
              </a:rPr>
              <a:t>SEO</a:t>
            </a:r>
            <a:endParaRPr lang="en-US" sz="3900" dirty="0"/>
          </a:p>
        </p:txBody>
      </p:sp>
      <p:sp>
        <p:nvSpPr>
          <p:cNvPr id="7" name="Text 3"/>
          <p:cNvSpPr txBox="1"/>
          <p:nvPr/>
        </p:nvSpPr>
        <p:spPr>
          <a:xfrm>
            <a:off x="713232" y="1703070"/>
            <a:ext cx="6400800" cy="649224"/>
          </a:xfrm>
          <a:prstGeom prst="rect">
            <a:avLst/>
          </a:prstGeom>
          <a:noFill/>
          <a:ln/>
        </p:spPr>
        <p:txBody>
          <a:bodyPr wrap="square" lIns="0" tIns="0" rIns="0" bIns="0" rtlCol="0" anchor="t"/>
          <a:lstStyle/>
          <a:p>
            <a:pPr algn="l" indent="0" marL="0">
              <a:lnSpc>
                <a:spcPct val="128000"/>
              </a:lnSpc>
              <a:buNone/>
            </a:pPr>
            <a:r>
              <a:rPr lang="en-US" sz="1800" dirty="0">
                <a:solidFill>
                  <a:srgbClr val="5A6772"/>
                </a:solidFill>
                <a:latin typeface="Arial" pitchFamily="34" charset="0"/>
                <a:ea typeface="Arial" pitchFamily="34" charset="-122"/>
                <a:cs typeface="Arial" pitchFamily="34" charset="-120"/>
              </a:rPr>
              <a:t>Get found by the people already searching for what you sell.</a:t>
            </a:r>
            <a:endParaRPr lang="en-US" sz="1800" dirty="0"/>
          </a:p>
        </p:txBody>
      </p:sp>
      <p:sp>
        <p:nvSpPr>
          <p:cNvPr id="8" name="Text 4"/>
          <p:cNvSpPr txBox="1"/>
          <p:nvPr/>
        </p:nvSpPr>
        <p:spPr>
          <a:xfrm>
            <a:off x="10929823" y="6437376"/>
            <a:ext cx="548640" cy="219456"/>
          </a:xfrm>
          <a:prstGeom prst="rect">
            <a:avLst/>
          </a:prstGeom>
          <a:noFill/>
          <a:ln/>
        </p:spPr>
        <p:txBody>
          <a:bodyPr wrap="square" lIns="0" tIns="0" rIns="0" bIns="0" rtlCol="0" anchor="t"/>
          <a:lstStyle/>
          <a:p>
            <a:pPr algn="r" indent="0" marL="0">
              <a:buNone/>
            </a:pPr>
            <a:r>
              <a:rPr lang="en-US" sz="1050" b="1" spc="100" kern="0" dirty="0">
                <a:solidFill>
                  <a:srgbClr val="CBD8E3"/>
                </a:solidFill>
                <a:latin typeface="Arial" pitchFamily="34" charset="0"/>
                <a:ea typeface="Arial" pitchFamily="34" charset="-122"/>
                <a:cs typeface="Arial" pitchFamily="34" charset="-120"/>
              </a:rPr>
              <a:t>04</a:t>
            </a:r>
            <a:endParaRPr lang="en-US" sz="1050" dirty="0"/>
          </a:p>
        </p:txBody>
      </p:sp>
      <p:sp>
        <p:nvSpPr>
          <p:cNvPr id="9" name="Text 5"/>
          <p:cNvSpPr txBox="1"/>
          <p:nvPr/>
        </p:nvSpPr>
        <p:spPr>
          <a:xfrm>
            <a:off x="8138160" y="1371600"/>
            <a:ext cx="3520440" cy="201168"/>
          </a:xfrm>
          <a:prstGeom prst="rect">
            <a:avLst/>
          </a:prstGeom>
          <a:noFill/>
          <a:ln/>
        </p:spPr>
        <p:txBody>
          <a:bodyPr wrap="square" lIns="0" tIns="0" rIns="0" bIns="0" rtlCol="0" anchor="t"/>
          <a:lstStyle/>
          <a:p>
            <a:pPr algn="l" indent="0" marL="0">
              <a:buNone/>
            </a:pPr>
            <a:r>
              <a:rPr lang="en-US" sz="1050" b="1" spc="240" kern="0" dirty="0">
                <a:solidFill>
                  <a:srgbClr val="5AA7E0"/>
                </a:solidFill>
                <a:latin typeface="Arial" pitchFamily="34" charset="0"/>
                <a:ea typeface="Arial" pitchFamily="34" charset="-122"/>
                <a:cs typeface="Arial" pitchFamily="34" charset="-120"/>
              </a:rPr>
              <a:t>WHAT IS INCLUDED</a:t>
            </a:r>
            <a:endParaRPr lang="en-US" sz="1050" dirty="0"/>
          </a:p>
        </p:txBody>
      </p:sp>
      <p:sp>
        <p:nvSpPr>
          <p:cNvPr id="10" name="Text 6"/>
          <p:cNvSpPr txBox="1"/>
          <p:nvPr/>
        </p:nvSpPr>
        <p:spPr>
          <a:xfrm>
            <a:off x="8138160" y="1700784"/>
            <a:ext cx="3520440" cy="658368"/>
          </a:xfrm>
          <a:prstGeom prst="rect">
            <a:avLst/>
          </a:prstGeom>
          <a:noFill/>
          <a:ln/>
        </p:spPr>
        <p:txBody>
          <a:bodyPr wrap="square" lIns="0" tIns="0" rIns="0" bIns="0" rtlCol="0" anchor="t"/>
          <a:lstStyle/>
          <a:p>
            <a:pPr algn="l" indent="0" marL="0">
              <a:lnSpc>
                <a:spcPct val="105000"/>
              </a:lnSpc>
              <a:buNone/>
            </a:pPr>
            <a:r>
              <a:rPr lang="en-US" sz="2200" b="1" dirty="0">
                <a:solidFill>
                  <a:srgbClr val="FFFFFF"/>
                </a:solidFill>
                <a:latin typeface="Arial" pitchFamily="34" charset="0"/>
                <a:ea typeface="Arial" pitchFamily="34" charset="-122"/>
                <a:cs typeface="Arial" pitchFamily="34" charset="-120"/>
              </a:rPr>
              <a:t>The full</a:t>
            </a:r>
            <a:endParaRPr lang="en-US" sz="2200" dirty="0"/>
          </a:p>
          <a:p>
            <a:pPr algn="l" indent="0" marL="0">
              <a:lnSpc>
                <a:spcPct val="105000"/>
              </a:lnSpc>
              <a:buNone/>
            </a:pPr>
            <a:r>
              <a:rPr lang="en-US" sz="2200" b="1" dirty="0">
                <a:solidFill>
                  <a:srgbClr val="FFFFFF"/>
                </a:solidFill>
                <a:latin typeface="Arial" pitchFamily="34" charset="0"/>
                <a:ea typeface="Arial" pitchFamily="34" charset="-122"/>
                <a:cs typeface="Arial" pitchFamily="34" charset="-120"/>
              </a:rPr>
              <a:t>search surface</a:t>
            </a:r>
            <a:endParaRPr lang="en-US" sz="2200" dirty="0"/>
          </a:p>
        </p:txBody>
      </p:sp>
      <p:sp>
        <p:nvSpPr>
          <p:cNvPr id="11" name="Text 7"/>
          <p:cNvSpPr txBox="1"/>
          <p:nvPr/>
        </p:nvSpPr>
        <p:spPr>
          <a:xfrm>
            <a:off x="8138160" y="2505456"/>
            <a:ext cx="3520440" cy="3419856"/>
          </a:xfrm>
          <a:prstGeom prst="rect">
            <a:avLst/>
          </a:prstGeom>
          <a:noFill/>
          <a:ln/>
        </p:spPr>
        <p:txBody>
          <a:bodyPr wrap="square" lIns="0" tIns="0" rIns="0" bIns="0" rtlCol="0" anchor="t"/>
          <a:lstStyle/>
          <a:p>
            <a:pPr marL="342900" indent="-342900">
              <a:lnSpc>
                <a:spcPct val="124000"/>
              </a:lnSpc>
              <a:spcAft>
                <a:spcPts val="700"/>
              </a:spcAft>
              <a:buSzPct val="100000"/>
              <a:buChar char="•"/>
            </a:pPr>
            <a:r>
              <a:rPr lang="en-US" sz="1200" dirty="0">
                <a:solidFill>
                  <a:srgbClr val="9DB5C8"/>
                </a:solidFill>
                <a:latin typeface="Arial" pitchFamily="34" charset="0"/>
                <a:ea typeface="Arial" pitchFamily="34" charset="-122"/>
                <a:cs typeface="Arial" pitchFamily="34" charset="-120"/>
              </a:rPr>
              <a:t>Local SEO and Google Business Profile</a:t>
            </a:r>
            <a:endParaRPr lang="en-US" sz="1200" dirty="0"/>
          </a:p>
          <a:p>
            <a:pPr marL="342900" indent="-342900">
              <a:lnSpc>
                <a:spcPct val="124000"/>
              </a:lnSpc>
              <a:spcAft>
                <a:spcPts val="700"/>
              </a:spcAft>
              <a:buSzPct val="100000"/>
              <a:buChar char="•"/>
            </a:pPr>
            <a:r>
              <a:rPr lang="en-US" sz="1200" dirty="0">
                <a:solidFill>
                  <a:srgbClr val="9DB5C8"/>
                </a:solidFill>
                <a:latin typeface="Arial" pitchFamily="34" charset="0"/>
                <a:ea typeface="Arial" pitchFamily="34" charset="-122"/>
                <a:cs typeface="Arial" pitchFamily="34" charset="-120"/>
              </a:rPr>
              <a:t>Technical SEO, speed and Core Web Vitals</a:t>
            </a:r>
            <a:endParaRPr lang="en-US" sz="1200" dirty="0"/>
          </a:p>
          <a:p>
            <a:pPr marL="342900" indent="-342900">
              <a:lnSpc>
                <a:spcPct val="124000"/>
              </a:lnSpc>
              <a:spcAft>
                <a:spcPts val="700"/>
              </a:spcAft>
              <a:buSzPct val="100000"/>
              <a:buChar char="•"/>
            </a:pPr>
            <a:r>
              <a:rPr lang="en-US" sz="1200" dirty="0">
                <a:solidFill>
                  <a:srgbClr val="9DB5C8"/>
                </a:solidFill>
                <a:latin typeface="Arial" pitchFamily="34" charset="0"/>
                <a:ea typeface="Arial" pitchFamily="34" charset="-122"/>
                <a:cs typeface="Arial" pitchFamily="34" charset="-120"/>
              </a:rPr>
              <a:t>Ecommerce SEO for Shopify and WooCommerce</a:t>
            </a:r>
            <a:endParaRPr lang="en-US" sz="1200" dirty="0"/>
          </a:p>
          <a:p>
            <a:pPr marL="342900" indent="-342900">
              <a:lnSpc>
                <a:spcPct val="124000"/>
              </a:lnSpc>
              <a:spcAft>
                <a:spcPts val="700"/>
              </a:spcAft>
              <a:buSzPct val="100000"/>
              <a:buChar char="•"/>
            </a:pPr>
            <a:r>
              <a:rPr lang="en-US" sz="1200" dirty="0">
                <a:solidFill>
                  <a:srgbClr val="9DB5C8"/>
                </a:solidFill>
                <a:latin typeface="Arial" pitchFamily="34" charset="0"/>
                <a:ea typeface="Arial" pitchFamily="34" charset="-122"/>
                <a:cs typeface="Arial" pitchFamily="34" charset="-120"/>
              </a:rPr>
              <a:t>Free SEO and website audits</a:t>
            </a:r>
            <a:endParaRPr lang="en-US" sz="1200" dirty="0"/>
          </a:p>
          <a:p>
            <a:pPr marL="342900" indent="-342900">
              <a:lnSpc>
                <a:spcPct val="124000"/>
              </a:lnSpc>
              <a:spcAft>
                <a:spcPts val="700"/>
              </a:spcAft>
              <a:buSzPct val="100000"/>
              <a:buChar char="•"/>
            </a:pPr>
            <a:r>
              <a:rPr lang="en-US" sz="1200" dirty="0">
                <a:solidFill>
                  <a:srgbClr val="9DB5C8"/>
                </a:solidFill>
                <a:latin typeface="Arial" pitchFamily="34" charset="0"/>
                <a:ea typeface="Arial" pitchFamily="34" charset="-122"/>
                <a:cs typeface="Arial" pitchFamily="34" charset="-120"/>
              </a:rPr>
              <a:t>Citations, listings and backlinks</a:t>
            </a:r>
            <a:endParaRPr lang="en-US" sz="1200" dirty="0"/>
          </a:p>
          <a:p>
            <a:pPr marL="342900" indent="-342900">
              <a:lnSpc>
                <a:spcPct val="124000"/>
              </a:lnSpc>
              <a:spcAft>
                <a:spcPts val="700"/>
              </a:spcAft>
              <a:buSzPct val="100000"/>
              <a:buChar char="•"/>
            </a:pPr>
            <a:r>
              <a:rPr lang="en-US" sz="1200" dirty="0">
                <a:solidFill>
                  <a:srgbClr val="9DB5C8"/>
                </a:solidFill>
                <a:latin typeface="Arial" pitchFamily="34" charset="0"/>
                <a:ea typeface="Arial" pitchFamily="34" charset="-122"/>
                <a:cs typeface="Arial" pitchFamily="34" charset="-120"/>
              </a:rPr>
              <a:t>Content and page creation</a:t>
            </a:r>
            <a:endParaRPr lang="en-US" sz="1200" dirty="0"/>
          </a:p>
          <a:p>
            <a:pPr marL="342900" indent="-342900">
              <a:lnSpc>
                <a:spcPct val="124000"/>
              </a:lnSpc>
              <a:spcAft>
                <a:spcPts val="700"/>
              </a:spcAft>
              <a:buSzPct val="100000"/>
              <a:buChar char="•"/>
            </a:pPr>
            <a:r>
              <a:rPr lang="en-US" sz="1200" dirty="0">
                <a:solidFill>
                  <a:srgbClr val="9DB5C8"/>
                </a:solidFill>
                <a:latin typeface="Arial" pitchFamily="34" charset="0"/>
                <a:ea typeface="Arial" pitchFamily="34" charset="-122"/>
                <a:cs typeface="Arial" pitchFamily="34" charset="-120"/>
              </a:rPr>
              <a:t>Programs by industry and by city</a:t>
            </a:r>
            <a:endParaRPr lang="en-US" sz="1200" dirty="0"/>
          </a:p>
        </p:txBody>
      </p:sp>
      <p:sp>
        <p:nvSpPr>
          <p:cNvPr id="12" name="Text 8"/>
          <p:cNvSpPr txBox="1"/>
          <p:nvPr/>
        </p:nvSpPr>
        <p:spPr>
          <a:xfrm>
            <a:off x="713232" y="2834640"/>
            <a:ext cx="6858000" cy="572008"/>
          </a:xfrm>
          <a:prstGeom prst="rect">
            <a:avLst/>
          </a:prstGeom>
          <a:noFill/>
          <a:ln/>
        </p:spPr>
        <p:txBody>
          <a:bodyPr wrap="square" lIns="0" tIns="0" rIns="0" bIns="0" rtlCol="0" anchor="t"/>
          <a:lstStyle/>
          <a:p>
            <a:pPr algn="l" indent="0" marL="0">
              <a:lnSpc>
                <a:spcPct val="100000"/>
              </a:lnSpc>
              <a:buNone/>
            </a:pPr>
            <a:r>
              <a:rPr lang="en-US" sz="4000" b="1" dirty="0">
                <a:solidFill>
                  <a:srgbClr val="2A80C2"/>
                </a:solidFill>
                <a:latin typeface="Arial" pitchFamily="34" charset="0"/>
                <a:ea typeface="Arial" pitchFamily="34" charset="-122"/>
                <a:cs typeface="Arial" pitchFamily="34" charset="-120"/>
              </a:rPr>
              <a:t>2,175 clicks</a:t>
            </a:r>
            <a:endParaRPr lang="en-US" sz="4000" dirty="0"/>
          </a:p>
        </p:txBody>
      </p:sp>
      <p:sp>
        <p:nvSpPr>
          <p:cNvPr id="13" name="Text 9"/>
          <p:cNvSpPr txBox="1"/>
          <p:nvPr/>
        </p:nvSpPr>
        <p:spPr>
          <a:xfrm>
            <a:off x="713232" y="3461512"/>
            <a:ext cx="6858000" cy="246888"/>
          </a:xfrm>
          <a:prstGeom prst="rect">
            <a:avLst/>
          </a:prstGeom>
          <a:noFill/>
          <a:ln/>
        </p:spPr>
        <p:txBody>
          <a:bodyPr wrap="square" lIns="0" tIns="0" rIns="0" bIns="0" rtlCol="0" anchor="t"/>
          <a:lstStyle/>
          <a:p>
            <a:pPr algn="l" indent="0" marL="0">
              <a:lnSpc>
                <a:spcPct val="120000"/>
              </a:lnSpc>
              <a:buNone/>
            </a:pPr>
            <a:r>
              <a:rPr lang="en-US" sz="1200" b="1" dirty="0">
                <a:solidFill>
                  <a:srgbClr val="0F151B"/>
                </a:solidFill>
                <a:latin typeface="Arial" pitchFamily="34" charset="0"/>
                <a:ea typeface="Arial" pitchFamily="34" charset="-122"/>
                <a:cs typeface="Arial" pitchFamily="34" charset="-120"/>
              </a:rPr>
              <a:t>MicroTech Systems, Boise IT services</a:t>
            </a:r>
            <a:endParaRPr lang="en-US" sz="1200" dirty="0"/>
          </a:p>
        </p:txBody>
      </p:sp>
      <p:sp>
        <p:nvSpPr>
          <p:cNvPr id="14" name="Text 10"/>
          <p:cNvSpPr txBox="1"/>
          <p:nvPr/>
        </p:nvSpPr>
        <p:spPr>
          <a:xfrm>
            <a:off x="713232" y="3772408"/>
            <a:ext cx="6858000" cy="384048"/>
          </a:xfrm>
          <a:prstGeom prst="rect">
            <a:avLst/>
          </a:prstGeom>
          <a:noFill/>
          <a:ln/>
        </p:spPr>
        <p:txBody>
          <a:bodyPr wrap="square" lIns="0" tIns="0" rIns="0" bIns="0" rtlCol="0" anchor="t"/>
          <a:lstStyle/>
          <a:p>
            <a:pPr algn="l" indent="0" marL="0">
              <a:lnSpc>
                <a:spcPct val="120000"/>
              </a:lnSpc>
              <a:buNone/>
            </a:pPr>
            <a:r>
              <a:rPr lang="en-US" sz="1050" dirty="0">
                <a:solidFill>
                  <a:srgbClr val="5A6772"/>
                </a:solidFill>
                <a:latin typeface="Arial" pitchFamily="34" charset="0"/>
                <a:ea typeface="Arial" pitchFamily="34" charset="-122"/>
                <a:cs typeface="Arial" pitchFamily="34" charset="-120"/>
              </a:rPr>
              <a:t>765K impressions in ten months. Non branded IT terms taken from invisible to first page, with "Microtech Boise" at position 1.35.</a:t>
            </a:r>
            <a:endParaRPr lang="en-US" sz="1050" dirty="0"/>
          </a:p>
        </p:txBody>
      </p:sp>
      <p:sp>
        <p:nvSpPr>
          <p:cNvPr id="15" name="Shape 11"/>
          <p:cNvSpPr/>
          <p:nvPr/>
        </p:nvSpPr>
        <p:spPr>
          <a:xfrm>
            <a:off x="713232" y="4590288"/>
            <a:ext cx="6858000" cy="0"/>
          </a:xfrm>
          <a:prstGeom prst="line">
            <a:avLst/>
          </a:prstGeom>
          <a:noFill/>
          <a:ln w="9525">
            <a:solidFill>
              <a:srgbClr val="E2EAF1"/>
            </a:solidFill>
            <a:prstDash val="solid"/>
          </a:ln>
        </p:spPr>
      </p:sp>
      <p:sp>
        <p:nvSpPr>
          <p:cNvPr id="16" name="Text 12"/>
          <p:cNvSpPr txBox="1"/>
          <p:nvPr/>
        </p:nvSpPr>
        <p:spPr>
          <a:xfrm>
            <a:off x="713232" y="4791456"/>
            <a:ext cx="6858000" cy="445008"/>
          </a:xfrm>
          <a:prstGeom prst="rect">
            <a:avLst/>
          </a:prstGeom>
          <a:noFill/>
          <a:ln/>
        </p:spPr>
        <p:txBody>
          <a:bodyPr wrap="square" lIns="0" tIns="0" rIns="0" bIns="0" rtlCol="0" anchor="t"/>
          <a:lstStyle/>
          <a:p>
            <a:pPr algn="l" indent="0" marL="0">
              <a:lnSpc>
                <a:spcPct val="100000"/>
              </a:lnSpc>
              <a:buNone/>
            </a:pPr>
            <a:r>
              <a:rPr lang="en-US" sz="3000" b="1" dirty="0">
                <a:solidFill>
                  <a:srgbClr val="2A80C2"/>
                </a:solidFill>
                <a:latin typeface="Arial" pitchFamily="34" charset="0"/>
                <a:ea typeface="Arial" pitchFamily="34" charset="-122"/>
                <a:cs typeface="Arial" pitchFamily="34" charset="-120"/>
              </a:rPr>
              <a:t>1,180 → 1,374 keywords</a:t>
            </a:r>
            <a:endParaRPr lang="en-US" sz="3000" dirty="0"/>
          </a:p>
        </p:txBody>
      </p:sp>
      <p:sp>
        <p:nvSpPr>
          <p:cNvPr id="17" name="Text 13"/>
          <p:cNvSpPr txBox="1"/>
          <p:nvPr/>
        </p:nvSpPr>
        <p:spPr>
          <a:xfrm>
            <a:off x="713232" y="5291328"/>
            <a:ext cx="6858000" cy="246888"/>
          </a:xfrm>
          <a:prstGeom prst="rect">
            <a:avLst/>
          </a:prstGeom>
          <a:noFill/>
          <a:ln/>
        </p:spPr>
        <p:txBody>
          <a:bodyPr wrap="square" lIns="0" tIns="0" rIns="0" bIns="0" rtlCol="0" anchor="t"/>
          <a:lstStyle/>
          <a:p>
            <a:pPr algn="l" indent="0" marL="0">
              <a:lnSpc>
                <a:spcPct val="120000"/>
              </a:lnSpc>
              <a:buNone/>
            </a:pPr>
            <a:r>
              <a:rPr lang="en-US" sz="1200" b="1" dirty="0">
                <a:solidFill>
                  <a:srgbClr val="0F151B"/>
                </a:solidFill>
                <a:latin typeface="Arial" pitchFamily="34" charset="0"/>
                <a:ea typeface="Arial" pitchFamily="34" charset="-122"/>
                <a:cs typeface="Arial" pitchFamily="34" charset="-120"/>
              </a:rPr>
              <a:t>Everyday Life Insurance, four months</a:t>
            </a:r>
            <a:endParaRPr lang="en-US" sz="1200" dirty="0"/>
          </a:p>
        </p:txBody>
      </p:sp>
      <p:sp>
        <p:nvSpPr>
          <p:cNvPr id="18" name="Text 14"/>
          <p:cNvSpPr txBox="1"/>
          <p:nvPr/>
        </p:nvSpPr>
        <p:spPr>
          <a:xfrm>
            <a:off x="713232" y="5602224"/>
            <a:ext cx="6858000" cy="224028"/>
          </a:xfrm>
          <a:prstGeom prst="rect">
            <a:avLst/>
          </a:prstGeom>
          <a:noFill/>
          <a:ln/>
        </p:spPr>
        <p:txBody>
          <a:bodyPr wrap="square" lIns="0" tIns="0" rIns="0" bIns="0" rtlCol="0" anchor="t"/>
          <a:lstStyle/>
          <a:p>
            <a:pPr algn="l" indent="0" marL="0">
              <a:lnSpc>
                <a:spcPct val="120000"/>
              </a:lnSpc>
              <a:buNone/>
            </a:pPr>
            <a:r>
              <a:rPr lang="en-US" sz="1050" dirty="0">
                <a:solidFill>
                  <a:srgbClr val="5A6772"/>
                </a:solidFill>
                <a:latin typeface="Arial" pitchFamily="34" charset="0"/>
                <a:ea typeface="Arial" pitchFamily="34" charset="-122"/>
                <a:cs typeface="Arial" pitchFamily="34" charset="-120"/>
              </a:rPr>
              <a:t>Top five placements grew from 138 to 169. In the tracked cluster, 63% sit in the top five.</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825"/>
        </a:solidFill>
      </p:bgPr>
    </p:bg>
    <p:spTree>
      <p:nvGrpSpPr>
        <p:cNvPr id="1" name=""/>
        <p:cNvGrpSpPr/>
        <p:nvPr/>
      </p:nvGrpSpPr>
      <p:grpSpPr>
        <a:xfrm>
          <a:off x="0" y="0"/>
          <a:ext cx="0" cy="0"/>
          <a:chOff x="0" y="0"/>
          <a:chExt cx="0" cy="0"/>
        </a:xfrm>
      </p:grpSpPr>
      <p:pic>
        <p:nvPicPr>
          <p:cNvPr id="2" name="Image 0" descr="C:\Users\dillo\.claude\skills\client-deck\assets\momentum-digital\momentum-mark-white.png">    </p:cNvPr>
          <p:cNvPicPr>
            <a:picLocks noChangeAspect="1"/>
          </p:cNvPicPr>
          <p:nvPr/>
        </p:nvPicPr>
        <p:blipFill>
          <a:blip r:embed="rId1">
            <a:alphaModFix amt="9000"/>
          </a:blip>
          <a:stretch>
            <a:fillRect/>
          </a:stretch>
        </p:blipFill>
        <p:spPr>
          <a:xfrm>
            <a:off x="9326880" y="-1188720"/>
            <a:ext cx="3840480" cy="4555730"/>
          </a:xfrm>
          <a:prstGeom prst="rect">
            <a:avLst/>
          </a:prstGeom>
        </p:spPr>
      </p:pic>
      <p:pic>
        <p:nvPicPr>
          <p:cNvPr id="3" name="Image 1" descr="Momentum Digital logo">    </p:cNvPr>
          <p:cNvPicPr>
            <a:picLocks noChangeAspect="1"/>
          </p:cNvPicPr>
          <p:nvPr/>
        </p:nvPicPr>
        <p:blipFill>
          <a:blip r:embed="rId2"/>
          <a:stretch>
            <a:fillRect/>
          </a:stretch>
        </p:blipFill>
        <p:spPr>
          <a:xfrm>
            <a:off x="10106863" y="658368"/>
            <a:ext cx="1371600" cy="294904"/>
          </a:xfrm>
          <a:prstGeom prst="rect">
            <a:avLst/>
          </a:prstGeom>
        </p:spPr>
      </p:pic>
      <p:sp>
        <p:nvSpPr>
          <p:cNvPr id="4" name="Text 0"/>
          <p:cNvSpPr txBox="1"/>
          <p:nvPr/>
        </p:nvSpPr>
        <p:spPr>
          <a:xfrm>
            <a:off x="713232" y="658368"/>
            <a:ext cx="8753551" cy="201168"/>
          </a:xfrm>
          <a:prstGeom prst="rect">
            <a:avLst/>
          </a:prstGeom>
          <a:noFill/>
          <a:ln/>
        </p:spPr>
        <p:txBody>
          <a:bodyPr wrap="square" lIns="0" tIns="0" rIns="0" bIns="0" rtlCol="0" anchor="t"/>
          <a:lstStyle/>
          <a:p>
            <a:pPr algn="l" indent="0" marL="0">
              <a:buNone/>
            </a:pPr>
            <a:r>
              <a:rPr lang="en-US" sz="1050" b="1" spc="240" kern="0" dirty="0">
                <a:solidFill>
                  <a:srgbClr val="5AA7E0"/>
                </a:solidFill>
                <a:latin typeface="Arial" pitchFamily="34" charset="0"/>
                <a:ea typeface="Arial" pitchFamily="34" charset="-122"/>
                <a:cs typeface="Arial" pitchFamily="34" charset="-120"/>
              </a:rPr>
              <a:t>SERVICE LINE</a:t>
            </a:r>
            <a:endParaRPr lang="en-US" sz="1050" dirty="0"/>
          </a:p>
        </p:txBody>
      </p:sp>
      <p:sp>
        <p:nvSpPr>
          <p:cNvPr id="5" name="Text 1"/>
          <p:cNvSpPr txBox="1"/>
          <p:nvPr/>
        </p:nvSpPr>
        <p:spPr>
          <a:xfrm>
            <a:off x="713232" y="987552"/>
            <a:ext cx="6949440" cy="569214"/>
          </a:xfrm>
          <a:prstGeom prst="rect">
            <a:avLst/>
          </a:prstGeom>
          <a:noFill/>
          <a:ln/>
        </p:spPr>
        <p:txBody>
          <a:bodyPr wrap="square" lIns="0" tIns="0" rIns="0" bIns="0" rtlCol="0" anchor="t"/>
          <a:lstStyle/>
          <a:p>
            <a:pPr algn="l" indent="0" marL="0">
              <a:lnSpc>
                <a:spcPct val="102000"/>
              </a:lnSpc>
              <a:buNone/>
            </a:pPr>
            <a:r>
              <a:rPr lang="en-US" sz="3900" b="1" dirty="0">
                <a:solidFill>
                  <a:srgbClr val="FFFFFF"/>
                </a:solidFill>
                <a:latin typeface="Arial" pitchFamily="34" charset="0"/>
                <a:ea typeface="Arial" pitchFamily="34" charset="-122"/>
                <a:cs typeface="Arial" pitchFamily="34" charset="-120"/>
              </a:rPr>
              <a:t>Paid media</a:t>
            </a:r>
            <a:endParaRPr lang="en-US" sz="3900" dirty="0"/>
          </a:p>
        </p:txBody>
      </p:sp>
      <p:sp>
        <p:nvSpPr>
          <p:cNvPr id="6" name="Text 2"/>
          <p:cNvSpPr txBox="1"/>
          <p:nvPr/>
        </p:nvSpPr>
        <p:spPr>
          <a:xfrm>
            <a:off x="713232" y="1703070"/>
            <a:ext cx="6949440" cy="649224"/>
          </a:xfrm>
          <a:prstGeom prst="rect">
            <a:avLst/>
          </a:prstGeom>
          <a:noFill/>
          <a:ln/>
        </p:spPr>
        <p:txBody>
          <a:bodyPr wrap="square" lIns="0" tIns="0" rIns="0" bIns="0" rtlCol="0" anchor="t"/>
          <a:lstStyle/>
          <a:p>
            <a:pPr algn="l" indent="0" marL="0">
              <a:lnSpc>
                <a:spcPct val="128000"/>
              </a:lnSpc>
              <a:buNone/>
            </a:pPr>
            <a:r>
              <a:rPr lang="en-US" sz="1800" dirty="0">
                <a:solidFill>
                  <a:srgbClr val="9DB5C8"/>
                </a:solidFill>
                <a:latin typeface="Arial" pitchFamily="34" charset="0"/>
                <a:ea typeface="Arial" pitchFamily="34" charset="-122"/>
                <a:cs typeface="Arial" pitchFamily="34" charset="-120"/>
              </a:rPr>
              <a:t>Managed against booked calls and qualified forms, not impressions.</a:t>
            </a:r>
            <a:endParaRPr lang="en-US" sz="1800" dirty="0"/>
          </a:p>
        </p:txBody>
      </p:sp>
      <p:sp>
        <p:nvSpPr>
          <p:cNvPr id="7" name="Text 3"/>
          <p:cNvSpPr txBox="1"/>
          <p:nvPr/>
        </p:nvSpPr>
        <p:spPr>
          <a:xfrm>
            <a:off x="10929823" y="6437376"/>
            <a:ext cx="548640" cy="219456"/>
          </a:xfrm>
          <a:prstGeom prst="rect">
            <a:avLst/>
          </a:prstGeom>
          <a:noFill/>
          <a:ln/>
        </p:spPr>
        <p:txBody>
          <a:bodyPr wrap="square" lIns="0" tIns="0" rIns="0" bIns="0" rtlCol="0" anchor="t"/>
          <a:lstStyle/>
          <a:p>
            <a:pPr algn="r" indent="0" marL="0">
              <a:buNone/>
            </a:pPr>
            <a:r>
              <a:rPr lang="en-US" sz="1050" b="1" spc="100" kern="0" dirty="0">
                <a:solidFill>
                  <a:srgbClr val="1C3D56"/>
                </a:solidFill>
                <a:latin typeface="Arial" pitchFamily="34" charset="0"/>
                <a:ea typeface="Arial" pitchFamily="34" charset="-122"/>
                <a:cs typeface="Arial" pitchFamily="34" charset="-120"/>
              </a:rPr>
              <a:t>05</a:t>
            </a:r>
            <a:endParaRPr lang="en-US" sz="1050" dirty="0"/>
          </a:p>
        </p:txBody>
      </p:sp>
      <p:sp>
        <p:nvSpPr>
          <p:cNvPr id="8" name="Text 4"/>
          <p:cNvSpPr txBox="1"/>
          <p:nvPr/>
        </p:nvSpPr>
        <p:spPr>
          <a:xfrm>
            <a:off x="713232" y="2834640"/>
            <a:ext cx="3200400" cy="282448"/>
          </a:xfrm>
          <a:prstGeom prst="rect">
            <a:avLst/>
          </a:prstGeom>
          <a:noFill/>
          <a:ln/>
        </p:spPr>
        <p:txBody>
          <a:bodyPr wrap="square" lIns="0" tIns="0" rIns="0" bIns="0" rtlCol="0" anchor="t"/>
          <a:lstStyle/>
          <a:p>
            <a:pPr algn="l" indent="0" marL="0">
              <a:lnSpc>
                <a:spcPct val="110000"/>
              </a:lnSpc>
              <a:buNone/>
            </a:pPr>
            <a:r>
              <a:rPr lang="en-US" sz="1600" b="1" dirty="0">
                <a:solidFill>
                  <a:srgbClr val="FFFFFF"/>
                </a:solidFill>
                <a:latin typeface="Arial" pitchFamily="34" charset="0"/>
                <a:ea typeface="Arial" pitchFamily="34" charset="-122"/>
                <a:cs typeface="Arial" pitchFamily="34" charset="-120"/>
              </a:rPr>
              <a:t>Where we buy</a:t>
            </a:r>
            <a:endParaRPr lang="en-US" sz="1600" dirty="0"/>
          </a:p>
        </p:txBody>
      </p:sp>
      <p:sp>
        <p:nvSpPr>
          <p:cNvPr id="9" name="Text 5"/>
          <p:cNvSpPr txBox="1"/>
          <p:nvPr/>
        </p:nvSpPr>
        <p:spPr>
          <a:xfrm>
            <a:off x="4325112" y="2834640"/>
            <a:ext cx="7153351" cy="266192"/>
          </a:xfrm>
          <a:prstGeom prst="rect">
            <a:avLst/>
          </a:prstGeom>
          <a:noFill/>
          <a:ln/>
        </p:spPr>
        <p:txBody>
          <a:bodyPr wrap="square" lIns="0" tIns="0" rIns="0" bIns="0" rtlCol="0" anchor="t"/>
          <a:lstStyle/>
          <a:p>
            <a:pPr algn="l" indent="0" marL="0">
              <a:lnSpc>
                <a:spcPct val="128000"/>
              </a:lnSpc>
              <a:buNone/>
            </a:pPr>
            <a:r>
              <a:rPr lang="en-US" sz="1300" dirty="0">
                <a:solidFill>
                  <a:srgbClr val="9DB5C8"/>
                </a:solidFill>
                <a:latin typeface="Arial" pitchFamily="34" charset="0"/>
                <a:ea typeface="Arial" pitchFamily="34" charset="-122"/>
                <a:cs typeface="Arial" pitchFamily="34" charset="-120"/>
              </a:rPr>
              <a:t>Google Ads, Microsoft Ads, Amazon Ads, Facebook Ads and Instagram Ads.</a:t>
            </a:r>
            <a:endParaRPr lang="en-US" sz="1300" dirty="0"/>
          </a:p>
        </p:txBody>
      </p:sp>
      <p:sp>
        <p:nvSpPr>
          <p:cNvPr id="10" name="Shape 6"/>
          <p:cNvSpPr/>
          <p:nvPr/>
        </p:nvSpPr>
        <p:spPr>
          <a:xfrm>
            <a:off x="713232" y="3235960"/>
            <a:ext cx="10765231" cy="0"/>
          </a:xfrm>
          <a:prstGeom prst="line">
            <a:avLst/>
          </a:prstGeom>
          <a:noFill/>
          <a:ln w="9525">
            <a:solidFill>
              <a:srgbClr val="1E4460"/>
            </a:solidFill>
            <a:prstDash val="solid"/>
          </a:ln>
        </p:spPr>
      </p:sp>
      <p:sp>
        <p:nvSpPr>
          <p:cNvPr id="11" name="Text 7"/>
          <p:cNvSpPr txBox="1"/>
          <p:nvPr/>
        </p:nvSpPr>
        <p:spPr>
          <a:xfrm>
            <a:off x="713232" y="3354832"/>
            <a:ext cx="3200400" cy="282448"/>
          </a:xfrm>
          <a:prstGeom prst="rect">
            <a:avLst/>
          </a:prstGeom>
          <a:noFill/>
          <a:ln/>
        </p:spPr>
        <p:txBody>
          <a:bodyPr wrap="square" lIns="0" tIns="0" rIns="0" bIns="0" rtlCol="0" anchor="t"/>
          <a:lstStyle/>
          <a:p>
            <a:pPr algn="l" indent="0" marL="0">
              <a:lnSpc>
                <a:spcPct val="110000"/>
              </a:lnSpc>
              <a:buNone/>
            </a:pPr>
            <a:r>
              <a:rPr lang="en-US" sz="1600" b="1" dirty="0">
                <a:solidFill>
                  <a:srgbClr val="FFFFFF"/>
                </a:solidFill>
                <a:latin typeface="Arial" pitchFamily="34" charset="0"/>
                <a:ea typeface="Arial" pitchFamily="34" charset="-122"/>
                <a:cs typeface="Arial" pitchFamily="34" charset="-120"/>
              </a:rPr>
              <a:t>How the account is run</a:t>
            </a:r>
            <a:endParaRPr lang="en-US" sz="1600" dirty="0"/>
          </a:p>
        </p:txBody>
      </p:sp>
      <p:sp>
        <p:nvSpPr>
          <p:cNvPr id="12" name="Text 8"/>
          <p:cNvSpPr txBox="1"/>
          <p:nvPr/>
        </p:nvSpPr>
        <p:spPr>
          <a:xfrm>
            <a:off x="4325112" y="3354832"/>
            <a:ext cx="7153351" cy="477520"/>
          </a:xfrm>
          <a:prstGeom prst="rect">
            <a:avLst/>
          </a:prstGeom>
          <a:noFill/>
          <a:ln/>
        </p:spPr>
        <p:txBody>
          <a:bodyPr wrap="square" lIns="0" tIns="0" rIns="0" bIns="0" rtlCol="0" anchor="t"/>
          <a:lstStyle/>
          <a:p>
            <a:pPr algn="l" indent="0" marL="0">
              <a:lnSpc>
                <a:spcPct val="128000"/>
              </a:lnSpc>
              <a:buNone/>
            </a:pPr>
            <a:r>
              <a:rPr lang="en-US" sz="1300" dirty="0">
                <a:solidFill>
                  <a:srgbClr val="9DB5C8"/>
                </a:solidFill>
                <a:latin typeface="Arial" pitchFamily="34" charset="0"/>
                <a:ea typeface="Arial" pitchFamily="34" charset="-122"/>
                <a:cs typeface="Arial" pitchFamily="34" charset="-120"/>
              </a:rPr>
              <a:t>Audit and rebuild, conversion tracking through Google Tag Manager, search term review with negatives, budget shifted to winners.</a:t>
            </a:r>
            <a:endParaRPr lang="en-US" sz="1300" dirty="0"/>
          </a:p>
        </p:txBody>
      </p:sp>
      <p:sp>
        <p:nvSpPr>
          <p:cNvPr id="13" name="Text 9"/>
          <p:cNvSpPr txBox="1"/>
          <p:nvPr/>
        </p:nvSpPr>
        <p:spPr>
          <a:xfrm>
            <a:off x="713232" y="4709160"/>
            <a:ext cx="2179244" cy="468376"/>
          </a:xfrm>
          <a:prstGeom prst="rect">
            <a:avLst/>
          </a:prstGeom>
          <a:noFill/>
          <a:ln/>
        </p:spPr>
        <p:txBody>
          <a:bodyPr wrap="square" lIns="0" tIns="0" rIns="0" bIns="0" rtlCol="0" anchor="t"/>
          <a:lstStyle/>
          <a:p>
            <a:pPr algn="l" indent="0" marL="0">
              <a:lnSpc>
                <a:spcPct val="100000"/>
              </a:lnSpc>
              <a:buNone/>
            </a:pPr>
            <a:r>
              <a:rPr lang="en-US" sz="3400" b="1" dirty="0">
                <a:solidFill>
                  <a:srgbClr val="2A80C2"/>
                </a:solidFill>
                <a:latin typeface="Arial" pitchFamily="34" charset="0"/>
                <a:ea typeface="Arial" pitchFamily="34" charset="-122"/>
                <a:cs typeface="Arial" pitchFamily="34" charset="-120"/>
              </a:rPr>
              <a:t>+314%</a:t>
            </a:r>
            <a:endParaRPr lang="en-US" sz="3400" dirty="0"/>
          </a:p>
        </p:txBody>
      </p:sp>
      <p:sp>
        <p:nvSpPr>
          <p:cNvPr id="14" name="Text 10"/>
          <p:cNvSpPr txBox="1"/>
          <p:nvPr/>
        </p:nvSpPr>
        <p:spPr>
          <a:xfrm>
            <a:off x="713232" y="5232400"/>
            <a:ext cx="2179244" cy="420624"/>
          </a:xfrm>
          <a:prstGeom prst="rect">
            <a:avLst/>
          </a:prstGeom>
          <a:noFill/>
          <a:ln/>
        </p:spPr>
        <p:txBody>
          <a:bodyPr wrap="square" lIns="0" tIns="0" rIns="0" bIns="0" rtlCol="0" anchor="t"/>
          <a:lstStyle/>
          <a:p>
            <a:pPr algn="l" indent="0" marL="0">
              <a:lnSpc>
                <a:spcPct val="120000"/>
              </a:lnSpc>
              <a:buNone/>
            </a:pPr>
            <a:r>
              <a:rPr lang="en-US" sz="1200" b="1" dirty="0">
                <a:solidFill>
                  <a:srgbClr val="FFFFFF"/>
                </a:solidFill>
                <a:latin typeface="Arial" pitchFamily="34" charset="0"/>
                <a:ea typeface="Arial" pitchFamily="34" charset="-122"/>
                <a:cs typeface="Arial" pitchFamily="34" charset="-120"/>
              </a:rPr>
              <a:t>Phone call conversions</a:t>
            </a:r>
            <a:endParaRPr lang="en-US" sz="1200" dirty="0"/>
          </a:p>
        </p:txBody>
      </p:sp>
      <p:sp>
        <p:nvSpPr>
          <p:cNvPr id="15" name="Text 11"/>
          <p:cNvSpPr txBox="1"/>
          <p:nvPr/>
        </p:nvSpPr>
        <p:spPr>
          <a:xfrm>
            <a:off x="713232" y="5717032"/>
            <a:ext cx="2179244" cy="374904"/>
          </a:xfrm>
          <a:prstGeom prst="rect">
            <a:avLst/>
          </a:prstGeom>
          <a:noFill/>
          <a:ln/>
        </p:spPr>
        <p:txBody>
          <a:bodyPr wrap="square" lIns="0" tIns="0" rIns="0" bIns="0" rtlCol="0" anchor="t"/>
          <a:lstStyle/>
          <a:p>
            <a:pPr algn="l" indent="0" marL="0">
              <a:lnSpc>
                <a:spcPct val="120000"/>
              </a:lnSpc>
              <a:buNone/>
            </a:pPr>
            <a:r>
              <a:rPr lang="en-US" sz="1050" dirty="0">
                <a:solidFill>
                  <a:srgbClr val="9DB5C8"/>
                </a:solidFill>
                <a:latin typeface="Arial" pitchFamily="34" charset="0"/>
                <a:ea typeface="Arial" pitchFamily="34" charset="-122"/>
                <a:cs typeface="Arial" pitchFamily="34" charset="-120"/>
              </a:rPr>
              <a:t>The Kind Insurance, 2025 vs 2024</a:t>
            </a:r>
            <a:endParaRPr lang="en-US" sz="1050" dirty="0"/>
          </a:p>
        </p:txBody>
      </p:sp>
      <p:sp>
        <p:nvSpPr>
          <p:cNvPr id="16" name="Shape 12"/>
          <p:cNvSpPr/>
          <p:nvPr/>
        </p:nvSpPr>
        <p:spPr>
          <a:xfrm>
            <a:off x="3166796" y="4709160"/>
            <a:ext cx="0" cy="1492504"/>
          </a:xfrm>
          <a:prstGeom prst="line">
            <a:avLst/>
          </a:prstGeom>
          <a:noFill/>
          <a:ln w="9525">
            <a:solidFill>
              <a:srgbClr val="1E4460"/>
            </a:solidFill>
            <a:prstDash val="solid"/>
          </a:ln>
        </p:spPr>
      </p:sp>
      <p:sp>
        <p:nvSpPr>
          <p:cNvPr id="17" name="Text 13"/>
          <p:cNvSpPr txBox="1"/>
          <p:nvPr/>
        </p:nvSpPr>
        <p:spPr>
          <a:xfrm>
            <a:off x="3404540" y="4709160"/>
            <a:ext cx="2179244" cy="468376"/>
          </a:xfrm>
          <a:prstGeom prst="rect">
            <a:avLst/>
          </a:prstGeom>
          <a:noFill/>
          <a:ln/>
        </p:spPr>
        <p:txBody>
          <a:bodyPr wrap="square" lIns="0" tIns="0" rIns="0" bIns="0" rtlCol="0" anchor="t"/>
          <a:lstStyle/>
          <a:p>
            <a:pPr algn="l" indent="0" marL="0">
              <a:lnSpc>
                <a:spcPct val="100000"/>
              </a:lnSpc>
              <a:buNone/>
            </a:pPr>
            <a:r>
              <a:rPr lang="en-US" sz="3400" b="1" dirty="0">
                <a:solidFill>
                  <a:srgbClr val="2A80C2"/>
                </a:solidFill>
                <a:latin typeface="Arial" pitchFamily="34" charset="0"/>
                <a:ea typeface="Arial" pitchFamily="34" charset="-122"/>
                <a:cs typeface="Arial" pitchFamily="34" charset="-120"/>
              </a:rPr>
              <a:t>$38.88</a:t>
            </a:r>
            <a:endParaRPr lang="en-US" sz="3400" dirty="0"/>
          </a:p>
        </p:txBody>
      </p:sp>
      <p:sp>
        <p:nvSpPr>
          <p:cNvPr id="18" name="Text 14"/>
          <p:cNvSpPr txBox="1"/>
          <p:nvPr/>
        </p:nvSpPr>
        <p:spPr>
          <a:xfrm>
            <a:off x="3404540" y="5232400"/>
            <a:ext cx="2179244" cy="420624"/>
          </a:xfrm>
          <a:prstGeom prst="rect">
            <a:avLst/>
          </a:prstGeom>
          <a:noFill/>
          <a:ln/>
        </p:spPr>
        <p:txBody>
          <a:bodyPr wrap="square" lIns="0" tIns="0" rIns="0" bIns="0" rtlCol="0" anchor="t"/>
          <a:lstStyle/>
          <a:p>
            <a:pPr algn="l" indent="0" marL="0">
              <a:lnSpc>
                <a:spcPct val="120000"/>
              </a:lnSpc>
              <a:buNone/>
            </a:pPr>
            <a:r>
              <a:rPr lang="en-US" sz="1200" b="1" dirty="0">
                <a:solidFill>
                  <a:srgbClr val="FFFFFF"/>
                </a:solidFill>
                <a:latin typeface="Arial" pitchFamily="34" charset="0"/>
                <a:ea typeface="Arial" pitchFamily="34" charset="-122"/>
                <a:cs typeface="Arial" pitchFamily="34" charset="-120"/>
              </a:rPr>
              <a:t>Average cost per lead</a:t>
            </a:r>
            <a:endParaRPr lang="en-US" sz="1200" dirty="0"/>
          </a:p>
        </p:txBody>
      </p:sp>
      <p:sp>
        <p:nvSpPr>
          <p:cNvPr id="19" name="Text 15"/>
          <p:cNvSpPr txBox="1"/>
          <p:nvPr/>
        </p:nvSpPr>
        <p:spPr>
          <a:xfrm>
            <a:off x="3404540" y="5717032"/>
            <a:ext cx="2179244" cy="374904"/>
          </a:xfrm>
          <a:prstGeom prst="rect">
            <a:avLst/>
          </a:prstGeom>
          <a:noFill/>
          <a:ln/>
        </p:spPr>
        <p:txBody>
          <a:bodyPr wrap="square" lIns="0" tIns="0" rIns="0" bIns="0" rtlCol="0" anchor="t"/>
          <a:lstStyle/>
          <a:p>
            <a:pPr algn="l" indent="0" marL="0">
              <a:lnSpc>
                <a:spcPct val="120000"/>
              </a:lnSpc>
              <a:buNone/>
            </a:pPr>
            <a:r>
              <a:rPr lang="en-US" sz="1050" dirty="0">
                <a:solidFill>
                  <a:srgbClr val="9DB5C8"/>
                </a:solidFill>
                <a:latin typeface="Arial" pitchFamily="34" charset="0"/>
                <a:ea typeface="Arial" pitchFamily="34" charset="-122"/>
                <a:cs typeface="Arial" pitchFamily="34" charset="-120"/>
              </a:rPr>
              <a:t>Bedford Housing, 1,130 form conversions</a:t>
            </a:r>
            <a:endParaRPr lang="en-US" sz="1050" dirty="0"/>
          </a:p>
        </p:txBody>
      </p:sp>
      <p:sp>
        <p:nvSpPr>
          <p:cNvPr id="20" name="Shape 16"/>
          <p:cNvSpPr/>
          <p:nvPr/>
        </p:nvSpPr>
        <p:spPr>
          <a:xfrm>
            <a:off x="5858104" y="4709160"/>
            <a:ext cx="0" cy="1492504"/>
          </a:xfrm>
          <a:prstGeom prst="line">
            <a:avLst/>
          </a:prstGeom>
          <a:noFill/>
          <a:ln w="9525">
            <a:solidFill>
              <a:srgbClr val="1E4460"/>
            </a:solidFill>
            <a:prstDash val="solid"/>
          </a:ln>
        </p:spPr>
      </p:sp>
      <p:sp>
        <p:nvSpPr>
          <p:cNvPr id="21" name="Text 17"/>
          <p:cNvSpPr txBox="1"/>
          <p:nvPr/>
        </p:nvSpPr>
        <p:spPr>
          <a:xfrm>
            <a:off x="6095848" y="4709160"/>
            <a:ext cx="2179244" cy="468376"/>
          </a:xfrm>
          <a:prstGeom prst="rect">
            <a:avLst/>
          </a:prstGeom>
          <a:noFill/>
          <a:ln/>
        </p:spPr>
        <p:txBody>
          <a:bodyPr wrap="square" lIns="0" tIns="0" rIns="0" bIns="0" rtlCol="0" anchor="t"/>
          <a:lstStyle/>
          <a:p>
            <a:pPr algn="l" indent="0" marL="0">
              <a:lnSpc>
                <a:spcPct val="100000"/>
              </a:lnSpc>
              <a:buNone/>
            </a:pPr>
            <a:r>
              <a:rPr lang="en-US" sz="3400" b="1" dirty="0">
                <a:solidFill>
                  <a:srgbClr val="2A80C2"/>
                </a:solidFill>
                <a:latin typeface="Arial" pitchFamily="34" charset="0"/>
                <a:ea typeface="Arial" pitchFamily="34" charset="-122"/>
                <a:cs typeface="Arial" pitchFamily="34" charset="-120"/>
              </a:rPr>
              <a:t>$19.58</a:t>
            </a:r>
            <a:endParaRPr lang="en-US" sz="3400" dirty="0"/>
          </a:p>
        </p:txBody>
      </p:sp>
      <p:sp>
        <p:nvSpPr>
          <p:cNvPr id="22" name="Text 18"/>
          <p:cNvSpPr txBox="1"/>
          <p:nvPr/>
        </p:nvSpPr>
        <p:spPr>
          <a:xfrm>
            <a:off x="6095848" y="5232400"/>
            <a:ext cx="2179244" cy="420624"/>
          </a:xfrm>
          <a:prstGeom prst="rect">
            <a:avLst/>
          </a:prstGeom>
          <a:noFill/>
          <a:ln/>
        </p:spPr>
        <p:txBody>
          <a:bodyPr wrap="square" lIns="0" tIns="0" rIns="0" bIns="0" rtlCol="0" anchor="t"/>
          <a:lstStyle/>
          <a:p>
            <a:pPr algn="l" indent="0" marL="0">
              <a:lnSpc>
                <a:spcPct val="120000"/>
              </a:lnSpc>
              <a:buNone/>
            </a:pPr>
            <a:r>
              <a:rPr lang="en-US" sz="1200" b="1" dirty="0">
                <a:solidFill>
                  <a:srgbClr val="FFFFFF"/>
                </a:solidFill>
                <a:latin typeface="Arial" pitchFamily="34" charset="0"/>
                <a:ea typeface="Arial" pitchFamily="34" charset="-122"/>
                <a:cs typeface="Arial" pitchFamily="34" charset="-120"/>
              </a:rPr>
              <a:t>Cost per lead</a:t>
            </a:r>
            <a:endParaRPr lang="en-US" sz="1200" dirty="0"/>
          </a:p>
        </p:txBody>
      </p:sp>
      <p:sp>
        <p:nvSpPr>
          <p:cNvPr id="23" name="Text 19"/>
          <p:cNvSpPr txBox="1"/>
          <p:nvPr/>
        </p:nvSpPr>
        <p:spPr>
          <a:xfrm>
            <a:off x="6095848" y="5717032"/>
            <a:ext cx="2179244" cy="374904"/>
          </a:xfrm>
          <a:prstGeom prst="rect">
            <a:avLst/>
          </a:prstGeom>
          <a:noFill/>
          <a:ln/>
        </p:spPr>
        <p:txBody>
          <a:bodyPr wrap="square" lIns="0" tIns="0" rIns="0" bIns="0" rtlCol="0" anchor="t"/>
          <a:lstStyle/>
          <a:p>
            <a:pPr algn="l" indent="0" marL="0">
              <a:lnSpc>
                <a:spcPct val="120000"/>
              </a:lnSpc>
              <a:buNone/>
            </a:pPr>
            <a:r>
              <a:rPr lang="en-US" sz="1050" dirty="0">
                <a:solidFill>
                  <a:srgbClr val="9DB5C8"/>
                </a:solidFill>
                <a:latin typeface="Arial" pitchFamily="34" charset="0"/>
                <a:ea typeface="Arial" pitchFamily="34" charset="-122"/>
                <a:cs typeface="Arial" pitchFamily="34" charset="-120"/>
              </a:rPr>
              <a:t>Jade International freight</a:t>
            </a:r>
            <a:endParaRPr lang="en-US" sz="1050" dirty="0"/>
          </a:p>
        </p:txBody>
      </p:sp>
      <p:sp>
        <p:nvSpPr>
          <p:cNvPr id="24" name="Shape 20"/>
          <p:cNvSpPr/>
          <p:nvPr/>
        </p:nvSpPr>
        <p:spPr>
          <a:xfrm>
            <a:off x="8549411" y="4709160"/>
            <a:ext cx="0" cy="1492504"/>
          </a:xfrm>
          <a:prstGeom prst="line">
            <a:avLst/>
          </a:prstGeom>
          <a:noFill/>
          <a:ln w="9525">
            <a:solidFill>
              <a:srgbClr val="1E4460"/>
            </a:solidFill>
            <a:prstDash val="solid"/>
          </a:ln>
        </p:spPr>
      </p:sp>
      <p:sp>
        <p:nvSpPr>
          <p:cNvPr id="25" name="Text 21"/>
          <p:cNvSpPr txBox="1"/>
          <p:nvPr/>
        </p:nvSpPr>
        <p:spPr>
          <a:xfrm>
            <a:off x="8787155" y="4709160"/>
            <a:ext cx="2179244" cy="468376"/>
          </a:xfrm>
          <a:prstGeom prst="rect">
            <a:avLst/>
          </a:prstGeom>
          <a:noFill/>
          <a:ln/>
        </p:spPr>
        <p:txBody>
          <a:bodyPr wrap="square" lIns="0" tIns="0" rIns="0" bIns="0" rtlCol="0" anchor="t"/>
          <a:lstStyle/>
          <a:p>
            <a:pPr algn="l" indent="0" marL="0">
              <a:lnSpc>
                <a:spcPct val="100000"/>
              </a:lnSpc>
              <a:buNone/>
            </a:pPr>
            <a:r>
              <a:rPr lang="en-US" sz="3400" b="1" dirty="0">
                <a:solidFill>
                  <a:srgbClr val="2A80C2"/>
                </a:solidFill>
                <a:latin typeface="Arial" pitchFamily="34" charset="0"/>
                <a:ea typeface="Arial" pitchFamily="34" charset="-122"/>
                <a:cs typeface="Arial" pitchFamily="34" charset="-120"/>
              </a:rPr>
              <a:t>4.90%</a:t>
            </a:r>
            <a:endParaRPr lang="en-US" sz="3400" dirty="0"/>
          </a:p>
        </p:txBody>
      </p:sp>
      <p:sp>
        <p:nvSpPr>
          <p:cNvPr id="26" name="Text 22"/>
          <p:cNvSpPr txBox="1"/>
          <p:nvPr/>
        </p:nvSpPr>
        <p:spPr>
          <a:xfrm>
            <a:off x="8787155" y="5232400"/>
            <a:ext cx="2179244" cy="420624"/>
          </a:xfrm>
          <a:prstGeom prst="rect">
            <a:avLst/>
          </a:prstGeom>
          <a:noFill/>
          <a:ln/>
        </p:spPr>
        <p:txBody>
          <a:bodyPr wrap="square" lIns="0" tIns="0" rIns="0" bIns="0" rtlCol="0" anchor="t"/>
          <a:lstStyle/>
          <a:p>
            <a:pPr algn="l" indent="0" marL="0">
              <a:lnSpc>
                <a:spcPct val="120000"/>
              </a:lnSpc>
              <a:buNone/>
            </a:pPr>
            <a:r>
              <a:rPr lang="en-US" sz="1200" b="1" dirty="0">
                <a:solidFill>
                  <a:srgbClr val="FFFFFF"/>
                </a:solidFill>
                <a:latin typeface="Arial" pitchFamily="34" charset="0"/>
                <a:ea typeface="Arial" pitchFamily="34" charset="-122"/>
                <a:cs typeface="Arial" pitchFamily="34" charset="-120"/>
              </a:rPr>
              <a:t>Average click through rate</a:t>
            </a:r>
            <a:endParaRPr lang="en-US" sz="1200" dirty="0"/>
          </a:p>
        </p:txBody>
      </p:sp>
      <p:sp>
        <p:nvSpPr>
          <p:cNvPr id="27" name="Text 23"/>
          <p:cNvSpPr txBox="1"/>
          <p:nvPr/>
        </p:nvSpPr>
        <p:spPr>
          <a:xfrm>
            <a:off x="8787155" y="5717032"/>
            <a:ext cx="2179244" cy="374904"/>
          </a:xfrm>
          <a:prstGeom prst="rect">
            <a:avLst/>
          </a:prstGeom>
          <a:noFill/>
          <a:ln/>
        </p:spPr>
        <p:txBody>
          <a:bodyPr wrap="square" lIns="0" tIns="0" rIns="0" bIns="0" rtlCol="0" anchor="t"/>
          <a:lstStyle/>
          <a:p>
            <a:pPr algn="l" indent="0" marL="0">
              <a:lnSpc>
                <a:spcPct val="120000"/>
              </a:lnSpc>
              <a:buNone/>
            </a:pPr>
            <a:r>
              <a:rPr lang="en-US" sz="1050" dirty="0">
                <a:solidFill>
                  <a:srgbClr val="9DB5C8"/>
                </a:solidFill>
                <a:latin typeface="Arial" pitchFamily="34" charset="0"/>
                <a:ea typeface="Arial" pitchFamily="34" charset="-122"/>
                <a:cs typeface="Arial" pitchFamily="34" charset="-120"/>
              </a:rPr>
              <a:t>LaserSkin MedSpa, Google Ads</a:t>
            </a:r>
            <a:endParaRPr lang="en-US" sz="1050" dirty="0"/>
          </a:p>
        </p:txBody>
      </p:sp>
      <p:sp>
        <p:nvSpPr>
          <p:cNvPr id="28" name="Text 24"/>
          <p:cNvSpPr txBox="1"/>
          <p:nvPr/>
        </p:nvSpPr>
        <p:spPr>
          <a:xfrm>
            <a:off x="713232" y="6400800"/>
            <a:ext cx="9942271" cy="237744"/>
          </a:xfrm>
          <a:prstGeom prst="rect">
            <a:avLst/>
          </a:prstGeom>
          <a:noFill/>
          <a:ln/>
        </p:spPr>
        <p:txBody>
          <a:bodyPr wrap="square" lIns="0" tIns="0" rIns="0" bIns="0" rtlCol="0" anchor="t"/>
          <a:lstStyle/>
          <a:p>
            <a:pPr algn="l" indent="0" marL="0">
              <a:buNone/>
            </a:pPr>
            <a:r>
              <a:rPr lang="en-US" sz="950" i="1" dirty="0">
                <a:solidFill>
                  <a:srgbClr val="9DB5C8"/>
                </a:solidFill>
                <a:latin typeface="Arial" pitchFamily="34" charset="0"/>
                <a:ea typeface="Arial" pitchFamily="34" charset="-122"/>
                <a:cs typeface="Arial" pitchFamily="34" charset="-120"/>
              </a:rPr>
              <a:t>Management is $1,500 per month plus your ad media budget. Media spend is paid to the platform, never to us.</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299655" y="0"/>
            <a:ext cx="4892040" cy="6858000"/>
          </a:xfrm>
          <a:prstGeom prst="rect">
            <a:avLst/>
          </a:prstGeom>
          <a:solidFill>
            <a:srgbClr val="0A1825"/>
          </a:solidFill>
          <a:ln w="12700">
            <a:solidFill>
              <a:srgbClr val="333333"/>
            </a:solidFill>
            <a:prstDash val="solid"/>
          </a:ln>
        </p:spPr>
      </p:sp>
      <p:pic>
        <p:nvPicPr>
          <p:cNvPr id="3" name="Image 0" descr="C:\Users\dillo\.claude\skills\client-deck\assets\momentum-digital\momentum-mark-white.png">    </p:cNvPr>
          <p:cNvPicPr>
            <a:picLocks noChangeAspect="1"/>
          </p:cNvPicPr>
          <p:nvPr/>
        </p:nvPicPr>
        <p:blipFill>
          <a:blip r:embed="rId1">
            <a:alphaModFix amt="9000"/>
          </a:blip>
          <a:stretch>
            <a:fillRect/>
          </a:stretch>
        </p:blipFill>
        <p:spPr>
          <a:xfrm>
            <a:off x="8321040" y="3017520"/>
            <a:ext cx="4937760" cy="5857367"/>
          </a:xfrm>
          <a:prstGeom prst="rect">
            <a:avLst/>
          </a:prstGeom>
        </p:spPr>
      </p:pic>
      <p:pic>
        <p:nvPicPr>
          <p:cNvPr id="4" name="Image 1" descr="Momentum Digital logo">    </p:cNvPr>
          <p:cNvPicPr>
            <a:picLocks noChangeAspect="1"/>
          </p:cNvPicPr>
          <p:nvPr/>
        </p:nvPicPr>
        <p:blipFill>
          <a:blip r:embed="rId2"/>
          <a:stretch>
            <a:fillRect/>
          </a:stretch>
        </p:blipFill>
        <p:spPr>
          <a:xfrm>
            <a:off x="10106863" y="658368"/>
            <a:ext cx="1371600" cy="294904"/>
          </a:xfrm>
          <a:prstGeom prst="rect">
            <a:avLst/>
          </a:prstGeom>
        </p:spPr>
      </p:pic>
      <p:sp>
        <p:nvSpPr>
          <p:cNvPr id="5" name="Text 1"/>
          <p:cNvSpPr txBox="1"/>
          <p:nvPr/>
        </p:nvSpPr>
        <p:spPr>
          <a:xfrm>
            <a:off x="713232" y="658368"/>
            <a:ext cx="8753551" cy="201168"/>
          </a:xfrm>
          <a:prstGeom prst="rect">
            <a:avLst/>
          </a:prstGeom>
          <a:noFill/>
          <a:ln/>
        </p:spPr>
        <p:txBody>
          <a:bodyPr wrap="square" lIns="0" tIns="0" rIns="0" bIns="0" rtlCol="0" anchor="t"/>
          <a:lstStyle/>
          <a:p>
            <a:pPr algn="l" indent="0" marL="0">
              <a:buNone/>
            </a:pPr>
            <a:r>
              <a:rPr lang="en-US" sz="1050" b="1" spc="240" kern="0" dirty="0">
                <a:solidFill>
                  <a:srgbClr val="2A80C2"/>
                </a:solidFill>
                <a:latin typeface="Arial" pitchFamily="34" charset="0"/>
                <a:ea typeface="Arial" pitchFamily="34" charset="-122"/>
                <a:cs typeface="Arial" pitchFamily="34" charset="-120"/>
              </a:rPr>
              <a:t>SERVICE LINE</a:t>
            </a:r>
            <a:endParaRPr lang="en-US" sz="1050" dirty="0"/>
          </a:p>
        </p:txBody>
      </p:sp>
      <p:sp>
        <p:nvSpPr>
          <p:cNvPr id="6" name="Text 2"/>
          <p:cNvSpPr txBox="1"/>
          <p:nvPr/>
        </p:nvSpPr>
        <p:spPr>
          <a:xfrm>
            <a:off x="713232" y="987552"/>
            <a:ext cx="6583680" cy="569214"/>
          </a:xfrm>
          <a:prstGeom prst="rect">
            <a:avLst/>
          </a:prstGeom>
          <a:noFill/>
          <a:ln/>
        </p:spPr>
        <p:txBody>
          <a:bodyPr wrap="square" lIns="0" tIns="0" rIns="0" bIns="0" rtlCol="0" anchor="t"/>
          <a:lstStyle/>
          <a:p>
            <a:pPr algn="l" indent="0" marL="0">
              <a:lnSpc>
                <a:spcPct val="102000"/>
              </a:lnSpc>
              <a:buNone/>
            </a:pPr>
            <a:r>
              <a:rPr lang="en-US" sz="3900" b="1" dirty="0">
                <a:solidFill>
                  <a:srgbClr val="0F151B"/>
                </a:solidFill>
                <a:latin typeface="Arial" pitchFamily="34" charset="0"/>
                <a:ea typeface="Arial" pitchFamily="34" charset="-122"/>
                <a:cs typeface="Arial" pitchFamily="34" charset="-120"/>
              </a:rPr>
              <a:t>Social media</a:t>
            </a:r>
            <a:endParaRPr lang="en-US" sz="3900" dirty="0"/>
          </a:p>
        </p:txBody>
      </p:sp>
      <p:sp>
        <p:nvSpPr>
          <p:cNvPr id="7" name="Text 3"/>
          <p:cNvSpPr txBox="1"/>
          <p:nvPr/>
        </p:nvSpPr>
        <p:spPr>
          <a:xfrm>
            <a:off x="713232" y="1703070"/>
            <a:ext cx="6583680" cy="649224"/>
          </a:xfrm>
          <a:prstGeom prst="rect">
            <a:avLst/>
          </a:prstGeom>
          <a:noFill/>
          <a:ln/>
        </p:spPr>
        <p:txBody>
          <a:bodyPr wrap="square" lIns="0" tIns="0" rIns="0" bIns="0" rtlCol="0" anchor="t"/>
          <a:lstStyle/>
          <a:p>
            <a:pPr algn="l" indent="0" marL="0">
              <a:lnSpc>
                <a:spcPct val="128000"/>
              </a:lnSpc>
              <a:buNone/>
            </a:pPr>
            <a:r>
              <a:rPr lang="en-US" sz="1800" dirty="0">
                <a:solidFill>
                  <a:srgbClr val="5A6772"/>
                </a:solidFill>
                <a:latin typeface="Arial" pitchFamily="34" charset="0"/>
                <a:ea typeface="Arial" pitchFamily="34" charset="-122"/>
                <a:cs typeface="Arial" pitchFamily="34" charset="-120"/>
              </a:rPr>
              <a:t>A real calendar, real design, and a channel that compounds.</a:t>
            </a:r>
            <a:endParaRPr lang="en-US" sz="1800" dirty="0"/>
          </a:p>
        </p:txBody>
      </p:sp>
      <p:sp>
        <p:nvSpPr>
          <p:cNvPr id="8" name="Text 4"/>
          <p:cNvSpPr txBox="1"/>
          <p:nvPr/>
        </p:nvSpPr>
        <p:spPr>
          <a:xfrm>
            <a:off x="10929823" y="6437376"/>
            <a:ext cx="548640" cy="219456"/>
          </a:xfrm>
          <a:prstGeom prst="rect">
            <a:avLst/>
          </a:prstGeom>
          <a:noFill/>
          <a:ln/>
        </p:spPr>
        <p:txBody>
          <a:bodyPr wrap="square" lIns="0" tIns="0" rIns="0" bIns="0" rtlCol="0" anchor="t"/>
          <a:lstStyle/>
          <a:p>
            <a:pPr algn="r" indent="0" marL="0">
              <a:buNone/>
            </a:pPr>
            <a:r>
              <a:rPr lang="en-US" sz="1050" b="1" spc="100" kern="0" dirty="0">
                <a:solidFill>
                  <a:srgbClr val="CBD8E3"/>
                </a:solidFill>
                <a:latin typeface="Arial" pitchFamily="34" charset="0"/>
                <a:ea typeface="Arial" pitchFamily="34" charset="-122"/>
                <a:cs typeface="Arial" pitchFamily="34" charset="-120"/>
              </a:rPr>
              <a:t>06</a:t>
            </a:r>
            <a:endParaRPr lang="en-US" sz="1050" dirty="0"/>
          </a:p>
        </p:txBody>
      </p:sp>
      <p:sp>
        <p:nvSpPr>
          <p:cNvPr id="9" name="Text 5"/>
          <p:cNvSpPr txBox="1"/>
          <p:nvPr/>
        </p:nvSpPr>
        <p:spPr>
          <a:xfrm>
            <a:off x="713232" y="2788920"/>
            <a:ext cx="1828800" cy="268224"/>
          </a:xfrm>
          <a:prstGeom prst="rect">
            <a:avLst/>
          </a:prstGeom>
          <a:noFill/>
          <a:ln/>
        </p:spPr>
        <p:txBody>
          <a:bodyPr wrap="square" lIns="0" tIns="0" rIns="0" bIns="0" rtlCol="0" anchor="t"/>
          <a:lstStyle/>
          <a:p>
            <a:pPr algn="l" indent="0" marL="0">
              <a:lnSpc>
                <a:spcPct val="110000"/>
              </a:lnSpc>
              <a:buNone/>
            </a:pPr>
            <a:r>
              <a:rPr lang="en-US" sz="1500" b="1" dirty="0">
                <a:solidFill>
                  <a:srgbClr val="0F151B"/>
                </a:solidFill>
                <a:latin typeface="Arial" pitchFamily="34" charset="0"/>
                <a:ea typeface="Arial" pitchFamily="34" charset="-122"/>
                <a:cs typeface="Arial" pitchFamily="34" charset="-120"/>
              </a:rPr>
              <a:t>Channels</a:t>
            </a:r>
            <a:endParaRPr lang="en-US" sz="1500" dirty="0"/>
          </a:p>
        </p:txBody>
      </p:sp>
      <p:sp>
        <p:nvSpPr>
          <p:cNvPr id="10" name="Text 6"/>
          <p:cNvSpPr txBox="1"/>
          <p:nvPr/>
        </p:nvSpPr>
        <p:spPr>
          <a:xfrm>
            <a:off x="2953512" y="2788920"/>
            <a:ext cx="4069080" cy="461264"/>
          </a:xfrm>
          <a:prstGeom prst="rect">
            <a:avLst/>
          </a:prstGeom>
          <a:noFill/>
          <a:ln/>
        </p:spPr>
        <p:txBody>
          <a:bodyPr wrap="square" lIns="0" tIns="0" rIns="0" bIns="0" rtlCol="0" anchor="t"/>
          <a:lstStyle/>
          <a:p>
            <a:pPr algn="l" indent="0" marL="0">
              <a:lnSpc>
                <a:spcPct val="128000"/>
              </a:lnSpc>
              <a:buNone/>
            </a:pPr>
            <a:r>
              <a:rPr lang="en-US" sz="1250" dirty="0">
                <a:solidFill>
                  <a:srgbClr val="5A6772"/>
                </a:solidFill>
                <a:latin typeface="Arial" pitchFamily="34" charset="0"/>
                <a:ea typeface="Arial" pitchFamily="34" charset="-122"/>
                <a:cs typeface="Arial" pitchFamily="34" charset="-120"/>
              </a:rPr>
              <a:t>Facebook, Instagram, TikTok, Pinterest and LinkedIn.</a:t>
            </a:r>
            <a:endParaRPr lang="en-US" sz="1250" dirty="0"/>
          </a:p>
        </p:txBody>
      </p:sp>
      <p:sp>
        <p:nvSpPr>
          <p:cNvPr id="11" name="Shape 7"/>
          <p:cNvSpPr/>
          <p:nvPr/>
        </p:nvSpPr>
        <p:spPr>
          <a:xfrm>
            <a:off x="713232" y="3369056"/>
            <a:ext cx="6309360" cy="0"/>
          </a:xfrm>
          <a:prstGeom prst="line">
            <a:avLst/>
          </a:prstGeom>
          <a:noFill/>
          <a:ln w="9525">
            <a:solidFill>
              <a:srgbClr val="E2EAF1"/>
            </a:solidFill>
            <a:prstDash val="solid"/>
          </a:ln>
        </p:spPr>
      </p:sp>
      <p:sp>
        <p:nvSpPr>
          <p:cNvPr id="12" name="Text 8"/>
          <p:cNvSpPr txBox="1"/>
          <p:nvPr/>
        </p:nvSpPr>
        <p:spPr>
          <a:xfrm>
            <a:off x="713232" y="3487928"/>
            <a:ext cx="1828800" cy="268224"/>
          </a:xfrm>
          <a:prstGeom prst="rect">
            <a:avLst/>
          </a:prstGeom>
          <a:noFill/>
          <a:ln/>
        </p:spPr>
        <p:txBody>
          <a:bodyPr wrap="square" lIns="0" tIns="0" rIns="0" bIns="0" rtlCol="0" anchor="t"/>
          <a:lstStyle/>
          <a:p>
            <a:pPr algn="l" indent="0" marL="0">
              <a:lnSpc>
                <a:spcPct val="110000"/>
              </a:lnSpc>
              <a:buNone/>
            </a:pPr>
            <a:r>
              <a:rPr lang="en-US" sz="1500" b="1" dirty="0">
                <a:solidFill>
                  <a:srgbClr val="0F151B"/>
                </a:solidFill>
                <a:latin typeface="Arial" pitchFamily="34" charset="0"/>
                <a:ea typeface="Arial" pitchFamily="34" charset="-122"/>
                <a:cs typeface="Arial" pitchFamily="34" charset="-120"/>
              </a:rPr>
              <a:t>Every month</a:t>
            </a:r>
            <a:endParaRPr lang="en-US" sz="1500" dirty="0"/>
          </a:p>
        </p:txBody>
      </p:sp>
      <p:sp>
        <p:nvSpPr>
          <p:cNvPr id="13" name="Text 9"/>
          <p:cNvSpPr txBox="1"/>
          <p:nvPr/>
        </p:nvSpPr>
        <p:spPr>
          <a:xfrm>
            <a:off x="2953512" y="3487928"/>
            <a:ext cx="4069080" cy="664464"/>
          </a:xfrm>
          <a:prstGeom prst="rect">
            <a:avLst/>
          </a:prstGeom>
          <a:noFill/>
          <a:ln/>
        </p:spPr>
        <p:txBody>
          <a:bodyPr wrap="square" lIns="0" tIns="0" rIns="0" bIns="0" rtlCol="0" anchor="t"/>
          <a:lstStyle/>
          <a:p>
            <a:pPr algn="l" indent="0" marL="0">
              <a:lnSpc>
                <a:spcPct val="128000"/>
              </a:lnSpc>
              <a:buNone/>
            </a:pPr>
            <a:r>
              <a:rPr lang="en-US" sz="1250" dirty="0">
                <a:solidFill>
                  <a:srgbClr val="5A6772"/>
                </a:solidFill>
                <a:latin typeface="Arial" pitchFamily="34" charset="0"/>
                <a:ea typeface="Arial" pitchFamily="34" charset="-122"/>
                <a:cs typeface="Arial" pitchFamily="34" charset="-120"/>
              </a:rPr>
              <a:t>A content calendar built a month ahead, posts designed in your brand, three posts a week, stories and hashtags.</a:t>
            </a:r>
            <a:endParaRPr lang="en-US" sz="1250" dirty="0"/>
          </a:p>
        </p:txBody>
      </p:sp>
      <p:sp>
        <p:nvSpPr>
          <p:cNvPr id="14" name="Shape 10"/>
          <p:cNvSpPr/>
          <p:nvPr/>
        </p:nvSpPr>
        <p:spPr>
          <a:xfrm>
            <a:off x="713232" y="4271264"/>
            <a:ext cx="6309360" cy="0"/>
          </a:xfrm>
          <a:prstGeom prst="line">
            <a:avLst/>
          </a:prstGeom>
          <a:noFill/>
          <a:ln w="9525">
            <a:solidFill>
              <a:srgbClr val="E2EAF1"/>
            </a:solidFill>
            <a:prstDash val="solid"/>
          </a:ln>
        </p:spPr>
      </p:sp>
      <p:sp>
        <p:nvSpPr>
          <p:cNvPr id="15" name="Text 11"/>
          <p:cNvSpPr txBox="1"/>
          <p:nvPr/>
        </p:nvSpPr>
        <p:spPr>
          <a:xfrm>
            <a:off x="713232" y="4390136"/>
            <a:ext cx="1828800" cy="268224"/>
          </a:xfrm>
          <a:prstGeom prst="rect">
            <a:avLst/>
          </a:prstGeom>
          <a:noFill/>
          <a:ln/>
        </p:spPr>
        <p:txBody>
          <a:bodyPr wrap="square" lIns="0" tIns="0" rIns="0" bIns="0" rtlCol="0" anchor="t"/>
          <a:lstStyle/>
          <a:p>
            <a:pPr algn="l" indent="0" marL="0">
              <a:lnSpc>
                <a:spcPct val="110000"/>
              </a:lnSpc>
              <a:buNone/>
            </a:pPr>
            <a:r>
              <a:rPr lang="en-US" sz="1500" b="1" dirty="0">
                <a:solidFill>
                  <a:srgbClr val="0F151B"/>
                </a:solidFill>
                <a:latin typeface="Arial" pitchFamily="34" charset="0"/>
                <a:ea typeface="Arial" pitchFamily="34" charset="-122"/>
                <a:cs typeface="Arial" pitchFamily="34" charset="-120"/>
              </a:rPr>
              <a:t>And then</a:t>
            </a:r>
            <a:endParaRPr lang="en-US" sz="1500" dirty="0"/>
          </a:p>
        </p:txBody>
      </p:sp>
      <p:sp>
        <p:nvSpPr>
          <p:cNvPr id="16" name="Text 12"/>
          <p:cNvSpPr txBox="1"/>
          <p:nvPr/>
        </p:nvSpPr>
        <p:spPr>
          <a:xfrm>
            <a:off x="2953512" y="4390136"/>
            <a:ext cx="4069080" cy="461264"/>
          </a:xfrm>
          <a:prstGeom prst="rect">
            <a:avLst/>
          </a:prstGeom>
          <a:noFill/>
          <a:ln/>
        </p:spPr>
        <p:txBody>
          <a:bodyPr wrap="square" lIns="0" tIns="0" rIns="0" bIns="0" rtlCol="0" anchor="t"/>
          <a:lstStyle/>
          <a:p>
            <a:pPr algn="l" indent="0" marL="0">
              <a:lnSpc>
                <a:spcPct val="128000"/>
              </a:lnSpc>
              <a:buNone/>
            </a:pPr>
            <a:r>
              <a:rPr lang="en-US" sz="1250" dirty="0">
                <a:solidFill>
                  <a:srgbClr val="5A6772"/>
                </a:solidFill>
                <a:latin typeface="Arial" pitchFamily="34" charset="0"/>
                <a:ea typeface="Arial" pitchFamily="34" charset="-122"/>
                <a:cs typeface="Arial" pitchFamily="34" charset="-120"/>
              </a:rPr>
              <a:t>Engagement and follower growth work, with analytics reported every month.</a:t>
            </a:r>
            <a:endParaRPr lang="en-US" sz="1250" dirty="0"/>
          </a:p>
        </p:txBody>
      </p:sp>
      <p:sp>
        <p:nvSpPr>
          <p:cNvPr id="17" name="Text 13"/>
          <p:cNvSpPr txBox="1"/>
          <p:nvPr/>
        </p:nvSpPr>
        <p:spPr>
          <a:xfrm>
            <a:off x="7726680" y="1371600"/>
            <a:ext cx="3749040" cy="201168"/>
          </a:xfrm>
          <a:prstGeom prst="rect">
            <a:avLst/>
          </a:prstGeom>
          <a:noFill/>
          <a:ln/>
        </p:spPr>
        <p:txBody>
          <a:bodyPr wrap="square" lIns="0" tIns="0" rIns="0" bIns="0" rtlCol="0" anchor="t"/>
          <a:lstStyle/>
          <a:p>
            <a:pPr algn="l" indent="0" marL="0">
              <a:buNone/>
            </a:pPr>
            <a:r>
              <a:rPr lang="en-US" sz="1050" b="1" spc="240" kern="0" dirty="0">
                <a:solidFill>
                  <a:srgbClr val="5AA7E0"/>
                </a:solidFill>
                <a:latin typeface="Arial" pitchFamily="34" charset="0"/>
                <a:ea typeface="Arial" pitchFamily="34" charset="-122"/>
                <a:cs typeface="Arial" pitchFamily="34" charset="-120"/>
              </a:rPr>
              <a:t>PROOF · GRAND ENTRY DOORS</a:t>
            </a:r>
            <a:endParaRPr lang="en-US" sz="1050" dirty="0"/>
          </a:p>
        </p:txBody>
      </p:sp>
      <p:sp>
        <p:nvSpPr>
          <p:cNvPr id="18" name="Text 14"/>
          <p:cNvSpPr txBox="1"/>
          <p:nvPr/>
        </p:nvSpPr>
        <p:spPr>
          <a:xfrm>
            <a:off x="7726680" y="1700784"/>
            <a:ext cx="3749040" cy="594868"/>
          </a:xfrm>
          <a:prstGeom prst="rect">
            <a:avLst/>
          </a:prstGeom>
          <a:noFill/>
          <a:ln/>
        </p:spPr>
        <p:txBody>
          <a:bodyPr wrap="square" lIns="0" tIns="0" rIns="0" bIns="0" rtlCol="0" anchor="t"/>
          <a:lstStyle/>
          <a:p>
            <a:pPr algn="l" indent="0" marL="0">
              <a:lnSpc>
                <a:spcPct val="110000"/>
              </a:lnSpc>
              <a:buNone/>
            </a:pPr>
            <a:r>
              <a:rPr lang="en-US" sz="1900" b="1" dirty="0">
                <a:solidFill>
                  <a:srgbClr val="FFFFFF"/>
                </a:solidFill>
                <a:latin typeface="Arial" pitchFamily="34" charset="0"/>
                <a:ea typeface="Arial" pitchFamily="34" charset="-122"/>
                <a:cs typeface="Arial" pitchFamily="34" charset="-120"/>
              </a:rPr>
              <a:t>A dormant Pinterest account turned into a growth channel</a:t>
            </a:r>
            <a:endParaRPr lang="en-US" sz="1900" dirty="0"/>
          </a:p>
        </p:txBody>
      </p:sp>
      <p:sp>
        <p:nvSpPr>
          <p:cNvPr id="19" name="Text 15"/>
          <p:cNvSpPr txBox="1"/>
          <p:nvPr/>
        </p:nvSpPr>
        <p:spPr>
          <a:xfrm>
            <a:off x="7726680" y="2679700"/>
            <a:ext cx="1783080" cy="419608"/>
          </a:xfrm>
          <a:prstGeom prst="rect">
            <a:avLst/>
          </a:prstGeom>
          <a:noFill/>
          <a:ln/>
        </p:spPr>
        <p:txBody>
          <a:bodyPr wrap="square" lIns="0" tIns="0" rIns="0" bIns="0" rtlCol="0" anchor="t"/>
          <a:lstStyle/>
          <a:p>
            <a:pPr algn="l" indent="0" marL="0">
              <a:lnSpc>
                <a:spcPct val="100000"/>
              </a:lnSpc>
              <a:buNone/>
            </a:pPr>
            <a:r>
              <a:rPr lang="en-US" sz="2800" b="1" dirty="0">
                <a:solidFill>
                  <a:srgbClr val="5AA7E0"/>
                </a:solidFill>
                <a:latin typeface="Arial" pitchFamily="34" charset="0"/>
                <a:ea typeface="Arial" pitchFamily="34" charset="-122"/>
                <a:cs typeface="Arial" pitchFamily="34" charset="-120"/>
              </a:rPr>
              <a:t>6.09M</a:t>
            </a:r>
            <a:endParaRPr lang="en-US" sz="2800" dirty="0"/>
          </a:p>
        </p:txBody>
      </p:sp>
      <p:sp>
        <p:nvSpPr>
          <p:cNvPr id="20" name="Text 16"/>
          <p:cNvSpPr txBox="1"/>
          <p:nvPr/>
        </p:nvSpPr>
        <p:spPr>
          <a:xfrm>
            <a:off x="7726680" y="3154172"/>
            <a:ext cx="1783080" cy="246888"/>
          </a:xfrm>
          <a:prstGeom prst="rect">
            <a:avLst/>
          </a:prstGeom>
          <a:noFill/>
          <a:ln/>
        </p:spPr>
        <p:txBody>
          <a:bodyPr wrap="square" lIns="0" tIns="0" rIns="0" bIns="0" rtlCol="0" anchor="t"/>
          <a:lstStyle/>
          <a:p>
            <a:pPr algn="l" indent="0" marL="0">
              <a:lnSpc>
                <a:spcPct val="120000"/>
              </a:lnSpc>
              <a:buNone/>
            </a:pPr>
            <a:r>
              <a:rPr lang="en-US" sz="1200" b="1" dirty="0">
                <a:solidFill>
                  <a:srgbClr val="FFFFFF"/>
                </a:solidFill>
                <a:latin typeface="Arial" pitchFamily="34" charset="0"/>
                <a:ea typeface="Arial" pitchFamily="34" charset="-122"/>
                <a:cs typeface="Arial" pitchFamily="34" charset="-120"/>
              </a:rPr>
              <a:t>Impressions in 2025</a:t>
            </a:r>
            <a:endParaRPr lang="en-US" sz="1200" dirty="0"/>
          </a:p>
        </p:txBody>
      </p:sp>
      <p:sp>
        <p:nvSpPr>
          <p:cNvPr id="21" name="Text 17"/>
          <p:cNvSpPr txBox="1"/>
          <p:nvPr/>
        </p:nvSpPr>
        <p:spPr>
          <a:xfrm>
            <a:off x="9692640" y="2679700"/>
            <a:ext cx="1783080" cy="419608"/>
          </a:xfrm>
          <a:prstGeom prst="rect">
            <a:avLst/>
          </a:prstGeom>
          <a:noFill/>
          <a:ln/>
        </p:spPr>
        <p:txBody>
          <a:bodyPr wrap="square" lIns="0" tIns="0" rIns="0" bIns="0" rtlCol="0" anchor="t"/>
          <a:lstStyle/>
          <a:p>
            <a:pPr algn="l" indent="0" marL="0">
              <a:lnSpc>
                <a:spcPct val="100000"/>
              </a:lnSpc>
              <a:buNone/>
            </a:pPr>
            <a:r>
              <a:rPr lang="en-US" sz="2800" b="1" dirty="0">
                <a:solidFill>
                  <a:srgbClr val="5AA7E0"/>
                </a:solidFill>
                <a:latin typeface="Arial" pitchFamily="34" charset="0"/>
                <a:ea typeface="Arial" pitchFamily="34" charset="-122"/>
                <a:cs typeface="Arial" pitchFamily="34" charset="-120"/>
              </a:rPr>
              <a:t>217.59K</a:t>
            </a:r>
            <a:endParaRPr lang="en-US" sz="2800" dirty="0"/>
          </a:p>
        </p:txBody>
      </p:sp>
      <p:sp>
        <p:nvSpPr>
          <p:cNvPr id="22" name="Text 18"/>
          <p:cNvSpPr txBox="1"/>
          <p:nvPr/>
        </p:nvSpPr>
        <p:spPr>
          <a:xfrm>
            <a:off x="9692640" y="3154172"/>
            <a:ext cx="1783080" cy="246888"/>
          </a:xfrm>
          <a:prstGeom prst="rect">
            <a:avLst/>
          </a:prstGeom>
          <a:noFill/>
          <a:ln/>
        </p:spPr>
        <p:txBody>
          <a:bodyPr wrap="square" lIns="0" tIns="0" rIns="0" bIns="0" rtlCol="0" anchor="t"/>
          <a:lstStyle/>
          <a:p>
            <a:pPr algn="l" indent="0" marL="0">
              <a:lnSpc>
                <a:spcPct val="120000"/>
              </a:lnSpc>
              <a:buNone/>
            </a:pPr>
            <a:r>
              <a:rPr lang="en-US" sz="1200" b="1" dirty="0">
                <a:solidFill>
                  <a:srgbClr val="FFFFFF"/>
                </a:solidFill>
                <a:latin typeface="Arial" pitchFamily="34" charset="0"/>
                <a:ea typeface="Arial" pitchFamily="34" charset="-122"/>
                <a:cs typeface="Arial" pitchFamily="34" charset="-120"/>
              </a:rPr>
              <a:t>Engagements</a:t>
            </a:r>
            <a:endParaRPr lang="en-US" sz="1200" dirty="0"/>
          </a:p>
        </p:txBody>
      </p:sp>
      <p:sp>
        <p:nvSpPr>
          <p:cNvPr id="23" name="Text 19"/>
          <p:cNvSpPr txBox="1"/>
          <p:nvPr/>
        </p:nvSpPr>
        <p:spPr>
          <a:xfrm>
            <a:off x="7726680" y="3978148"/>
            <a:ext cx="1783080" cy="419608"/>
          </a:xfrm>
          <a:prstGeom prst="rect">
            <a:avLst/>
          </a:prstGeom>
          <a:noFill/>
          <a:ln/>
        </p:spPr>
        <p:txBody>
          <a:bodyPr wrap="square" lIns="0" tIns="0" rIns="0" bIns="0" rtlCol="0" anchor="t"/>
          <a:lstStyle/>
          <a:p>
            <a:pPr algn="l" indent="0" marL="0">
              <a:lnSpc>
                <a:spcPct val="100000"/>
              </a:lnSpc>
              <a:buNone/>
            </a:pPr>
            <a:r>
              <a:rPr lang="en-US" sz="2800" b="1" dirty="0">
                <a:solidFill>
                  <a:srgbClr val="5AA7E0"/>
                </a:solidFill>
                <a:latin typeface="Arial" pitchFamily="34" charset="0"/>
                <a:ea typeface="Arial" pitchFamily="34" charset="-122"/>
                <a:cs typeface="Arial" pitchFamily="34" charset="-120"/>
              </a:rPr>
              <a:t>34.66K</a:t>
            </a:r>
            <a:endParaRPr lang="en-US" sz="2800" dirty="0"/>
          </a:p>
        </p:txBody>
      </p:sp>
      <p:sp>
        <p:nvSpPr>
          <p:cNvPr id="24" name="Text 20"/>
          <p:cNvSpPr txBox="1"/>
          <p:nvPr/>
        </p:nvSpPr>
        <p:spPr>
          <a:xfrm>
            <a:off x="7726680" y="4452620"/>
            <a:ext cx="1783080" cy="246888"/>
          </a:xfrm>
          <a:prstGeom prst="rect">
            <a:avLst/>
          </a:prstGeom>
          <a:noFill/>
          <a:ln/>
        </p:spPr>
        <p:txBody>
          <a:bodyPr wrap="square" lIns="0" tIns="0" rIns="0" bIns="0" rtlCol="0" anchor="t"/>
          <a:lstStyle/>
          <a:p>
            <a:pPr algn="l" indent="0" marL="0">
              <a:lnSpc>
                <a:spcPct val="120000"/>
              </a:lnSpc>
              <a:buNone/>
            </a:pPr>
            <a:r>
              <a:rPr lang="en-US" sz="1200" b="1" dirty="0">
                <a:solidFill>
                  <a:srgbClr val="FFFFFF"/>
                </a:solidFill>
                <a:latin typeface="Arial" pitchFamily="34" charset="0"/>
                <a:ea typeface="Arial" pitchFamily="34" charset="-122"/>
                <a:cs typeface="Arial" pitchFamily="34" charset="-120"/>
              </a:rPr>
              <a:t>Saves</a:t>
            </a:r>
            <a:endParaRPr lang="en-US" sz="1200" dirty="0"/>
          </a:p>
        </p:txBody>
      </p:sp>
      <p:sp>
        <p:nvSpPr>
          <p:cNvPr id="25" name="Text 21"/>
          <p:cNvSpPr txBox="1"/>
          <p:nvPr/>
        </p:nvSpPr>
        <p:spPr>
          <a:xfrm>
            <a:off x="9692640" y="3978148"/>
            <a:ext cx="1783080" cy="419608"/>
          </a:xfrm>
          <a:prstGeom prst="rect">
            <a:avLst/>
          </a:prstGeom>
          <a:noFill/>
          <a:ln/>
        </p:spPr>
        <p:txBody>
          <a:bodyPr wrap="square" lIns="0" tIns="0" rIns="0" bIns="0" rtlCol="0" anchor="t"/>
          <a:lstStyle/>
          <a:p>
            <a:pPr algn="l" indent="0" marL="0">
              <a:lnSpc>
                <a:spcPct val="100000"/>
              </a:lnSpc>
              <a:buNone/>
            </a:pPr>
            <a:r>
              <a:rPr lang="en-US" sz="2800" b="1" dirty="0">
                <a:solidFill>
                  <a:srgbClr val="5AA7E0"/>
                </a:solidFill>
                <a:latin typeface="Arial" pitchFamily="34" charset="0"/>
                <a:ea typeface="Arial" pitchFamily="34" charset="-122"/>
                <a:cs typeface="Arial" pitchFamily="34" charset="-120"/>
              </a:rPr>
              <a:t>91.89K</a:t>
            </a:r>
            <a:endParaRPr lang="en-US" sz="2800" dirty="0"/>
          </a:p>
        </p:txBody>
      </p:sp>
      <p:sp>
        <p:nvSpPr>
          <p:cNvPr id="26" name="Text 22"/>
          <p:cNvSpPr txBox="1"/>
          <p:nvPr/>
        </p:nvSpPr>
        <p:spPr>
          <a:xfrm>
            <a:off x="9692640" y="4452620"/>
            <a:ext cx="1783080" cy="246888"/>
          </a:xfrm>
          <a:prstGeom prst="rect">
            <a:avLst/>
          </a:prstGeom>
          <a:noFill/>
          <a:ln/>
        </p:spPr>
        <p:txBody>
          <a:bodyPr wrap="square" lIns="0" tIns="0" rIns="0" bIns="0" rtlCol="0" anchor="t"/>
          <a:lstStyle/>
          <a:p>
            <a:pPr algn="l" indent="0" marL="0">
              <a:lnSpc>
                <a:spcPct val="120000"/>
              </a:lnSpc>
              <a:buNone/>
            </a:pPr>
            <a:r>
              <a:rPr lang="en-US" sz="1200" b="1" dirty="0">
                <a:solidFill>
                  <a:srgbClr val="FFFFFF"/>
                </a:solidFill>
                <a:latin typeface="Arial" pitchFamily="34" charset="0"/>
                <a:ea typeface="Arial" pitchFamily="34" charset="-122"/>
                <a:cs typeface="Arial" pitchFamily="34" charset="-120"/>
              </a:rPr>
              <a:t>Engaged audience</a:t>
            </a:r>
            <a:endParaRPr lang="en-US" sz="1200" dirty="0"/>
          </a:p>
        </p:txBody>
      </p:sp>
      <p:sp>
        <p:nvSpPr>
          <p:cNvPr id="27" name="Text 23"/>
          <p:cNvSpPr txBox="1"/>
          <p:nvPr/>
        </p:nvSpPr>
        <p:spPr>
          <a:xfrm>
            <a:off x="713232" y="6400800"/>
            <a:ext cx="9942271" cy="237744"/>
          </a:xfrm>
          <a:prstGeom prst="rect">
            <a:avLst/>
          </a:prstGeom>
          <a:noFill/>
          <a:ln/>
        </p:spPr>
        <p:txBody>
          <a:bodyPr wrap="square" lIns="0" tIns="0" rIns="0" bIns="0" rtlCol="0" anchor="t"/>
          <a:lstStyle/>
          <a:p>
            <a:pPr algn="l" indent="0" marL="0">
              <a:buNone/>
            </a:pPr>
            <a:r>
              <a:rPr lang="en-US" sz="950" i="1" dirty="0">
                <a:solidFill>
                  <a:srgbClr val="8A97A2"/>
                </a:solidFill>
                <a:latin typeface="Arial" pitchFamily="34" charset="0"/>
                <a:ea typeface="Arial" pitchFamily="34" charset="-122"/>
                <a:cs typeface="Arial" pitchFamily="34" charset="-120"/>
              </a:rPr>
              <a:t>Social media management starts at $1,000 per month and scales with post volume.</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Momentum Digital logo">    </p:cNvPr>
          <p:cNvPicPr>
            <a:picLocks noChangeAspect="1"/>
          </p:cNvPicPr>
          <p:nvPr/>
        </p:nvPicPr>
        <p:blipFill>
          <a:blip r:embed="rId1"/>
          <a:stretch>
            <a:fillRect/>
          </a:stretch>
        </p:blipFill>
        <p:spPr>
          <a:xfrm>
            <a:off x="10106863" y="658368"/>
            <a:ext cx="1371600" cy="294904"/>
          </a:xfrm>
          <a:prstGeom prst="rect">
            <a:avLst/>
          </a:prstGeom>
        </p:spPr>
      </p:pic>
      <p:sp>
        <p:nvSpPr>
          <p:cNvPr id="3" name="Text 0"/>
          <p:cNvSpPr txBox="1"/>
          <p:nvPr/>
        </p:nvSpPr>
        <p:spPr>
          <a:xfrm>
            <a:off x="713232" y="658368"/>
            <a:ext cx="8753551" cy="201168"/>
          </a:xfrm>
          <a:prstGeom prst="rect">
            <a:avLst/>
          </a:prstGeom>
          <a:noFill/>
          <a:ln/>
        </p:spPr>
        <p:txBody>
          <a:bodyPr wrap="square" lIns="0" tIns="0" rIns="0" bIns="0" rtlCol="0" anchor="t"/>
          <a:lstStyle/>
          <a:p>
            <a:pPr algn="l" indent="0" marL="0">
              <a:buNone/>
            </a:pPr>
            <a:r>
              <a:rPr lang="en-US" sz="1050" b="1" spc="240" kern="0" dirty="0">
                <a:solidFill>
                  <a:srgbClr val="2A80C2"/>
                </a:solidFill>
                <a:latin typeface="Arial" pitchFamily="34" charset="0"/>
                <a:ea typeface="Arial" pitchFamily="34" charset="-122"/>
                <a:cs typeface="Arial" pitchFamily="34" charset="-120"/>
              </a:rPr>
              <a:t>SERVICE LINE</a:t>
            </a:r>
            <a:endParaRPr lang="en-US" sz="1050" dirty="0"/>
          </a:p>
        </p:txBody>
      </p:sp>
      <p:sp>
        <p:nvSpPr>
          <p:cNvPr id="4" name="Text 1"/>
          <p:cNvSpPr txBox="1"/>
          <p:nvPr/>
        </p:nvSpPr>
        <p:spPr>
          <a:xfrm>
            <a:off x="713232" y="987552"/>
            <a:ext cx="8570671" cy="569214"/>
          </a:xfrm>
          <a:prstGeom prst="rect">
            <a:avLst/>
          </a:prstGeom>
          <a:noFill/>
          <a:ln/>
        </p:spPr>
        <p:txBody>
          <a:bodyPr wrap="square" lIns="0" tIns="0" rIns="0" bIns="0" rtlCol="0" anchor="t"/>
          <a:lstStyle/>
          <a:p>
            <a:pPr algn="l" indent="0" marL="0">
              <a:lnSpc>
                <a:spcPct val="102000"/>
              </a:lnSpc>
              <a:buNone/>
            </a:pPr>
            <a:r>
              <a:rPr lang="en-US" sz="3900" b="1" dirty="0">
                <a:solidFill>
                  <a:srgbClr val="0F151B"/>
                </a:solidFill>
                <a:latin typeface="Arial" pitchFamily="34" charset="0"/>
                <a:ea typeface="Arial" pitchFamily="34" charset="-122"/>
                <a:cs typeface="Arial" pitchFamily="34" charset="-120"/>
              </a:rPr>
              <a:t>Design and web</a:t>
            </a:r>
            <a:endParaRPr lang="en-US" sz="3900" dirty="0"/>
          </a:p>
        </p:txBody>
      </p:sp>
      <p:sp>
        <p:nvSpPr>
          <p:cNvPr id="5" name="Text 2"/>
          <p:cNvSpPr txBox="1"/>
          <p:nvPr/>
        </p:nvSpPr>
        <p:spPr>
          <a:xfrm>
            <a:off x="713232" y="1703070"/>
            <a:ext cx="8046720" cy="356616"/>
          </a:xfrm>
          <a:prstGeom prst="rect">
            <a:avLst/>
          </a:prstGeom>
          <a:noFill/>
          <a:ln/>
        </p:spPr>
        <p:txBody>
          <a:bodyPr wrap="square" lIns="0" tIns="0" rIns="0" bIns="0" rtlCol="0" anchor="t"/>
          <a:lstStyle/>
          <a:p>
            <a:pPr algn="l" indent="0" marL="0">
              <a:lnSpc>
                <a:spcPct val="128000"/>
              </a:lnSpc>
              <a:buNone/>
            </a:pPr>
            <a:r>
              <a:rPr lang="en-US" sz="1800" dirty="0">
                <a:solidFill>
                  <a:srgbClr val="5A6772"/>
                </a:solidFill>
                <a:latin typeface="Arial" pitchFamily="34" charset="0"/>
                <a:ea typeface="Arial" pitchFamily="34" charset="-122"/>
                <a:cs typeface="Arial" pitchFamily="34" charset="-120"/>
              </a:rPr>
              <a:t>Sites built to load fast, read well on a phone and convert.</a:t>
            </a:r>
            <a:endParaRPr lang="en-US" sz="1800" dirty="0"/>
          </a:p>
        </p:txBody>
      </p:sp>
      <p:sp>
        <p:nvSpPr>
          <p:cNvPr id="6" name="Text 3"/>
          <p:cNvSpPr txBox="1"/>
          <p:nvPr/>
        </p:nvSpPr>
        <p:spPr>
          <a:xfrm>
            <a:off x="10929823" y="6437376"/>
            <a:ext cx="548640" cy="219456"/>
          </a:xfrm>
          <a:prstGeom prst="rect">
            <a:avLst/>
          </a:prstGeom>
          <a:noFill/>
          <a:ln/>
        </p:spPr>
        <p:txBody>
          <a:bodyPr wrap="square" lIns="0" tIns="0" rIns="0" bIns="0" rtlCol="0" anchor="t"/>
          <a:lstStyle/>
          <a:p>
            <a:pPr algn="r" indent="0" marL="0">
              <a:buNone/>
            </a:pPr>
            <a:r>
              <a:rPr lang="en-US" sz="1050" b="1" spc="100" kern="0" dirty="0">
                <a:solidFill>
                  <a:srgbClr val="CBD8E3"/>
                </a:solidFill>
                <a:latin typeface="Arial" pitchFamily="34" charset="0"/>
                <a:ea typeface="Arial" pitchFamily="34" charset="-122"/>
                <a:cs typeface="Arial" pitchFamily="34" charset="-120"/>
              </a:rPr>
              <a:t>07</a:t>
            </a:r>
            <a:endParaRPr lang="en-US" sz="1050" dirty="0"/>
          </a:p>
        </p:txBody>
      </p:sp>
      <p:sp>
        <p:nvSpPr>
          <p:cNvPr id="7" name="Text 4"/>
          <p:cNvSpPr txBox="1"/>
          <p:nvPr/>
        </p:nvSpPr>
        <p:spPr>
          <a:xfrm>
            <a:off x="713232" y="2286000"/>
            <a:ext cx="2377440" cy="282448"/>
          </a:xfrm>
          <a:prstGeom prst="rect">
            <a:avLst/>
          </a:prstGeom>
          <a:noFill/>
          <a:ln/>
        </p:spPr>
        <p:txBody>
          <a:bodyPr wrap="square" lIns="0" tIns="0" rIns="0" bIns="0" rtlCol="0" anchor="t"/>
          <a:lstStyle/>
          <a:p>
            <a:pPr algn="l" indent="0" marL="0">
              <a:lnSpc>
                <a:spcPct val="110000"/>
              </a:lnSpc>
              <a:buNone/>
            </a:pPr>
            <a:r>
              <a:rPr lang="en-US" sz="1600" b="1" dirty="0">
                <a:solidFill>
                  <a:srgbClr val="0F151B"/>
                </a:solidFill>
                <a:latin typeface="Arial" pitchFamily="34" charset="0"/>
                <a:ea typeface="Arial" pitchFamily="34" charset="-122"/>
                <a:cs typeface="Arial" pitchFamily="34" charset="-120"/>
              </a:rPr>
              <a:t>What we build</a:t>
            </a:r>
            <a:endParaRPr lang="en-US" sz="1600" dirty="0"/>
          </a:p>
        </p:txBody>
      </p:sp>
      <p:sp>
        <p:nvSpPr>
          <p:cNvPr id="8" name="Text 5"/>
          <p:cNvSpPr txBox="1"/>
          <p:nvPr/>
        </p:nvSpPr>
        <p:spPr>
          <a:xfrm>
            <a:off x="3502152" y="2286000"/>
            <a:ext cx="7976311" cy="477520"/>
          </a:xfrm>
          <a:prstGeom prst="rect">
            <a:avLst/>
          </a:prstGeom>
          <a:noFill/>
          <a:ln/>
        </p:spPr>
        <p:txBody>
          <a:bodyPr wrap="square" lIns="0" tIns="0" rIns="0" bIns="0" rtlCol="0" anchor="t"/>
          <a:lstStyle/>
          <a:p>
            <a:pPr algn="l" indent="0" marL="0">
              <a:lnSpc>
                <a:spcPct val="128000"/>
              </a:lnSpc>
              <a:buNone/>
            </a:pPr>
            <a:r>
              <a:rPr lang="en-US" sz="1300" dirty="0">
                <a:solidFill>
                  <a:srgbClr val="5A6772"/>
                </a:solidFill>
                <a:latin typeface="Arial" pitchFamily="34" charset="0"/>
                <a:ea typeface="Arial" pitchFamily="34" charset="-122"/>
                <a:cs typeface="Arial" pitchFamily="34" charset="-120"/>
              </a:rPr>
              <a:t>Website design and development, WordPress and Shopify builds, UI and UX, logo and brand identity, graphic design and brochures, design for conversions.</a:t>
            </a:r>
            <a:endParaRPr lang="en-US" sz="1300" dirty="0"/>
          </a:p>
        </p:txBody>
      </p:sp>
      <p:sp>
        <p:nvSpPr>
          <p:cNvPr id="9" name="Shape 6"/>
          <p:cNvSpPr/>
          <p:nvPr/>
        </p:nvSpPr>
        <p:spPr>
          <a:xfrm>
            <a:off x="713232" y="3063240"/>
            <a:ext cx="10765231" cy="0"/>
          </a:xfrm>
          <a:prstGeom prst="line">
            <a:avLst/>
          </a:prstGeom>
          <a:noFill/>
          <a:ln w="9525">
            <a:solidFill>
              <a:srgbClr val="E2EAF1"/>
            </a:solidFill>
            <a:prstDash val="solid"/>
          </a:ln>
        </p:spPr>
      </p:sp>
      <p:sp>
        <p:nvSpPr>
          <p:cNvPr id="10" name="Text 7"/>
          <p:cNvSpPr txBox="1"/>
          <p:nvPr/>
        </p:nvSpPr>
        <p:spPr>
          <a:xfrm>
            <a:off x="713232" y="3291840"/>
            <a:ext cx="7315200" cy="201168"/>
          </a:xfrm>
          <a:prstGeom prst="rect">
            <a:avLst/>
          </a:prstGeom>
          <a:noFill/>
          <a:ln/>
        </p:spPr>
        <p:txBody>
          <a:bodyPr wrap="square" lIns="0" tIns="0" rIns="0" bIns="0" rtlCol="0" anchor="t"/>
          <a:lstStyle/>
          <a:p>
            <a:pPr algn="l" indent="0" marL="0">
              <a:buNone/>
            </a:pPr>
            <a:r>
              <a:rPr lang="en-US" sz="1050" b="1" spc="240" kern="0" dirty="0">
                <a:solidFill>
                  <a:srgbClr val="2A80C2"/>
                </a:solidFill>
                <a:latin typeface="Arial" pitchFamily="34" charset="0"/>
                <a:ea typeface="Arial" pitchFamily="34" charset="-122"/>
                <a:cs typeface="Arial" pitchFamily="34" charset="-120"/>
              </a:rPr>
              <a:t>PROOF · NENNER LAW, PHILADELPHIA CRIMINAL DEFENSE</a:t>
            </a:r>
            <a:endParaRPr lang="en-US" sz="1050" dirty="0"/>
          </a:p>
        </p:txBody>
      </p:sp>
      <p:sp>
        <p:nvSpPr>
          <p:cNvPr id="11" name="Text 8"/>
          <p:cNvSpPr txBox="1"/>
          <p:nvPr/>
        </p:nvSpPr>
        <p:spPr>
          <a:xfrm>
            <a:off x="713232" y="3621024"/>
            <a:ext cx="7863840" cy="379476"/>
          </a:xfrm>
          <a:prstGeom prst="rect">
            <a:avLst/>
          </a:prstGeom>
          <a:noFill/>
          <a:ln/>
        </p:spPr>
        <p:txBody>
          <a:bodyPr wrap="square" lIns="0" tIns="0" rIns="0" bIns="0" rtlCol="0" anchor="t"/>
          <a:lstStyle/>
          <a:p>
            <a:pPr algn="l" indent="0" marL="0">
              <a:lnSpc>
                <a:spcPct val="108000"/>
              </a:lnSpc>
              <a:buNone/>
            </a:pPr>
            <a:r>
              <a:rPr lang="en-US" sz="2300" b="1" dirty="0">
                <a:solidFill>
                  <a:srgbClr val="0F151B"/>
                </a:solidFill>
                <a:latin typeface="Arial" pitchFamily="34" charset="0"/>
                <a:ea typeface="Arial" pitchFamily="34" charset="-122"/>
                <a:cs typeface="Arial" pitchFamily="34" charset="-120"/>
              </a:rPr>
              <a:t>A mobile first rebuild that moved every number</a:t>
            </a:r>
            <a:endParaRPr lang="en-US" sz="2300" dirty="0"/>
          </a:p>
        </p:txBody>
      </p:sp>
      <p:sp>
        <p:nvSpPr>
          <p:cNvPr id="12" name="Text 9"/>
          <p:cNvSpPr txBox="1"/>
          <p:nvPr/>
        </p:nvSpPr>
        <p:spPr>
          <a:xfrm>
            <a:off x="713232" y="4526280"/>
            <a:ext cx="2179244" cy="468376"/>
          </a:xfrm>
          <a:prstGeom prst="rect">
            <a:avLst/>
          </a:prstGeom>
          <a:noFill/>
          <a:ln/>
        </p:spPr>
        <p:txBody>
          <a:bodyPr wrap="square" lIns="0" tIns="0" rIns="0" bIns="0" rtlCol="0" anchor="t"/>
          <a:lstStyle/>
          <a:p>
            <a:pPr algn="l" indent="0" marL="0">
              <a:lnSpc>
                <a:spcPct val="100000"/>
              </a:lnSpc>
              <a:buNone/>
            </a:pPr>
            <a:r>
              <a:rPr lang="en-US" sz="3400" b="1" dirty="0">
                <a:solidFill>
                  <a:srgbClr val="2A80C2"/>
                </a:solidFill>
                <a:latin typeface="Arial" pitchFamily="34" charset="0"/>
                <a:ea typeface="Arial" pitchFamily="34" charset="-122"/>
                <a:cs typeface="Arial" pitchFamily="34" charset="-120"/>
              </a:rPr>
              <a:t>24 → 54</a:t>
            </a:r>
            <a:endParaRPr lang="en-US" sz="3400" dirty="0"/>
          </a:p>
        </p:txBody>
      </p:sp>
      <p:sp>
        <p:nvSpPr>
          <p:cNvPr id="13" name="Text 10"/>
          <p:cNvSpPr txBox="1"/>
          <p:nvPr/>
        </p:nvSpPr>
        <p:spPr>
          <a:xfrm>
            <a:off x="713232" y="5049520"/>
            <a:ext cx="2179244" cy="237744"/>
          </a:xfrm>
          <a:prstGeom prst="rect">
            <a:avLst/>
          </a:prstGeom>
          <a:noFill/>
          <a:ln/>
        </p:spPr>
        <p:txBody>
          <a:bodyPr wrap="square" lIns="0" tIns="0" rIns="0" bIns="0" rtlCol="0" anchor="t"/>
          <a:lstStyle/>
          <a:p>
            <a:pPr algn="l" indent="0" marL="0">
              <a:lnSpc>
                <a:spcPct val="120000"/>
              </a:lnSpc>
              <a:buNone/>
            </a:pPr>
            <a:r>
              <a:rPr lang="en-US" sz="1200" b="1" dirty="0">
                <a:solidFill>
                  <a:srgbClr val="0F151B"/>
                </a:solidFill>
                <a:latin typeface="Arial" pitchFamily="34" charset="0"/>
                <a:ea typeface="Arial" pitchFamily="34" charset="-122"/>
                <a:cs typeface="Arial" pitchFamily="34" charset="-120"/>
              </a:rPr>
              <a:t>Mobile performance score</a:t>
            </a:r>
            <a:endParaRPr lang="en-US" sz="1200" dirty="0"/>
          </a:p>
        </p:txBody>
      </p:sp>
      <p:sp>
        <p:nvSpPr>
          <p:cNvPr id="14" name="Shape 11"/>
          <p:cNvSpPr/>
          <p:nvPr/>
        </p:nvSpPr>
        <p:spPr>
          <a:xfrm>
            <a:off x="3166796" y="4526280"/>
            <a:ext cx="0" cy="934720"/>
          </a:xfrm>
          <a:prstGeom prst="line">
            <a:avLst/>
          </a:prstGeom>
          <a:noFill/>
          <a:ln w="9525">
            <a:solidFill>
              <a:srgbClr val="E2EAF1"/>
            </a:solidFill>
            <a:prstDash val="solid"/>
          </a:ln>
        </p:spPr>
      </p:sp>
      <p:sp>
        <p:nvSpPr>
          <p:cNvPr id="15" name="Text 12"/>
          <p:cNvSpPr txBox="1"/>
          <p:nvPr/>
        </p:nvSpPr>
        <p:spPr>
          <a:xfrm>
            <a:off x="3404540" y="4526280"/>
            <a:ext cx="2179244" cy="468376"/>
          </a:xfrm>
          <a:prstGeom prst="rect">
            <a:avLst/>
          </a:prstGeom>
          <a:noFill/>
          <a:ln/>
        </p:spPr>
        <p:txBody>
          <a:bodyPr wrap="square" lIns="0" tIns="0" rIns="0" bIns="0" rtlCol="0" anchor="t"/>
          <a:lstStyle/>
          <a:p>
            <a:pPr algn="l" indent="0" marL="0">
              <a:lnSpc>
                <a:spcPct val="100000"/>
              </a:lnSpc>
              <a:buNone/>
            </a:pPr>
            <a:r>
              <a:rPr lang="en-US" sz="3400" b="1" dirty="0">
                <a:solidFill>
                  <a:srgbClr val="2A80C2"/>
                </a:solidFill>
                <a:latin typeface="Arial" pitchFamily="34" charset="0"/>
                <a:ea typeface="Arial" pitchFamily="34" charset="-122"/>
                <a:cs typeface="Arial" pitchFamily="34" charset="-120"/>
              </a:rPr>
              <a:t>50 → 64</a:t>
            </a:r>
            <a:endParaRPr lang="en-US" sz="3400" dirty="0"/>
          </a:p>
        </p:txBody>
      </p:sp>
      <p:sp>
        <p:nvSpPr>
          <p:cNvPr id="16" name="Text 13"/>
          <p:cNvSpPr txBox="1"/>
          <p:nvPr/>
        </p:nvSpPr>
        <p:spPr>
          <a:xfrm>
            <a:off x="3404540" y="5049520"/>
            <a:ext cx="2179244" cy="237744"/>
          </a:xfrm>
          <a:prstGeom prst="rect">
            <a:avLst/>
          </a:prstGeom>
          <a:noFill/>
          <a:ln/>
        </p:spPr>
        <p:txBody>
          <a:bodyPr wrap="square" lIns="0" tIns="0" rIns="0" bIns="0" rtlCol="0" anchor="t"/>
          <a:lstStyle/>
          <a:p>
            <a:pPr algn="l" indent="0" marL="0">
              <a:lnSpc>
                <a:spcPct val="120000"/>
              </a:lnSpc>
              <a:buNone/>
            </a:pPr>
            <a:r>
              <a:rPr lang="en-US" sz="1200" b="1" dirty="0">
                <a:solidFill>
                  <a:srgbClr val="0F151B"/>
                </a:solidFill>
                <a:latin typeface="Arial" pitchFamily="34" charset="0"/>
                <a:ea typeface="Arial" pitchFamily="34" charset="-122"/>
                <a:cs typeface="Arial" pitchFamily="34" charset="-120"/>
              </a:rPr>
              <a:t>Desktop performance score</a:t>
            </a:r>
            <a:endParaRPr lang="en-US" sz="1200" dirty="0"/>
          </a:p>
        </p:txBody>
      </p:sp>
      <p:sp>
        <p:nvSpPr>
          <p:cNvPr id="17" name="Shape 14"/>
          <p:cNvSpPr/>
          <p:nvPr/>
        </p:nvSpPr>
        <p:spPr>
          <a:xfrm>
            <a:off x="5858104" y="4526280"/>
            <a:ext cx="0" cy="934720"/>
          </a:xfrm>
          <a:prstGeom prst="line">
            <a:avLst/>
          </a:prstGeom>
          <a:noFill/>
          <a:ln w="9525">
            <a:solidFill>
              <a:srgbClr val="E2EAF1"/>
            </a:solidFill>
            <a:prstDash val="solid"/>
          </a:ln>
        </p:spPr>
      </p:sp>
      <p:sp>
        <p:nvSpPr>
          <p:cNvPr id="18" name="Text 15"/>
          <p:cNvSpPr txBox="1"/>
          <p:nvPr/>
        </p:nvSpPr>
        <p:spPr>
          <a:xfrm>
            <a:off x="6095848" y="4526280"/>
            <a:ext cx="2179244" cy="468376"/>
          </a:xfrm>
          <a:prstGeom prst="rect">
            <a:avLst/>
          </a:prstGeom>
          <a:noFill/>
          <a:ln/>
        </p:spPr>
        <p:txBody>
          <a:bodyPr wrap="square" lIns="0" tIns="0" rIns="0" bIns="0" rtlCol="0" anchor="t"/>
          <a:lstStyle/>
          <a:p>
            <a:pPr algn="l" indent="0" marL="0">
              <a:lnSpc>
                <a:spcPct val="100000"/>
              </a:lnSpc>
              <a:buNone/>
            </a:pPr>
            <a:r>
              <a:rPr lang="en-US" sz="3400" b="1" dirty="0">
                <a:solidFill>
                  <a:srgbClr val="23A455"/>
                </a:solidFill>
                <a:latin typeface="Arial" pitchFamily="34" charset="0"/>
                <a:ea typeface="Arial" pitchFamily="34" charset="-122"/>
                <a:cs typeface="Arial" pitchFamily="34" charset="-120"/>
              </a:rPr>
              <a:t>+816%</a:t>
            </a:r>
            <a:endParaRPr lang="en-US" sz="3400" dirty="0"/>
          </a:p>
        </p:txBody>
      </p:sp>
      <p:sp>
        <p:nvSpPr>
          <p:cNvPr id="19" name="Text 16"/>
          <p:cNvSpPr txBox="1"/>
          <p:nvPr/>
        </p:nvSpPr>
        <p:spPr>
          <a:xfrm>
            <a:off x="6095848" y="5049520"/>
            <a:ext cx="2179244" cy="237744"/>
          </a:xfrm>
          <a:prstGeom prst="rect">
            <a:avLst/>
          </a:prstGeom>
          <a:noFill/>
          <a:ln/>
        </p:spPr>
        <p:txBody>
          <a:bodyPr wrap="square" lIns="0" tIns="0" rIns="0" bIns="0" rtlCol="0" anchor="t"/>
          <a:lstStyle/>
          <a:p>
            <a:pPr algn="l" indent="0" marL="0">
              <a:lnSpc>
                <a:spcPct val="120000"/>
              </a:lnSpc>
              <a:buNone/>
            </a:pPr>
            <a:r>
              <a:rPr lang="en-US" sz="1200" b="1" dirty="0">
                <a:solidFill>
                  <a:srgbClr val="0F151B"/>
                </a:solidFill>
                <a:latin typeface="Arial" pitchFamily="34" charset="0"/>
                <a:ea typeface="Arial" pitchFamily="34" charset="-122"/>
                <a:cs typeface="Arial" pitchFamily="34" charset="-120"/>
              </a:rPr>
              <a:t>Conversions</a:t>
            </a:r>
            <a:endParaRPr lang="en-US" sz="1200" dirty="0"/>
          </a:p>
        </p:txBody>
      </p:sp>
      <p:sp>
        <p:nvSpPr>
          <p:cNvPr id="20" name="Shape 17"/>
          <p:cNvSpPr/>
          <p:nvPr/>
        </p:nvSpPr>
        <p:spPr>
          <a:xfrm>
            <a:off x="8549411" y="4526280"/>
            <a:ext cx="0" cy="934720"/>
          </a:xfrm>
          <a:prstGeom prst="line">
            <a:avLst/>
          </a:prstGeom>
          <a:noFill/>
          <a:ln w="9525">
            <a:solidFill>
              <a:srgbClr val="E2EAF1"/>
            </a:solidFill>
            <a:prstDash val="solid"/>
          </a:ln>
        </p:spPr>
      </p:sp>
      <p:sp>
        <p:nvSpPr>
          <p:cNvPr id="21" name="Text 18"/>
          <p:cNvSpPr txBox="1"/>
          <p:nvPr/>
        </p:nvSpPr>
        <p:spPr>
          <a:xfrm>
            <a:off x="8787155" y="4526280"/>
            <a:ext cx="2179244" cy="468376"/>
          </a:xfrm>
          <a:prstGeom prst="rect">
            <a:avLst/>
          </a:prstGeom>
          <a:noFill/>
          <a:ln/>
        </p:spPr>
        <p:txBody>
          <a:bodyPr wrap="square" lIns="0" tIns="0" rIns="0" bIns="0" rtlCol="0" anchor="t"/>
          <a:lstStyle/>
          <a:p>
            <a:pPr algn="l" indent="0" marL="0">
              <a:lnSpc>
                <a:spcPct val="100000"/>
              </a:lnSpc>
              <a:buNone/>
            </a:pPr>
            <a:r>
              <a:rPr lang="en-US" sz="3400" b="1" dirty="0">
                <a:solidFill>
                  <a:srgbClr val="23A455"/>
                </a:solidFill>
                <a:latin typeface="Arial" pitchFamily="34" charset="0"/>
                <a:ea typeface="Arial" pitchFamily="34" charset="-122"/>
                <a:cs typeface="Arial" pitchFamily="34" charset="-120"/>
              </a:rPr>
              <a:t>+75%</a:t>
            </a:r>
            <a:endParaRPr lang="en-US" sz="3400" dirty="0"/>
          </a:p>
        </p:txBody>
      </p:sp>
      <p:sp>
        <p:nvSpPr>
          <p:cNvPr id="22" name="Text 19"/>
          <p:cNvSpPr txBox="1"/>
          <p:nvPr/>
        </p:nvSpPr>
        <p:spPr>
          <a:xfrm>
            <a:off x="8787155" y="5049520"/>
            <a:ext cx="2179244" cy="237744"/>
          </a:xfrm>
          <a:prstGeom prst="rect">
            <a:avLst/>
          </a:prstGeom>
          <a:noFill/>
          <a:ln/>
        </p:spPr>
        <p:txBody>
          <a:bodyPr wrap="square" lIns="0" tIns="0" rIns="0" bIns="0" rtlCol="0" anchor="t"/>
          <a:lstStyle/>
          <a:p>
            <a:pPr algn="l" indent="0" marL="0">
              <a:lnSpc>
                <a:spcPct val="120000"/>
              </a:lnSpc>
              <a:buNone/>
            </a:pPr>
            <a:r>
              <a:rPr lang="en-US" sz="1200" b="1" dirty="0">
                <a:solidFill>
                  <a:srgbClr val="0F151B"/>
                </a:solidFill>
                <a:latin typeface="Arial" pitchFamily="34" charset="0"/>
                <a:ea typeface="Arial" pitchFamily="34" charset="-122"/>
                <a:cs typeface="Arial" pitchFamily="34" charset="-120"/>
              </a:rPr>
              <a:t>Users</a:t>
            </a:r>
            <a:endParaRPr lang="en-US" sz="1200" dirty="0"/>
          </a:p>
        </p:txBody>
      </p:sp>
      <p:sp>
        <p:nvSpPr>
          <p:cNvPr id="23" name="Text 20"/>
          <p:cNvSpPr txBox="1"/>
          <p:nvPr/>
        </p:nvSpPr>
        <p:spPr>
          <a:xfrm>
            <a:off x="713232" y="6400800"/>
            <a:ext cx="9942271" cy="237744"/>
          </a:xfrm>
          <a:prstGeom prst="rect">
            <a:avLst/>
          </a:prstGeom>
          <a:noFill/>
          <a:ln/>
        </p:spPr>
        <p:txBody>
          <a:bodyPr wrap="square" lIns="0" tIns="0" rIns="0" bIns="0" rtlCol="0" anchor="t"/>
          <a:lstStyle/>
          <a:p>
            <a:pPr algn="l" indent="0" marL="0">
              <a:buNone/>
            </a:pPr>
            <a:r>
              <a:rPr lang="en-US" sz="950" i="1" dirty="0">
                <a:solidFill>
                  <a:srgbClr val="8A97A2"/>
                </a:solidFill>
                <a:latin typeface="Arial" pitchFamily="34" charset="0"/>
                <a:ea typeface="Arial" pitchFamily="34" charset="-122"/>
                <a:cs typeface="Arial" pitchFamily="34" charset="-120"/>
              </a:rPr>
              <a:t>Design and branding is a $3,000 one time package, about three months, with unlimited edits and full ownership.</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4160520"/>
            <a:ext cx="12191695" cy="2697480"/>
          </a:xfrm>
          <a:prstGeom prst="rect">
            <a:avLst/>
          </a:prstGeom>
          <a:solidFill>
            <a:srgbClr val="0A1825"/>
          </a:solidFill>
          <a:ln w="12700">
            <a:solidFill>
              <a:srgbClr val="333333"/>
            </a:solidFill>
            <a:prstDash val="solid"/>
          </a:ln>
        </p:spPr>
      </p:sp>
      <p:pic>
        <p:nvPicPr>
          <p:cNvPr id="3" name="Image 0" descr="C:\Users\dillo\.claude\skills\client-deck\assets\momentum-digital\momentum-mark-white.png">    </p:cNvPr>
          <p:cNvPicPr>
            <a:picLocks noChangeAspect="1"/>
          </p:cNvPicPr>
          <p:nvPr/>
        </p:nvPicPr>
        <p:blipFill>
          <a:blip r:embed="rId1">
            <a:alphaModFix amt="9000"/>
          </a:blip>
          <a:stretch>
            <a:fillRect/>
          </a:stretch>
        </p:blipFill>
        <p:spPr>
          <a:xfrm>
            <a:off x="9235440" y="3566160"/>
            <a:ext cx="4114800" cy="4881139"/>
          </a:xfrm>
          <a:prstGeom prst="rect">
            <a:avLst/>
          </a:prstGeom>
        </p:spPr>
      </p:pic>
      <p:pic>
        <p:nvPicPr>
          <p:cNvPr id="4" name="Image 1" descr="Momentum Digital logo">    </p:cNvPr>
          <p:cNvPicPr>
            <a:picLocks noChangeAspect="1"/>
          </p:cNvPicPr>
          <p:nvPr/>
        </p:nvPicPr>
        <p:blipFill>
          <a:blip r:embed="rId2"/>
          <a:stretch>
            <a:fillRect/>
          </a:stretch>
        </p:blipFill>
        <p:spPr>
          <a:xfrm>
            <a:off x="10106863" y="658368"/>
            <a:ext cx="1371600" cy="294904"/>
          </a:xfrm>
          <a:prstGeom prst="rect">
            <a:avLst/>
          </a:prstGeom>
        </p:spPr>
      </p:pic>
      <p:sp>
        <p:nvSpPr>
          <p:cNvPr id="5" name="Text 1"/>
          <p:cNvSpPr txBox="1"/>
          <p:nvPr/>
        </p:nvSpPr>
        <p:spPr>
          <a:xfrm>
            <a:off x="713232" y="658368"/>
            <a:ext cx="8753551" cy="201168"/>
          </a:xfrm>
          <a:prstGeom prst="rect">
            <a:avLst/>
          </a:prstGeom>
          <a:noFill/>
          <a:ln/>
        </p:spPr>
        <p:txBody>
          <a:bodyPr wrap="square" lIns="0" tIns="0" rIns="0" bIns="0" rtlCol="0" anchor="t"/>
          <a:lstStyle/>
          <a:p>
            <a:pPr algn="l" indent="0" marL="0">
              <a:buNone/>
            </a:pPr>
            <a:r>
              <a:rPr lang="en-US" sz="1050" b="1" spc="240" kern="0" dirty="0">
                <a:solidFill>
                  <a:srgbClr val="2A80C2"/>
                </a:solidFill>
                <a:latin typeface="Arial" pitchFamily="34" charset="0"/>
                <a:ea typeface="Arial" pitchFamily="34" charset="-122"/>
                <a:cs typeface="Arial" pitchFamily="34" charset="-120"/>
              </a:rPr>
              <a:t>SERVICE LINE</a:t>
            </a:r>
            <a:endParaRPr lang="en-US" sz="1050" dirty="0"/>
          </a:p>
        </p:txBody>
      </p:sp>
      <p:sp>
        <p:nvSpPr>
          <p:cNvPr id="6" name="Text 2"/>
          <p:cNvSpPr txBox="1"/>
          <p:nvPr/>
        </p:nvSpPr>
        <p:spPr>
          <a:xfrm>
            <a:off x="713232" y="987552"/>
            <a:ext cx="8570671" cy="1074420"/>
          </a:xfrm>
          <a:prstGeom prst="rect">
            <a:avLst/>
          </a:prstGeom>
          <a:noFill/>
          <a:ln/>
        </p:spPr>
        <p:txBody>
          <a:bodyPr wrap="square" lIns="0" tIns="0" rIns="0" bIns="0" rtlCol="0" anchor="t"/>
          <a:lstStyle/>
          <a:p>
            <a:pPr algn="l" indent="0" marL="0">
              <a:lnSpc>
                <a:spcPct val="102000"/>
              </a:lnSpc>
              <a:buNone/>
            </a:pPr>
            <a:r>
              <a:rPr lang="en-US" sz="3900" b="1" dirty="0">
                <a:solidFill>
                  <a:srgbClr val="0F151B"/>
                </a:solidFill>
                <a:latin typeface="Arial" pitchFamily="34" charset="0"/>
                <a:ea typeface="Arial" pitchFamily="34" charset="-122"/>
                <a:cs typeface="Arial" pitchFamily="34" charset="-120"/>
              </a:rPr>
              <a:t>Content, video and virtual tours</a:t>
            </a:r>
            <a:endParaRPr lang="en-US" sz="3900" dirty="0"/>
          </a:p>
        </p:txBody>
      </p:sp>
      <p:sp>
        <p:nvSpPr>
          <p:cNvPr id="7" name="Text 3"/>
          <p:cNvSpPr txBox="1"/>
          <p:nvPr/>
        </p:nvSpPr>
        <p:spPr>
          <a:xfrm>
            <a:off x="10929823" y="6437376"/>
            <a:ext cx="548640" cy="219456"/>
          </a:xfrm>
          <a:prstGeom prst="rect">
            <a:avLst/>
          </a:prstGeom>
          <a:noFill/>
          <a:ln/>
        </p:spPr>
        <p:txBody>
          <a:bodyPr wrap="square" lIns="0" tIns="0" rIns="0" bIns="0" rtlCol="0" anchor="t"/>
          <a:lstStyle/>
          <a:p>
            <a:pPr algn="r" indent="0" marL="0">
              <a:buNone/>
            </a:pPr>
            <a:r>
              <a:rPr lang="en-US" sz="1050" b="1" spc="100" kern="0" dirty="0">
                <a:solidFill>
                  <a:srgbClr val="CBD8E3"/>
                </a:solidFill>
                <a:latin typeface="Arial" pitchFamily="34" charset="0"/>
                <a:ea typeface="Arial" pitchFamily="34" charset="-122"/>
                <a:cs typeface="Arial" pitchFamily="34" charset="-120"/>
              </a:rPr>
              <a:t>08</a:t>
            </a:r>
            <a:endParaRPr lang="en-US" sz="1050" dirty="0"/>
          </a:p>
        </p:txBody>
      </p:sp>
      <p:sp>
        <p:nvSpPr>
          <p:cNvPr id="8" name="Text 4"/>
          <p:cNvSpPr txBox="1"/>
          <p:nvPr/>
        </p:nvSpPr>
        <p:spPr>
          <a:xfrm>
            <a:off x="713232" y="2011680"/>
            <a:ext cx="3108960" cy="296672"/>
          </a:xfrm>
          <a:prstGeom prst="rect">
            <a:avLst/>
          </a:prstGeom>
          <a:noFill/>
          <a:ln/>
        </p:spPr>
        <p:txBody>
          <a:bodyPr wrap="square" lIns="0" tIns="0" rIns="0" bIns="0" rtlCol="0" anchor="t"/>
          <a:lstStyle/>
          <a:p>
            <a:pPr algn="l" indent="0" marL="0">
              <a:lnSpc>
                <a:spcPct val="110000"/>
              </a:lnSpc>
              <a:buNone/>
            </a:pPr>
            <a:r>
              <a:rPr lang="en-US" sz="1700" b="1" dirty="0">
                <a:solidFill>
                  <a:srgbClr val="0F151B"/>
                </a:solidFill>
                <a:latin typeface="Arial" pitchFamily="34" charset="0"/>
                <a:ea typeface="Arial" pitchFamily="34" charset="-122"/>
                <a:cs typeface="Arial" pitchFamily="34" charset="-120"/>
              </a:rPr>
              <a:t>Content and blogging</a:t>
            </a:r>
            <a:endParaRPr lang="en-US" sz="1700" dirty="0"/>
          </a:p>
        </p:txBody>
      </p:sp>
      <p:sp>
        <p:nvSpPr>
          <p:cNvPr id="9" name="Text 5"/>
          <p:cNvSpPr txBox="1"/>
          <p:nvPr/>
        </p:nvSpPr>
        <p:spPr>
          <a:xfrm>
            <a:off x="4233672" y="2011680"/>
            <a:ext cx="7244791" cy="688848"/>
          </a:xfrm>
          <a:prstGeom prst="rect">
            <a:avLst/>
          </a:prstGeom>
          <a:noFill/>
          <a:ln/>
        </p:spPr>
        <p:txBody>
          <a:bodyPr wrap="square" lIns="0" tIns="0" rIns="0" bIns="0" rtlCol="0" anchor="t"/>
          <a:lstStyle/>
          <a:p>
            <a:pPr algn="l" indent="0" marL="0">
              <a:lnSpc>
                <a:spcPct val="128000"/>
              </a:lnSpc>
              <a:buNone/>
            </a:pPr>
            <a:r>
              <a:rPr lang="en-US" sz="1300" dirty="0">
                <a:solidFill>
                  <a:srgbClr val="5A6772"/>
                </a:solidFill>
                <a:latin typeface="Arial" pitchFamily="34" charset="0"/>
                <a:ea typeface="Arial" pitchFamily="34" charset="-122"/>
                <a:cs typeface="Arial" pitchFamily="34" charset="-120"/>
              </a:rPr>
              <a:t>Keyword research, four blogs or pages a month, edits and review, optimized for search and internal linking, promoted on your site and reported on. $1,000 per month.</a:t>
            </a:r>
            <a:endParaRPr lang="en-US" sz="1300" dirty="0"/>
          </a:p>
        </p:txBody>
      </p:sp>
      <p:sp>
        <p:nvSpPr>
          <p:cNvPr id="10" name="Shape 6"/>
          <p:cNvSpPr/>
          <p:nvPr/>
        </p:nvSpPr>
        <p:spPr>
          <a:xfrm>
            <a:off x="713232" y="2855976"/>
            <a:ext cx="10765231" cy="0"/>
          </a:xfrm>
          <a:prstGeom prst="line">
            <a:avLst/>
          </a:prstGeom>
          <a:noFill/>
          <a:ln w="9525">
            <a:solidFill>
              <a:srgbClr val="E2EAF1"/>
            </a:solidFill>
            <a:prstDash val="solid"/>
          </a:ln>
        </p:spPr>
      </p:sp>
      <p:sp>
        <p:nvSpPr>
          <p:cNvPr id="11" name="Text 7"/>
          <p:cNvSpPr txBox="1"/>
          <p:nvPr/>
        </p:nvSpPr>
        <p:spPr>
          <a:xfrm>
            <a:off x="713232" y="3011424"/>
            <a:ext cx="3108960" cy="296672"/>
          </a:xfrm>
          <a:prstGeom prst="rect">
            <a:avLst/>
          </a:prstGeom>
          <a:noFill/>
          <a:ln/>
        </p:spPr>
        <p:txBody>
          <a:bodyPr wrap="square" lIns="0" tIns="0" rIns="0" bIns="0" rtlCol="0" anchor="t"/>
          <a:lstStyle/>
          <a:p>
            <a:pPr algn="l" indent="0" marL="0">
              <a:lnSpc>
                <a:spcPct val="110000"/>
              </a:lnSpc>
              <a:buNone/>
            </a:pPr>
            <a:r>
              <a:rPr lang="en-US" sz="1700" b="1" dirty="0">
                <a:solidFill>
                  <a:srgbClr val="0F151B"/>
                </a:solidFill>
                <a:latin typeface="Arial" pitchFamily="34" charset="0"/>
                <a:ea typeface="Arial" pitchFamily="34" charset="-122"/>
                <a:cs typeface="Arial" pitchFamily="34" charset="-120"/>
              </a:rPr>
              <a:t>Email and lifecycle</a:t>
            </a:r>
            <a:endParaRPr lang="en-US" sz="1700" dirty="0"/>
          </a:p>
        </p:txBody>
      </p:sp>
      <p:sp>
        <p:nvSpPr>
          <p:cNvPr id="12" name="Text 8"/>
          <p:cNvSpPr txBox="1"/>
          <p:nvPr/>
        </p:nvSpPr>
        <p:spPr>
          <a:xfrm>
            <a:off x="4233672" y="3011424"/>
            <a:ext cx="7244791" cy="477520"/>
          </a:xfrm>
          <a:prstGeom prst="rect">
            <a:avLst/>
          </a:prstGeom>
          <a:noFill/>
          <a:ln/>
        </p:spPr>
        <p:txBody>
          <a:bodyPr wrap="square" lIns="0" tIns="0" rIns="0" bIns="0" rtlCol="0" anchor="t"/>
          <a:lstStyle/>
          <a:p>
            <a:pPr algn="l" indent="0" marL="0">
              <a:lnSpc>
                <a:spcPct val="128000"/>
              </a:lnSpc>
              <a:buNone/>
            </a:pPr>
            <a:r>
              <a:rPr lang="en-US" sz="1300" dirty="0">
                <a:solidFill>
                  <a:srgbClr val="5A6772"/>
                </a:solidFill>
                <a:latin typeface="Arial" pitchFamily="34" charset="0"/>
                <a:ea typeface="Arial" pitchFamily="34" charset="-122"/>
                <a:cs typeface="Arial" pitchFamily="34" charset="-120"/>
              </a:rPr>
              <a:t>Campaign execution, list segmentation and the follow up sequences that turn a first click into a returning customer.</a:t>
            </a:r>
            <a:endParaRPr lang="en-US" sz="1300" dirty="0"/>
          </a:p>
        </p:txBody>
      </p:sp>
      <p:sp>
        <p:nvSpPr>
          <p:cNvPr id="13" name="Text 9"/>
          <p:cNvSpPr txBox="1"/>
          <p:nvPr/>
        </p:nvSpPr>
        <p:spPr>
          <a:xfrm>
            <a:off x="713232" y="4480560"/>
            <a:ext cx="7315200" cy="201168"/>
          </a:xfrm>
          <a:prstGeom prst="rect">
            <a:avLst/>
          </a:prstGeom>
          <a:noFill/>
          <a:ln/>
        </p:spPr>
        <p:txBody>
          <a:bodyPr wrap="square" lIns="0" tIns="0" rIns="0" bIns="0" rtlCol="0" anchor="t"/>
          <a:lstStyle/>
          <a:p>
            <a:pPr algn="l" indent="0" marL="0">
              <a:buNone/>
            </a:pPr>
            <a:r>
              <a:rPr lang="en-US" sz="1050" b="1" spc="240" kern="0" dirty="0">
                <a:solidFill>
                  <a:srgbClr val="5AA7E0"/>
                </a:solidFill>
                <a:latin typeface="Arial" pitchFamily="34" charset="0"/>
                <a:ea typeface="Arial" pitchFamily="34" charset="-122"/>
                <a:cs typeface="Arial" pitchFamily="34" charset="-120"/>
              </a:rPr>
              <a:t>MOMENTUM 360 · A DIVISION WITHIN MOMENTUM</a:t>
            </a:r>
            <a:endParaRPr lang="en-US" sz="1050" dirty="0"/>
          </a:p>
        </p:txBody>
      </p:sp>
      <p:sp>
        <p:nvSpPr>
          <p:cNvPr id="14" name="Text 10"/>
          <p:cNvSpPr txBox="1"/>
          <p:nvPr/>
        </p:nvSpPr>
        <p:spPr>
          <a:xfrm>
            <a:off x="713232" y="4809744"/>
            <a:ext cx="8595360" cy="400558"/>
          </a:xfrm>
          <a:prstGeom prst="rect">
            <a:avLst/>
          </a:prstGeom>
          <a:noFill/>
          <a:ln/>
        </p:spPr>
        <p:txBody>
          <a:bodyPr wrap="square" lIns="0" tIns="0" rIns="0" bIns="0" rtlCol="0" anchor="t"/>
          <a:lstStyle/>
          <a:p>
            <a:pPr algn="l" indent="0" marL="0">
              <a:lnSpc>
                <a:spcPct val="106000"/>
              </a:lnSpc>
              <a:buNone/>
            </a:pPr>
            <a:r>
              <a:rPr lang="en-US" sz="2500" b="1" dirty="0">
                <a:solidFill>
                  <a:srgbClr val="FFFFFF"/>
                </a:solidFill>
                <a:latin typeface="Arial" pitchFamily="34" charset="0"/>
                <a:ea typeface="Arial" pitchFamily="34" charset="-122"/>
                <a:cs typeface="Arial" pitchFamily="34" charset="-120"/>
              </a:rPr>
              <a:t>Virtual tours, HD photography and drone video</a:t>
            </a:r>
            <a:endParaRPr lang="en-US" sz="2500" dirty="0"/>
          </a:p>
        </p:txBody>
      </p:sp>
      <p:sp>
        <p:nvSpPr>
          <p:cNvPr id="15" name="Text 11"/>
          <p:cNvSpPr txBox="1"/>
          <p:nvPr/>
        </p:nvSpPr>
        <p:spPr>
          <a:xfrm>
            <a:off x="713232" y="5374894"/>
            <a:ext cx="7863840" cy="658368"/>
          </a:xfrm>
          <a:prstGeom prst="rect">
            <a:avLst/>
          </a:prstGeom>
          <a:noFill/>
          <a:ln/>
        </p:spPr>
        <p:txBody>
          <a:bodyPr wrap="square" lIns="0" tIns="0" rIns="0" bIns="0" rtlCol="0" anchor="t"/>
          <a:lstStyle/>
          <a:p>
            <a:pPr algn="l" indent="0" marL="0">
              <a:lnSpc>
                <a:spcPct val="130000"/>
              </a:lnSpc>
              <a:buNone/>
            </a:pPr>
            <a:r>
              <a:rPr lang="en-US" sz="1200" dirty="0">
                <a:solidFill>
                  <a:srgbClr val="9DB5C8"/>
                </a:solidFill>
                <a:latin typeface="Arial" pitchFamily="34" charset="0"/>
                <a:ea typeface="Arial" pitchFamily="34" charset="-122"/>
                <a:cs typeface="Arial" pitchFamily="34" charset="-120"/>
              </a:rPr>
              <a:t>360 Google virtual tours, professional photography and aerial video for property, retail and hospitality. Tours feed Google Business Profile and local SEO directly, which is why the media team and the search team sit together.</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Momentum Digital logo">    </p:cNvPr>
          <p:cNvPicPr>
            <a:picLocks noChangeAspect="1"/>
          </p:cNvPicPr>
          <p:nvPr/>
        </p:nvPicPr>
        <p:blipFill>
          <a:blip r:embed="rId1"/>
          <a:stretch>
            <a:fillRect/>
          </a:stretch>
        </p:blipFill>
        <p:spPr>
          <a:xfrm>
            <a:off x="10106863" y="658368"/>
            <a:ext cx="1371600" cy="294904"/>
          </a:xfrm>
          <a:prstGeom prst="rect">
            <a:avLst/>
          </a:prstGeom>
        </p:spPr>
      </p:pic>
      <p:sp>
        <p:nvSpPr>
          <p:cNvPr id="3" name="Text 0"/>
          <p:cNvSpPr txBox="1"/>
          <p:nvPr/>
        </p:nvSpPr>
        <p:spPr>
          <a:xfrm>
            <a:off x="713232" y="658368"/>
            <a:ext cx="8753551" cy="201168"/>
          </a:xfrm>
          <a:prstGeom prst="rect">
            <a:avLst/>
          </a:prstGeom>
          <a:noFill/>
          <a:ln/>
        </p:spPr>
        <p:txBody>
          <a:bodyPr wrap="square" lIns="0" tIns="0" rIns="0" bIns="0" rtlCol="0" anchor="t"/>
          <a:lstStyle/>
          <a:p>
            <a:pPr algn="l" indent="0" marL="0">
              <a:buNone/>
            </a:pPr>
            <a:r>
              <a:rPr lang="en-US" sz="1050" b="1" spc="240" kern="0" dirty="0">
                <a:solidFill>
                  <a:srgbClr val="2A80C2"/>
                </a:solidFill>
                <a:latin typeface="Arial" pitchFamily="34" charset="0"/>
                <a:ea typeface="Arial" pitchFamily="34" charset="-122"/>
                <a:cs typeface="Arial" pitchFamily="34" charset="-120"/>
              </a:rPr>
              <a:t>SERVICE LINE</a:t>
            </a:r>
            <a:endParaRPr lang="en-US" sz="1050" dirty="0"/>
          </a:p>
        </p:txBody>
      </p:sp>
      <p:sp>
        <p:nvSpPr>
          <p:cNvPr id="4" name="Text 1"/>
          <p:cNvSpPr txBox="1"/>
          <p:nvPr/>
        </p:nvSpPr>
        <p:spPr>
          <a:xfrm>
            <a:off x="713232" y="987552"/>
            <a:ext cx="8570671" cy="569214"/>
          </a:xfrm>
          <a:prstGeom prst="rect">
            <a:avLst/>
          </a:prstGeom>
          <a:noFill/>
          <a:ln/>
        </p:spPr>
        <p:txBody>
          <a:bodyPr wrap="square" lIns="0" tIns="0" rIns="0" bIns="0" rtlCol="0" anchor="t"/>
          <a:lstStyle/>
          <a:p>
            <a:pPr algn="l" indent="0" marL="0">
              <a:lnSpc>
                <a:spcPct val="102000"/>
              </a:lnSpc>
              <a:buNone/>
            </a:pPr>
            <a:r>
              <a:rPr lang="en-US" sz="3900" b="1" dirty="0">
                <a:solidFill>
                  <a:srgbClr val="0F151B"/>
                </a:solidFill>
                <a:latin typeface="Arial" pitchFamily="34" charset="0"/>
                <a:ea typeface="Arial" pitchFamily="34" charset="-122"/>
                <a:cs typeface="Arial" pitchFamily="34" charset="-120"/>
              </a:rPr>
              <a:t>AI marketing and automation</a:t>
            </a:r>
            <a:endParaRPr lang="en-US" sz="3900" dirty="0"/>
          </a:p>
        </p:txBody>
      </p:sp>
      <p:sp>
        <p:nvSpPr>
          <p:cNvPr id="5" name="Text 2"/>
          <p:cNvSpPr txBox="1"/>
          <p:nvPr/>
        </p:nvSpPr>
        <p:spPr>
          <a:xfrm>
            <a:off x="713232" y="1703070"/>
            <a:ext cx="8046720" cy="356616"/>
          </a:xfrm>
          <a:prstGeom prst="rect">
            <a:avLst/>
          </a:prstGeom>
          <a:noFill/>
          <a:ln/>
        </p:spPr>
        <p:txBody>
          <a:bodyPr wrap="square" lIns="0" tIns="0" rIns="0" bIns="0" rtlCol="0" anchor="t"/>
          <a:lstStyle/>
          <a:p>
            <a:pPr algn="l" indent="0" marL="0">
              <a:lnSpc>
                <a:spcPct val="128000"/>
              </a:lnSpc>
              <a:buNone/>
            </a:pPr>
            <a:r>
              <a:rPr lang="en-US" sz="1800" dirty="0">
                <a:solidFill>
                  <a:srgbClr val="5A6772"/>
                </a:solidFill>
                <a:latin typeface="Arial" pitchFamily="34" charset="0"/>
                <a:ea typeface="Arial" pitchFamily="34" charset="-122"/>
                <a:cs typeface="Arial" pitchFamily="34" charset="-120"/>
              </a:rPr>
              <a:t>Repetitive marketing work, handed to a system that does not forget.</a:t>
            </a:r>
            <a:endParaRPr lang="en-US" sz="1800" dirty="0"/>
          </a:p>
        </p:txBody>
      </p:sp>
      <p:sp>
        <p:nvSpPr>
          <p:cNvPr id="6" name="Text 3"/>
          <p:cNvSpPr txBox="1"/>
          <p:nvPr/>
        </p:nvSpPr>
        <p:spPr>
          <a:xfrm>
            <a:off x="10929823" y="6437376"/>
            <a:ext cx="548640" cy="219456"/>
          </a:xfrm>
          <a:prstGeom prst="rect">
            <a:avLst/>
          </a:prstGeom>
          <a:noFill/>
          <a:ln/>
        </p:spPr>
        <p:txBody>
          <a:bodyPr wrap="square" lIns="0" tIns="0" rIns="0" bIns="0" rtlCol="0" anchor="t"/>
          <a:lstStyle/>
          <a:p>
            <a:pPr algn="r" indent="0" marL="0">
              <a:buNone/>
            </a:pPr>
            <a:r>
              <a:rPr lang="en-US" sz="1050" b="1" spc="100" kern="0" dirty="0">
                <a:solidFill>
                  <a:srgbClr val="CBD8E3"/>
                </a:solidFill>
                <a:latin typeface="Arial" pitchFamily="34" charset="0"/>
                <a:ea typeface="Arial" pitchFamily="34" charset="-122"/>
                <a:cs typeface="Arial" pitchFamily="34" charset="-120"/>
              </a:rPr>
              <a:t>09</a:t>
            </a:r>
            <a:endParaRPr lang="en-US" sz="1050" dirty="0"/>
          </a:p>
        </p:txBody>
      </p:sp>
      <p:sp>
        <p:nvSpPr>
          <p:cNvPr id="7" name="Text 4"/>
          <p:cNvSpPr txBox="1"/>
          <p:nvPr/>
        </p:nvSpPr>
        <p:spPr>
          <a:xfrm>
            <a:off x="713232" y="2450592"/>
            <a:ext cx="1245565" cy="292608"/>
          </a:xfrm>
          <a:prstGeom prst="rect">
            <a:avLst/>
          </a:prstGeom>
          <a:noFill/>
          <a:ln/>
        </p:spPr>
        <p:txBody>
          <a:bodyPr wrap="square" lIns="0" tIns="0" rIns="0" bIns="0" rtlCol="0" anchor="t"/>
          <a:lstStyle/>
          <a:p>
            <a:pPr algn="l" indent="0" marL="0">
              <a:buNone/>
            </a:pPr>
            <a:r>
              <a:rPr lang="en-US" sz="1500" b="1" spc="100" kern="0" dirty="0">
                <a:solidFill>
                  <a:srgbClr val="2A80C2"/>
                </a:solidFill>
                <a:latin typeface="Arial" pitchFamily="34" charset="0"/>
                <a:ea typeface="Arial" pitchFamily="34" charset="-122"/>
                <a:cs typeface="Arial" pitchFamily="34" charset="-120"/>
              </a:rPr>
              <a:t>01</a:t>
            </a:r>
            <a:endParaRPr lang="en-US" sz="1500" dirty="0"/>
          </a:p>
        </p:txBody>
      </p:sp>
      <p:sp>
        <p:nvSpPr>
          <p:cNvPr id="8" name="Text 5"/>
          <p:cNvSpPr txBox="1"/>
          <p:nvPr/>
        </p:nvSpPr>
        <p:spPr>
          <a:xfrm>
            <a:off x="713232" y="2871216"/>
            <a:ext cx="1245565" cy="273558"/>
          </a:xfrm>
          <a:prstGeom prst="rect">
            <a:avLst/>
          </a:prstGeom>
          <a:noFill/>
          <a:ln/>
        </p:spPr>
        <p:txBody>
          <a:bodyPr wrap="square" lIns="0" tIns="0" rIns="0" bIns="0" rtlCol="0" anchor="t"/>
          <a:lstStyle/>
          <a:p>
            <a:pPr algn="l" indent="0" marL="0">
              <a:lnSpc>
                <a:spcPct val="110000"/>
              </a:lnSpc>
              <a:buNone/>
            </a:pPr>
            <a:r>
              <a:rPr lang="en-US" sz="1500" b="1" dirty="0">
                <a:solidFill>
                  <a:srgbClr val="0F151B"/>
                </a:solidFill>
                <a:latin typeface="Arial" pitchFamily="34" charset="0"/>
                <a:ea typeface="Arial" pitchFamily="34" charset="-122"/>
                <a:cs typeface="Arial" pitchFamily="34" charset="-120"/>
              </a:rPr>
              <a:t>Discovery</a:t>
            </a:r>
            <a:endParaRPr lang="en-US" sz="1500" dirty="0"/>
          </a:p>
        </p:txBody>
      </p:sp>
      <p:sp>
        <p:nvSpPr>
          <p:cNvPr id="9" name="Text 6"/>
          <p:cNvSpPr txBox="1"/>
          <p:nvPr/>
        </p:nvSpPr>
        <p:spPr>
          <a:xfrm>
            <a:off x="713232" y="3254502"/>
            <a:ext cx="1245565" cy="904113"/>
          </a:xfrm>
          <a:prstGeom prst="rect">
            <a:avLst/>
          </a:prstGeom>
          <a:noFill/>
          <a:ln/>
        </p:spPr>
        <p:txBody>
          <a:bodyPr wrap="square" lIns="0" tIns="0" rIns="0" bIns="0" rtlCol="0" anchor="t"/>
          <a:lstStyle/>
          <a:p>
            <a:pPr algn="l" indent="0" marL="0">
              <a:lnSpc>
                <a:spcPct val="126000"/>
              </a:lnSpc>
              <a:buNone/>
            </a:pPr>
            <a:r>
              <a:rPr lang="en-US" sz="1050" dirty="0">
                <a:solidFill>
                  <a:srgbClr val="5A6772"/>
                </a:solidFill>
                <a:latin typeface="Arial" pitchFamily="34" charset="0"/>
                <a:ea typeface="Arial" pitchFamily="34" charset="-122"/>
                <a:cs typeface="Arial" pitchFamily="34" charset="-120"/>
              </a:rPr>
              <a:t>Goals, offers, audiences and the metrics the automation has to move.</a:t>
            </a:r>
            <a:endParaRPr lang="en-US" sz="1050" dirty="0"/>
          </a:p>
        </p:txBody>
      </p:sp>
      <p:sp>
        <p:nvSpPr>
          <p:cNvPr id="10" name="Shape 7"/>
          <p:cNvSpPr/>
          <p:nvPr/>
        </p:nvSpPr>
        <p:spPr>
          <a:xfrm>
            <a:off x="2251405" y="2450592"/>
            <a:ext cx="0" cy="1554480"/>
          </a:xfrm>
          <a:prstGeom prst="line">
            <a:avLst/>
          </a:prstGeom>
          <a:noFill/>
          <a:ln w="9525">
            <a:solidFill>
              <a:srgbClr val="E2EAF1"/>
            </a:solidFill>
            <a:prstDash val="solid"/>
          </a:ln>
        </p:spPr>
      </p:sp>
      <p:sp>
        <p:nvSpPr>
          <p:cNvPr id="11" name="Text 8"/>
          <p:cNvSpPr txBox="1"/>
          <p:nvPr/>
        </p:nvSpPr>
        <p:spPr>
          <a:xfrm>
            <a:off x="2507437" y="2450592"/>
            <a:ext cx="1245565" cy="292608"/>
          </a:xfrm>
          <a:prstGeom prst="rect">
            <a:avLst/>
          </a:prstGeom>
          <a:noFill/>
          <a:ln/>
        </p:spPr>
        <p:txBody>
          <a:bodyPr wrap="square" lIns="0" tIns="0" rIns="0" bIns="0" rtlCol="0" anchor="t"/>
          <a:lstStyle/>
          <a:p>
            <a:pPr algn="l" indent="0" marL="0">
              <a:buNone/>
            </a:pPr>
            <a:r>
              <a:rPr lang="en-US" sz="1500" b="1" spc="100" kern="0" dirty="0">
                <a:solidFill>
                  <a:srgbClr val="2A80C2"/>
                </a:solidFill>
                <a:latin typeface="Arial" pitchFamily="34" charset="0"/>
                <a:ea typeface="Arial" pitchFamily="34" charset="-122"/>
                <a:cs typeface="Arial" pitchFamily="34" charset="-120"/>
              </a:rPr>
              <a:t>02</a:t>
            </a:r>
            <a:endParaRPr lang="en-US" sz="1500" dirty="0"/>
          </a:p>
        </p:txBody>
      </p:sp>
      <p:sp>
        <p:nvSpPr>
          <p:cNvPr id="12" name="Text 9"/>
          <p:cNvSpPr txBox="1"/>
          <p:nvPr/>
        </p:nvSpPr>
        <p:spPr>
          <a:xfrm>
            <a:off x="2507437" y="2871216"/>
            <a:ext cx="1245565" cy="273558"/>
          </a:xfrm>
          <a:prstGeom prst="rect">
            <a:avLst/>
          </a:prstGeom>
          <a:noFill/>
          <a:ln/>
        </p:spPr>
        <p:txBody>
          <a:bodyPr wrap="square" lIns="0" tIns="0" rIns="0" bIns="0" rtlCol="0" anchor="t"/>
          <a:lstStyle/>
          <a:p>
            <a:pPr algn="l" indent="0" marL="0">
              <a:lnSpc>
                <a:spcPct val="110000"/>
              </a:lnSpc>
              <a:buNone/>
            </a:pPr>
            <a:r>
              <a:rPr lang="en-US" sz="1500" b="1" dirty="0">
                <a:solidFill>
                  <a:srgbClr val="0F151B"/>
                </a:solidFill>
                <a:latin typeface="Arial" pitchFamily="34" charset="0"/>
                <a:ea typeface="Arial" pitchFamily="34" charset="-122"/>
                <a:cs typeface="Arial" pitchFamily="34" charset="-120"/>
              </a:rPr>
              <a:t>Stack audit</a:t>
            </a:r>
            <a:endParaRPr lang="en-US" sz="1500" dirty="0"/>
          </a:p>
        </p:txBody>
      </p:sp>
      <p:sp>
        <p:nvSpPr>
          <p:cNvPr id="13" name="Text 10"/>
          <p:cNvSpPr txBox="1"/>
          <p:nvPr/>
        </p:nvSpPr>
        <p:spPr>
          <a:xfrm>
            <a:off x="2507437" y="3254502"/>
            <a:ext cx="1245565" cy="736092"/>
          </a:xfrm>
          <a:prstGeom prst="rect">
            <a:avLst/>
          </a:prstGeom>
          <a:noFill/>
          <a:ln/>
        </p:spPr>
        <p:txBody>
          <a:bodyPr wrap="square" lIns="0" tIns="0" rIns="0" bIns="0" rtlCol="0" anchor="t"/>
          <a:lstStyle/>
          <a:p>
            <a:pPr algn="l" indent="0" marL="0">
              <a:lnSpc>
                <a:spcPct val="126000"/>
              </a:lnSpc>
              <a:buNone/>
            </a:pPr>
            <a:r>
              <a:rPr lang="en-US" sz="1050" dirty="0">
                <a:solidFill>
                  <a:srgbClr val="5A6772"/>
                </a:solidFill>
                <a:latin typeface="Arial" pitchFamily="34" charset="0"/>
                <a:ea typeface="Arial" pitchFamily="34" charset="-122"/>
                <a:cs typeface="Arial" pitchFamily="34" charset="-120"/>
              </a:rPr>
              <a:t>CRM, forms, ads, email, SMS and tracking reviewed for gaps.</a:t>
            </a:r>
            <a:endParaRPr lang="en-US" sz="1050" dirty="0"/>
          </a:p>
        </p:txBody>
      </p:sp>
      <p:sp>
        <p:nvSpPr>
          <p:cNvPr id="14" name="Shape 11"/>
          <p:cNvSpPr/>
          <p:nvPr/>
        </p:nvSpPr>
        <p:spPr>
          <a:xfrm>
            <a:off x="4045610" y="2450592"/>
            <a:ext cx="0" cy="1554480"/>
          </a:xfrm>
          <a:prstGeom prst="line">
            <a:avLst/>
          </a:prstGeom>
          <a:noFill/>
          <a:ln w="9525">
            <a:solidFill>
              <a:srgbClr val="E2EAF1"/>
            </a:solidFill>
            <a:prstDash val="solid"/>
          </a:ln>
        </p:spPr>
      </p:sp>
      <p:sp>
        <p:nvSpPr>
          <p:cNvPr id="15" name="Text 12"/>
          <p:cNvSpPr txBox="1"/>
          <p:nvPr/>
        </p:nvSpPr>
        <p:spPr>
          <a:xfrm>
            <a:off x="4301642" y="2450592"/>
            <a:ext cx="1245565" cy="292608"/>
          </a:xfrm>
          <a:prstGeom prst="rect">
            <a:avLst/>
          </a:prstGeom>
          <a:noFill/>
          <a:ln/>
        </p:spPr>
        <p:txBody>
          <a:bodyPr wrap="square" lIns="0" tIns="0" rIns="0" bIns="0" rtlCol="0" anchor="t"/>
          <a:lstStyle/>
          <a:p>
            <a:pPr algn="l" indent="0" marL="0">
              <a:buNone/>
            </a:pPr>
            <a:r>
              <a:rPr lang="en-US" sz="1500" b="1" spc="100" kern="0" dirty="0">
                <a:solidFill>
                  <a:srgbClr val="2A80C2"/>
                </a:solidFill>
                <a:latin typeface="Arial" pitchFamily="34" charset="0"/>
                <a:ea typeface="Arial" pitchFamily="34" charset="-122"/>
                <a:cs typeface="Arial" pitchFamily="34" charset="-120"/>
              </a:rPr>
              <a:t>03</a:t>
            </a:r>
            <a:endParaRPr lang="en-US" sz="1500" dirty="0"/>
          </a:p>
        </p:txBody>
      </p:sp>
      <p:sp>
        <p:nvSpPr>
          <p:cNvPr id="16" name="Text 13"/>
          <p:cNvSpPr txBox="1"/>
          <p:nvPr/>
        </p:nvSpPr>
        <p:spPr>
          <a:xfrm>
            <a:off x="4301642" y="2871216"/>
            <a:ext cx="1245565" cy="483108"/>
          </a:xfrm>
          <a:prstGeom prst="rect">
            <a:avLst/>
          </a:prstGeom>
          <a:noFill/>
          <a:ln/>
        </p:spPr>
        <p:txBody>
          <a:bodyPr wrap="square" lIns="0" tIns="0" rIns="0" bIns="0" rtlCol="0" anchor="t"/>
          <a:lstStyle/>
          <a:p>
            <a:pPr algn="l" indent="0" marL="0">
              <a:lnSpc>
                <a:spcPct val="110000"/>
              </a:lnSpc>
              <a:buNone/>
            </a:pPr>
            <a:r>
              <a:rPr lang="en-US" sz="1500" b="1" dirty="0">
                <a:solidFill>
                  <a:srgbClr val="0F151B"/>
                </a:solidFill>
                <a:latin typeface="Arial" pitchFamily="34" charset="0"/>
                <a:ea typeface="Arial" pitchFamily="34" charset="-122"/>
                <a:cs typeface="Arial" pitchFamily="34" charset="-120"/>
              </a:rPr>
              <a:t>Build workflows</a:t>
            </a:r>
            <a:endParaRPr lang="en-US" sz="1500" dirty="0"/>
          </a:p>
        </p:txBody>
      </p:sp>
      <p:sp>
        <p:nvSpPr>
          <p:cNvPr id="17" name="Text 14"/>
          <p:cNvSpPr txBox="1"/>
          <p:nvPr/>
        </p:nvSpPr>
        <p:spPr>
          <a:xfrm>
            <a:off x="4301642" y="3464052"/>
            <a:ext cx="1245565" cy="904113"/>
          </a:xfrm>
          <a:prstGeom prst="rect">
            <a:avLst/>
          </a:prstGeom>
          <a:noFill/>
          <a:ln/>
        </p:spPr>
        <p:txBody>
          <a:bodyPr wrap="square" lIns="0" tIns="0" rIns="0" bIns="0" rtlCol="0" anchor="t"/>
          <a:lstStyle/>
          <a:p>
            <a:pPr algn="l" indent="0" marL="0">
              <a:lnSpc>
                <a:spcPct val="126000"/>
              </a:lnSpc>
              <a:buNone/>
            </a:pPr>
            <a:r>
              <a:rPr lang="en-US" sz="1050" dirty="0">
                <a:solidFill>
                  <a:srgbClr val="5A6772"/>
                </a:solidFill>
                <a:latin typeface="Arial" pitchFamily="34" charset="0"/>
                <a:ea typeface="Arial" pitchFamily="34" charset="-122"/>
                <a:cs typeface="Arial" pitchFamily="34" charset="-120"/>
              </a:rPr>
              <a:t>Triggers, segments and messages built for each funnel stage.</a:t>
            </a:r>
            <a:endParaRPr lang="en-US" sz="1050" dirty="0"/>
          </a:p>
        </p:txBody>
      </p:sp>
      <p:sp>
        <p:nvSpPr>
          <p:cNvPr id="18" name="Shape 15"/>
          <p:cNvSpPr/>
          <p:nvPr/>
        </p:nvSpPr>
        <p:spPr>
          <a:xfrm>
            <a:off x="5839816" y="2450592"/>
            <a:ext cx="0" cy="1554480"/>
          </a:xfrm>
          <a:prstGeom prst="line">
            <a:avLst/>
          </a:prstGeom>
          <a:noFill/>
          <a:ln w="9525">
            <a:solidFill>
              <a:srgbClr val="E2EAF1"/>
            </a:solidFill>
            <a:prstDash val="solid"/>
          </a:ln>
        </p:spPr>
      </p:sp>
      <p:sp>
        <p:nvSpPr>
          <p:cNvPr id="19" name="Text 16"/>
          <p:cNvSpPr txBox="1"/>
          <p:nvPr/>
        </p:nvSpPr>
        <p:spPr>
          <a:xfrm>
            <a:off x="6095848" y="2450592"/>
            <a:ext cx="1245565" cy="292608"/>
          </a:xfrm>
          <a:prstGeom prst="rect">
            <a:avLst/>
          </a:prstGeom>
          <a:noFill/>
          <a:ln/>
        </p:spPr>
        <p:txBody>
          <a:bodyPr wrap="square" lIns="0" tIns="0" rIns="0" bIns="0" rtlCol="0" anchor="t"/>
          <a:lstStyle/>
          <a:p>
            <a:pPr algn="l" indent="0" marL="0">
              <a:buNone/>
            </a:pPr>
            <a:r>
              <a:rPr lang="en-US" sz="1500" b="1" spc="100" kern="0" dirty="0">
                <a:solidFill>
                  <a:srgbClr val="2A80C2"/>
                </a:solidFill>
                <a:latin typeface="Arial" pitchFamily="34" charset="0"/>
                <a:ea typeface="Arial" pitchFamily="34" charset="-122"/>
                <a:cs typeface="Arial" pitchFamily="34" charset="-120"/>
              </a:rPr>
              <a:t>04</a:t>
            </a:r>
            <a:endParaRPr lang="en-US" sz="1500" dirty="0"/>
          </a:p>
        </p:txBody>
      </p:sp>
      <p:sp>
        <p:nvSpPr>
          <p:cNvPr id="20" name="Text 17"/>
          <p:cNvSpPr txBox="1"/>
          <p:nvPr/>
        </p:nvSpPr>
        <p:spPr>
          <a:xfrm>
            <a:off x="6095848" y="2871216"/>
            <a:ext cx="1245565" cy="273558"/>
          </a:xfrm>
          <a:prstGeom prst="rect">
            <a:avLst/>
          </a:prstGeom>
          <a:noFill/>
          <a:ln/>
        </p:spPr>
        <p:txBody>
          <a:bodyPr wrap="square" lIns="0" tIns="0" rIns="0" bIns="0" rtlCol="0" anchor="t"/>
          <a:lstStyle/>
          <a:p>
            <a:pPr algn="l" indent="0" marL="0">
              <a:lnSpc>
                <a:spcPct val="110000"/>
              </a:lnSpc>
              <a:buNone/>
            </a:pPr>
            <a:r>
              <a:rPr lang="en-US" sz="1500" b="1" dirty="0">
                <a:solidFill>
                  <a:srgbClr val="0F151B"/>
                </a:solidFill>
                <a:latin typeface="Arial" pitchFamily="34" charset="0"/>
                <a:ea typeface="Arial" pitchFamily="34" charset="-122"/>
                <a:cs typeface="Arial" pitchFamily="34" charset="-120"/>
              </a:rPr>
              <a:t>QA</a:t>
            </a:r>
            <a:endParaRPr lang="en-US" sz="1500" dirty="0"/>
          </a:p>
        </p:txBody>
      </p:sp>
      <p:sp>
        <p:nvSpPr>
          <p:cNvPr id="21" name="Text 18"/>
          <p:cNvSpPr txBox="1"/>
          <p:nvPr/>
        </p:nvSpPr>
        <p:spPr>
          <a:xfrm>
            <a:off x="6095848" y="3254502"/>
            <a:ext cx="1245565" cy="904113"/>
          </a:xfrm>
          <a:prstGeom prst="rect">
            <a:avLst/>
          </a:prstGeom>
          <a:noFill/>
          <a:ln/>
        </p:spPr>
        <p:txBody>
          <a:bodyPr wrap="square" lIns="0" tIns="0" rIns="0" bIns="0" rtlCol="0" anchor="t"/>
          <a:lstStyle/>
          <a:p>
            <a:pPr algn="l" indent="0" marL="0">
              <a:lnSpc>
                <a:spcPct val="126000"/>
              </a:lnSpc>
              <a:buNone/>
            </a:pPr>
            <a:r>
              <a:rPr lang="en-US" sz="1050" dirty="0">
                <a:solidFill>
                  <a:srgbClr val="5A6772"/>
                </a:solidFill>
                <a:latin typeface="Arial" pitchFamily="34" charset="0"/>
                <a:ea typeface="Arial" pitchFamily="34" charset="-122"/>
                <a:cs typeface="Arial" pitchFamily="34" charset="-120"/>
              </a:rPr>
              <a:t>Every path tested, tagging and consent validated, data confirmed.</a:t>
            </a:r>
            <a:endParaRPr lang="en-US" sz="1050" dirty="0"/>
          </a:p>
        </p:txBody>
      </p:sp>
      <p:sp>
        <p:nvSpPr>
          <p:cNvPr id="22" name="Shape 19"/>
          <p:cNvSpPr/>
          <p:nvPr/>
        </p:nvSpPr>
        <p:spPr>
          <a:xfrm>
            <a:off x="7634021" y="2450592"/>
            <a:ext cx="0" cy="1554480"/>
          </a:xfrm>
          <a:prstGeom prst="line">
            <a:avLst/>
          </a:prstGeom>
          <a:noFill/>
          <a:ln w="9525">
            <a:solidFill>
              <a:srgbClr val="E2EAF1"/>
            </a:solidFill>
            <a:prstDash val="solid"/>
          </a:ln>
        </p:spPr>
      </p:sp>
      <p:sp>
        <p:nvSpPr>
          <p:cNvPr id="23" name="Text 20"/>
          <p:cNvSpPr txBox="1"/>
          <p:nvPr/>
        </p:nvSpPr>
        <p:spPr>
          <a:xfrm>
            <a:off x="7890053" y="2450592"/>
            <a:ext cx="1245565" cy="292608"/>
          </a:xfrm>
          <a:prstGeom prst="rect">
            <a:avLst/>
          </a:prstGeom>
          <a:noFill/>
          <a:ln/>
        </p:spPr>
        <p:txBody>
          <a:bodyPr wrap="square" lIns="0" tIns="0" rIns="0" bIns="0" rtlCol="0" anchor="t"/>
          <a:lstStyle/>
          <a:p>
            <a:pPr algn="l" indent="0" marL="0">
              <a:buNone/>
            </a:pPr>
            <a:r>
              <a:rPr lang="en-US" sz="1500" b="1" spc="100" kern="0" dirty="0">
                <a:solidFill>
                  <a:srgbClr val="2A80C2"/>
                </a:solidFill>
                <a:latin typeface="Arial" pitchFamily="34" charset="0"/>
                <a:ea typeface="Arial" pitchFamily="34" charset="-122"/>
                <a:cs typeface="Arial" pitchFamily="34" charset="-120"/>
              </a:rPr>
              <a:t>05</a:t>
            </a:r>
            <a:endParaRPr lang="en-US" sz="1500" dirty="0"/>
          </a:p>
        </p:txBody>
      </p:sp>
      <p:sp>
        <p:nvSpPr>
          <p:cNvPr id="24" name="Text 21"/>
          <p:cNvSpPr txBox="1"/>
          <p:nvPr/>
        </p:nvSpPr>
        <p:spPr>
          <a:xfrm>
            <a:off x="7890053" y="2871216"/>
            <a:ext cx="1245565" cy="273558"/>
          </a:xfrm>
          <a:prstGeom prst="rect">
            <a:avLst/>
          </a:prstGeom>
          <a:noFill/>
          <a:ln/>
        </p:spPr>
        <p:txBody>
          <a:bodyPr wrap="square" lIns="0" tIns="0" rIns="0" bIns="0" rtlCol="0" anchor="t"/>
          <a:lstStyle/>
          <a:p>
            <a:pPr algn="l" indent="0" marL="0">
              <a:lnSpc>
                <a:spcPct val="110000"/>
              </a:lnSpc>
              <a:buNone/>
            </a:pPr>
            <a:r>
              <a:rPr lang="en-US" sz="1500" b="1" dirty="0">
                <a:solidFill>
                  <a:srgbClr val="0F151B"/>
                </a:solidFill>
                <a:latin typeface="Arial" pitchFamily="34" charset="0"/>
                <a:ea typeface="Arial" pitchFamily="34" charset="-122"/>
                <a:cs typeface="Arial" pitchFamily="34" charset="-120"/>
              </a:rPr>
              <a:t>Launch</a:t>
            </a:r>
            <a:endParaRPr lang="en-US" sz="1500" dirty="0"/>
          </a:p>
        </p:txBody>
      </p:sp>
      <p:sp>
        <p:nvSpPr>
          <p:cNvPr id="25" name="Text 22"/>
          <p:cNvSpPr txBox="1"/>
          <p:nvPr/>
        </p:nvSpPr>
        <p:spPr>
          <a:xfrm>
            <a:off x="7890053" y="3254502"/>
            <a:ext cx="1245565" cy="904113"/>
          </a:xfrm>
          <a:prstGeom prst="rect">
            <a:avLst/>
          </a:prstGeom>
          <a:noFill/>
          <a:ln/>
        </p:spPr>
        <p:txBody>
          <a:bodyPr wrap="square" lIns="0" tIns="0" rIns="0" bIns="0" rtlCol="0" anchor="t"/>
          <a:lstStyle/>
          <a:p>
            <a:pPr algn="l" indent="0" marL="0">
              <a:lnSpc>
                <a:spcPct val="126000"/>
              </a:lnSpc>
              <a:buNone/>
            </a:pPr>
            <a:r>
              <a:rPr lang="en-US" sz="1050" dirty="0">
                <a:solidFill>
                  <a:srgbClr val="5A6772"/>
                </a:solidFill>
                <a:latin typeface="Arial" pitchFamily="34" charset="0"/>
                <a:ea typeface="Arial" pitchFamily="34" charset="-122"/>
                <a:cs typeface="Arial" pitchFamily="34" charset="-120"/>
              </a:rPr>
              <a:t>Published, first runs watched, timing and routing tuned daily.</a:t>
            </a:r>
            <a:endParaRPr lang="en-US" sz="1050" dirty="0"/>
          </a:p>
        </p:txBody>
      </p:sp>
      <p:sp>
        <p:nvSpPr>
          <p:cNvPr id="26" name="Shape 23"/>
          <p:cNvSpPr/>
          <p:nvPr/>
        </p:nvSpPr>
        <p:spPr>
          <a:xfrm>
            <a:off x="9428226" y="2450592"/>
            <a:ext cx="0" cy="1554480"/>
          </a:xfrm>
          <a:prstGeom prst="line">
            <a:avLst/>
          </a:prstGeom>
          <a:noFill/>
          <a:ln w="9525">
            <a:solidFill>
              <a:srgbClr val="E2EAF1"/>
            </a:solidFill>
            <a:prstDash val="solid"/>
          </a:ln>
        </p:spPr>
      </p:sp>
      <p:sp>
        <p:nvSpPr>
          <p:cNvPr id="27" name="Text 24"/>
          <p:cNvSpPr txBox="1"/>
          <p:nvPr/>
        </p:nvSpPr>
        <p:spPr>
          <a:xfrm>
            <a:off x="9684258" y="2450592"/>
            <a:ext cx="1245565" cy="292608"/>
          </a:xfrm>
          <a:prstGeom prst="rect">
            <a:avLst/>
          </a:prstGeom>
          <a:noFill/>
          <a:ln/>
        </p:spPr>
        <p:txBody>
          <a:bodyPr wrap="square" lIns="0" tIns="0" rIns="0" bIns="0" rtlCol="0" anchor="t"/>
          <a:lstStyle/>
          <a:p>
            <a:pPr algn="l" indent="0" marL="0">
              <a:buNone/>
            </a:pPr>
            <a:r>
              <a:rPr lang="en-US" sz="1500" b="1" spc="100" kern="0" dirty="0">
                <a:solidFill>
                  <a:srgbClr val="2A80C2"/>
                </a:solidFill>
                <a:latin typeface="Arial" pitchFamily="34" charset="0"/>
                <a:ea typeface="Arial" pitchFamily="34" charset="-122"/>
                <a:cs typeface="Arial" pitchFamily="34" charset="-120"/>
              </a:rPr>
              <a:t>06</a:t>
            </a:r>
            <a:endParaRPr lang="en-US" sz="1500" dirty="0"/>
          </a:p>
        </p:txBody>
      </p:sp>
      <p:sp>
        <p:nvSpPr>
          <p:cNvPr id="28" name="Text 25"/>
          <p:cNvSpPr txBox="1"/>
          <p:nvPr/>
        </p:nvSpPr>
        <p:spPr>
          <a:xfrm>
            <a:off x="9684258" y="2871216"/>
            <a:ext cx="1245565" cy="273558"/>
          </a:xfrm>
          <a:prstGeom prst="rect">
            <a:avLst/>
          </a:prstGeom>
          <a:noFill/>
          <a:ln/>
        </p:spPr>
        <p:txBody>
          <a:bodyPr wrap="square" lIns="0" tIns="0" rIns="0" bIns="0" rtlCol="0" anchor="t"/>
          <a:lstStyle/>
          <a:p>
            <a:pPr algn="l" indent="0" marL="0">
              <a:lnSpc>
                <a:spcPct val="110000"/>
              </a:lnSpc>
              <a:buNone/>
            </a:pPr>
            <a:r>
              <a:rPr lang="en-US" sz="1500" b="1" dirty="0">
                <a:solidFill>
                  <a:srgbClr val="0F151B"/>
                </a:solidFill>
                <a:latin typeface="Arial" pitchFamily="34" charset="0"/>
                <a:ea typeface="Arial" pitchFamily="34" charset="-122"/>
                <a:cs typeface="Arial" pitchFamily="34" charset="-120"/>
              </a:rPr>
              <a:t>Report</a:t>
            </a:r>
            <a:endParaRPr lang="en-US" sz="1500" dirty="0"/>
          </a:p>
        </p:txBody>
      </p:sp>
      <p:sp>
        <p:nvSpPr>
          <p:cNvPr id="29" name="Text 26"/>
          <p:cNvSpPr txBox="1"/>
          <p:nvPr/>
        </p:nvSpPr>
        <p:spPr>
          <a:xfrm>
            <a:off x="9684258" y="3254502"/>
            <a:ext cx="1245565" cy="736092"/>
          </a:xfrm>
          <a:prstGeom prst="rect">
            <a:avLst/>
          </a:prstGeom>
          <a:noFill/>
          <a:ln/>
        </p:spPr>
        <p:txBody>
          <a:bodyPr wrap="square" lIns="0" tIns="0" rIns="0" bIns="0" rtlCol="0" anchor="t"/>
          <a:lstStyle/>
          <a:p>
            <a:pPr algn="l" indent="0" marL="0">
              <a:lnSpc>
                <a:spcPct val="126000"/>
              </a:lnSpc>
              <a:buNone/>
            </a:pPr>
            <a:r>
              <a:rPr lang="en-US" sz="1050" dirty="0">
                <a:solidFill>
                  <a:srgbClr val="5A6772"/>
                </a:solidFill>
                <a:latin typeface="Arial" pitchFamily="34" charset="0"/>
                <a:ea typeface="Arial" pitchFamily="34" charset="-122"/>
                <a:cs typeface="Arial" pitchFamily="34" charset="-120"/>
              </a:rPr>
              <a:t>KPIs tracked, copy, rules and steps optimized for ongoing lift.</a:t>
            </a:r>
            <a:endParaRPr lang="en-US" sz="1050" dirty="0"/>
          </a:p>
        </p:txBody>
      </p:sp>
      <p:sp>
        <p:nvSpPr>
          <p:cNvPr id="30" name="Shape 27"/>
          <p:cNvSpPr/>
          <p:nvPr/>
        </p:nvSpPr>
        <p:spPr>
          <a:xfrm>
            <a:off x="713232" y="4526280"/>
            <a:ext cx="10765231" cy="0"/>
          </a:xfrm>
          <a:prstGeom prst="line">
            <a:avLst/>
          </a:prstGeom>
          <a:noFill/>
          <a:ln w="9525">
            <a:solidFill>
              <a:srgbClr val="E2EAF1"/>
            </a:solidFill>
            <a:prstDash val="solid"/>
          </a:ln>
        </p:spPr>
      </p:sp>
      <p:sp>
        <p:nvSpPr>
          <p:cNvPr id="31" name="Text 28"/>
          <p:cNvSpPr txBox="1"/>
          <p:nvPr/>
        </p:nvSpPr>
        <p:spPr>
          <a:xfrm>
            <a:off x="713232" y="4754880"/>
            <a:ext cx="5486400" cy="201168"/>
          </a:xfrm>
          <a:prstGeom prst="rect">
            <a:avLst/>
          </a:prstGeom>
          <a:noFill/>
          <a:ln/>
        </p:spPr>
        <p:txBody>
          <a:bodyPr wrap="square" lIns="0" tIns="0" rIns="0" bIns="0" rtlCol="0" anchor="t"/>
          <a:lstStyle/>
          <a:p>
            <a:pPr algn="l" indent="0" marL="0">
              <a:buNone/>
            </a:pPr>
            <a:r>
              <a:rPr lang="en-US" sz="1050" b="1" spc="240" kern="0" dirty="0">
                <a:solidFill>
                  <a:srgbClr val="2A80C2"/>
                </a:solidFill>
                <a:latin typeface="Arial" pitchFamily="34" charset="0"/>
                <a:ea typeface="Arial" pitchFamily="34" charset="-122"/>
                <a:cs typeface="Arial" pitchFamily="34" charset="-120"/>
              </a:rPr>
              <a:t>PROOF · THE KIND INSURANCE</a:t>
            </a:r>
            <a:endParaRPr lang="en-US" sz="1050" dirty="0"/>
          </a:p>
        </p:txBody>
      </p:sp>
      <p:sp>
        <p:nvSpPr>
          <p:cNvPr id="32" name="Text 29"/>
          <p:cNvSpPr txBox="1"/>
          <p:nvPr/>
        </p:nvSpPr>
        <p:spPr>
          <a:xfrm>
            <a:off x="713232" y="5084064"/>
            <a:ext cx="7315200" cy="640080"/>
          </a:xfrm>
          <a:prstGeom prst="rect">
            <a:avLst/>
          </a:prstGeom>
          <a:noFill/>
          <a:ln/>
        </p:spPr>
        <p:txBody>
          <a:bodyPr wrap="square" lIns="0" tIns="0" rIns="0" bIns="0" rtlCol="0" anchor="t"/>
          <a:lstStyle/>
          <a:p>
            <a:pPr algn="l" indent="0" marL="0">
              <a:lnSpc>
                <a:spcPct val="108000"/>
              </a:lnSpc>
              <a:buNone/>
            </a:pPr>
            <a:r>
              <a:rPr lang="en-US" sz="2100" b="1" dirty="0">
                <a:solidFill>
                  <a:srgbClr val="0F151B"/>
                </a:solidFill>
                <a:latin typeface="Arial" pitchFamily="34" charset="0"/>
                <a:ea typeface="Arial" pitchFamily="34" charset="-122"/>
                <a:cs typeface="Arial" pitchFamily="34" charset="-120"/>
              </a:rPr>
              <a:t>An AI chatbot and CRM build that closed a policy in month one</a:t>
            </a:r>
            <a:endParaRPr lang="en-US" sz="2100" dirty="0"/>
          </a:p>
        </p:txBody>
      </p:sp>
      <p:sp>
        <p:nvSpPr>
          <p:cNvPr id="33" name="Text 30"/>
          <p:cNvSpPr txBox="1"/>
          <p:nvPr/>
        </p:nvSpPr>
        <p:spPr>
          <a:xfrm>
            <a:off x="713232" y="5870448"/>
            <a:ext cx="7315200" cy="460248"/>
          </a:xfrm>
          <a:prstGeom prst="rect">
            <a:avLst/>
          </a:prstGeom>
          <a:noFill/>
          <a:ln/>
        </p:spPr>
        <p:txBody>
          <a:bodyPr wrap="square" lIns="0" tIns="0" rIns="0" bIns="0" rtlCol="0" anchor="t"/>
          <a:lstStyle/>
          <a:p>
            <a:pPr algn="l" indent="0" marL="0">
              <a:lnSpc>
                <a:spcPct val="130000"/>
              </a:lnSpc>
              <a:buNone/>
            </a:pPr>
            <a:r>
              <a:rPr lang="en-US" sz="1200" dirty="0">
                <a:solidFill>
                  <a:srgbClr val="5A6772"/>
                </a:solidFill>
                <a:latin typeface="Arial" pitchFamily="34" charset="0"/>
                <a:ea typeface="Arial" pitchFamily="34" charset="-122"/>
                <a:cs typeface="Arial" pitchFamily="34" charset="-120"/>
              </a:rPr>
              <a:t>Five qualified chatbot conversations and one closed won policy in thirty days, with every lead synced into the CRM and zero manual entry.</a:t>
            </a:r>
            <a:endParaRPr lang="en-US" sz="1200" dirty="0"/>
          </a:p>
        </p:txBody>
      </p:sp>
      <p:sp>
        <p:nvSpPr>
          <p:cNvPr id="34" name="Text 31"/>
          <p:cNvSpPr txBox="1"/>
          <p:nvPr/>
        </p:nvSpPr>
        <p:spPr>
          <a:xfrm>
            <a:off x="8138160" y="4754880"/>
            <a:ext cx="3520440" cy="201168"/>
          </a:xfrm>
          <a:prstGeom prst="rect">
            <a:avLst/>
          </a:prstGeom>
          <a:noFill/>
          <a:ln/>
        </p:spPr>
        <p:txBody>
          <a:bodyPr wrap="square" lIns="0" tIns="0" rIns="0" bIns="0" rtlCol="0" anchor="t"/>
          <a:lstStyle/>
          <a:p>
            <a:pPr algn="l" indent="0" marL="0">
              <a:buNone/>
            </a:pPr>
            <a:r>
              <a:rPr lang="en-US" sz="1050" b="1" spc="240" kern="0" dirty="0">
                <a:solidFill>
                  <a:srgbClr val="2A80C2"/>
                </a:solidFill>
                <a:latin typeface="Arial" pitchFamily="34" charset="0"/>
                <a:ea typeface="Arial" pitchFamily="34" charset="-122"/>
                <a:cs typeface="Arial" pitchFamily="34" charset="-120"/>
              </a:rPr>
              <a:t>PACKAGED</a:t>
            </a:r>
            <a:endParaRPr lang="en-US" sz="1050" dirty="0"/>
          </a:p>
        </p:txBody>
      </p:sp>
      <p:sp>
        <p:nvSpPr>
          <p:cNvPr id="35" name="Text 32"/>
          <p:cNvSpPr txBox="1"/>
          <p:nvPr/>
        </p:nvSpPr>
        <p:spPr>
          <a:xfrm>
            <a:off x="8138160" y="5084064"/>
            <a:ext cx="3520440" cy="301498"/>
          </a:xfrm>
          <a:prstGeom prst="rect">
            <a:avLst/>
          </a:prstGeom>
          <a:noFill/>
          <a:ln/>
        </p:spPr>
        <p:txBody>
          <a:bodyPr wrap="square" lIns="0" tIns="0" rIns="0" bIns="0" rtlCol="0" anchor="t"/>
          <a:lstStyle/>
          <a:p>
            <a:pPr algn="l" indent="0" marL="0">
              <a:lnSpc>
                <a:spcPct val="110000"/>
              </a:lnSpc>
              <a:buNone/>
            </a:pPr>
            <a:r>
              <a:rPr lang="en-US" sz="1700" b="1" dirty="0">
                <a:solidFill>
                  <a:srgbClr val="0F151B"/>
                </a:solidFill>
                <a:latin typeface="Arial" pitchFamily="34" charset="0"/>
                <a:ea typeface="Arial" pitchFamily="34" charset="-122"/>
                <a:cs typeface="Arial" pitchFamily="34" charset="-120"/>
              </a:rPr>
              <a:t>Tiers by business type</a:t>
            </a:r>
            <a:endParaRPr lang="en-US" sz="1700" dirty="0"/>
          </a:p>
        </p:txBody>
      </p:sp>
      <p:sp>
        <p:nvSpPr>
          <p:cNvPr id="36" name="Text 33"/>
          <p:cNvSpPr txBox="1"/>
          <p:nvPr/>
        </p:nvSpPr>
        <p:spPr>
          <a:xfrm>
            <a:off x="8138160" y="5513578"/>
            <a:ext cx="3520440" cy="658368"/>
          </a:xfrm>
          <a:prstGeom prst="rect">
            <a:avLst/>
          </a:prstGeom>
          <a:noFill/>
          <a:ln/>
        </p:spPr>
        <p:txBody>
          <a:bodyPr wrap="square" lIns="0" tIns="0" rIns="0" bIns="0" rtlCol="0" anchor="t"/>
          <a:lstStyle/>
          <a:p>
            <a:pPr algn="l" indent="0" marL="0">
              <a:lnSpc>
                <a:spcPct val="130000"/>
              </a:lnSpc>
              <a:buNone/>
            </a:pPr>
            <a:r>
              <a:rPr lang="en-US" sz="1200" dirty="0">
                <a:solidFill>
                  <a:srgbClr val="5A6772"/>
                </a:solidFill>
                <a:latin typeface="Arial" pitchFamily="34" charset="0"/>
                <a:ea typeface="Arial" pitchFamily="34" charset="-122"/>
                <a:cs typeface="Arial" pitchFamily="34" charset="-120"/>
              </a:rPr>
              <a:t>Starter, Growth and Enterprise for ecommerce. Essential, Premium and Elite for real estate.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442655" y="0"/>
            <a:ext cx="3749040" cy="6858000"/>
          </a:xfrm>
          <a:prstGeom prst="rect">
            <a:avLst/>
          </a:prstGeom>
          <a:solidFill>
            <a:srgbClr val="0A1825"/>
          </a:solidFill>
          <a:ln w="12700">
            <a:solidFill>
              <a:srgbClr val="333333"/>
            </a:solidFill>
            <a:prstDash val="solid"/>
          </a:ln>
        </p:spPr>
      </p:sp>
      <p:pic>
        <p:nvPicPr>
          <p:cNvPr id="3" name="Image 0" descr="C:\Users\dillo\.claude\skills\client-deck\assets\momentum-digital\momentum-mark-white.png">    </p:cNvPr>
          <p:cNvPicPr>
            <a:picLocks noChangeAspect="1"/>
          </p:cNvPicPr>
          <p:nvPr/>
        </p:nvPicPr>
        <p:blipFill>
          <a:blip r:embed="rId1">
            <a:alphaModFix amt="9000"/>
          </a:blip>
          <a:stretch>
            <a:fillRect/>
          </a:stretch>
        </p:blipFill>
        <p:spPr>
          <a:xfrm>
            <a:off x="9692640" y="1280160"/>
            <a:ext cx="3749040" cy="4447260"/>
          </a:xfrm>
          <a:prstGeom prst="rect">
            <a:avLst/>
          </a:prstGeom>
        </p:spPr>
      </p:pic>
      <p:pic>
        <p:nvPicPr>
          <p:cNvPr id="4" name="Image 1" descr="Momentum Digital logo">    </p:cNvPr>
          <p:cNvPicPr>
            <a:picLocks noChangeAspect="1"/>
          </p:cNvPicPr>
          <p:nvPr/>
        </p:nvPicPr>
        <p:blipFill>
          <a:blip r:embed="rId2"/>
          <a:stretch>
            <a:fillRect/>
          </a:stretch>
        </p:blipFill>
        <p:spPr>
          <a:xfrm>
            <a:off x="10106863" y="658368"/>
            <a:ext cx="1371600" cy="294904"/>
          </a:xfrm>
          <a:prstGeom prst="rect">
            <a:avLst/>
          </a:prstGeom>
        </p:spPr>
      </p:pic>
      <p:sp>
        <p:nvSpPr>
          <p:cNvPr id="5" name="Text 1"/>
          <p:cNvSpPr txBox="1"/>
          <p:nvPr/>
        </p:nvSpPr>
        <p:spPr>
          <a:xfrm>
            <a:off x="713232" y="658368"/>
            <a:ext cx="8753551" cy="201168"/>
          </a:xfrm>
          <a:prstGeom prst="rect">
            <a:avLst/>
          </a:prstGeom>
          <a:noFill/>
          <a:ln/>
        </p:spPr>
        <p:txBody>
          <a:bodyPr wrap="square" lIns="0" tIns="0" rIns="0" bIns="0" rtlCol="0" anchor="t"/>
          <a:lstStyle/>
          <a:p>
            <a:pPr algn="l" indent="0" marL="0">
              <a:buNone/>
            </a:pPr>
            <a:r>
              <a:rPr lang="en-US" sz="1050" b="1" spc="240" kern="0" dirty="0">
                <a:solidFill>
                  <a:srgbClr val="2A80C2"/>
                </a:solidFill>
                <a:latin typeface="Arial" pitchFamily="34" charset="0"/>
                <a:ea typeface="Arial" pitchFamily="34" charset="-122"/>
                <a:cs typeface="Arial" pitchFamily="34" charset="-120"/>
              </a:rPr>
              <a:t>NEW SERVICE LINE · DRAFT FOR APPROVAL</a:t>
            </a:r>
            <a:endParaRPr lang="en-US" sz="1050" dirty="0"/>
          </a:p>
        </p:txBody>
      </p:sp>
      <p:sp>
        <p:nvSpPr>
          <p:cNvPr id="6" name="Text 2"/>
          <p:cNvSpPr txBox="1"/>
          <p:nvPr/>
        </p:nvSpPr>
        <p:spPr>
          <a:xfrm>
            <a:off x="713232" y="987552"/>
            <a:ext cx="7498080" cy="569214"/>
          </a:xfrm>
          <a:prstGeom prst="rect">
            <a:avLst/>
          </a:prstGeom>
          <a:noFill/>
          <a:ln/>
        </p:spPr>
        <p:txBody>
          <a:bodyPr wrap="square" lIns="0" tIns="0" rIns="0" bIns="0" rtlCol="0" anchor="t"/>
          <a:lstStyle/>
          <a:p>
            <a:pPr algn="l" indent="0" marL="0">
              <a:lnSpc>
                <a:spcPct val="102000"/>
              </a:lnSpc>
              <a:buNone/>
            </a:pPr>
            <a:r>
              <a:rPr lang="en-US" sz="3900" b="1" dirty="0">
                <a:solidFill>
                  <a:srgbClr val="0F151B"/>
                </a:solidFill>
                <a:latin typeface="Arial" pitchFamily="34" charset="0"/>
                <a:ea typeface="Arial" pitchFamily="34" charset="-122"/>
                <a:cs typeface="Arial" pitchFamily="34" charset="-120"/>
              </a:rPr>
              <a:t>Answer engine optimization</a:t>
            </a:r>
            <a:endParaRPr lang="en-US" sz="3900" dirty="0"/>
          </a:p>
        </p:txBody>
      </p:sp>
      <p:sp>
        <p:nvSpPr>
          <p:cNvPr id="7" name="Text 3"/>
          <p:cNvSpPr txBox="1"/>
          <p:nvPr/>
        </p:nvSpPr>
        <p:spPr>
          <a:xfrm>
            <a:off x="713232" y="1703070"/>
            <a:ext cx="7498080" cy="941832"/>
          </a:xfrm>
          <a:prstGeom prst="rect">
            <a:avLst/>
          </a:prstGeom>
          <a:noFill/>
          <a:ln/>
        </p:spPr>
        <p:txBody>
          <a:bodyPr wrap="square" lIns="0" tIns="0" rIns="0" bIns="0" rtlCol="0" anchor="t"/>
          <a:lstStyle/>
          <a:p>
            <a:pPr algn="l" indent="0" marL="0">
              <a:lnSpc>
                <a:spcPct val="128000"/>
              </a:lnSpc>
              <a:buNone/>
            </a:pPr>
            <a:r>
              <a:rPr lang="en-US" sz="1800" dirty="0">
                <a:solidFill>
                  <a:srgbClr val="5A6772"/>
                </a:solidFill>
                <a:latin typeface="Arial" pitchFamily="34" charset="0"/>
                <a:ea typeface="Arial" pitchFamily="34" charset="-122"/>
                <a:cs typeface="Arial" pitchFamily="34" charset="-120"/>
              </a:rPr>
              <a:t>A growing share of research happens inside ChatGPT, AI Overviews, Perplexity and Copilot, where there is no blue link to rank for.</a:t>
            </a:r>
            <a:endParaRPr lang="en-US" sz="1800" dirty="0"/>
          </a:p>
        </p:txBody>
      </p:sp>
      <p:sp>
        <p:nvSpPr>
          <p:cNvPr id="8" name="Text 4"/>
          <p:cNvSpPr txBox="1"/>
          <p:nvPr/>
        </p:nvSpPr>
        <p:spPr>
          <a:xfrm>
            <a:off x="10929823" y="6437376"/>
            <a:ext cx="548640" cy="219456"/>
          </a:xfrm>
          <a:prstGeom prst="rect">
            <a:avLst/>
          </a:prstGeom>
          <a:noFill/>
          <a:ln/>
        </p:spPr>
        <p:txBody>
          <a:bodyPr wrap="square" lIns="0" tIns="0" rIns="0" bIns="0" rtlCol="0" anchor="t"/>
          <a:lstStyle/>
          <a:p>
            <a:pPr algn="r" indent="0" marL="0">
              <a:buNone/>
            </a:pPr>
            <a:r>
              <a:rPr lang="en-US" sz="1050" b="1" spc="100" kern="0" dirty="0">
                <a:solidFill>
                  <a:srgbClr val="CBD8E3"/>
                </a:solidFill>
                <a:latin typeface="Arial" pitchFamily="34" charset="0"/>
                <a:ea typeface="Arial" pitchFamily="34" charset="-122"/>
                <a:cs typeface="Arial" pitchFamily="34" charset="-120"/>
              </a:rPr>
              <a:t>10</a:t>
            </a:r>
            <a:endParaRPr lang="en-US" sz="1050" dirty="0"/>
          </a:p>
        </p:txBody>
      </p:sp>
      <p:sp>
        <p:nvSpPr>
          <p:cNvPr id="9" name="Text 5"/>
          <p:cNvSpPr txBox="1"/>
          <p:nvPr/>
        </p:nvSpPr>
        <p:spPr>
          <a:xfrm>
            <a:off x="713232" y="3193542"/>
            <a:ext cx="2651760" cy="268224"/>
          </a:xfrm>
          <a:prstGeom prst="rect">
            <a:avLst/>
          </a:prstGeom>
          <a:noFill/>
          <a:ln/>
        </p:spPr>
        <p:txBody>
          <a:bodyPr wrap="square" lIns="0" tIns="0" rIns="0" bIns="0" rtlCol="0" anchor="t"/>
          <a:lstStyle/>
          <a:p>
            <a:pPr algn="l" indent="0" marL="0">
              <a:lnSpc>
                <a:spcPct val="110000"/>
              </a:lnSpc>
              <a:buNone/>
            </a:pPr>
            <a:r>
              <a:rPr lang="en-US" sz="1500" b="1" dirty="0">
                <a:solidFill>
                  <a:srgbClr val="0F151B"/>
                </a:solidFill>
                <a:latin typeface="Arial" pitchFamily="34" charset="0"/>
                <a:ea typeface="Arial" pitchFamily="34" charset="-122"/>
                <a:cs typeface="Arial" pitchFamily="34" charset="-120"/>
              </a:rPr>
              <a:t>Entity and citation audit</a:t>
            </a:r>
            <a:endParaRPr lang="en-US" sz="1500" dirty="0"/>
          </a:p>
        </p:txBody>
      </p:sp>
      <p:sp>
        <p:nvSpPr>
          <p:cNvPr id="10" name="Text 6"/>
          <p:cNvSpPr txBox="1"/>
          <p:nvPr/>
        </p:nvSpPr>
        <p:spPr>
          <a:xfrm>
            <a:off x="3776472" y="3193542"/>
            <a:ext cx="4251960" cy="445008"/>
          </a:xfrm>
          <a:prstGeom prst="rect">
            <a:avLst/>
          </a:prstGeom>
          <a:noFill/>
          <a:ln/>
        </p:spPr>
        <p:txBody>
          <a:bodyPr wrap="square" lIns="0" tIns="0" rIns="0" bIns="0" rtlCol="0" anchor="t"/>
          <a:lstStyle/>
          <a:p>
            <a:pPr algn="l" indent="0" marL="0">
              <a:lnSpc>
                <a:spcPct val="128000"/>
              </a:lnSpc>
              <a:buNone/>
            </a:pPr>
            <a:r>
              <a:rPr lang="en-US" sz="1200" dirty="0">
                <a:solidFill>
                  <a:srgbClr val="5A6772"/>
                </a:solidFill>
                <a:latin typeface="Arial" pitchFamily="34" charset="0"/>
                <a:ea typeface="Arial" pitchFamily="34" charset="-122"/>
                <a:cs typeface="Arial" pitchFamily="34" charset="-120"/>
              </a:rPr>
              <a:t>What the models currently say about the business, and which pages they cite.</a:t>
            </a:r>
            <a:endParaRPr lang="en-US" sz="1200" dirty="0"/>
          </a:p>
        </p:txBody>
      </p:sp>
      <p:sp>
        <p:nvSpPr>
          <p:cNvPr id="11" name="Shape 7"/>
          <p:cNvSpPr/>
          <p:nvPr/>
        </p:nvSpPr>
        <p:spPr>
          <a:xfrm>
            <a:off x="713232" y="3757422"/>
            <a:ext cx="7315200" cy="0"/>
          </a:xfrm>
          <a:prstGeom prst="line">
            <a:avLst/>
          </a:prstGeom>
          <a:noFill/>
          <a:ln w="9525">
            <a:solidFill>
              <a:srgbClr val="E2EAF1"/>
            </a:solidFill>
            <a:prstDash val="solid"/>
          </a:ln>
        </p:spPr>
      </p:sp>
      <p:sp>
        <p:nvSpPr>
          <p:cNvPr id="12" name="Text 8"/>
          <p:cNvSpPr txBox="1"/>
          <p:nvPr/>
        </p:nvSpPr>
        <p:spPr>
          <a:xfrm>
            <a:off x="713232" y="3876294"/>
            <a:ext cx="2651760" cy="268224"/>
          </a:xfrm>
          <a:prstGeom prst="rect">
            <a:avLst/>
          </a:prstGeom>
          <a:noFill/>
          <a:ln/>
        </p:spPr>
        <p:txBody>
          <a:bodyPr wrap="square" lIns="0" tIns="0" rIns="0" bIns="0" rtlCol="0" anchor="t"/>
          <a:lstStyle/>
          <a:p>
            <a:pPr algn="l" indent="0" marL="0">
              <a:lnSpc>
                <a:spcPct val="110000"/>
              </a:lnSpc>
              <a:buNone/>
            </a:pPr>
            <a:r>
              <a:rPr lang="en-US" sz="1500" b="1" dirty="0">
                <a:solidFill>
                  <a:srgbClr val="0F151B"/>
                </a:solidFill>
                <a:latin typeface="Arial" pitchFamily="34" charset="0"/>
                <a:ea typeface="Arial" pitchFamily="34" charset="-122"/>
                <a:cs typeface="Arial" pitchFamily="34" charset="-120"/>
              </a:rPr>
              <a:t>Answer formatting</a:t>
            </a:r>
            <a:endParaRPr lang="en-US" sz="1500" dirty="0"/>
          </a:p>
        </p:txBody>
      </p:sp>
      <p:sp>
        <p:nvSpPr>
          <p:cNvPr id="13" name="Text 9"/>
          <p:cNvSpPr txBox="1"/>
          <p:nvPr/>
        </p:nvSpPr>
        <p:spPr>
          <a:xfrm>
            <a:off x="3776472" y="3876294"/>
            <a:ext cx="4251960" cy="445008"/>
          </a:xfrm>
          <a:prstGeom prst="rect">
            <a:avLst/>
          </a:prstGeom>
          <a:noFill/>
          <a:ln/>
        </p:spPr>
        <p:txBody>
          <a:bodyPr wrap="square" lIns="0" tIns="0" rIns="0" bIns="0" rtlCol="0" anchor="t"/>
          <a:lstStyle/>
          <a:p>
            <a:pPr algn="l" indent="0" marL="0">
              <a:lnSpc>
                <a:spcPct val="128000"/>
              </a:lnSpc>
              <a:buNone/>
            </a:pPr>
            <a:r>
              <a:rPr lang="en-US" sz="1200" dirty="0">
                <a:solidFill>
                  <a:srgbClr val="5A6772"/>
                </a:solidFill>
                <a:latin typeface="Arial" pitchFamily="34" charset="0"/>
                <a:ea typeface="Arial" pitchFamily="34" charset="-122"/>
                <a:cs typeface="Arial" pitchFamily="34" charset="-120"/>
              </a:rPr>
              <a:t>Direct answers, definitions, FAQs and schema that mirror the visible page.</a:t>
            </a:r>
            <a:endParaRPr lang="en-US" sz="1200" dirty="0"/>
          </a:p>
        </p:txBody>
      </p:sp>
      <p:sp>
        <p:nvSpPr>
          <p:cNvPr id="14" name="Shape 10"/>
          <p:cNvSpPr/>
          <p:nvPr/>
        </p:nvSpPr>
        <p:spPr>
          <a:xfrm>
            <a:off x="713232" y="4440174"/>
            <a:ext cx="7315200" cy="0"/>
          </a:xfrm>
          <a:prstGeom prst="line">
            <a:avLst/>
          </a:prstGeom>
          <a:noFill/>
          <a:ln w="9525">
            <a:solidFill>
              <a:srgbClr val="E2EAF1"/>
            </a:solidFill>
            <a:prstDash val="solid"/>
          </a:ln>
        </p:spPr>
      </p:sp>
      <p:sp>
        <p:nvSpPr>
          <p:cNvPr id="15" name="Text 11"/>
          <p:cNvSpPr txBox="1"/>
          <p:nvPr/>
        </p:nvSpPr>
        <p:spPr>
          <a:xfrm>
            <a:off x="713232" y="4559046"/>
            <a:ext cx="2651760" cy="268224"/>
          </a:xfrm>
          <a:prstGeom prst="rect">
            <a:avLst/>
          </a:prstGeom>
          <a:noFill/>
          <a:ln/>
        </p:spPr>
        <p:txBody>
          <a:bodyPr wrap="square" lIns="0" tIns="0" rIns="0" bIns="0" rtlCol="0" anchor="t"/>
          <a:lstStyle/>
          <a:p>
            <a:pPr algn="l" indent="0" marL="0">
              <a:lnSpc>
                <a:spcPct val="110000"/>
              </a:lnSpc>
              <a:buNone/>
            </a:pPr>
            <a:r>
              <a:rPr lang="en-US" sz="1500" b="1" dirty="0">
                <a:solidFill>
                  <a:srgbClr val="0F151B"/>
                </a:solidFill>
                <a:latin typeface="Arial" pitchFamily="34" charset="0"/>
                <a:ea typeface="Arial" pitchFamily="34" charset="-122"/>
                <a:cs typeface="Arial" pitchFamily="34" charset="-120"/>
              </a:rPr>
              <a:t>Source authority</a:t>
            </a:r>
            <a:endParaRPr lang="en-US" sz="1500" dirty="0"/>
          </a:p>
        </p:txBody>
      </p:sp>
      <p:sp>
        <p:nvSpPr>
          <p:cNvPr id="16" name="Text 12"/>
          <p:cNvSpPr txBox="1"/>
          <p:nvPr/>
        </p:nvSpPr>
        <p:spPr>
          <a:xfrm>
            <a:off x="3776472" y="4559046"/>
            <a:ext cx="4251960" cy="445008"/>
          </a:xfrm>
          <a:prstGeom prst="rect">
            <a:avLst/>
          </a:prstGeom>
          <a:noFill/>
          <a:ln/>
        </p:spPr>
        <p:txBody>
          <a:bodyPr wrap="square" lIns="0" tIns="0" rIns="0" bIns="0" rtlCol="0" anchor="t"/>
          <a:lstStyle/>
          <a:p>
            <a:pPr algn="l" indent="0" marL="0">
              <a:lnSpc>
                <a:spcPct val="128000"/>
              </a:lnSpc>
              <a:buNone/>
            </a:pPr>
            <a:r>
              <a:rPr lang="en-US" sz="1200" dirty="0">
                <a:solidFill>
                  <a:srgbClr val="5A6772"/>
                </a:solidFill>
                <a:latin typeface="Arial" pitchFamily="34" charset="0"/>
                <a:ea typeface="Arial" pitchFamily="34" charset="-122"/>
                <a:cs typeface="Arial" pitchFamily="34" charset="-120"/>
              </a:rPr>
              <a:t>Third party citations, reviews and listings the models actually read.</a:t>
            </a:r>
            <a:endParaRPr lang="en-US" sz="1200" dirty="0"/>
          </a:p>
        </p:txBody>
      </p:sp>
      <p:sp>
        <p:nvSpPr>
          <p:cNvPr id="17" name="Shape 13"/>
          <p:cNvSpPr/>
          <p:nvPr/>
        </p:nvSpPr>
        <p:spPr>
          <a:xfrm>
            <a:off x="713232" y="5122926"/>
            <a:ext cx="7315200" cy="0"/>
          </a:xfrm>
          <a:prstGeom prst="line">
            <a:avLst/>
          </a:prstGeom>
          <a:noFill/>
          <a:ln w="9525">
            <a:solidFill>
              <a:srgbClr val="E2EAF1"/>
            </a:solidFill>
            <a:prstDash val="solid"/>
          </a:ln>
        </p:spPr>
      </p:sp>
      <p:sp>
        <p:nvSpPr>
          <p:cNvPr id="18" name="Text 14"/>
          <p:cNvSpPr txBox="1"/>
          <p:nvPr/>
        </p:nvSpPr>
        <p:spPr>
          <a:xfrm>
            <a:off x="713232" y="5241798"/>
            <a:ext cx="2651760" cy="268224"/>
          </a:xfrm>
          <a:prstGeom prst="rect">
            <a:avLst/>
          </a:prstGeom>
          <a:noFill/>
          <a:ln/>
        </p:spPr>
        <p:txBody>
          <a:bodyPr wrap="square" lIns="0" tIns="0" rIns="0" bIns="0" rtlCol="0" anchor="t"/>
          <a:lstStyle/>
          <a:p>
            <a:pPr algn="l" indent="0" marL="0">
              <a:lnSpc>
                <a:spcPct val="110000"/>
              </a:lnSpc>
              <a:buNone/>
            </a:pPr>
            <a:r>
              <a:rPr lang="en-US" sz="1500" b="1" dirty="0">
                <a:solidFill>
                  <a:srgbClr val="0F151B"/>
                </a:solidFill>
                <a:latin typeface="Arial" pitchFamily="34" charset="0"/>
                <a:ea typeface="Arial" pitchFamily="34" charset="-122"/>
                <a:cs typeface="Arial" pitchFamily="34" charset="-120"/>
              </a:rPr>
              <a:t>AI visibility tracking</a:t>
            </a:r>
            <a:endParaRPr lang="en-US" sz="1500" dirty="0"/>
          </a:p>
        </p:txBody>
      </p:sp>
      <p:sp>
        <p:nvSpPr>
          <p:cNvPr id="19" name="Text 15"/>
          <p:cNvSpPr txBox="1"/>
          <p:nvPr/>
        </p:nvSpPr>
        <p:spPr>
          <a:xfrm>
            <a:off x="3776472" y="5241798"/>
            <a:ext cx="4251960" cy="445008"/>
          </a:xfrm>
          <a:prstGeom prst="rect">
            <a:avLst/>
          </a:prstGeom>
          <a:noFill/>
          <a:ln/>
        </p:spPr>
        <p:txBody>
          <a:bodyPr wrap="square" lIns="0" tIns="0" rIns="0" bIns="0" rtlCol="0" anchor="t"/>
          <a:lstStyle/>
          <a:p>
            <a:pPr algn="l" indent="0" marL="0">
              <a:lnSpc>
                <a:spcPct val="128000"/>
              </a:lnSpc>
              <a:buNone/>
            </a:pPr>
            <a:r>
              <a:rPr lang="en-US" sz="1200" dirty="0">
                <a:solidFill>
                  <a:srgbClr val="5A6772"/>
                </a:solidFill>
                <a:latin typeface="Arial" pitchFamily="34" charset="0"/>
                <a:ea typeface="Arial" pitchFamily="34" charset="-122"/>
                <a:cs typeface="Arial" pitchFamily="34" charset="-120"/>
              </a:rPr>
              <a:t>Prompt sets tracked monthly across the major assistants, reported like rankings.</a:t>
            </a:r>
            <a:endParaRPr lang="en-US" sz="1200" dirty="0"/>
          </a:p>
        </p:txBody>
      </p:sp>
      <p:sp>
        <p:nvSpPr>
          <p:cNvPr id="20" name="Text 16"/>
          <p:cNvSpPr txBox="1"/>
          <p:nvPr/>
        </p:nvSpPr>
        <p:spPr>
          <a:xfrm>
            <a:off x="8778240" y="2286000"/>
            <a:ext cx="2926080" cy="201168"/>
          </a:xfrm>
          <a:prstGeom prst="rect">
            <a:avLst/>
          </a:prstGeom>
          <a:noFill/>
          <a:ln/>
        </p:spPr>
        <p:txBody>
          <a:bodyPr wrap="square" lIns="0" tIns="0" rIns="0" bIns="0" rtlCol="0" anchor="t"/>
          <a:lstStyle/>
          <a:p>
            <a:pPr algn="l" indent="0" marL="0">
              <a:buNone/>
            </a:pPr>
            <a:r>
              <a:rPr lang="en-US" sz="1050" b="1" spc="240" kern="0" dirty="0">
                <a:solidFill>
                  <a:srgbClr val="5AA7E0"/>
                </a:solidFill>
                <a:latin typeface="Arial" pitchFamily="34" charset="0"/>
                <a:ea typeface="Arial" pitchFamily="34" charset="-122"/>
                <a:cs typeface="Arial" pitchFamily="34" charset="-120"/>
              </a:rPr>
              <a:t>ALREADY PROVEN IN ONE ACCOUNT</a:t>
            </a:r>
            <a:endParaRPr lang="en-US" sz="1050" dirty="0"/>
          </a:p>
        </p:txBody>
      </p:sp>
      <p:sp>
        <p:nvSpPr>
          <p:cNvPr id="21" name="Text 17"/>
          <p:cNvSpPr txBox="1"/>
          <p:nvPr/>
        </p:nvSpPr>
        <p:spPr>
          <a:xfrm>
            <a:off x="8778240" y="2651760"/>
            <a:ext cx="2926080" cy="978408"/>
          </a:xfrm>
          <a:prstGeom prst="rect">
            <a:avLst/>
          </a:prstGeom>
          <a:noFill/>
          <a:ln/>
        </p:spPr>
        <p:txBody>
          <a:bodyPr wrap="square" lIns="0" tIns="0" rIns="0" bIns="0" rtlCol="0" anchor="t"/>
          <a:lstStyle/>
          <a:p>
            <a:pPr algn="l" indent="0" marL="0">
              <a:lnSpc>
                <a:spcPct val="100000"/>
              </a:lnSpc>
              <a:buNone/>
            </a:pPr>
            <a:r>
              <a:rPr lang="en-US" sz="7200" b="1" dirty="0">
                <a:solidFill>
                  <a:srgbClr val="5AA7E0"/>
                </a:solidFill>
                <a:latin typeface="Arial" pitchFamily="34" charset="0"/>
                <a:ea typeface="Arial" pitchFamily="34" charset="-122"/>
                <a:cs typeface="Arial" pitchFamily="34" charset="-120"/>
              </a:rPr>
              <a:t>35</a:t>
            </a:r>
            <a:endParaRPr lang="en-US" sz="7200" dirty="0"/>
          </a:p>
        </p:txBody>
      </p:sp>
      <p:sp>
        <p:nvSpPr>
          <p:cNvPr id="22" name="Text 18"/>
          <p:cNvSpPr txBox="1"/>
          <p:nvPr/>
        </p:nvSpPr>
        <p:spPr>
          <a:xfrm>
            <a:off x="8778240" y="3685032"/>
            <a:ext cx="2926080" cy="429768"/>
          </a:xfrm>
          <a:prstGeom prst="rect">
            <a:avLst/>
          </a:prstGeom>
          <a:noFill/>
          <a:ln/>
        </p:spPr>
        <p:txBody>
          <a:bodyPr wrap="square" lIns="0" tIns="0" rIns="0" bIns="0" rtlCol="0" anchor="t"/>
          <a:lstStyle/>
          <a:p>
            <a:pPr algn="l" indent="0" marL="0">
              <a:lnSpc>
                <a:spcPct val="120000"/>
              </a:lnSpc>
              <a:buNone/>
            </a:pPr>
            <a:r>
              <a:rPr lang="en-US" sz="1200" b="1" dirty="0">
                <a:solidFill>
                  <a:srgbClr val="FFFFFF"/>
                </a:solidFill>
                <a:latin typeface="Arial" pitchFamily="34" charset="0"/>
                <a:ea typeface="Arial" pitchFamily="34" charset="-122"/>
                <a:cs typeface="Arial" pitchFamily="34" charset="-120"/>
              </a:rPr>
              <a:t>AI visibility score, Detroit Dispensing Solutions</a:t>
            </a:r>
            <a:endParaRPr lang="en-US" sz="1200" dirty="0"/>
          </a:p>
        </p:txBody>
      </p:sp>
      <p:sp>
        <p:nvSpPr>
          <p:cNvPr id="23" name="Text 19"/>
          <p:cNvSpPr txBox="1"/>
          <p:nvPr/>
        </p:nvSpPr>
        <p:spPr>
          <a:xfrm>
            <a:off x="8778240" y="4178808"/>
            <a:ext cx="2926080" cy="544068"/>
          </a:xfrm>
          <a:prstGeom prst="rect">
            <a:avLst/>
          </a:prstGeom>
          <a:noFill/>
          <a:ln/>
        </p:spPr>
        <p:txBody>
          <a:bodyPr wrap="square" lIns="0" tIns="0" rIns="0" bIns="0" rtlCol="0" anchor="t"/>
          <a:lstStyle/>
          <a:p>
            <a:pPr algn="l" indent="0" marL="0">
              <a:lnSpc>
                <a:spcPct val="120000"/>
              </a:lnSpc>
              <a:buNone/>
            </a:pPr>
            <a:r>
              <a:rPr lang="en-US" sz="1050" dirty="0">
                <a:solidFill>
                  <a:srgbClr val="9DB5C8"/>
                </a:solidFill>
                <a:latin typeface="Arial" pitchFamily="34" charset="0"/>
                <a:ea typeface="Arial" pitchFamily="34" charset="-122"/>
                <a:cs typeface="Arial" pitchFamily="34" charset="-120"/>
              </a:rPr>
              <a:t>Grown with more cited pages. ChatGPT appears in the December lead mix as a real traffic source.</a:t>
            </a:r>
            <a:endParaRPr lang="en-US" sz="1050" dirty="0"/>
          </a:p>
        </p:txBody>
      </p:sp>
      <p:sp>
        <p:nvSpPr>
          <p:cNvPr id="24" name="Text 20"/>
          <p:cNvSpPr txBox="1"/>
          <p:nvPr/>
        </p:nvSpPr>
        <p:spPr>
          <a:xfrm>
            <a:off x="713232" y="6400800"/>
            <a:ext cx="9942271" cy="237744"/>
          </a:xfrm>
          <a:prstGeom prst="rect">
            <a:avLst/>
          </a:prstGeom>
          <a:noFill/>
          <a:ln/>
        </p:spPr>
        <p:txBody>
          <a:bodyPr wrap="square" lIns="0" tIns="0" rIns="0" bIns="0" rtlCol="0" anchor="t"/>
          <a:lstStyle/>
          <a:p>
            <a:pPr algn="l" indent="0" marL="0">
              <a:buNone/>
            </a:pPr>
            <a:r>
              <a:rPr lang="en-US" sz="950" i="1" dirty="0">
                <a:solidFill>
                  <a:srgbClr val="8A97A2"/>
                </a:solidFill>
                <a:latin typeface="Arial" pitchFamily="34" charset="0"/>
                <a:ea typeface="Arial" pitchFamily="34" charset="-122"/>
                <a:cs typeface="Arial" pitchFamily="34" charset="-120"/>
              </a:rPr>
              <a:t>Draft scope. Momentum has no published AEO page or price. Scope and pricing need Mac's sign off before this slide is used with a prospect.</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Momentum Digital logo">    </p:cNvPr>
          <p:cNvPicPr>
            <a:picLocks noChangeAspect="1"/>
          </p:cNvPicPr>
          <p:nvPr/>
        </p:nvPicPr>
        <p:blipFill>
          <a:blip r:embed="rId1"/>
          <a:stretch>
            <a:fillRect/>
          </a:stretch>
        </p:blipFill>
        <p:spPr>
          <a:xfrm>
            <a:off x="10106863" y="658368"/>
            <a:ext cx="1371600" cy="294904"/>
          </a:xfrm>
          <a:prstGeom prst="rect">
            <a:avLst/>
          </a:prstGeom>
        </p:spPr>
      </p:pic>
      <p:sp>
        <p:nvSpPr>
          <p:cNvPr id="3" name="Text 0"/>
          <p:cNvSpPr txBox="1"/>
          <p:nvPr/>
        </p:nvSpPr>
        <p:spPr>
          <a:xfrm>
            <a:off x="713232" y="658368"/>
            <a:ext cx="8753551" cy="201168"/>
          </a:xfrm>
          <a:prstGeom prst="rect">
            <a:avLst/>
          </a:prstGeom>
          <a:noFill/>
          <a:ln/>
        </p:spPr>
        <p:txBody>
          <a:bodyPr wrap="square" lIns="0" tIns="0" rIns="0" bIns="0" rtlCol="0" anchor="t"/>
          <a:lstStyle/>
          <a:p>
            <a:pPr algn="l" indent="0" marL="0">
              <a:buNone/>
            </a:pPr>
            <a:r>
              <a:rPr lang="en-US" sz="1050" b="1" spc="240" kern="0" dirty="0">
                <a:solidFill>
                  <a:srgbClr val="2A80C2"/>
                </a:solidFill>
                <a:latin typeface="Arial" pitchFamily="34" charset="0"/>
                <a:ea typeface="Arial" pitchFamily="34" charset="-122"/>
                <a:cs typeface="Arial" pitchFamily="34" charset="-120"/>
              </a:rPr>
              <a:t>INDUSTRIES</a:t>
            </a:r>
            <a:endParaRPr lang="en-US" sz="1050" dirty="0"/>
          </a:p>
        </p:txBody>
      </p:sp>
      <p:sp>
        <p:nvSpPr>
          <p:cNvPr id="4" name="Text 1"/>
          <p:cNvSpPr txBox="1"/>
          <p:nvPr/>
        </p:nvSpPr>
        <p:spPr>
          <a:xfrm>
            <a:off x="713232" y="987552"/>
            <a:ext cx="8570671" cy="1074420"/>
          </a:xfrm>
          <a:prstGeom prst="rect">
            <a:avLst/>
          </a:prstGeom>
          <a:noFill/>
          <a:ln/>
        </p:spPr>
        <p:txBody>
          <a:bodyPr wrap="square" lIns="0" tIns="0" rIns="0" bIns="0" rtlCol="0" anchor="t"/>
          <a:lstStyle/>
          <a:p>
            <a:pPr algn="l" indent="0" marL="0">
              <a:lnSpc>
                <a:spcPct val="102000"/>
              </a:lnSpc>
              <a:buNone/>
            </a:pPr>
            <a:r>
              <a:rPr lang="en-US" sz="3900" b="1" dirty="0">
                <a:solidFill>
                  <a:srgbClr val="0F151B"/>
                </a:solidFill>
                <a:latin typeface="Arial" pitchFamily="34" charset="0"/>
                <a:ea typeface="Arial" pitchFamily="34" charset="-122"/>
                <a:cs typeface="Arial" pitchFamily="34" charset="-120"/>
              </a:rPr>
              <a:t>Twenty industries, a specialist playbook for each</a:t>
            </a:r>
            <a:endParaRPr lang="en-US" sz="3900" dirty="0"/>
          </a:p>
        </p:txBody>
      </p:sp>
      <p:sp>
        <p:nvSpPr>
          <p:cNvPr id="5" name="Text 2"/>
          <p:cNvSpPr txBox="1"/>
          <p:nvPr/>
        </p:nvSpPr>
        <p:spPr>
          <a:xfrm>
            <a:off x="10929823" y="6437376"/>
            <a:ext cx="548640" cy="219456"/>
          </a:xfrm>
          <a:prstGeom prst="rect">
            <a:avLst/>
          </a:prstGeom>
          <a:noFill/>
          <a:ln/>
        </p:spPr>
        <p:txBody>
          <a:bodyPr wrap="square" lIns="0" tIns="0" rIns="0" bIns="0" rtlCol="0" anchor="t"/>
          <a:lstStyle/>
          <a:p>
            <a:pPr algn="r" indent="0" marL="0">
              <a:buNone/>
            </a:pPr>
            <a:r>
              <a:rPr lang="en-US" sz="1050" b="1" spc="100" kern="0" dirty="0">
                <a:solidFill>
                  <a:srgbClr val="CBD8E3"/>
                </a:solidFill>
                <a:latin typeface="Arial" pitchFamily="34" charset="0"/>
                <a:ea typeface="Arial" pitchFamily="34" charset="-122"/>
                <a:cs typeface="Arial" pitchFamily="34" charset="-120"/>
              </a:rPr>
              <a:t>11</a:t>
            </a:r>
            <a:endParaRPr lang="en-US" sz="1050" dirty="0"/>
          </a:p>
        </p:txBody>
      </p:sp>
      <p:sp>
        <p:nvSpPr>
          <p:cNvPr id="6" name="Shape 3"/>
          <p:cNvSpPr/>
          <p:nvPr/>
        </p:nvSpPr>
        <p:spPr>
          <a:xfrm>
            <a:off x="3130220" y="2542032"/>
            <a:ext cx="0" cy="3291840"/>
          </a:xfrm>
          <a:prstGeom prst="line">
            <a:avLst/>
          </a:prstGeom>
          <a:noFill/>
          <a:ln w="9525">
            <a:solidFill>
              <a:srgbClr val="E2EAF1"/>
            </a:solidFill>
            <a:prstDash val="solid"/>
          </a:ln>
        </p:spPr>
      </p:sp>
      <p:sp>
        <p:nvSpPr>
          <p:cNvPr id="7" name="Shape 4"/>
          <p:cNvSpPr/>
          <p:nvPr/>
        </p:nvSpPr>
        <p:spPr>
          <a:xfrm>
            <a:off x="5821528" y="2542032"/>
            <a:ext cx="0" cy="3291840"/>
          </a:xfrm>
          <a:prstGeom prst="line">
            <a:avLst/>
          </a:prstGeom>
          <a:noFill/>
          <a:ln w="9525">
            <a:solidFill>
              <a:srgbClr val="E2EAF1"/>
            </a:solidFill>
            <a:prstDash val="solid"/>
          </a:ln>
        </p:spPr>
      </p:sp>
      <p:sp>
        <p:nvSpPr>
          <p:cNvPr id="8" name="Shape 5"/>
          <p:cNvSpPr/>
          <p:nvPr/>
        </p:nvSpPr>
        <p:spPr>
          <a:xfrm>
            <a:off x="8512835" y="2542032"/>
            <a:ext cx="0" cy="3291840"/>
          </a:xfrm>
          <a:prstGeom prst="line">
            <a:avLst/>
          </a:prstGeom>
          <a:noFill/>
          <a:ln w="9525">
            <a:solidFill>
              <a:srgbClr val="E2EAF1"/>
            </a:solidFill>
            <a:prstDash val="solid"/>
          </a:ln>
        </p:spPr>
      </p:sp>
      <p:sp>
        <p:nvSpPr>
          <p:cNvPr id="9" name="Text 6"/>
          <p:cNvSpPr txBox="1"/>
          <p:nvPr/>
        </p:nvSpPr>
        <p:spPr>
          <a:xfrm>
            <a:off x="713232" y="2542032"/>
            <a:ext cx="2142668" cy="566928"/>
          </a:xfrm>
          <a:prstGeom prst="rect">
            <a:avLst/>
          </a:prstGeom>
          <a:noFill/>
          <a:ln/>
        </p:spPr>
        <p:txBody>
          <a:bodyPr wrap="square" lIns="0" tIns="0" rIns="0" bIns="0" rtlCol="0" anchor="t"/>
          <a:lstStyle/>
          <a:p>
            <a:pPr algn="l" indent="0" marL="0">
              <a:lnSpc>
                <a:spcPct val="108000"/>
              </a:lnSpc>
              <a:buNone/>
            </a:pPr>
            <a:r>
              <a:rPr lang="en-US" sz="1400" b="1" dirty="0">
                <a:solidFill>
                  <a:srgbClr val="0F151B"/>
                </a:solidFill>
                <a:latin typeface="Arial" pitchFamily="34" charset="0"/>
                <a:ea typeface="Arial" pitchFamily="34" charset="-122"/>
                <a:cs typeface="Arial" pitchFamily="34" charset="-120"/>
              </a:rPr>
              <a:t>Beauty and salons</a:t>
            </a:r>
            <a:endParaRPr lang="en-US" sz="1400" dirty="0"/>
          </a:p>
        </p:txBody>
      </p:sp>
      <p:sp>
        <p:nvSpPr>
          <p:cNvPr id="10" name="Shape 7"/>
          <p:cNvSpPr/>
          <p:nvPr/>
        </p:nvSpPr>
        <p:spPr>
          <a:xfrm>
            <a:off x="713232" y="3108960"/>
            <a:ext cx="2142668" cy="0"/>
          </a:xfrm>
          <a:prstGeom prst="line">
            <a:avLst/>
          </a:prstGeom>
          <a:noFill/>
          <a:ln w="9525">
            <a:solidFill>
              <a:srgbClr val="E2EAF1"/>
            </a:solidFill>
            <a:prstDash val="solid"/>
          </a:ln>
        </p:spPr>
      </p:sp>
      <p:sp>
        <p:nvSpPr>
          <p:cNvPr id="11" name="Text 8"/>
          <p:cNvSpPr txBox="1"/>
          <p:nvPr/>
        </p:nvSpPr>
        <p:spPr>
          <a:xfrm>
            <a:off x="713232" y="3200400"/>
            <a:ext cx="2142668" cy="566928"/>
          </a:xfrm>
          <a:prstGeom prst="rect">
            <a:avLst/>
          </a:prstGeom>
          <a:noFill/>
          <a:ln/>
        </p:spPr>
        <p:txBody>
          <a:bodyPr wrap="square" lIns="0" tIns="0" rIns="0" bIns="0" rtlCol="0" anchor="t"/>
          <a:lstStyle/>
          <a:p>
            <a:pPr algn="l" indent="0" marL="0">
              <a:lnSpc>
                <a:spcPct val="108000"/>
              </a:lnSpc>
              <a:buNone/>
            </a:pPr>
            <a:r>
              <a:rPr lang="en-US" sz="1400" b="1" dirty="0">
                <a:solidFill>
                  <a:srgbClr val="0F151B"/>
                </a:solidFill>
                <a:latin typeface="Arial" pitchFamily="34" charset="0"/>
                <a:ea typeface="Arial" pitchFamily="34" charset="-122"/>
                <a:cs typeface="Arial" pitchFamily="34" charset="-120"/>
              </a:rPr>
              <a:t>Breweries</a:t>
            </a:r>
            <a:endParaRPr lang="en-US" sz="1400" dirty="0"/>
          </a:p>
        </p:txBody>
      </p:sp>
      <p:sp>
        <p:nvSpPr>
          <p:cNvPr id="12" name="Shape 9"/>
          <p:cNvSpPr/>
          <p:nvPr/>
        </p:nvSpPr>
        <p:spPr>
          <a:xfrm>
            <a:off x="713232" y="3767328"/>
            <a:ext cx="2142668" cy="0"/>
          </a:xfrm>
          <a:prstGeom prst="line">
            <a:avLst/>
          </a:prstGeom>
          <a:noFill/>
          <a:ln w="9525">
            <a:solidFill>
              <a:srgbClr val="E2EAF1"/>
            </a:solidFill>
            <a:prstDash val="solid"/>
          </a:ln>
        </p:spPr>
      </p:sp>
      <p:sp>
        <p:nvSpPr>
          <p:cNvPr id="13" name="Text 10"/>
          <p:cNvSpPr txBox="1"/>
          <p:nvPr/>
        </p:nvSpPr>
        <p:spPr>
          <a:xfrm>
            <a:off x="713232" y="3858768"/>
            <a:ext cx="2142668" cy="566928"/>
          </a:xfrm>
          <a:prstGeom prst="rect">
            <a:avLst/>
          </a:prstGeom>
          <a:noFill/>
          <a:ln/>
        </p:spPr>
        <p:txBody>
          <a:bodyPr wrap="square" lIns="0" tIns="0" rIns="0" bIns="0" rtlCol="0" anchor="t"/>
          <a:lstStyle/>
          <a:p>
            <a:pPr algn="l" indent="0" marL="0">
              <a:lnSpc>
                <a:spcPct val="108000"/>
              </a:lnSpc>
              <a:buNone/>
            </a:pPr>
            <a:r>
              <a:rPr lang="en-US" sz="1400" b="1" dirty="0">
                <a:solidFill>
                  <a:srgbClr val="0F151B"/>
                </a:solidFill>
                <a:latin typeface="Arial" pitchFamily="34" charset="0"/>
                <a:ea typeface="Arial" pitchFamily="34" charset="-122"/>
                <a:cs typeface="Arial" pitchFamily="34" charset="-120"/>
              </a:rPr>
              <a:t>Cafes and coffee</a:t>
            </a:r>
            <a:endParaRPr lang="en-US" sz="1400" dirty="0"/>
          </a:p>
        </p:txBody>
      </p:sp>
      <p:sp>
        <p:nvSpPr>
          <p:cNvPr id="14" name="Shape 11"/>
          <p:cNvSpPr/>
          <p:nvPr/>
        </p:nvSpPr>
        <p:spPr>
          <a:xfrm>
            <a:off x="713232" y="4425696"/>
            <a:ext cx="2142668" cy="0"/>
          </a:xfrm>
          <a:prstGeom prst="line">
            <a:avLst/>
          </a:prstGeom>
          <a:noFill/>
          <a:ln w="9525">
            <a:solidFill>
              <a:srgbClr val="E2EAF1"/>
            </a:solidFill>
            <a:prstDash val="solid"/>
          </a:ln>
        </p:spPr>
      </p:sp>
      <p:sp>
        <p:nvSpPr>
          <p:cNvPr id="15" name="Text 12"/>
          <p:cNvSpPr txBox="1"/>
          <p:nvPr/>
        </p:nvSpPr>
        <p:spPr>
          <a:xfrm>
            <a:off x="713232" y="4517136"/>
            <a:ext cx="2142668" cy="566928"/>
          </a:xfrm>
          <a:prstGeom prst="rect">
            <a:avLst/>
          </a:prstGeom>
          <a:noFill/>
          <a:ln/>
        </p:spPr>
        <p:txBody>
          <a:bodyPr wrap="square" lIns="0" tIns="0" rIns="0" bIns="0" rtlCol="0" anchor="t"/>
          <a:lstStyle/>
          <a:p>
            <a:pPr algn="l" indent="0" marL="0">
              <a:lnSpc>
                <a:spcPct val="108000"/>
              </a:lnSpc>
              <a:buNone/>
            </a:pPr>
            <a:r>
              <a:rPr lang="en-US" sz="1400" b="1" dirty="0">
                <a:solidFill>
                  <a:srgbClr val="0F151B"/>
                </a:solidFill>
                <a:latin typeface="Arial" pitchFamily="34" charset="0"/>
                <a:ea typeface="Arial" pitchFamily="34" charset="-122"/>
                <a:cs typeface="Arial" pitchFamily="34" charset="-120"/>
              </a:rPr>
              <a:t>Cannabis</a:t>
            </a:r>
            <a:endParaRPr lang="en-US" sz="1400" dirty="0"/>
          </a:p>
        </p:txBody>
      </p:sp>
      <p:sp>
        <p:nvSpPr>
          <p:cNvPr id="16" name="Shape 13"/>
          <p:cNvSpPr/>
          <p:nvPr/>
        </p:nvSpPr>
        <p:spPr>
          <a:xfrm>
            <a:off x="713232" y="5084064"/>
            <a:ext cx="2142668" cy="0"/>
          </a:xfrm>
          <a:prstGeom prst="line">
            <a:avLst/>
          </a:prstGeom>
          <a:noFill/>
          <a:ln w="9525">
            <a:solidFill>
              <a:srgbClr val="E2EAF1"/>
            </a:solidFill>
            <a:prstDash val="solid"/>
          </a:ln>
        </p:spPr>
      </p:sp>
      <p:sp>
        <p:nvSpPr>
          <p:cNvPr id="17" name="Text 14"/>
          <p:cNvSpPr txBox="1"/>
          <p:nvPr/>
        </p:nvSpPr>
        <p:spPr>
          <a:xfrm>
            <a:off x="713232" y="5175504"/>
            <a:ext cx="2142668" cy="566928"/>
          </a:xfrm>
          <a:prstGeom prst="rect">
            <a:avLst/>
          </a:prstGeom>
          <a:noFill/>
          <a:ln/>
        </p:spPr>
        <p:txBody>
          <a:bodyPr wrap="square" lIns="0" tIns="0" rIns="0" bIns="0" rtlCol="0" anchor="t"/>
          <a:lstStyle/>
          <a:p>
            <a:pPr algn="l" indent="0" marL="0">
              <a:lnSpc>
                <a:spcPct val="108000"/>
              </a:lnSpc>
              <a:buNone/>
            </a:pPr>
            <a:r>
              <a:rPr lang="en-US" sz="1400" b="1" dirty="0">
                <a:solidFill>
                  <a:srgbClr val="0F151B"/>
                </a:solidFill>
                <a:latin typeface="Arial" pitchFamily="34" charset="0"/>
                <a:ea typeface="Arial" pitchFamily="34" charset="-122"/>
                <a:cs typeface="Arial" pitchFamily="34" charset="-120"/>
              </a:rPr>
              <a:t>Car dealerships</a:t>
            </a:r>
            <a:endParaRPr lang="en-US" sz="1400" dirty="0"/>
          </a:p>
        </p:txBody>
      </p:sp>
      <p:sp>
        <p:nvSpPr>
          <p:cNvPr id="18" name="Text 15"/>
          <p:cNvSpPr txBox="1"/>
          <p:nvPr/>
        </p:nvSpPr>
        <p:spPr>
          <a:xfrm>
            <a:off x="3404540" y="2542032"/>
            <a:ext cx="2142668" cy="566928"/>
          </a:xfrm>
          <a:prstGeom prst="rect">
            <a:avLst/>
          </a:prstGeom>
          <a:noFill/>
          <a:ln/>
        </p:spPr>
        <p:txBody>
          <a:bodyPr wrap="square" lIns="0" tIns="0" rIns="0" bIns="0" rtlCol="0" anchor="t"/>
          <a:lstStyle/>
          <a:p>
            <a:pPr algn="l" indent="0" marL="0">
              <a:lnSpc>
                <a:spcPct val="108000"/>
              </a:lnSpc>
              <a:buNone/>
            </a:pPr>
            <a:r>
              <a:rPr lang="en-US" sz="1400" b="1" dirty="0">
                <a:solidFill>
                  <a:srgbClr val="0F151B"/>
                </a:solidFill>
                <a:latin typeface="Arial" pitchFamily="34" charset="0"/>
                <a:ea typeface="Arial" pitchFamily="34" charset="-122"/>
                <a:cs typeface="Arial" pitchFamily="34" charset="-120"/>
              </a:rPr>
              <a:t>Dentists</a:t>
            </a:r>
            <a:endParaRPr lang="en-US" sz="1400" dirty="0"/>
          </a:p>
        </p:txBody>
      </p:sp>
      <p:sp>
        <p:nvSpPr>
          <p:cNvPr id="19" name="Shape 16"/>
          <p:cNvSpPr/>
          <p:nvPr/>
        </p:nvSpPr>
        <p:spPr>
          <a:xfrm>
            <a:off x="3404540" y="3108960"/>
            <a:ext cx="2142668" cy="0"/>
          </a:xfrm>
          <a:prstGeom prst="line">
            <a:avLst/>
          </a:prstGeom>
          <a:noFill/>
          <a:ln w="9525">
            <a:solidFill>
              <a:srgbClr val="E2EAF1"/>
            </a:solidFill>
            <a:prstDash val="solid"/>
          </a:ln>
        </p:spPr>
      </p:sp>
      <p:sp>
        <p:nvSpPr>
          <p:cNvPr id="20" name="Text 17"/>
          <p:cNvSpPr txBox="1"/>
          <p:nvPr/>
        </p:nvSpPr>
        <p:spPr>
          <a:xfrm>
            <a:off x="3404540" y="3200400"/>
            <a:ext cx="2142668" cy="566928"/>
          </a:xfrm>
          <a:prstGeom prst="rect">
            <a:avLst/>
          </a:prstGeom>
          <a:noFill/>
          <a:ln/>
        </p:spPr>
        <p:txBody>
          <a:bodyPr wrap="square" lIns="0" tIns="0" rIns="0" bIns="0" rtlCol="0" anchor="t"/>
          <a:lstStyle/>
          <a:p>
            <a:pPr algn="l" indent="0" marL="0">
              <a:lnSpc>
                <a:spcPct val="108000"/>
              </a:lnSpc>
              <a:buNone/>
            </a:pPr>
            <a:r>
              <a:rPr lang="en-US" sz="1400" b="1" dirty="0">
                <a:solidFill>
                  <a:srgbClr val="0F151B"/>
                </a:solidFill>
                <a:latin typeface="Arial" pitchFamily="34" charset="0"/>
                <a:ea typeface="Arial" pitchFamily="34" charset="-122"/>
                <a:cs typeface="Arial" pitchFamily="34" charset="-120"/>
              </a:rPr>
              <a:t>Ecommerce</a:t>
            </a:r>
            <a:endParaRPr lang="en-US" sz="1400" dirty="0"/>
          </a:p>
        </p:txBody>
      </p:sp>
      <p:sp>
        <p:nvSpPr>
          <p:cNvPr id="21" name="Shape 18"/>
          <p:cNvSpPr/>
          <p:nvPr/>
        </p:nvSpPr>
        <p:spPr>
          <a:xfrm>
            <a:off x="3404540" y="3767328"/>
            <a:ext cx="2142668" cy="0"/>
          </a:xfrm>
          <a:prstGeom prst="line">
            <a:avLst/>
          </a:prstGeom>
          <a:noFill/>
          <a:ln w="9525">
            <a:solidFill>
              <a:srgbClr val="E2EAF1"/>
            </a:solidFill>
            <a:prstDash val="solid"/>
          </a:ln>
        </p:spPr>
      </p:sp>
      <p:sp>
        <p:nvSpPr>
          <p:cNvPr id="22" name="Text 19"/>
          <p:cNvSpPr txBox="1"/>
          <p:nvPr/>
        </p:nvSpPr>
        <p:spPr>
          <a:xfrm>
            <a:off x="3404540" y="3858768"/>
            <a:ext cx="2142668" cy="566928"/>
          </a:xfrm>
          <a:prstGeom prst="rect">
            <a:avLst/>
          </a:prstGeom>
          <a:noFill/>
          <a:ln/>
        </p:spPr>
        <p:txBody>
          <a:bodyPr wrap="square" lIns="0" tIns="0" rIns="0" bIns="0" rtlCol="0" anchor="t"/>
          <a:lstStyle/>
          <a:p>
            <a:pPr algn="l" indent="0" marL="0">
              <a:lnSpc>
                <a:spcPct val="108000"/>
              </a:lnSpc>
              <a:buNone/>
            </a:pPr>
            <a:r>
              <a:rPr lang="en-US" sz="1400" b="1" dirty="0">
                <a:solidFill>
                  <a:srgbClr val="0F151B"/>
                </a:solidFill>
                <a:latin typeface="Arial" pitchFamily="34" charset="0"/>
                <a:ea typeface="Arial" pitchFamily="34" charset="-122"/>
                <a:cs typeface="Arial" pitchFamily="34" charset="-120"/>
              </a:rPr>
              <a:t>Flooring</a:t>
            </a:r>
            <a:endParaRPr lang="en-US" sz="1400" dirty="0"/>
          </a:p>
        </p:txBody>
      </p:sp>
      <p:sp>
        <p:nvSpPr>
          <p:cNvPr id="23" name="Shape 20"/>
          <p:cNvSpPr/>
          <p:nvPr/>
        </p:nvSpPr>
        <p:spPr>
          <a:xfrm>
            <a:off x="3404540" y="4425696"/>
            <a:ext cx="2142668" cy="0"/>
          </a:xfrm>
          <a:prstGeom prst="line">
            <a:avLst/>
          </a:prstGeom>
          <a:noFill/>
          <a:ln w="9525">
            <a:solidFill>
              <a:srgbClr val="E2EAF1"/>
            </a:solidFill>
            <a:prstDash val="solid"/>
          </a:ln>
        </p:spPr>
      </p:sp>
      <p:sp>
        <p:nvSpPr>
          <p:cNvPr id="24" name="Text 21"/>
          <p:cNvSpPr txBox="1"/>
          <p:nvPr/>
        </p:nvSpPr>
        <p:spPr>
          <a:xfrm>
            <a:off x="3404540" y="4517136"/>
            <a:ext cx="2142668" cy="566928"/>
          </a:xfrm>
          <a:prstGeom prst="rect">
            <a:avLst/>
          </a:prstGeom>
          <a:noFill/>
          <a:ln/>
        </p:spPr>
        <p:txBody>
          <a:bodyPr wrap="square" lIns="0" tIns="0" rIns="0" bIns="0" rtlCol="0" anchor="t"/>
          <a:lstStyle/>
          <a:p>
            <a:pPr algn="l" indent="0" marL="0">
              <a:lnSpc>
                <a:spcPct val="108000"/>
              </a:lnSpc>
              <a:buNone/>
            </a:pPr>
            <a:r>
              <a:rPr lang="en-US" sz="1400" b="1" dirty="0">
                <a:solidFill>
                  <a:srgbClr val="0F151B"/>
                </a:solidFill>
                <a:latin typeface="Arial" pitchFamily="34" charset="0"/>
                <a:ea typeface="Arial" pitchFamily="34" charset="-122"/>
                <a:cs typeface="Arial" pitchFamily="34" charset="-120"/>
              </a:rPr>
              <a:t>Gyms and fitness</a:t>
            </a:r>
            <a:endParaRPr lang="en-US" sz="1400" dirty="0"/>
          </a:p>
        </p:txBody>
      </p:sp>
      <p:sp>
        <p:nvSpPr>
          <p:cNvPr id="25" name="Shape 22"/>
          <p:cNvSpPr/>
          <p:nvPr/>
        </p:nvSpPr>
        <p:spPr>
          <a:xfrm>
            <a:off x="3404540" y="5084064"/>
            <a:ext cx="2142668" cy="0"/>
          </a:xfrm>
          <a:prstGeom prst="line">
            <a:avLst/>
          </a:prstGeom>
          <a:noFill/>
          <a:ln w="9525">
            <a:solidFill>
              <a:srgbClr val="E2EAF1"/>
            </a:solidFill>
            <a:prstDash val="solid"/>
          </a:ln>
        </p:spPr>
      </p:sp>
      <p:sp>
        <p:nvSpPr>
          <p:cNvPr id="26" name="Text 23"/>
          <p:cNvSpPr txBox="1"/>
          <p:nvPr/>
        </p:nvSpPr>
        <p:spPr>
          <a:xfrm>
            <a:off x="3404540" y="5175504"/>
            <a:ext cx="2142668" cy="566928"/>
          </a:xfrm>
          <a:prstGeom prst="rect">
            <a:avLst/>
          </a:prstGeom>
          <a:noFill/>
          <a:ln/>
        </p:spPr>
        <p:txBody>
          <a:bodyPr wrap="square" lIns="0" tIns="0" rIns="0" bIns="0" rtlCol="0" anchor="t"/>
          <a:lstStyle/>
          <a:p>
            <a:pPr algn="l" indent="0" marL="0">
              <a:lnSpc>
                <a:spcPct val="108000"/>
              </a:lnSpc>
              <a:buNone/>
            </a:pPr>
            <a:r>
              <a:rPr lang="en-US" sz="1400" b="1" dirty="0">
                <a:solidFill>
                  <a:srgbClr val="0F151B"/>
                </a:solidFill>
                <a:latin typeface="Arial" pitchFamily="34" charset="0"/>
                <a:ea typeface="Arial" pitchFamily="34" charset="-122"/>
                <a:cs typeface="Arial" pitchFamily="34" charset="-120"/>
              </a:rPr>
              <a:t>Healthcare and hospice</a:t>
            </a:r>
            <a:endParaRPr lang="en-US" sz="1400" dirty="0"/>
          </a:p>
        </p:txBody>
      </p:sp>
      <p:sp>
        <p:nvSpPr>
          <p:cNvPr id="27" name="Text 24"/>
          <p:cNvSpPr txBox="1"/>
          <p:nvPr/>
        </p:nvSpPr>
        <p:spPr>
          <a:xfrm>
            <a:off x="6095848" y="2542032"/>
            <a:ext cx="2142668" cy="566928"/>
          </a:xfrm>
          <a:prstGeom prst="rect">
            <a:avLst/>
          </a:prstGeom>
          <a:noFill/>
          <a:ln/>
        </p:spPr>
        <p:txBody>
          <a:bodyPr wrap="square" lIns="0" tIns="0" rIns="0" bIns="0" rtlCol="0" anchor="t"/>
          <a:lstStyle/>
          <a:p>
            <a:pPr algn="l" indent="0" marL="0">
              <a:lnSpc>
                <a:spcPct val="108000"/>
              </a:lnSpc>
              <a:buNone/>
            </a:pPr>
            <a:r>
              <a:rPr lang="en-US" sz="1400" b="1" dirty="0">
                <a:solidFill>
                  <a:srgbClr val="0F151B"/>
                </a:solidFill>
                <a:latin typeface="Arial" pitchFamily="34" charset="0"/>
                <a:ea typeface="Arial" pitchFamily="34" charset="-122"/>
                <a:cs typeface="Arial" pitchFamily="34" charset="-120"/>
              </a:rPr>
              <a:t>Home contractors</a:t>
            </a:r>
            <a:endParaRPr lang="en-US" sz="1400" dirty="0"/>
          </a:p>
        </p:txBody>
      </p:sp>
      <p:sp>
        <p:nvSpPr>
          <p:cNvPr id="28" name="Shape 25"/>
          <p:cNvSpPr/>
          <p:nvPr/>
        </p:nvSpPr>
        <p:spPr>
          <a:xfrm>
            <a:off x="6095848" y="3108960"/>
            <a:ext cx="2142668" cy="0"/>
          </a:xfrm>
          <a:prstGeom prst="line">
            <a:avLst/>
          </a:prstGeom>
          <a:noFill/>
          <a:ln w="9525">
            <a:solidFill>
              <a:srgbClr val="E2EAF1"/>
            </a:solidFill>
            <a:prstDash val="solid"/>
          </a:ln>
        </p:spPr>
      </p:sp>
      <p:sp>
        <p:nvSpPr>
          <p:cNvPr id="29" name="Text 26"/>
          <p:cNvSpPr txBox="1"/>
          <p:nvPr/>
        </p:nvSpPr>
        <p:spPr>
          <a:xfrm>
            <a:off x="6095848" y="3200400"/>
            <a:ext cx="2142668" cy="566928"/>
          </a:xfrm>
          <a:prstGeom prst="rect">
            <a:avLst/>
          </a:prstGeom>
          <a:noFill/>
          <a:ln/>
        </p:spPr>
        <p:txBody>
          <a:bodyPr wrap="square" lIns="0" tIns="0" rIns="0" bIns="0" rtlCol="0" anchor="t"/>
          <a:lstStyle/>
          <a:p>
            <a:pPr algn="l" indent="0" marL="0">
              <a:lnSpc>
                <a:spcPct val="108000"/>
              </a:lnSpc>
              <a:buNone/>
            </a:pPr>
            <a:r>
              <a:rPr lang="en-US" sz="1400" b="1" dirty="0">
                <a:solidFill>
                  <a:srgbClr val="0F151B"/>
                </a:solidFill>
                <a:latin typeface="Arial" pitchFamily="34" charset="0"/>
                <a:ea typeface="Arial" pitchFamily="34" charset="-122"/>
                <a:cs typeface="Arial" pitchFamily="34" charset="-120"/>
              </a:rPr>
              <a:t>IT and MSP</a:t>
            </a:r>
            <a:endParaRPr lang="en-US" sz="1400" dirty="0"/>
          </a:p>
        </p:txBody>
      </p:sp>
      <p:sp>
        <p:nvSpPr>
          <p:cNvPr id="30" name="Shape 27"/>
          <p:cNvSpPr/>
          <p:nvPr/>
        </p:nvSpPr>
        <p:spPr>
          <a:xfrm>
            <a:off x="6095848" y="3767328"/>
            <a:ext cx="2142668" cy="0"/>
          </a:xfrm>
          <a:prstGeom prst="line">
            <a:avLst/>
          </a:prstGeom>
          <a:noFill/>
          <a:ln w="9525">
            <a:solidFill>
              <a:srgbClr val="E2EAF1"/>
            </a:solidFill>
            <a:prstDash val="solid"/>
          </a:ln>
        </p:spPr>
      </p:sp>
      <p:sp>
        <p:nvSpPr>
          <p:cNvPr id="31" name="Text 28"/>
          <p:cNvSpPr txBox="1"/>
          <p:nvPr/>
        </p:nvSpPr>
        <p:spPr>
          <a:xfrm>
            <a:off x="6095848" y="3858768"/>
            <a:ext cx="2142668" cy="566928"/>
          </a:xfrm>
          <a:prstGeom prst="rect">
            <a:avLst/>
          </a:prstGeom>
          <a:noFill/>
          <a:ln/>
        </p:spPr>
        <p:txBody>
          <a:bodyPr wrap="square" lIns="0" tIns="0" rIns="0" bIns="0" rtlCol="0" anchor="t"/>
          <a:lstStyle/>
          <a:p>
            <a:pPr algn="l" indent="0" marL="0">
              <a:lnSpc>
                <a:spcPct val="108000"/>
              </a:lnSpc>
              <a:buNone/>
            </a:pPr>
            <a:r>
              <a:rPr lang="en-US" sz="1400" b="1" dirty="0">
                <a:solidFill>
                  <a:srgbClr val="0F151B"/>
                </a:solidFill>
                <a:latin typeface="Arial" pitchFamily="34" charset="0"/>
                <a:ea typeface="Arial" pitchFamily="34" charset="-122"/>
                <a:cs typeface="Arial" pitchFamily="34" charset="-120"/>
              </a:rPr>
              <a:t>Lawyers</a:t>
            </a:r>
            <a:endParaRPr lang="en-US" sz="1400" dirty="0"/>
          </a:p>
        </p:txBody>
      </p:sp>
      <p:sp>
        <p:nvSpPr>
          <p:cNvPr id="32" name="Shape 29"/>
          <p:cNvSpPr/>
          <p:nvPr/>
        </p:nvSpPr>
        <p:spPr>
          <a:xfrm>
            <a:off x="6095848" y="4425696"/>
            <a:ext cx="2142668" cy="0"/>
          </a:xfrm>
          <a:prstGeom prst="line">
            <a:avLst/>
          </a:prstGeom>
          <a:noFill/>
          <a:ln w="9525">
            <a:solidFill>
              <a:srgbClr val="E2EAF1"/>
            </a:solidFill>
            <a:prstDash val="solid"/>
          </a:ln>
        </p:spPr>
      </p:sp>
      <p:sp>
        <p:nvSpPr>
          <p:cNvPr id="33" name="Text 30"/>
          <p:cNvSpPr txBox="1"/>
          <p:nvPr/>
        </p:nvSpPr>
        <p:spPr>
          <a:xfrm>
            <a:off x="6095848" y="4517136"/>
            <a:ext cx="2142668" cy="566928"/>
          </a:xfrm>
          <a:prstGeom prst="rect">
            <a:avLst/>
          </a:prstGeom>
          <a:noFill/>
          <a:ln/>
        </p:spPr>
        <p:txBody>
          <a:bodyPr wrap="square" lIns="0" tIns="0" rIns="0" bIns="0" rtlCol="0" anchor="t"/>
          <a:lstStyle/>
          <a:p>
            <a:pPr algn="l" indent="0" marL="0">
              <a:lnSpc>
                <a:spcPct val="108000"/>
              </a:lnSpc>
              <a:buNone/>
            </a:pPr>
            <a:r>
              <a:rPr lang="en-US" sz="1400" b="1" dirty="0">
                <a:solidFill>
                  <a:srgbClr val="0F151B"/>
                </a:solidFill>
                <a:latin typeface="Arial" pitchFamily="34" charset="0"/>
                <a:ea typeface="Arial" pitchFamily="34" charset="-122"/>
                <a:cs typeface="Arial" pitchFamily="34" charset="-120"/>
              </a:rPr>
              <a:t>Mechanics</a:t>
            </a:r>
            <a:endParaRPr lang="en-US" sz="1400" dirty="0"/>
          </a:p>
        </p:txBody>
      </p:sp>
      <p:sp>
        <p:nvSpPr>
          <p:cNvPr id="34" name="Shape 31"/>
          <p:cNvSpPr/>
          <p:nvPr/>
        </p:nvSpPr>
        <p:spPr>
          <a:xfrm>
            <a:off x="6095848" y="5084064"/>
            <a:ext cx="2142668" cy="0"/>
          </a:xfrm>
          <a:prstGeom prst="line">
            <a:avLst/>
          </a:prstGeom>
          <a:noFill/>
          <a:ln w="9525">
            <a:solidFill>
              <a:srgbClr val="E2EAF1"/>
            </a:solidFill>
            <a:prstDash val="solid"/>
          </a:ln>
        </p:spPr>
      </p:sp>
      <p:sp>
        <p:nvSpPr>
          <p:cNvPr id="35" name="Text 32"/>
          <p:cNvSpPr txBox="1"/>
          <p:nvPr/>
        </p:nvSpPr>
        <p:spPr>
          <a:xfrm>
            <a:off x="6095848" y="5175504"/>
            <a:ext cx="2142668" cy="566928"/>
          </a:xfrm>
          <a:prstGeom prst="rect">
            <a:avLst/>
          </a:prstGeom>
          <a:noFill/>
          <a:ln/>
        </p:spPr>
        <p:txBody>
          <a:bodyPr wrap="square" lIns="0" tIns="0" rIns="0" bIns="0" rtlCol="0" anchor="t"/>
          <a:lstStyle/>
          <a:p>
            <a:pPr algn="l" indent="0" marL="0">
              <a:lnSpc>
                <a:spcPct val="108000"/>
              </a:lnSpc>
              <a:buNone/>
            </a:pPr>
            <a:r>
              <a:rPr lang="en-US" sz="1400" b="1" dirty="0">
                <a:solidFill>
                  <a:srgbClr val="0F151B"/>
                </a:solidFill>
                <a:latin typeface="Arial" pitchFamily="34" charset="0"/>
                <a:ea typeface="Arial" pitchFamily="34" charset="-122"/>
                <a:cs typeface="Arial" pitchFamily="34" charset="-120"/>
              </a:rPr>
              <a:t>Pressure washing</a:t>
            </a:r>
            <a:endParaRPr lang="en-US" sz="1400" dirty="0"/>
          </a:p>
        </p:txBody>
      </p:sp>
      <p:sp>
        <p:nvSpPr>
          <p:cNvPr id="36" name="Text 33"/>
          <p:cNvSpPr txBox="1"/>
          <p:nvPr/>
        </p:nvSpPr>
        <p:spPr>
          <a:xfrm>
            <a:off x="8787155" y="2542032"/>
            <a:ext cx="2142668" cy="566928"/>
          </a:xfrm>
          <a:prstGeom prst="rect">
            <a:avLst/>
          </a:prstGeom>
          <a:noFill/>
          <a:ln/>
        </p:spPr>
        <p:txBody>
          <a:bodyPr wrap="square" lIns="0" tIns="0" rIns="0" bIns="0" rtlCol="0" anchor="t"/>
          <a:lstStyle/>
          <a:p>
            <a:pPr algn="l" indent="0" marL="0">
              <a:lnSpc>
                <a:spcPct val="108000"/>
              </a:lnSpc>
              <a:buNone/>
            </a:pPr>
            <a:r>
              <a:rPr lang="en-US" sz="1400" b="1" dirty="0">
                <a:solidFill>
                  <a:srgbClr val="0F151B"/>
                </a:solidFill>
                <a:latin typeface="Arial" pitchFamily="34" charset="0"/>
                <a:ea typeface="Arial" pitchFamily="34" charset="-122"/>
                <a:cs typeface="Arial" pitchFamily="34" charset="-120"/>
              </a:rPr>
              <a:t>Real estate</a:t>
            </a:r>
            <a:endParaRPr lang="en-US" sz="1400" dirty="0"/>
          </a:p>
        </p:txBody>
      </p:sp>
      <p:sp>
        <p:nvSpPr>
          <p:cNvPr id="37" name="Shape 34"/>
          <p:cNvSpPr/>
          <p:nvPr/>
        </p:nvSpPr>
        <p:spPr>
          <a:xfrm>
            <a:off x="8787155" y="3108960"/>
            <a:ext cx="2142668" cy="0"/>
          </a:xfrm>
          <a:prstGeom prst="line">
            <a:avLst/>
          </a:prstGeom>
          <a:noFill/>
          <a:ln w="9525">
            <a:solidFill>
              <a:srgbClr val="E2EAF1"/>
            </a:solidFill>
            <a:prstDash val="solid"/>
          </a:ln>
        </p:spPr>
      </p:sp>
      <p:sp>
        <p:nvSpPr>
          <p:cNvPr id="38" name="Text 35"/>
          <p:cNvSpPr txBox="1"/>
          <p:nvPr/>
        </p:nvSpPr>
        <p:spPr>
          <a:xfrm>
            <a:off x="8787155" y="3200400"/>
            <a:ext cx="2142668" cy="566928"/>
          </a:xfrm>
          <a:prstGeom prst="rect">
            <a:avLst/>
          </a:prstGeom>
          <a:noFill/>
          <a:ln/>
        </p:spPr>
        <p:txBody>
          <a:bodyPr wrap="square" lIns="0" tIns="0" rIns="0" bIns="0" rtlCol="0" anchor="t"/>
          <a:lstStyle/>
          <a:p>
            <a:pPr algn="l" indent="0" marL="0">
              <a:lnSpc>
                <a:spcPct val="108000"/>
              </a:lnSpc>
              <a:buNone/>
            </a:pPr>
            <a:r>
              <a:rPr lang="en-US" sz="1400" b="1" dirty="0">
                <a:solidFill>
                  <a:srgbClr val="0F151B"/>
                </a:solidFill>
                <a:latin typeface="Arial" pitchFamily="34" charset="0"/>
                <a:ea typeface="Arial" pitchFamily="34" charset="-122"/>
                <a:cs typeface="Arial" pitchFamily="34" charset="-120"/>
              </a:rPr>
              <a:t>Restaurants</a:t>
            </a:r>
            <a:endParaRPr lang="en-US" sz="1400" dirty="0"/>
          </a:p>
        </p:txBody>
      </p:sp>
      <p:sp>
        <p:nvSpPr>
          <p:cNvPr id="39" name="Shape 36"/>
          <p:cNvSpPr/>
          <p:nvPr/>
        </p:nvSpPr>
        <p:spPr>
          <a:xfrm>
            <a:off x="8787155" y="3767328"/>
            <a:ext cx="2142668" cy="0"/>
          </a:xfrm>
          <a:prstGeom prst="line">
            <a:avLst/>
          </a:prstGeom>
          <a:noFill/>
          <a:ln w="9525">
            <a:solidFill>
              <a:srgbClr val="E2EAF1"/>
            </a:solidFill>
            <a:prstDash val="solid"/>
          </a:ln>
        </p:spPr>
      </p:sp>
      <p:sp>
        <p:nvSpPr>
          <p:cNvPr id="40" name="Text 37"/>
          <p:cNvSpPr txBox="1"/>
          <p:nvPr/>
        </p:nvSpPr>
        <p:spPr>
          <a:xfrm>
            <a:off x="8787155" y="3858768"/>
            <a:ext cx="2142668" cy="566928"/>
          </a:xfrm>
          <a:prstGeom prst="rect">
            <a:avLst/>
          </a:prstGeom>
          <a:noFill/>
          <a:ln/>
        </p:spPr>
        <p:txBody>
          <a:bodyPr wrap="square" lIns="0" tIns="0" rIns="0" bIns="0" rtlCol="0" anchor="t"/>
          <a:lstStyle/>
          <a:p>
            <a:pPr algn="l" indent="0" marL="0">
              <a:lnSpc>
                <a:spcPct val="108000"/>
              </a:lnSpc>
              <a:buNone/>
            </a:pPr>
            <a:r>
              <a:rPr lang="en-US" sz="1400" b="1" dirty="0">
                <a:solidFill>
                  <a:srgbClr val="0F151B"/>
                </a:solidFill>
                <a:latin typeface="Arial" pitchFamily="34" charset="0"/>
                <a:ea typeface="Arial" pitchFamily="34" charset="-122"/>
                <a:cs typeface="Arial" pitchFamily="34" charset="-120"/>
              </a:rPr>
              <a:t>Retail</a:t>
            </a:r>
            <a:endParaRPr lang="en-US" sz="1400" dirty="0"/>
          </a:p>
        </p:txBody>
      </p:sp>
      <p:sp>
        <p:nvSpPr>
          <p:cNvPr id="41" name="Shape 38"/>
          <p:cNvSpPr/>
          <p:nvPr/>
        </p:nvSpPr>
        <p:spPr>
          <a:xfrm>
            <a:off x="8787155" y="4425696"/>
            <a:ext cx="2142668" cy="0"/>
          </a:xfrm>
          <a:prstGeom prst="line">
            <a:avLst/>
          </a:prstGeom>
          <a:noFill/>
          <a:ln w="9525">
            <a:solidFill>
              <a:srgbClr val="E2EAF1"/>
            </a:solidFill>
            <a:prstDash val="solid"/>
          </a:ln>
        </p:spPr>
      </p:sp>
      <p:sp>
        <p:nvSpPr>
          <p:cNvPr id="42" name="Text 39"/>
          <p:cNvSpPr txBox="1"/>
          <p:nvPr/>
        </p:nvSpPr>
        <p:spPr>
          <a:xfrm>
            <a:off x="8787155" y="4517136"/>
            <a:ext cx="2142668" cy="566928"/>
          </a:xfrm>
          <a:prstGeom prst="rect">
            <a:avLst/>
          </a:prstGeom>
          <a:noFill/>
          <a:ln/>
        </p:spPr>
        <p:txBody>
          <a:bodyPr wrap="square" lIns="0" tIns="0" rIns="0" bIns="0" rtlCol="0" anchor="t"/>
          <a:lstStyle/>
          <a:p>
            <a:pPr algn="l" indent="0" marL="0">
              <a:lnSpc>
                <a:spcPct val="108000"/>
              </a:lnSpc>
              <a:buNone/>
            </a:pPr>
            <a:r>
              <a:rPr lang="en-US" sz="1400" b="1" dirty="0">
                <a:solidFill>
                  <a:srgbClr val="0F151B"/>
                </a:solidFill>
                <a:latin typeface="Arial" pitchFamily="34" charset="0"/>
                <a:ea typeface="Arial" pitchFamily="34" charset="-122"/>
                <a:cs typeface="Arial" pitchFamily="34" charset="-120"/>
              </a:rPr>
              <a:t>Roofing</a:t>
            </a:r>
            <a:endParaRPr lang="en-US" sz="1400" dirty="0"/>
          </a:p>
        </p:txBody>
      </p:sp>
      <p:sp>
        <p:nvSpPr>
          <p:cNvPr id="43" name="Shape 40"/>
          <p:cNvSpPr/>
          <p:nvPr/>
        </p:nvSpPr>
        <p:spPr>
          <a:xfrm>
            <a:off x="8787155" y="5084064"/>
            <a:ext cx="2142668" cy="0"/>
          </a:xfrm>
          <a:prstGeom prst="line">
            <a:avLst/>
          </a:prstGeom>
          <a:noFill/>
          <a:ln w="9525">
            <a:solidFill>
              <a:srgbClr val="E2EAF1"/>
            </a:solidFill>
            <a:prstDash val="solid"/>
          </a:ln>
        </p:spPr>
      </p:sp>
      <p:sp>
        <p:nvSpPr>
          <p:cNvPr id="44" name="Text 41"/>
          <p:cNvSpPr txBox="1"/>
          <p:nvPr/>
        </p:nvSpPr>
        <p:spPr>
          <a:xfrm>
            <a:off x="8787155" y="5175504"/>
            <a:ext cx="2142668" cy="566928"/>
          </a:xfrm>
          <a:prstGeom prst="rect">
            <a:avLst/>
          </a:prstGeom>
          <a:noFill/>
          <a:ln/>
        </p:spPr>
        <p:txBody>
          <a:bodyPr wrap="square" lIns="0" tIns="0" rIns="0" bIns="0" rtlCol="0" anchor="t"/>
          <a:lstStyle/>
          <a:p>
            <a:pPr algn="l" indent="0" marL="0">
              <a:lnSpc>
                <a:spcPct val="108000"/>
              </a:lnSpc>
              <a:buNone/>
            </a:pPr>
            <a:r>
              <a:rPr lang="en-US" sz="1400" b="1" dirty="0">
                <a:solidFill>
                  <a:srgbClr val="0F151B"/>
                </a:solidFill>
                <a:latin typeface="Arial" pitchFamily="34" charset="0"/>
                <a:ea typeface="Arial" pitchFamily="34" charset="-122"/>
                <a:cs typeface="Arial" pitchFamily="34" charset="-120"/>
              </a:rPr>
              <a:t>Tattoo studios</a:t>
            </a:r>
            <a:endParaRPr lang="en-US" sz="1400" dirty="0"/>
          </a:p>
        </p:txBody>
      </p:sp>
      <p:sp>
        <p:nvSpPr>
          <p:cNvPr id="45" name="Text 42"/>
          <p:cNvSpPr txBox="1"/>
          <p:nvPr/>
        </p:nvSpPr>
        <p:spPr>
          <a:xfrm>
            <a:off x="713232" y="6400800"/>
            <a:ext cx="9942271" cy="237744"/>
          </a:xfrm>
          <a:prstGeom prst="rect">
            <a:avLst/>
          </a:prstGeom>
          <a:noFill/>
          <a:ln/>
        </p:spPr>
        <p:txBody>
          <a:bodyPr wrap="square" lIns="0" tIns="0" rIns="0" bIns="0" rtlCol="0" anchor="t"/>
          <a:lstStyle/>
          <a:p>
            <a:pPr algn="l" indent="0" marL="0">
              <a:buNone/>
            </a:pPr>
            <a:r>
              <a:rPr lang="en-US" sz="950" i="1" dirty="0">
                <a:solidFill>
                  <a:srgbClr val="8A97A2"/>
                </a:solidFill>
                <a:latin typeface="Arial" pitchFamily="34" charset="0"/>
                <a:ea typeface="Arial" pitchFamily="34" charset="-122"/>
                <a:cs typeface="Arial" pitchFamily="34" charset="-120"/>
              </a:rPr>
              <a:t>Momentum also runs an ecommerce partnership with Dutchie for cannabis retailers.</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825"/>
        </a:solidFill>
      </p:bgPr>
    </p:bg>
    <p:spTree>
      <p:nvGrpSpPr>
        <p:cNvPr id="1" name=""/>
        <p:cNvGrpSpPr/>
        <p:nvPr/>
      </p:nvGrpSpPr>
      <p:grpSpPr>
        <a:xfrm>
          <a:off x="0" y="0"/>
          <a:ext cx="0" cy="0"/>
          <a:chOff x="0" y="0"/>
          <a:chExt cx="0" cy="0"/>
        </a:xfrm>
      </p:grpSpPr>
      <p:sp>
        <p:nvSpPr>
          <p:cNvPr id="2" name="Text 0"/>
          <p:cNvSpPr txBox="1"/>
          <p:nvPr/>
        </p:nvSpPr>
        <p:spPr>
          <a:xfrm>
            <a:off x="4480560" y="502920"/>
            <a:ext cx="8138160" cy="6949440"/>
          </a:xfrm>
          <a:prstGeom prst="rect">
            <a:avLst/>
          </a:prstGeom>
          <a:noFill/>
          <a:ln/>
        </p:spPr>
        <p:txBody>
          <a:bodyPr wrap="square" lIns="0" tIns="0" rIns="0" bIns="0" rtlCol="0" anchor="t"/>
          <a:lstStyle/>
          <a:p>
            <a:pPr algn="r" indent="0" marL="0">
              <a:lnSpc>
                <a:spcPct val="100000"/>
              </a:lnSpc>
              <a:buNone/>
            </a:pPr>
            <a:r>
              <a:rPr lang="en-US" sz="43000" b="1" dirty="0">
                <a:solidFill>
                  <a:srgbClr val="112B3F"/>
                </a:solidFill>
                <a:latin typeface="Arial" pitchFamily="34" charset="0"/>
                <a:ea typeface="Arial" pitchFamily="34" charset="-122"/>
                <a:cs typeface="Arial" pitchFamily="34" charset="-120"/>
              </a:rPr>
              <a:t>02</a:t>
            </a:r>
            <a:endParaRPr lang="en-US" sz="43000" dirty="0"/>
          </a:p>
        </p:txBody>
      </p:sp>
      <p:pic>
        <p:nvPicPr>
          <p:cNvPr id="3" name="Image 0" descr="Momentum Digital logo">    </p:cNvPr>
          <p:cNvPicPr>
            <a:picLocks noChangeAspect="1"/>
          </p:cNvPicPr>
          <p:nvPr/>
        </p:nvPicPr>
        <p:blipFill>
          <a:blip r:embed="rId1"/>
          <a:stretch>
            <a:fillRect/>
          </a:stretch>
        </p:blipFill>
        <p:spPr>
          <a:xfrm>
            <a:off x="10106863" y="658368"/>
            <a:ext cx="1371600" cy="294904"/>
          </a:xfrm>
          <a:prstGeom prst="rect">
            <a:avLst/>
          </a:prstGeom>
        </p:spPr>
      </p:pic>
      <p:sp>
        <p:nvSpPr>
          <p:cNvPr id="4" name="Text 1"/>
          <p:cNvSpPr txBox="1"/>
          <p:nvPr/>
        </p:nvSpPr>
        <p:spPr>
          <a:xfrm>
            <a:off x="713232" y="3063240"/>
            <a:ext cx="6766560" cy="201168"/>
          </a:xfrm>
          <a:prstGeom prst="rect">
            <a:avLst/>
          </a:prstGeom>
          <a:noFill/>
          <a:ln/>
        </p:spPr>
        <p:txBody>
          <a:bodyPr wrap="square" lIns="0" tIns="0" rIns="0" bIns="0" rtlCol="0" anchor="t"/>
          <a:lstStyle/>
          <a:p>
            <a:pPr algn="l" indent="0" marL="0">
              <a:buNone/>
            </a:pPr>
            <a:r>
              <a:rPr lang="en-US" sz="1050" b="1" spc="240" kern="0" dirty="0">
                <a:solidFill>
                  <a:srgbClr val="5AA7E0"/>
                </a:solidFill>
                <a:latin typeface="Arial" pitchFamily="34" charset="0"/>
                <a:ea typeface="Arial" pitchFamily="34" charset="-122"/>
                <a:cs typeface="Arial" pitchFamily="34" charset="-120"/>
              </a:rPr>
              <a:t>SECTION TWO</a:t>
            </a:r>
            <a:endParaRPr lang="en-US" sz="1050" dirty="0"/>
          </a:p>
        </p:txBody>
      </p:sp>
      <p:sp>
        <p:nvSpPr>
          <p:cNvPr id="5" name="Text 2"/>
          <p:cNvSpPr txBox="1"/>
          <p:nvPr/>
        </p:nvSpPr>
        <p:spPr>
          <a:xfrm>
            <a:off x="713232" y="3392424"/>
            <a:ext cx="7498080" cy="633984"/>
          </a:xfrm>
          <a:prstGeom prst="rect">
            <a:avLst/>
          </a:prstGeom>
          <a:noFill/>
          <a:ln/>
        </p:spPr>
        <p:txBody>
          <a:bodyPr wrap="square" lIns="0" tIns="0" rIns="0" bIns="0" rtlCol="0" anchor="t"/>
          <a:lstStyle/>
          <a:p>
            <a:pPr algn="l" indent="0" marL="0">
              <a:lnSpc>
                <a:spcPct val="102000"/>
              </a:lnSpc>
              <a:buNone/>
            </a:pPr>
            <a:r>
              <a:rPr lang="en-US" sz="4400" b="1" dirty="0">
                <a:solidFill>
                  <a:srgbClr val="FFFFFF"/>
                </a:solidFill>
                <a:latin typeface="Arial" pitchFamily="34" charset="0"/>
                <a:ea typeface="Arial" pitchFamily="34" charset="-122"/>
                <a:cs typeface="Arial" pitchFamily="34" charset="-120"/>
              </a:rPr>
              <a:t>Proof</a:t>
            </a:r>
            <a:endParaRPr lang="en-US" sz="4400" dirty="0"/>
          </a:p>
        </p:txBody>
      </p:sp>
      <p:sp>
        <p:nvSpPr>
          <p:cNvPr id="6" name="Text 3"/>
          <p:cNvSpPr txBox="1"/>
          <p:nvPr/>
        </p:nvSpPr>
        <p:spPr>
          <a:xfrm>
            <a:off x="713232" y="4282440"/>
            <a:ext cx="6766560" cy="806958"/>
          </a:xfrm>
          <a:prstGeom prst="rect">
            <a:avLst/>
          </a:prstGeom>
          <a:noFill/>
          <a:ln/>
        </p:spPr>
        <p:txBody>
          <a:bodyPr wrap="square" lIns="0" tIns="0" rIns="0" bIns="0" rtlCol="0" anchor="t"/>
          <a:lstStyle/>
          <a:p>
            <a:pPr algn="l" indent="0" marL="0">
              <a:lnSpc>
                <a:spcPct val="130000"/>
              </a:lnSpc>
              <a:buNone/>
            </a:pPr>
            <a:r>
              <a:rPr lang="en-US" sz="1500" dirty="0">
                <a:solidFill>
                  <a:srgbClr val="9DB5C8"/>
                </a:solidFill>
                <a:latin typeface="Arial" pitchFamily="34" charset="0"/>
                <a:ea typeface="Arial" pitchFamily="34" charset="-122"/>
                <a:cs typeface="Arial" pitchFamily="34" charset="-120"/>
              </a:rPr>
              <a:t>Every figure on the next eight slides is published on needmomentum.com, and is repeated in the speaker notes with its source.</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825"/>
        </a:solidFill>
      </p:bgPr>
    </p:bg>
    <p:spTree>
      <p:nvGrpSpPr>
        <p:cNvPr id="1" name=""/>
        <p:cNvGrpSpPr/>
        <p:nvPr/>
      </p:nvGrpSpPr>
      <p:grpSpPr>
        <a:xfrm>
          <a:off x="0" y="0"/>
          <a:ext cx="0" cy="0"/>
          <a:chOff x="0" y="0"/>
          <a:chExt cx="0" cy="0"/>
        </a:xfrm>
      </p:grpSpPr>
      <p:pic>
        <p:nvPicPr>
          <p:cNvPr id="2" name="Image 0" descr="C:\Users\dillo\.claude\skills\client-deck\assets\momentum-digital\momentum-mark-white.png">    </p:cNvPr>
          <p:cNvPicPr>
            <a:picLocks noChangeAspect="1"/>
          </p:cNvPicPr>
          <p:nvPr/>
        </p:nvPicPr>
        <p:blipFill>
          <a:blip r:embed="rId1">
            <a:alphaModFix amt="9000"/>
          </a:blip>
          <a:stretch>
            <a:fillRect/>
          </a:stretch>
        </p:blipFill>
        <p:spPr>
          <a:xfrm>
            <a:off x="9509760" y="-1463040"/>
            <a:ext cx="3840480" cy="4555730"/>
          </a:xfrm>
          <a:prstGeom prst="rect">
            <a:avLst/>
          </a:prstGeom>
        </p:spPr>
      </p:pic>
      <p:pic>
        <p:nvPicPr>
          <p:cNvPr id="3" name="Image 1" descr="Momentum Digital logo">    </p:cNvPr>
          <p:cNvPicPr>
            <a:picLocks noChangeAspect="1"/>
          </p:cNvPicPr>
          <p:nvPr/>
        </p:nvPicPr>
        <p:blipFill>
          <a:blip r:embed="rId2"/>
          <a:stretch>
            <a:fillRect/>
          </a:stretch>
        </p:blipFill>
        <p:spPr>
          <a:xfrm>
            <a:off x="10106863" y="658368"/>
            <a:ext cx="1371600" cy="294904"/>
          </a:xfrm>
          <a:prstGeom prst="rect">
            <a:avLst/>
          </a:prstGeom>
        </p:spPr>
      </p:pic>
      <p:sp>
        <p:nvSpPr>
          <p:cNvPr id="4" name="Text 0"/>
          <p:cNvSpPr txBox="1"/>
          <p:nvPr/>
        </p:nvSpPr>
        <p:spPr>
          <a:xfrm>
            <a:off x="713232" y="658368"/>
            <a:ext cx="8753551" cy="201168"/>
          </a:xfrm>
          <a:prstGeom prst="rect">
            <a:avLst/>
          </a:prstGeom>
          <a:noFill/>
          <a:ln/>
        </p:spPr>
        <p:txBody>
          <a:bodyPr wrap="square" lIns="0" tIns="0" rIns="0" bIns="0" rtlCol="0" anchor="t"/>
          <a:lstStyle/>
          <a:p>
            <a:pPr algn="l" indent="0" marL="0">
              <a:buNone/>
            </a:pPr>
            <a:r>
              <a:rPr lang="en-US" sz="1050" b="1" spc="240" kern="0" dirty="0">
                <a:solidFill>
                  <a:srgbClr val="5AA7E0"/>
                </a:solidFill>
                <a:latin typeface="Arial" pitchFamily="34" charset="0"/>
                <a:ea typeface="Arial" pitchFamily="34" charset="-122"/>
                <a:cs typeface="Arial" pitchFamily="34" charset="-120"/>
              </a:rPr>
              <a:t>RESULTS</a:t>
            </a:r>
            <a:endParaRPr lang="en-US" sz="1050" dirty="0"/>
          </a:p>
        </p:txBody>
      </p:sp>
      <p:sp>
        <p:nvSpPr>
          <p:cNvPr id="5" name="Text 1"/>
          <p:cNvSpPr txBox="1"/>
          <p:nvPr/>
        </p:nvSpPr>
        <p:spPr>
          <a:xfrm>
            <a:off x="713232" y="987552"/>
            <a:ext cx="8570671" cy="1074420"/>
          </a:xfrm>
          <a:prstGeom prst="rect">
            <a:avLst/>
          </a:prstGeom>
          <a:noFill/>
          <a:ln/>
        </p:spPr>
        <p:txBody>
          <a:bodyPr wrap="square" lIns="0" tIns="0" rIns="0" bIns="0" rtlCol="0" anchor="t"/>
          <a:lstStyle/>
          <a:p>
            <a:pPr algn="l" indent="0" marL="0">
              <a:lnSpc>
                <a:spcPct val="102000"/>
              </a:lnSpc>
              <a:buNone/>
            </a:pPr>
            <a:r>
              <a:rPr lang="en-US" sz="3900" b="1" dirty="0">
                <a:solidFill>
                  <a:srgbClr val="FFFFFF"/>
                </a:solidFill>
                <a:latin typeface="Arial" pitchFamily="34" charset="0"/>
                <a:ea typeface="Arial" pitchFamily="34" charset="-122"/>
                <a:cs typeface="Arial" pitchFamily="34" charset="-120"/>
              </a:rPr>
              <a:t>A year of client outcomes, in eight numbers</a:t>
            </a:r>
            <a:endParaRPr lang="en-US" sz="3900" dirty="0"/>
          </a:p>
        </p:txBody>
      </p:sp>
      <p:sp>
        <p:nvSpPr>
          <p:cNvPr id="6" name="Text 2"/>
          <p:cNvSpPr txBox="1"/>
          <p:nvPr/>
        </p:nvSpPr>
        <p:spPr>
          <a:xfrm>
            <a:off x="10929823" y="6437376"/>
            <a:ext cx="548640" cy="219456"/>
          </a:xfrm>
          <a:prstGeom prst="rect">
            <a:avLst/>
          </a:prstGeom>
          <a:noFill/>
          <a:ln/>
        </p:spPr>
        <p:txBody>
          <a:bodyPr wrap="square" lIns="0" tIns="0" rIns="0" bIns="0" rtlCol="0" anchor="t"/>
          <a:lstStyle/>
          <a:p>
            <a:pPr algn="r" indent="0" marL="0">
              <a:buNone/>
            </a:pPr>
            <a:r>
              <a:rPr lang="en-US" sz="1050" b="1" spc="100" kern="0" dirty="0">
                <a:solidFill>
                  <a:srgbClr val="1C3D56"/>
                </a:solidFill>
                <a:latin typeface="Arial" pitchFamily="34" charset="0"/>
                <a:ea typeface="Arial" pitchFamily="34" charset="-122"/>
                <a:cs typeface="Arial" pitchFamily="34" charset="-120"/>
              </a:rPr>
              <a:t>12</a:t>
            </a:r>
            <a:endParaRPr lang="en-US" sz="1050" dirty="0"/>
          </a:p>
        </p:txBody>
      </p:sp>
      <p:sp>
        <p:nvSpPr>
          <p:cNvPr id="7" name="Text 3"/>
          <p:cNvSpPr txBox="1"/>
          <p:nvPr/>
        </p:nvSpPr>
        <p:spPr>
          <a:xfrm>
            <a:off x="713232" y="2788920"/>
            <a:ext cx="2179244" cy="544576"/>
          </a:xfrm>
          <a:prstGeom prst="rect">
            <a:avLst/>
          </a:prstGeom>
          <a:noFill/>
          <a:ln/>
        </p:spPr>
        <p:txBody>
          <a:bodyPr wrap="square" lIns="0" tIns="0" rIns="0" bIns="0" rtlCol="0" anchor="t"/>
          <a:lstStyle/>
          <a:p>
            <a:pPr algn="l" indent="0" marL="0">
              <a:lnSpc>
                <a:spcPct val="100000"/>
              </a:lnSpc>
              <a:buNone/>
            </a:pPr>
            <a:r>
              <a:rPr lang="en-US" sz="4000" b="1" dirty="0">
                <a:solidFill>
                  <a:srgbClr val="5AA7E0"/>
                </a:solidFill>
                <a:latin typeface="Arial" pitchFamily="34" charset="0"/>
                <a:ea typeface="Arial" pitchFamily="34" charset="-122"/>
                <a:cs typeface="Arial" pitchFamily="34" charset="-120"/>
              </a:rPr>
              <a:t>+314%</a:t>
            </a:r>
            <a:endParaRPr lang="en-US" sz="4000" dirty="0"/>
          </a:p>
        </p:txBody>
      </p:sp>
      <p:sp>
        <p:nvSpPr>
          <p:cNvPr id="8" name="Text 4"/>
          <p:cNvSpPr txBox="1"/>
          <p:nvPr/>
        </p:nvSpPr>
        <p:spPr>
          <a:xfrm>
            <a:off x="713232" y="3388360"/>
            <a:ext cx="2179244" cy="420624"/>
          </a:xfrm>
          <a:prstGeom prst="rect">
            <a:avLst/>
          </a:prstGeom>
          <a:noFill/>
          <a:ln/>
        </p:spPr>
        <p:txBody>
          <a:bodyPr wrap="square" lIns="0" tIns="0" rIns="0" bIns="0" rtlCol="0" anchor="t"/>
          <a:lstStyle/>
          <a:p>
            <a:pPr algn="l" indent="0" marL="0">
              <a:lnSpc>
                <a:spcPct val="120000"/>
              </a:lnSpc>
              <a:buNone/>
            </a:pPr>
            <a:r>
              <a:rPr lang="en-US" sz="1200" b="1" dirty="0">
                <a:solidFill>
                  <a:srgbClr val="FFFFFF"/>
                </a:solidFill>
                <a:latin typeface="Arial" pitchFamily="34" charset="0"/>
                <a:ea typeface="Arial" pitchFamily="34" charset="-122"/>
                <a:cs typeface="Arial" pitchFamily="34" charset="-120"/>
              </a:rPr>
              <a:t>Phone call conversions</a:t>
            </a:r>
            <a:endParaRPr lang="en-US" sz="1200" dirty="0"/>
          </a:p>
        </p:txBody>
      </p:sp>
      <p:sp>
        <p:nvSpPr>
          <p:cNvPr id="9" name="Text 5"/>
          <p:cNvSpPr txBox="1"/>
          <p:nvPr/>
        </p:nvSpPr>
        <p:spPr>
          <a:xfrm>
            <a:off x="713232" y="3872992"/>
            <a:ext cx="2179244" cy="214884"/>
          </a:xfrm>
          <a:prstGeom prst="rect">
            <a:avLst/>
          </a:prstGeom>
          <a:noFill/>
          <a:ln/>
        </p:spPr>
        <p:txBody>
          <a:bodyPr wrap="square" lIns="0" tIns="0" rIns="0" bIns="0" rtlCol="0" anchor="t"/>
          <a:lstStyle/>
          <a:p>
            <a:pPr algn="l" indent="0" marL="0">
              <a:lnSpc>
                <a:spcPct val="120000"/>
              </a:lnSpc>
              <a:buNone/>
            </a:pPr>
            <a:r>
              <a:rPr lang="en-US" sz="1050" dirty="0">
                <a:solidFill>
                  <a:srgbClr val="9DB5C8"/>
                </a:solidFill>
                <a:latin typeface="Arial" pitchFamily="34" charset="0"/>
                <a:ea typeface="Arial" pitchFamily="34" charset="-122"/>
                <a:cs typeface="Arial" pitchFamily="34" charset="-120"/>
              </a:rPr>
              <a:t>The Kind Insurance</a:t>
            </a:r>
            <a:endParaRPr lang="en-US" sz="1050" dirty="0"/>
          </a:p>
        </p:txBody>
      </p:sp>
      <p:sp>
        <p:nvSpPr>
          <p:cNvPr id="10" name="Shape 6"/>
          <p:cNvSpPr/>
          <p:nvPr/>
        </p:nvSpPr>
        <p:spPr>
          <a:xfrm>
            <a:off x="3166796" y="2788920"/>
            <a:ext cx="0" cy="1408684"/>
          </a:xfrm>
          <a:prstGeom prst="line">
            <a:avLst/>
          </a:prstGeom>
          <a:noFill/>
          <a:ln w="9525">
            <a:solidFill>
              <a:srgbClr val="1E4460"/>
            </a:solidFill>
            <a:prstDash val="solid"/>
          </a:ln>
        </p:spPr>
      </p:sp>
      <p:sp>
        <p:nvSpPr>
          <p:cNvPr id="11" name="Text 7"/>
          <p:cNvSpPr txBox="1"/>
          <p:nvPr/>
        </p:nvSpPr>
        <p:spPr>
          <a:xfrm>
            <a:off x="3404540" y="2788920"/>
            <a:ext cx="2179244" cy="544576"/>
          </a:xfrm>
          <a:prstGeom prst="rect">
            <a:avLst/>
          </a:prstGeom>
          <a:noFill/>
          <a:ln/>
        </p:spPr>
        <p:txBody>
          <a:bodyPr wrap="square" lIns="0" tIns="0" rIns="0" bIns="0" rtlCol="0" anchor="t"/>
          <a:lstStyle/>
          <a:p>
            <a:pPr algn="l" indent="0" marL="0">
              <a:lnSpc>
                <a:spcPct val="100000"/>
              </a:lnSpc>
              <a:buNone/>
            </a:pPr>
            <a:r>
              <a:rPr lang="en-US" sz="4000" b="1" dirty="0">
                <a:solidFill>
                  <a:srgbClr val="5AA7E0"/>
                </a:solidFill>
                <a:latin typeface="Arial" pitchFamily="34" charset="0"/>
                <a:ea typeface="Arial" pitchFamily="34" charset="-122"/>
                <a:cs typeface="Arial" pitchFamily="34" charset="-120"/>
              </a:rPr>
              <a:t>+129%</a:t>
            </a:r>
            <a:endParaRPr lang="en-US" sz="4000" dirty="0"/>
          </a:p>
        </p:txBody>
      </p:sp>
      <p:sp>
        <p:nvSpPr>
          <p:cNvPr id="12" name="Text 8"/>
          <p:cNvSpPr txBox="1"/>
          <p:nvPr/>
        </p:nvSpPr>
        <p:spPr>
          <a:xfrm>
            <a:off x="3404540" y="3388360"/>
            <a:ext cx="2179244" cy="420624"/>
          </a:xfrm>
          <a:prstGeom prst="rect">
            <a:avLst/>
          </a:prstGeom>
          <a:noFill/>
          <a:ln/>
        </p:spPr>
        <p:txBody>
          <a:bodyPr wrap="square" lIns="0" tIns="0" rIns="0" bIns="0" rtlCol="0" anchor="t"/>
          <a:lstStyle/>
          <a:p>
            <a:pPr algn="l" indent="0" marL="0">
              <a:lnSpc>
                <a:spcPct val="120000"/>
              </a:lnSpc>
              <a:buNone/>
            </a:pPr>
            <a:r>
              <a:rPr lang="en-US" sz="1200" b="1" dirty="0">
                <a:solidFill>
                  <a:srgbClr val="FFFFFF"/>
                </a:solidFill>
                <a:latin typeface="Arial" pitchFamily="34" charset="0"/>
                <a:ea typeface="Arial" pitchFamily="34" charset="-122"/>
                <a:cs typeface="Arial" pitchFamily="34" charset="-120"/>
              </a:rPr>
              <a:t>Organic clicks year on year</a:t>
            </a:r>
            <a:endParaRPr lang="en-US" sz="1200" dirty="0"/>
          </a:p>
        </p:txBody>
      </p:sp>
      <p:sp>
        <p:nvSpPr>
          <p:cNvPr id="13" name="Text 9"/>
          <p:cNvSpPr txBox="1"/>
          <p:nvPr/>
        </p:nvSpPr>
        <p:spPr>
          <a:xfrm>
            <a:off x="3404540" y="3872992"/>
            <a:ext cx="2179244" cy="214884"/>
          </a:xfrm>
          <a:prstGeom prst="rect">
            <a:avLst/>
          </a:prstGeom>
          <a:noFill/>
          <a:ln/>
        </p:spPr>
        <p:txBody>
          <a:bodyPr wrap="square" lIns="0" tIns="0" rIns="0" bIns="0" rtlCol="0" anchor="t"/>
          <a:lstStyle/>
          <a:p>
            <a:pPr algn="l" indent="0" marL="0">
              <a:lnSpc>
                <a:spcPct val="120000"/>
              </a:lnSpc>
              <a:buNone/>
            </a:pPr>
            <a:r>
              <a:rPr lang="en-US" sz="1050" dirty="0">
                <a:solidFill>
                  <a:srgbClr val="9DB5C8"/>
                </a:solidFill>
                <a:latin typeface="Arial" pitchFamily="34" charset="0"/>
                <a:ea typeface="Arial" pitchFamily="34" charset="-122"/>
                <a:cs typeface="Arial" pitchFamily="34" charset="-120"/>
              </a:rPr>
              <a:t>Detroit Dispensing Solutions</a:t>
            </a:r>
            <a:endParaRPr lang="en-US" sz="1050" dirty="0"/>
          </a:p>
        </p:txBody>
      </p:sp>
      <p:sp>
        <p:nvSpPr>
          <p:cNvPr id="14" name="Shape 10"/>
          <p:cNvSpPr/>
          <p:nvPr/>
        </p:nvSpPr>
        <p:spPr>
          <a:xfrm>
            <a:off x="5858104" y="2788920"/>
            <a:ext cx="0" cy="1408684"/>
          </a:xfrm>
          <a:prstGeom prst="line">
            <a:avLst/>
          </a:prstGeom>
          <a:noFill/>
          <a:ln w="9525">
            <a:solidFill>
              <a:srgbClr val="1E4460"/>
            </a:solidFill>
            <a:prstDash val="solid"/>
          </a:ln>
        </p:spPr>
      </p:sp>
      <p:sp>
        <p:nvSpPr>
          <p:cNvPr id="15" name="Text 11"/>
          <p:cNvSpPr txBox="1"/>
          <p:nvPr/>
        </p:nvSpPr>
        <p:spPr>
          <a:xfrm>
            <a:off x="6095848" y="2788920"/>
            <a:ext cx="2179244" cy="544576"/>
          </a:xfrm>
          <a:prstGeom prst="rect">
            <a:avLst/>
          </a:prstGeom>
          <a:noFill/>
          <a:ln/>
        </p:spPr>
        <p:txBody>
          <a:bodyPr wrap="square" lIns="0" tIns="0" rIns="0" bIns="0" rtlCol="0" anchor="t"/>
          <a:lstStyle/>
          <a:p>
            <a:pPr algn="l" indent="0" marL="0">
              <a:lnSpc>
                <a:spcPct val="100000"/>
              </a:lnSpc>
              <a:buNone/>
            </a:pPr>
            <a:r>
              <a:rPr lang="en-US" sz="4000" b="1" dirty="0">
                <a:solidFill>
                  <a:srgbClr val="5AA7E0"/>
                </a:solidFill>
                <a:latin typeface="Arial" pitchFamily="34" charset="0"/>
                <a:ea typeface="Arial" pitchFamily="34" charset="-122"/>
                <a:cs typeface="Arial" pitchFamily="34" charset="-120"/>
              </a:rPr>
              <a:t>+121%</a:t>
            </a:r>
            <a:endParaRPr lang="en-US" sz="4000" dirty="0"/>
          </a:p>
        </p:txBody>
      </p:sp>
      <p:sp>
        <p:nvSpPr>
          <p:cNvPr id="16" name="Text 12"/>
          <p:cNvSpPr txBox="1"/>
          <p:nvPr/>
        </p:nvSpPr>
        <p:spPr>
          <a:xfrm>
            <a:off x="6095848" y="3388360"/>
            <a:ext cx="2179244" cy="420624"/>
          </a:xfrm>
          <a:prstGeom prst="rect">
            <a:avLst/>
          </a:prstGeom>
          <a:noFill/>
          <a:ln/>
        </p:spPr>
        <p:txBody>
          <a:bodyPr wrap="square" lIns="0" tIns="0" rIns="0" bIns="0" rtlCol="0" anchor="t"/>
          <a:lstStyle/>
          <a:p>
            <a:pPr algn="l" indent="0" marL="0">
              <a:lnSpc>
                <a:spcPct val="120000"/>
              </a:lnSpc>
              <a:buNone/>
            </a:pPr>
            <a:r>
              <a:rPr lang="en-US" sz="1200" b="1" dirty="0">
                <a:solidFill>
                  <a:srgbClr val="FFFFFF"/>
                </a:solidFill>
                <a:latin typeface="Arial" pitchFamily="34" charset="0"/>
                <a:ea typeface="Arial" pitchFamily="34" charset="-122"/>
                <a:cs typeface="Arial" pitchFamily="34" charset="-120"/>
              </a:rPr>
              <a:t>Search visibility</a:t>
            </a:r>
            <a:endParaRPr lang="en-US" sz="1200" dirty="0"/>
          </a:p>
        </p:txBody>
      </p:sp>
      <p:sp>
        <p:nvSpPr>
          <p:cNvPr id="17" name="Text 13"/>
          <p:cNvSpPr txBox="1"/>
          <p:nvPr/>
        </p:nvSpPr>
        <p:spPr>
          <a:xfrm>
            <a:off x="6095848" y="3872992"/>
            <a:ext cx="2179244" cy="214884"/>
          </a:xfrm>
          <a:prstGeom prst="rect">
            <a:avLst/>
          </a:prstGeom>
          <a:noFill/>
          <a:ln/>
        </p:spPr>
        <p:txBody>
          <a:bodyPr wrap="square" lIns="0" tIns="0" rIns="0" bIns="0" rtlCol="0" anchor="t"/>
          <a:lstStyle/>
          <a:p>
            <a:pPr algn="l" indent="0" marL="0">
              <a:lnSpc>
                <a:spcPct val="120000"/>
              </a:lnSpc>
              <a:buNone/>
            </a:pPr>
            <a:r>
              <a:rPr lang="en-US" sz="1050" dirty="0">
                <a:solidFill>
                  <a:srgbClr val="9DB5C8"/>
                </a:solidFill>
                <a:latin typeface="Arial" pitchFamily="34" charset="0"/>
                <a:ea typeface="Arial" pitchFamily="34" charset="-122"/>
                <a:cs typeface="Arial" pitchFamily="34" charset="-120"/>
              </a:rPr>
              <a:t>UnderX ecommerce SEO</a:t>
            </a:r>
            <a:endParaRPr lang="en-US" sz="1050" dirty="0"/>
          </a:p>
        </p:txBody>
      </p:sp>
      <p:sp>
        <p:nvSpPr>
          <p:cNvPr id="18" name="Shape 14"/>
          <p:cNvSpPr/>
          <p:nvPr/>
        </p:nvSpPr>
        <p:spPr>
          <a:xfrm>
            <a:off x="8549411" y="2788920"/>
            <a:ext cx="0" cy="1408684"/>
          </a:xfrm>
          <a:prstGeom prst="line">
            <a:avLst/>
          </a:prstGeom>
          <a:noFill/>
          <a:ln w="9525">
            <a:solidFill>
              <a:srgbClr val="1E4460"/>
            </a:solidFill>
            <a:prstDash val="solid"/>
          </a:ln>
        </p:spPr>
      </p:sp>
      <p:sp>
        <p:nvSpPr>
          <p:cNvPr id="19" name="Text 15"/>
          <p:cNvSpPr txBox="1"/>
          <p:nvPr/>
        </p:nvSpPr>
        <p:spPr>
          <a:xfrm>
            <a:off x="8787155" y="2788920"/>
            <a:ext cx="2179244" cy="544576"/>
          </a:xfrm>
          <a:prstGeom prst="rect">
            <a:avLst/>
          </a:prstGeom>
          <a:noFill/>
          <a:ln/>
        </p:spPr>
        <p:txBody>
          <a:bodyPr wrap="square" lIns="0" tIns="0" rIns="0" bIns="0" rtlCol="0" anchor="t"/>
          <a:lstStyle/>
          <a:p>
            <a:pPr algn="l" indent="0" marL="0">
              <a:lnSpc>
                <a:spcPct val="100000"/>
              </a:lnSpc>
              <a:buNone/>
            </a:pPr>
            <a:r>
              <a:rPr lang="en-US" sz="4000" b="1" dirty="0">
                <a:solidFill>
                  <a:srgbClr val="5AA7E0"/>
                </a:solidFill>
                <a:latin typeface="Arial" pitchFamily="34" charset="0"/>
                <a:ea typeface="Arial" pitchFamily="34" charset="-122"/>
                <a:cs typeface="Arial" pitchFamily="34" charset="-120"/>
              </a:rPr>
              <a:t>+933%</a:t>
            </a:r>
            <a:endParaRPr lang="en-US" sz="4000" dirty="0"/>
          </a:p>
        </p:txBody>
      </p:sp>
      <p:sp>
        <p:nvSpPr>
          <p:cNvPr id="20" name="Text 16"/>
          <p:cNvSpPr txBox="1"/>
          <p:nvPr/>
        </p:nvSpPr>
        <p:spPr>
          <a:xfrm>
            <a:off x="8787155" y="3388360"/>
            <a:ext cx="2179244" cy="420624"/>
          </a:xfrm>
          <a:prstGeom prst="rect">
            <a:avLst/>
          </a:prstGeom>
          <a:noFill/>
          <a:ln/>
        </p:spPr>
        <p:txBody>
          <a:bodyPr wrap="square" lIns="0" tIns="0" rIns="0" bIns="0" rtlCol="0" anchor="t"/>
          <a:lstStyle/>
          <a:p>
            <a:pPr algn="l" indent="0" marL="0">
              <a:lnSpc>
                <a:spcPct val="120000"/>
              </a:lnSpc>
              <a:buNone/>
            </a:pPr>
            <a:r>
              <a:rPr lang="en-US" sz="1200" b="1" dirty="0">
                <a:solidFill>
                  <a:srgbClr val="FFFFFF"/>
                </a:solidFill>
                <a:latin typeface="Arial" pitchFamily="34" charset="0"/>
                <a:ea typeface="Arial" pitchFamily="34" charset="-122"/>
                <a:cs typeface="Arial" pitchFamily="34" charset="-120"/>
              </a:rPr>
              <a:t>Organic sessions</a:t>
            </a:r>
            <a:endParaRPr lang="en-US" sz="1200" dirty="0"/>
          </a:p>
        </p:txBody>
      </p:sp>
      <p:sp>
        <p:nvSpPr>
          <p:cNvPr id="21" name="Text 17"/>
          <p:cNvSpPr txBox="1"/>
          <p:nvPr/>
        </p:nvSpPr>
        <p:spPr>
          <a:xfrm>
            <a:off x="8787155" y="3872992"/>
            <a:ext cx="2179244" cy="214884"/>
          </a:xfrm>
          <a:prstGeom prst="rect">
            <a:avLst/>
          </a:prstGeom>
          <a:noFill/>
          <a:ln/>
        </p:spPr>
        <p:txBody>
          <a:bodyPr wrap="square" lIns="0" tIns="0" rIns="0" bIns="0" rtlCol="0" anchor="t"/>
          <a:lstStyle/>
          <a:p>
            <a:pPr algn="l" indent="0" marL="0">
              <a:lnSpc>
                <a:spcPct val="120000"/>
              </a:lnSpc>
              <a:buNone/>
            </a:pPr>
            <a:r>
              <a:rPr lang="en-US" sz="1050" dirty="0">
                <a:solidFill>
                  <a:srgbClr val="9DB5C8"/>
                </a:solidFill>
                <a:latin typeface="Arial" pitchFamily="34" charset="0"/>
                <a:ea typeface="Arial" pitchFamily="34" charset="-122"/>
                <a:cs typeface="Arial" pitchFamily="34" charset="-120"/>
              </a:rPr>
              <a:t>Drip IV, Q1 2025</a:t>
            </a:r>
            <a:endParaRPr lang="en-US" sz="1050" dirty="0"/>
          </a:p>
        </p:txBody>
      </p:sp>
      <p:sp>
        <p:nvSpPr>
          <p:cNvPr id="22" name="Shape 18"/>
          <p:cNvSpPr/>
          <p:nvPr/>
        </p:nvSpPr>
        <p:spPr>
          <a:xfrm>
            <a:off x="713232" y="4553712"/>
            <a:ext cx="10765231" cy="0"/>
          </a:xfrm>
          <a:prstGeom prst="line">
            <a:avLst/>
          </a:prstGeom>
          <a:noFill/>
          <a:ln w="9525">
            <a:solidFill>
              <a:srgbClr val="1E4460"/>
            </a:solidFill>
            <a:prstDash val="solid"/>
          </a:ln>
        </p:spPr>
      </p:sp>
      <p:sp>
        <p:nvSpPr>
          <p:cNvPr id="23" name="Text 19"/>
          <p:cNvSpPr txBox="1"/>
          <p:nvPr/>
        </p:nvSpPr>
        <p:spPr>
          <a:xfrm>
            <a:off x="713232" y="4754880"/>
            <a:ext cx="2179244" cy="544576"/>
          </a:xfrm>
          <a:prstGeom prst="rect">
            <a:avLst/>
          </a:prstGeom>
          <a:noFill/>
          <a:ln/>
        </p:spPr>
        <p:txBody>
          <a:bodyPr wrap="square" lIns="0" tIns="0" rIns="0" bIns="0" rtlCol="0" anchor="t"/>
          <a:lstStyle/>
          <a:p>
            <a:pPr algn="l" indent="0" marL="0">
              <a:lnSpc>
                <a:spcPct val="100000"/>
              </a:lnSpc>
              <a:buNone/>
            </a:pPr>
            <a:r>
              <a:rPr lang="en-US" sz="4000" b="1" dirty="0">
                <a:solidFill>
                  <a:srgbClr val="23A455"/>
                </a:solidFill>
                <a:latin typeface="Arial" pitchFamily="34" charset="0"/>
                <a:ea typeface="Arial" pitchFamily="34" charset="-122"/>
                <a:cs typeface="Arial" pitchFamily="34" charset="-120"/>
              </a:rPr>
              <a:t>+816%</a:t>
            </a:r>
            <a:endParaRPr lang="en-US" sz="4000" dirty="0"/>
          </a:p>
        </p:txBody>
      </p:sp>
      <p:sp>
        <p:nvSpPr>
          <p:cNvPr id="24" name="Text 20"/>
          <p:cNvSpPr txBox="1"/>
          <p:nvPr/>
        </p:nvSpPr>
        <p:spPr>
          <a:xfrm>
            <a:off x="713232" y="5354320"/>
            <a:ext cx="2179244" cy="420624"/>
          </a:xfrm>
          <a:prstGeom prst="rect">
            <a:avLst/>
          </a:prstGeom>
          <a:noFill/>
          <a:ln/>
        </p:spPr>
        <p:txBody>
          <a:bodyPr wrap="square" lIns="0" tIns="0" rIns="0" bIns="0" rtlCol="0" anchor="t"/>
          <a:lstStyle/>
          <a:p>
            <a:pPr algn="l" indent="0" marL="0">
              <a:lnSpc>
                <a:spcPct val="120000"/>
              </a:lnSpc>
              <a:buNone/>
            </a:pPr>
            <a:r>
              <a:rPr lang="en-US" sz="1200" b="1" dirty="0">
                <a:solidFill>
                  <a:srgbClr val="FFFFFF"/>
                </a:solidFill>
                <a:latin typeface="Arial" pitchFamily="34" charset="0"/>
                <a:ea typeface="Arial" pitchFamily="34" charset="-122"/>
                <a:cs typeface="Arial" pitchFamily="34" charset="-120"/>
              </a:rPr>
              <a:t>Conversions after redesign</a:t>
            </a:r>
            <a:endParaRPr lang="en-US" sz="1200" dirty="0"/>
          </a:p>
        </p:txBody>
      </p:sp>
      <p:sp>
        <p:nvSpPr>
          <p:cNvPr id="25" name="Text 21"/>
          <p:cNvSpPr txBox="1"/>
          <p:nvPr/>
        </p:nvSpPr>
        <p:spPr>
          <a:xfrm>
            <a:off x="713232" y="5838952"/>
            <a:ext cx="2179244" cy="214884"/>
          </a:xfrm>
          <a:prstGeom prst="rect">
            <a:avLst/>
          </a:prstGeom>
          <a:noFill/>
          <a:ln/>
        </p:spPr>
        <p:txBody>
          <a:bodyPr wrap="square" lIns="0" tIns="0" rIns="0" bIns="0" rtlCol="0" anchor="t"/>
          <a:lstStyle/>
          <a:p>
            <a:pPr algn="l" indent="0" marL="0">
              <a:lnSpc>
                <a:spcPct val="120000"/>
              </a:lnSpc>
              <a:buNone/>
            </a:pPr>
            <a:r>
              <a:rPr lang="en-US" sz="1050" dirty="0">
                <a:solidFill>
                  <a:srgbClr val="9DB5C8"/>
                </a:solidFill>
                <a:latin typeface="Arial" pitchFamily="34" charset="0"/>
                <a:ea typeface="Arial" pitchFamily="34" charset="-122"/>
                <a:cs typeface="Arial" pitchFamily="34" charset="-120"/>
              </a:rPr>
              <a:t>Nenner Law</a:t>
            </a:r>
            <a:endParaRPr lang="en-US" sz="1050" dirty="0"/>
          </a:p>
        </p:txBody>
      </p:sp>
      <p:sp>
        <p:nvSpPr>
          <p:cNvPr id="26" name="Shape 22"/>
          <p:cNvSpPr/>
          <p:nvPr/>
        </p:nvSpPr>
        <p:spPr>
          <a:xfrm>
            <a:off x="3166796" y="4754880"/>
            <a:ext cx="0" cy="1408684"/>
          </a:xfrm>
          <a:prstGeom prst="line">
            <a:avLst/>
          </a:prstGeom>
          <a:noFill/>
          <a:ln w="9525">
            <a:solidFill>
              <a:srgbClr val="1E4460"/>
            </a:solidFill>
            <a:prstDash val="solid"/>
          </a:ln>
        </p:spPr>
      </p:sp>
      <p:sp>
        <p:nvSpPr>
          <p:cNvPr id="27" name="Text 23"/>
          <p:cNvSpPr txBox="1"/>
          <p:nvPr/>
        </p:nvSpPr>
        <p:spPr>
          <a:xfrm>
            <a:off x="3404540" y="4754880"/>
            <a:ext cx="2179244" cy="544576"/>
          </a:xfrm>
          <a:prstGeom prst="rect">
            <a:avLst/>
          </a:prstGeom>
          <a:noFill/>
          <a:ln/>
        </p:spPr>
        <p:txBody>
          <a:bodyPr wrap="square" lIns="0" tIns="0" rIns="0" bIns="0" rtlCol="0" anchor="t"/>
          <a:lstStyle/>
          <a:p>
            <a:pPr algn="l" indent="0" marL="0">
              <a:lnSpc>
                <a:spcPct val="100000"/>
              </a:lnSpc>
              <a:buNone/>
            </a:pPr>
            <a:r>
              <a:rPr lang="en-US" sz="4000" b="1" dirty="0">
                <a:solidFill>
                  <a:srgbClr val="23A455"/>
                </a:solidFill>
                <a:latin typeface="Arial" pitchFamily="34" charset="0"/>
                <a:ea typeface="Arial" pitchFamily="34" charset="-122"/>
                <a:cs typeface="Arial" pitchFamily="34" charset="-120"/>
              </a:rPr>
              <a:t>3.3x</a:t>
            </a:r>
            <a:endParaRPr lang="en-US" sz="4000" dirty="0"/>
          </a:p>
        </p:txBody>
      </p:sp>
      <p:sp>
        <p:nvSpPr>
          <p:cNvPr id="28" name="Text 24"/>
          <p:cNvSpPr txBox="1"/>
          <p:nvPr/>
        </p:nvSpPr>
        <p:spPr>
          <a:xfrm>
            <a:off x="3404540" y="5354320"/>
            <a:ext cx="2179244" cy="420624"/>
          </a:xfrm>
          <a:prstGeom prst="rect">
            <a:avLst/>
          </a:prstGeom>
          <a:noFill/>
          <a:ln/>
        </p:spPr>
        <p:txBody>
          <a:bodyPr wrap="square" lIns="0" tIns="0" rIns="0" bIns="0" rtlCol="0" anchor="t"/>
          <a:lstStyle/>
          <a:p>
            <a:pPr algn="l" indent="0" marL="0">
              <a:lnSpc>
                <a:spcPct val="120000"/>
              </a:lnSpc>
              <a:buNone/>
            </a:pPr>
            <a:r>
              <a:rPr lang="en-US" sz="1200" b="1" dirty="0">
                <a:solidFill>
                  <a:srgbClr val="FFFFFF"/>
                </a:solidFill>
                <a:latin typeface="Arial" pitchFamily="34" charset="0"/>
                <a:ea typeface="Arial" pitchFamily="34" charset="-122"/>
                <a:cs typeface="Arial" pitchFamily="34" charset="-120"/>
              </a:rPr>
              <a:t>Return on ad spend</a:t>
            </a:r>
            <a:endParaRPr lang="en-US" sz="1200" dirty="0"/>
          </a:p>
        </p:txBody>
      </p:sp>
      <p:sp>
        <p:nvSpPr>
          <p:cNvPr id="29" name="Text 25"/>
          <p:cNvSpPr txBox="1"/>
          <p:nvPr/>
        </p:nvSpPr>
        <p:spPr>
          <a:xfrm>
            <a:off x="3404540" y="5838952"/>
            <a:ext cx="2179244" cy="214884"/>
          </a:xfrm>
          <a:prstGeom prst="rect">
            <a:avLst/>
          </a:prstGeom>
          <a:noFill/>
          <a:ln/>
        </p:spPr>
        <p:txBody>
          <a:bodyPr wrap="square" lIns="0" tIns="0" rIns="0" bIns="0" rtlCol="0" anchor="t"/>
          <a:lstStyle/>
          <a:p>
            <a:pPr algn="l" indent="0" marL="0">
              <a:lnSpc>
                <a:spcPct val="120000"/>
              </a:lnSpc>
              <a:buNone/>
            </a:pPr>
            <a:r>
              <a:rPr lang="en-US" sz="1050" dirty="0">
                <a:solidFill>
                  <a:srgbClr val="9DB5C8"/>
                </a:solidFill>
                <a:latin typeface="Arial" pitchFamily="34" charset="0"/>
                <a:ea typeface="Arial" pitchFamily="34" charset="-122"/>
                <a:cs typeface="Arial" pitchFamily="34" charset="-120"/>
              </a:rPr>
              <a:t>Drip IV, Google Ads</a:t>
            </a:r>
            <a:endParaRPr lang="en-US" sz="1050" dirty="0"/>
          </a:p>
        </p:txBody>
      </p:sp>
      <p:sp>
        <p:nvSpPr>
          <p:cNvPr id="30" name="Shape 26"/>
          <p:cNvSpPr/>
          <p:nvPr/>
        </p:nvSpPr>
        <p:spPr>
          <a:xfrm>
            <a:off x="5858104" y="4754880"/>
            <a:ext cx="0" cy="1408684"/>
          </a:xfrm>
          <a:prstGeom prst="line">
            <a:avLst/>
          </a:prstGeom>
          <a:noFill/>
          <a:ln w="9525">
            <a:solidFill>
              <a:srgbClr val="1E4460"/>
            </a:solidFill>
            <a:prstDash val="solid"/>
          </a:ln>
        </p:spPr>
      </p:sp>
      <p:sp>
        <p:nvSpPr>
          <p:cNvPr id="31" name="Text 27"/>
          <p:cNvSpPr txBox="1"/>
          <p:nvPr/>
        </p:nvSpPr>
        <p:spPr>
          <a:xfrm>
            <a:off x="6095848" y="4754880"/>
            <a:ext cx="2179244" cy="544576"/>
          </a:xfrm>
          <a:prstGeom prst="rect">
            <a:avLst/>
          </a:prstGeom>
          <a:noFill/>
          <a:ln/>
        </p:spPr>
        <p:txBody>
          <a:bodyPr wrap="square" lIns="0" tIns="0" rIns="0" bIns="0" rtlCol="0" anchor="t"/>
          <a:lstStyle/>
          <a:p>
            <a:pPr algn="l" indent="0" marL="0">
              <a:lnSpc>
                <a:spcPct val="100000"/>
              </a:lnSpc>
              <a:buNone/>
            </a:pPr>
            <a:r>
              <a:rPr lang="en-US" sz="4000" b="1" dirty="0">
                <a:solidFill>
                  <a:srgbClr val="23A455"/>
                </a:solidFill>
                <a:latin typeface="Arial" pitchFamily="34" charset="0"/>
                <a:ea typeface="Arial" pitchFamily="34" charset="-122"/>
                <a:cs typeface="Arial" pitchFamily="34" charset="-120"/>
              </a:rPr>
              <a:t>1,130</a:t>
            </a:r>
            <a:endParaRPr lang="en-US" sz="4000" dirty="0"/>
          </a:p>
        </p:txBody>
      </p:sp>
      <p:sp>
        <p:nvSpPr>
          <p:cNvPr id="32" name="Text 28"/>
          <p:cNvSpPr txBox="1"/>
          <p:nvPr/>
        </p:nvSpPr>
        <p:spPr>
          <a:xfrm>
            <a:off x="6095848" y="5354320"/>
            <a:ext cx="2179244" cy="420624"/>
          </a:xfrm>
          <a:prstGeom prst="rect">
            <a:avLst/>
          </a:prstGeom>
          <a:noFill/>
          <a:ln/>
        </p:spPr>
        <p:txBody>
          <a:bodyPr wrap="square" lIns="0" tIns="0" rIns="0" bIns="0" rtlCol="0" anchor="t"/>
          <a:lstStyle/>
          <a:p>
            <a:pPr algn="l" indent="0" marL="0">
              <a:lnSpc>
                <a:spcPct val="120000"/>
              </a:lnSpc>
              <a:buNone/>
            </a:pPr>
            <a:r>
              <a:rPr lang="en-US" sz="1200" b="1" dirty="0">
                <a:solidFill>
                  <a:srgbClr val="FFFFFF"/>
                </a:solidFill>
                <a:latin typeface="Arial" pitchFamily="34" charset="0"/>
                <a:ea typeface="Arial" pitchFamily="34" charset="-122"/>
                <a:cs typeface="Arial" pitchFamily="34" charset="-120"/>
              </a:rPr>
              <a:t>Form conversions</a:t>
            </a:r>
            <a:endParaRPr lang="en-US" sz="1200" dirty="0"/>
          </a:p>
        </p:txBody>
      </p:sp>
      <p:sp>
        <p:nvSpPr>
          <p:cNvPr id="33" name="Text 29"/>
          <p:cNvSpPr txBox="1"/>
          <p:nvPr/>
        </p:nvSpPr>
        <p:spPr>
          <a:xfrm>
            <a:off x="6095848" y="5838952"/>
            <a:ext cx="2179244" cy="214884"/>
          </a:xfrm>
          <a:prstGeom prst="rect">
            <a:avLst/>
          </a:prstGeom>
          <a:noFill/>
          <a:ln/>
        </p:spPr>
        <p:txBody>
          <a:bodyPr wrap="square" lIns="0" tIns="0" rIns="0" bIns="0" rtlCol="0" anchor="t"/>
          <a:lstStyle/>
          <a:p>
            <a:pPr algn="l" indent="0" marL="0">
              <a:lnSpc>
                <a:spcPct val="120000"/>
              </a:lnSpc>
              <a:buNone/>
            </a:pPr>
            <a:r>
              <a:rPr lang="en-US" sz="1050" dirty="0">
                <a:solidFill>
                  <a:srgbClr val="9DB5C8"/>
                </a:solidFill>
                <a:latin typeface="Arial" pitchFamily="34" charset="0"/>
                <a:ea typeface="Arial" pitchFamily="34" charset="-122"/>
                <a:cs typeface="Arial" pitchFamily="34" charset="-120"/>
              </a:rPr>
              <a:t>Bedford Housing, $38.88 CPL</a:t>
            </a:r>
            <a:endParaRPr lang="en-US" sz="1050" dirty="0"/>
          </a:p>
        </p:txBody>
      </p:sp>
      <p:sp>
        <p:nvSpPr>
          <p:cNvPr id="34" name="Shape 30"/>
          <p:cNvSpPr/>
          <p:nvPr/>
        </p:nvSpPr>
        <p:spPr>
          <a:xfrm>
            <a:off x="8549411" y="4754880"/>
            <a:ext cx="0" cy="1408684"/>
          </a:xfrm>
          <a:prstGeom prst="line">
            <a:avLst/>
          </a:prstGeom>
          <a:noFill/>
          <a:ln w="9525">
            <a:solidFill>
              <a:srgbClr val="1E4460"/>
            </a:solidFill>
            <a:prstDash val="solid"/>
          </a:ln>
        </p:spPr>
      </p:sp>
      <p:sp>
        <p:nvSpPr>
          <p:cNvPr id="35" name="Text 31"/>
          <p:cNvSpPr txBox="1"/>
          <p:nvPr/>
        </p:nvSpPr>
        <p:spPr>
          <a:xfrm>
            <a:off x="8787155" y="4754880"/>
            <a:ext cx="2179244" cy="544576"/>
          </a:xfrm>
          <a:prstGeom prst="rect">
            <a:avLst/>
          </a:prstGeom>
          <a:noFill/>
          <a:ln/>
        </p:spPr>
        <p:txBody>
          <a:bodyPr wrap="square" lIns="0" tIns="0" rIns="0" bIns="0" rtlCol="0" anchor="t"/>
          <a:lstStyle/>
          <a:p>
            <a:pPr algn="l" indent="0" marL="0">
              <a:lnSpc>
                <a:spcPct val="100000"/>
              </a:lnSpc>
              <a:buNone/>
            </a:pPr>
            <a:r>
              <a:rPr lang="en-US" sz="4000" b="1" dirty="0">
                <a:solidFill>
                  <a:srgbClr val="23A455"/>
                </a:solidFill>
                <a:latin typeface="Arial" pitchFamily="34" charset="0"/>
                <a:ea typeface="Arial" pitchFamily="34" charset="-122"/>
                <a:cs typeface="Arial" pitchFamily="34" charset="-120"/>
              </a:rPr>
              <a:t>6.09M</a:t>
            </a:r>
            <a:endParaRPr lang="en-US" sz="4000" dirty="0"/>
          </a:p>
        </p:txBody>
      </p:sp>
      <p:sp>
        <p:nvSpPr>
          <p:cNvPr id="36" name="Text 32"/>
          <p:cNvSpPr txBox="1"/>
          <p:nvPr/>
        </p:nvSpPr>
        <p:spPr>
          <a:xfrm>
            <a:off x="8787155" y="5354320"/>
            <a:ext cx="2179244" cy="420624"/>
          </a:xfrm>
          <a:prstGeom prst="rect">
            <a:avLst/>
          </a:prstGeom>
          <a:noFill/>
          <a:ln/>
        </p:spPr>
        <p:txBody>
          <a:bodyPr wrap="square" lIns="0" tIns="0" rIns="0" bIns="0" rtlCol="0" anchor="t"/>
          <a:lstStyle/>
          <a:p>
            <a:pPr algn="l" indent="0" marL="0">
              <a:lnSpc>
                <a:spcPct val="120000"/>
              </a:lnSpc>
              <a:buNone/>
            </a:pPr>
            <a:r>
              <a:rPr lang="en-US" sz="1200" b="1" dirty="0">
                <a:solidFill>
                  <a:srgbClr val="FFFFFF"/>
                </a:solidFill>
                <a:latin typeface="Arial" pitchFamily="34" charset="0"/>
                <a:ea typeface="Arial" pitchFamily="34" charset="-122"/>
                <a:cs typeface="Arial" pitchFamily="34" charset="-120"/>
              </a:rPr>
              <a:t>Pinterest impressions</a:t>
            </a:r>
            <a:endParaRPr lang="en-US" sz="1200" dirty="0"/>
          </a:p>
        </p:txBody>
      </p:sp>
      <p:sp>
        <p:nvSpPr>
          <p:cNvPr id="37" name="Text 33"/>
          <p:cNvSpPr txBox="1"/>
          <p:nvPr/>
        </p:nvSpPr>
        <p:spPr>
          <a:xfrm>
            <a:off x="8787155" y="5838952"/>
            <a:ext cx="2179244" cy="214884"/>
          </a:xfrm>
          <a:prstGeom prst="rect">
            <a:avLst/>
          </a:prstGeom>
          <a:noFill/>
          <a:ln/>
        </p:spPr>
        <p:txBody>
          <a:bodyPr wrap="square" lIns="0" tIns="0" rIns="0" bIns="0" rtlCol="0" anchor="t"/>
          <a:lstStyle/>
          <a:p>
            <a:pPr algn="l" indent="0" marL="0">
              <a:lnSpc>
                <a:spcPct val="120000"/>
              </a:lnSpc>
              <a:buNone/>
            </a:pPr>
            <a:r>
              <a:rPr lang="en-US" sz="1050" dirty="0">
                <a:solidFill>
                  <a:srgbClr val="9DB5C8"/>
                </a:solidFill>
                <a:latin typeface="Arial" pitchFamily="34" charset="0"/>
                <a:ea typeface="Arial" pitchFamily="34" charset="-122"/>
                <a:cs typeface="Arial" pitchFamily="34" charset="-120"/>
              </a:rPr>
              <a:t>Grand Entry Doors, 2025</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1695" cy="2889504"/>
          </a:xfrm>
          <a:prstGeom prst="rect">
            <a:avLst/>
          </a:prstGeom>
          <a:solidFill>
            <a:srgbClr val="0A1825"/>
          </a:solidFill>
          <a:ln w="12700">
            <a:solidFill>
              <a:srgbClr val="333333"/>
            </a:solidFill>
            <a:prstDash val="solid"/>
          </a:ln>
        </p:spPr>
      </p:sp>
      <p:pic>
        <p:nvPicPr>
          <p:cNvPr id="3" name="Image 0" descr="C:\Users\dillo\.claude\skills\client-deck\assets\momentum-digital\momentum-mark-white.png">    </p:cNvPr>
          <p:cNvPicPr>
            <a:picLocks noChangeAspect="1"/>
          </p:cNvPicPr>
          <p:nvPr/>
        </p:nvPicPr>
        <p:blipFill>
          <a:blip r:embed="rId1">
            <a:alphaModFix amt="9000"/>
          </a:blip>
          <a:stretch>
            <a:fillRect/>
          </a:stretch>
        </p:blipFill>
        <p:spPr>
          <a:xfrm>
            <a:off x="8732520" y="-1188720"/>
            <a:ext cx="4389120" cy="5206548"/>
          </a:xfrm>
          <a:prstGeom prst="rect">
            <a:avLst/>
          </a:prstGeom>
        </p:spPr>
      </p:pic>
      <p:pic>
        <p:nvPicPr>
          <p:cNvPr id="4" name="Image 1" descr="Momentum Digital logo">    </p:cNvPr>
          <p:cNvPicPr>
            <a:picLocks noChangeAspect="1"/>
          </p:cNvPicPr>
          <p:nvPr/>
        </p:nvPicPr>
        <p:blipFill>
          <a:blip r:embed="rId2"/>
          <a:stretch>
            <a:fillRect/>
          </a:stretch>
        </p:blipFill>
        <p:spPr>
          <a:xfrm>
            <a:off x="10106863" y="502920"/>
            <a:ext cx="1371600" cy="294904"/>
          </a:xfrm>
          <a:prstGeom prst="rect">
            <a:avLst/>
          </a:prstGeom>
        </p:spPr>
      </p:pic>
      <p:sp>
        <p:nvSpPr>
          <p:cNvPr id="5" name="Text 1"/>
          <p:cNvSpPr txBox="1"/>
          <p:nvPr/>
        </p:nvSpPr>
        <p:spPr>
          <a:xfrm>
            <a:off x="713232" y="548640"/>
            <a:ext cx="5486400" cy="201168"/>
          </a:xfrm>
          <a:prstGeom prst="rect">
            <a:avLst/>
          </a:prstGeom>
          <a:noFill/>
          <a:ln/>
        </p:spPr>
        <p:txBody>
          <a:bodyPr wrap="square" lIns="0" tIns="0" rIns="0" bIns="0" rtlCol="0" anchor="t"/>
          <a:lstStyle/>
          <a:p>
            <a:pPr algn="l" indent="0" marL="0">
              <a:buNone/>
            </a:pPr>
            <a:r>
              <a:rPr lang="en-US" sz="1050" b="1" spc="240" kern="0" dirty="0">
                <a:solidFill>
                  <a:srgbClr val="5AA7E0"/>
                </a:solidFill>
                <a:latin typeface="Arial" pitchFamily="34" charset="0"/>
                <a:ea typeface="Arial" pitchFamily="34" charset="-122"/>
                <a:cs typeface="Arial" pitchFamily="34" charset="-120"/>
              </a:rPr>
              <a:t>CASE STUDY</a:t>
            </a:r>
            <a:endParaRPr lang="en-US" sz="1050" dirty="0"/>
          </a:p>
        </p:txBody>
      </p:sp>
      <p:sp>
        <p:nvSpPr>
          <p:cNvPr id="6" name="Text 2"/>
          <p:cNvSpPr txBox="1"/>
          <p:nvPr/>
        </p:nvSpPr>
        <p:spPr>
          <a:xfrm>
            <a:off x="713232" y="877824"/>
            <a:ext cx="5943600" cy="504444"/>
          </a:xfrm>
          <a:prstGeom prst="rect">
            <a:avLst/>
          </a:prstGeom>
          <a:noFill/>
          <a:ln/>
        </p:spPr>
        <p:txBody>
          <a:bodyPr wrap="square" lIns="0" tIns="0" rIns="0" bIns="0" rtlCol="0" anchor="t"/>
          <a:lstStyle/>
          <a:p>
            <a:pPr algn="l" indent="0" marL="0">
              <a:lnSpc>
                <a:spcPct val="102000"/>
              </a:lnSpc>
              <a:buNone/>
            </a:pPr>
            <a:r>
              <a:rPr lang="en-US" sz="3400" b="1" dirty="0">
                <a:solidFill>
                  <a:srgbClr val="FFFFFF"/>
                </a:solidFill>
                <a:latin typeface="Arial" pitchFamily="34" charset="0"/>
                <a:ea typeface="Arial" pitchFamily="34" charset="-122"/>
                <a:cs typeface="Arial" pitchFamily="34" charset="-120"/>
              </a:rPr>
              <a:t>UnderX</a:t>
            </a:r>
            <a:endParaRPr lang="en-US" sz="3400" dirty="0"/>
          </a:p>
        </p:txBody>
      </p:sp>
      <p:sp>
        <p:nvSpPr>
          <p:cNvPr id="7" name="Text 3"/>
          <p:cNvSpPr txBox="1"/>
          <p:nvPr/>
        </p:nvSpPr>
        <p:spPr>
          <a:xfrm>
            <a:off x="713232" y="1510284"/>
            <a:ext cx="5760720" cy="664083"/>
          </a:xfrm>
          <a:prstGeom prst="rect">
            <a:avLst/>
          </a:prstGeom>
          <a:noFill/>
          <a:ln/>
        </p:spPr>
        <p:txBody>
          <a:bodyPr wrap="square" lIns="0" tIns="0" rIns="0" bIns="0" rtlCol="0" anchor="t"/>
          <a:lstStyle/>
          <a:p>
            <a:pPr algn="l" indent="0" marL="0">
              <a:lnSpc>
                <a:spcPct val="126000"/>
              </a:lnSpc>
              <a:buNone/>
            </a:pPr>
            <a:r>
              <a:rPr lang="en-US" sz="1250" dirty="0">
                <a:solidFill>
                  <a:srgbClr val="9DB5C8"/>
                </a:solidFill>
                <a:latin typeface="Arial" pitchFamily="34" charset="0"/>
                <a:ea typeface="Arial" pitchFamily="34" charset="-122"/>
                <a:cs typeface="Arial" pitchFamily="34" charset="-120"/>
              </a:rPr>
              <a:t>Ecommerce apparel · twelve months</a:t>
            </a:r>
            <a:endParaRPr lang="en-US" sz="1250" dirty="0"/>
          </a:p>
          <a:p>
            <a:pPr algn="l" indent="0" marL="0">
              <a:lnSpc>
                <a:spcPct val="126000"/>
              </a:lnSpc>
              <a:buNone/>
            </a:pPr>
            <a:r>
              <a:rPr lang="en-US" sz="1250" dirty="0">
                <a:solidFill>
                  <a:srgbClr val="9DB5C8"/>
                </a:solidFill>
                <a:latin typeface="Arial" pitchFamily="34" charset="0"/>
                <a:ea typeface="Arial" pitchFamily="34" charset="-122"/>
                <a:cs typeface="Arial" pitchFamily="34" charset="-120"/>
              </a:rPr>
              <a:t>Keyword clustering, topical mapping, SEO landing pages, schema, GA4 reporting</a:t>
            </a:r>
            <a:endParaRPr lang="en-US" sz="1250" dirty="0"/>
          </a:p>
        </p:txBody>
      </p:sp>
      <p:sp>
        <p:nvSpPr>
          <p:cNvPr id="8" name="Text 4"/>
          <p:cNvSpPr txBox="1"/>
          <p:nvPr/>
        </p:nvSpPr>
        <p:spPr>
          <a:xfrm>
            <a:off x="6583680" y="1060704"/>
            <a:ext cx="4892040" cy="1133856"/>
          </a:xfrm>
          <a:prstGeom prst="rect">
            <a:avLst/>
          </a:prstGeom>
          <a:noFill/>
          <a:ln/>
        </p:spPr>
        <p:txBody>
          <a:bodyPr wrap="square" lIns="0" tIns="0" rIns="0" bIns="0" rtlCol="0" anchor="t"/>
          <a:lstStyle/>
          <a:p>
            <a:pPr algn="r" indent="0" marL="0">
              <a:lnSpc>
                <a:spcPct val="95000"/>
              </a:lnSpc>
              <a:buNone/>
            </a:pPr>
            <a:r>
              <a:rPr lang="en-US" sz="9200" b="1" dirty="0">
                <a:solidFill>
                  <a:srgbClr val="5AA7E0"/>
                </a:solidFill>
                <a:latin typeface="Arial" pitchFamily="34" charset="0"/>
                <a:ea typeface="Arial" pitchFamily="34" charset="-122"/>
                <a:cs typeface="Arial" pitchFamily="34" charset="-120"/>
              </a:rPr>
              <a:t>+121%</a:t>
            </a:r>
            <a:endParaRPr lang="en-US" sz="9200" dirty="0"/>
          </a:p>
        </p:txBody>
      </p:sp>
      <p:sp>
        <p:nvSpPr>
          <p:cNvPr id="9" name="Text 5"/>
          <p:cNvSpPr txBox="1"/>
          <p:nvPr/>
        </p:nvSpPr>
        <p:spPr>
          <a:xfrm>
            <a:off x="6583680" y="2231136"/>
            <a:ext cx="4892040" cy="246888"/>
          </a:xfrm>
          <a:prstGeom prst="rect">
            <a:avLst/>
          </a:prstGeom>
          <a:noFill/>
          <a:ln/>
        </p:spPr>
        <p:txBody>
          <a:bodyPr wrap="square" lIns="0" tIns="0" rIns="0" bIns="0" rtlCol="0" anchor="t"/>
          <a:lstStyle/>
          <a:p>
            <a:pPr algn="r" indent="0" marL="0">
              <a:lnSpc>
                <a:spcPct val="120000"/>
              </a:lnSpc>
              <a:buNone/>
            </a:pPr>
            <a:r>
              <a:rPr lang="en-US" sz="1200" b="1" dirty="0">
                <a:solidFill>
                  <a:srgbClr val="FFFFFF"/>
                </a:solidFill>
                <a:latin typeface="Arial" pitchFamily="34" charset="0"/>
                <a:ea typeface="Arial" pitchFamily="34" charset="-122"/>
                <a:cs typeface="Arial" pitchFamily="34" charset="-120"/>
              </a:rPr>
              <a:t>Search visibility, 512K to 1.12M SERP impressions</a:t>
            </a:r>
            <a:endParaRPr lang="en-US" sz="1200" dirty="0"/>
          </a:p>
        </p:txBody>
      </p:sp>
      <p:sp>
        <p:nvSpPr>
          <p:cNvPr id="10" name="Text 6"/>
          <p:cNvSpPr txBox="1"/>
          <p:nvPr/>
        </p:nvSpPr>
        <p:spPr>
          <a:xfrm>
            <a:off x="713232" y="3200400"/>
            <a:ext cx="2179244" cy="430276"/>
          </a:xfrm>
          <a:prstGeom prst="rect">
            <a:avLst/>
          </a:prstGeom>
          <a:noFill/>
          <a:ln/>
        </p:spPr>
        <p:txBody>
          <a:bodyPr wrap="square" lIns="0" tIns="0" rIns="0" bIns="0" rtlCol="0" anchor="t"/>
          <a:lstStyle/>
          <a:p>
            <a:pPr algn="l" indent="0" marL="0">
              <a:lnSpc>
                <a:spcPct val="100000"/>
              </a:lnSpc>
              <a:buNone/>
            </a:pPr>
            <a:r>
              <a:rPr lang="en-US" sz="3100" b="1" dirty="0">
                <a:solidFill>
                  <a:srgbClr val="2A80C2"/>
                </a:solidFill>
                <a:latin typeface="Arial" pitchFamily="34" charset="0"/>
                <a:ea typeface="Arial" pitchFamily="34" charset="-122"/>
                <a:cs typeface="Arial" pitchFamily="34" charset="-120"/>
              </a:rPr>
              <a:t>+79%</a:t>
            </a:r>
            <a:endParaRPr lang="en-US" sz="3100" dirty="0"/>
          </a:p>
        </p:txBody>
      </p:sp>
      <p:sp>
        <p:nvSpPr>
          <p:cNvPr id="11" name="Text 7"/>
          <p:cNvSpPr txBox="1"/>
          <p:nvPr/>
        </p:nvSpPr>
        <p:spPr>
          <a:xfrm>
            <a:off x="713232" y="3685540"/>
            <a:ext cx="2179244" cy="237744"/>
          </a:xfrm>
          <a:prstGeom prst="rect">
            <a:avLst/>
          </a:prstGeom>
          <a:noFill/>
          <a:ln/>
        </p:spPr>
        <p:txBody>
          <a:bodyPr wrap="square" lIns="0" tIns="0" rIns="0" bIns="0" rtlCol="0" anchor="t"/>
          <a:lstStyle/>
          <a:p>
            <a:pPr algn="l" indent="0" marL="0">
              <a:lnSpc>
                <a:spcPct val="120000"/>
              </a:lnSpc>
              <a:buNone/>
            </a:pPr>
            <a:r>
              <a:rPr lang="en-US" sz="1200" b="1" dirty="0">
                <a:solidFill>
                  <a:srgbClr val="0F151B"/>
                </a:solidFill>
                <a:latin typeface="Arial" pitchFamily="34" charset="0"/>
                <a:ea typeface="Arial" pitchFamily="34" charset="-122"/>
                <a:cs typeface="Arial" pitchFamily="34" charset="-120"/>
              </a:rPr>
              <a:t>Monthly clicks</a:t>
            </a:r>
            <a:endParaRPr lang="en-US" sz="1200" dirty="0"/>
          </a:p>
        </p:txBody>
      </p:sp>
      <p:sp>
        <p:nvSpPr>
          <p:cNvPr id="12" name="Text 8"/>
          <p:cNvSpPr txBox="1"/>
          <p:nvPr/>
        </p:nvSpPr>
        <p:spPr>
          <a:xfrm>
            <a:off x="713232" y="3987292"/>
            <a:ext cx="2179244" cy="214884"/>
          </a:xfrm>
          <a:prstGeom prst="rect">
            <a:avLst/>
          </a:prstGeom>
          <a:noFill/>
          <a:ln/>
        </p:spPr>
        <p:txBody>
          <a:bodyPr wrap="square" lIns="0" tIns="0" rIns="0" bIns="0" rtlCol="0" anchor="t"/>
          <a:lstStyle/>
          <a:p>
            <a:pPr algn="l" indent="0" marL="0">
              <a:lnSpc>
                <a:spcPct val="120000"/>
              </a:lnSpc>
              <a:buNone/>
            </a:pPr>
            <a:r>
              <a:rPr lang="en-US" sz="1050" dirty="0">
                <a:solidFill>
                  <a:srgbClr val="5A6772"/>
                </a:solidFill>
                <a:latin typeface="Arial" pitchFamily="34" charset="0"/>
                <a:ea typeface="Arial" pitchFamily="34" charset="-122"/>
                <a:cs typeface="Arial" pitchFamily="34" charset="-120"/>
              </a:rPr>
              <a:t>4.24K to 7.6K</a:t>
            </a:r>
            <a:endParaRPr lang="en-US" sz="1050" dirty="0"/>
          </a:p>
        </p:txBody>
      </p:sp>
      <p:sp>
        <p:nvSpPr>
          <p:cNvPr id="13" name="Shape 9"/>
          <p:cNvSpPr/>
          <p:nvPr/>
        </p:nvSpPr>
        <p:spPr>
          <a:xfrm>
            <a:off x="3166796" y="3200400"/>
            <a:ext cx="0" cy="1111504"/>
          </a:xfrm>
          <a:prstGeom prst="line">
            <a:avLst/>
          </a:prstGeom>
          <a:noFill/>
          <a:ln w="9525">
            <a:solidFill>
              <a:srgbClr val="E2EAF1"/>
            </a:solidFill>
            <a:prstDash val="solid"/>
          </a:ln>
        </p:spPr>
      </p:sp>
      <p:sp>
        <p:nvSpPr>
          <p:cNvPr id="14" name="Text 10"/>
          <p:cNvSpPr txBox="1"/>
          <p:nvPr/>
        </p:nvSpPr>
        <p:spPr>
          <a:xfrm>
            <a:off x="3404540" y="3200400"/>
            <a:ext cx="2179244" cy="430276"/>
          </a:xfrm>
          <a:prstGeom prst="rect">
            <a:avLst/>
          </a:prstGeom>
          <a:noFill/>
          <a:ln/>
        </p:spPr>
        <p:txBody>
          <a:bodyPr wrap="square" lIns="0" tIns="0" rIns="0" bIns="0" rtlCol="0" anchor="t"/>
          <a:lstStyle/>
          <a:p>
            <a:pPr algn="l" indent="0" marL="0">
              <a:lnSpc>
                <a:spcPct val="100000"/>
              </a:lnSpc>
              <a:buNone/>
            </a:pPr>
            <a:r>
              <a:rPr lang="en-US" sz="3100" b="1" dirty="0">
                <a:solidFill>
                  <a:srgbClr val="23A455"/>
                </a:solidFill>
                <a:latin typeface="Arial" pitchFamily="34" charset="0"/>
                <a:ea typeface="Arial" pitchFamily="34" charset="-122"/>
                <a:cs typeface="Arial" pitchFamily="34" charset="-120"/>
              </a:rPr>
              <a:t>+28%</a:t>
            </a:r>
            <a:endParaRPr lang="en-US" sz="3100" dirty="0"/>
          </a:p>
        </p:txBody>
      </p:sp>
      <p:sp>
        <p:nvSpPr>
          <p:cNvPr id="15" name="Text 11"/>
          <p:cNvSpPr txBox="1"/>
          <p:nvPr/>
        </p:nvSpPr>
        <p:spPr>
          <a:xfrm>
            <a:off x="3404540" y="3685540"/>
            <a:ext cx="2179244" cy="237744"/>
          </a:xfrm>
          <a:prstGeom prst="rect">
            <a:avLst/>
          </a:prstGeom>
          <a:noFill/>
          <a:ln/>
        </p:spPr>
        <p:txBody>
          <a:bodyPr wrap="square" lIns="0" tIns="0" rIns="0" bIns="0" rtlCol="0" anchor="t"/>
          <a:lstStyle/>
          <a:p>
            <a:pPr algn="l" indent="0" marL="0">
              <a:lnSpc>
                <a:spcPct val="120000"/>
              </a:lnSpc>
              <a:buNone/>
            </a:pPr>
            <a:r>
              <a:rPr lang="en-US" sz="1200" b="1" dirty="0">
                <a:solidFill>
                  <a:srgbClr val="0F151B"/>
                </a:solidFill>
                <a:latin typeface="Arial" pitchFamily="34" charset="0"/>
                <a:ea typeface="Arial" pitchFamily="34" charset="-122"/>
                <a:cs typeface="Arial" pitchFamily="34" charset="-120"/>
              </a:rPr>
              <a:t>Total sales revenue</a:t>
            </a:r>
            <a:endParaRPr lang="en-US" sz="1200" dirty="0"/>
          </a:p>
        </p:txBody>
      </p:sp>
      <p:sp>
        <p:nvSpPr>
          <p:cNvPr id="16" name="Shape 12"/>
          <p:cNvSpPr/>
          <p:nvPr/>
        </p:nvSpPr>
        <p:spPr>
          <a:xfrm>
            <a:off x="5858104" y="3200400"/>
            <a:ext cx="0" cy="1111504"/>
          </a:xfrm>
          <a:prstGeom prst="line">
            <a:avLst/>
          </a:prstGeom>
          <a:noFill/>
          <a:ln w="9525">
            <a:solidFill>
              <a:srgbClr val="E2EAF1"/>
            </a:solidFill>
            <a:prstDash val="solid"/>
          </a:ln>
        </p:spPr>
      </p:sp>
      <p:sp>
        <p:nvSpPr>
          <p:cNvPr id="17" name="Text 13"/>
          <p:cNvSpPr txBox="1"/>
          <p:nvPr/>
        </p:nvSpPr>
        <p:spPr>
          <a:xfrm>
            <a:off x="6095848" y="3200400"/>
            <a:ext cx="2179244" cy="430276"/>
          </a:xfrm>
          <a:prstGeom prst="rect">
            <a:avLst/>
          </a:prstGeom>
          <a:noFill/>
          <a:ln/>
        </p:spPr>
        <p:txBody>
          <a:bodyPr wrap="square" lIns="0" tIns="0" rIns="0" bIns="0" rtlCol="0" anchor="t"/>
          <a:lstStyle/>
          <a:p>
            <a:pPr algn="l" indent="0" marL="0">
              <a:lnSpc>
                <a:spcPct val="100000"/>
              </a:lnSpc>
              <a:buNone/>
            </a:pPr>
            <a:r>
              <a:rPr lang="en-US" sz="3100" b="1" dirty="0">
                <a:solidFill>
                  <a:srgbClr val="23A455"/>
                </a:solidFill>
                <a:latin typeface="Arial" pitchFamily="34" charset="0"/>
                <a:ea typeface="Arial" pitchFamily="34" charset="-122"/>
                <a:cs typeface="Arial" pitchFamily="34" charset="-120"/>
              </a:rPr>
              <a:t>+11%</a:t>
            </a:r>
            <a:endParaRPr lang="en-US" sz="3100" dirty="0"/>
          </a:p>
        </p:txBody>
      </p:sp>
      <p:sp>
        <p:nvSpPr>
          <p:cNvPr id="18" name="Text 14"/>
          <p:cNvSpPr txBox="1"/>
          <p:nvPr/>
        </p:nvSpPr>
        <p:spPr>
          <a:xfrm>
            <a:off x="6095848" y="3685540"/>
            <a:ext cx="2179244" cy="237744"/>
          </a:xfrm>
          <a:prstGeom prst="rect">
            <a:avLst/>
          </a:prstGeom>
          <a:noFill/>
          <a:ln/>
        </p:spPr>
        <p:txBody>
          <a:bodyPr wrap="square" lIns="0" tIns="0" rIns="0" bIns="0" rtlCol="0" anchor="t"/>
          <a:lstStyle/>
          <a:p>
            <a:pPr algn="l" indent="0" marL="0">
              <a:lnSpc>
                <a:spcPct val="120000"/>
              </a:lnSpc>
              <a:buNone/>
            </a:pPr>
            <a:r>
              <a:rPr lang="en-US" sz="1200" b="1" dirty="0">
                <a:solidFill>
                  <a:srgbClr val="0F151B"/>
                </a:solidFill>
                <a:latin typeface="Arial" pitchFamily="34" charset="0"/>
                <a:ea typeface="Arial" pitchFamily="34" charset="-122"/>
                <a:cs typeface="Arial" pitchFamily="34" charset="-120"/>
              </a:rPr>
              <a:t>Conversion rate</a:t>
            </a:r>
            <a:endParaRPr lang="en-US" sz="1200" dirty="0"/>
          </a:p>
        </p:txBody>
      </p:sp>
      <p:sp>
        <p:nvSpPr>
          <p:cNvPr id="19" name="Shape 15"/>
          <p:cNvSpPr/>
          <p:nvPr/>
        </p:nvSpPr>
        <p:spPr>
          <a:xfrm>
            <a:off x="8549411" y="3200400"/>
            <a:ext cx="0" cy="1111504"/>
          </a:xfrm>
          <a:prstGeom prst="line">
            <a:avLst/>
          </a:prstGeom>
          <a:noFill/>
          <a:ln w="9525">
            <a:solidFill>
              <a:srgbClr val="E2EAF1"/>
            </a:solidFill>
            <a:prstDash val="solid"/>
          </a:ln>
        </p:spPr>
      </p:sp>
      <p:sp>
        <p:nvSpPr>
          <p:cNvPr id="20" name="Text 16"/>
          <p:cNvSpPr txBox="1"/>
          <p:nvPr/>
        </p:nvSpPr>
        <p:spPr>
          <a:xfrm>
            <a:off x="8787155" y="3200400"/>
            <a:ext cx="2179244" cy="430276"/>
          </a:xfrm>
          <a:prstGeom prst="rect">
            <a:avLst/>
          </a:prstGeom>
          <a:noFill/>
          <a:ln/>
        </p:spPr>
        <p:txBody>
          <a:bodyPr wrap="square" lIns="0" tIns="0" rIns="0" bIns="0" rtlCol="0" anchor="t"/>
          <a:lstStyle/>
          <a:p>
            <a:pPr algn="l" indent="0" marL="0">
              <a:lnSpc>
                <a:spcPct val="100000"/>
              </a:lnSpc>
              <a:buNone/>
            </a:pPr>
            <a:r>
              <a:rPr lang="en-US" sz="3100" b="1" dirty="0">
                <a:solidFill>
                  <a:srgbClr val="23A455"/>
                </a:solidFill>
                <a:latin typeface="Arial" pitchFamily="34" charset="0"/>
                <a:ea typeface="Arial" pitchFamily="34" charset="-122"/>
                <a:cs typeface="Arial" pitchFamily="34" charset="-120"/>
              </a:rPr>
              <a:t>+11.2%</a:t>
            </a:r>
            <a:endParaRPr lang="en-US" sz="3100" dirty="0"/>
          </a:p>
        </p:txBody>
      </p:sp>
      <p:sp>
        <p:nvSpPr>
          <p:cNvPr id="21" name="Text 17"/>
          <p:cNvSpPr txBox="1"/>
          <p:nvPr/>
        </p:nvSpPr>
        <p:spPr>
          <a:xfrm>
            <a:off x="8787155" y="3685540"/>
            <a:ext cx="2179244" cy="237744"/>
          </a:xfrm>
          <a:prstGeom prst="rect">
            <a:avLst/>
          </a:prstGeom>
          <a:noFill/>
          <a:ln/>
        </p:spPr>
        <p:txBody>
          <a:bodyPr wrap="square" lIns="0" tIns="0" rIns="0" bIns="0" rtlCol="0" anchor="t"/>
          <a:lstStyle/>
          <a:p>
            <a:pPr algn="l" indent="0" marL="0">
              <a:lnSpc>
                <a:spcPct val="120000"/>
              </a:lnSpc>
              <a:buNone/>
            </a:pPr>
            <a:r>
              <a:rPr lang="en-US" sz="1200" b="1" dirty="0">
                <a:solidFill>
                  <a:srgbClr val="0F151B"/>
                </a:solidFill>
                <a:latin typeface="Arial" pitchFamily="34" charset="0"/>
                <a:ea typeface="Arial" pitchFamily="34" charset="-122"/>
                <a:cs typeface="Arial" pitchFamily="34" charset="-120"/>
              </a:rPr>
              <a:t>Purchase revenue</a:t>
            </a:r>
            <a:endParaRPr lang="en-US" sz="1200" dirty="0"/>
          </a:p>
        </p:txBody>
      </p:sp>
      <p:sp>
        <p:nvSpPr>
          <p:cNvPr id="22" name="Shape 18"/>
          <p:cNvSpPr/>
          <p:nvPr/>
        </p:nvSpPr>
        <p:spPr>
          <a:xfrm>
            <a:off x="713232" y="4257040"/>
            <a:ext cx="10765231" cy="0"/>
          </a:xfrm>
          <a:prstGeom prst="line">
            <a:avLst/>
          </a:prstGeom>
          <a:noFill/>
          <a:ln w="9525">
            <a:solidFill>
              <a:srgbClr val="E2EAF1"/>
            </a:solidFill>
            <a:prstDash val="solid"/>
          </a:ln>
        </p:spPr>
      </p:sp>
      <p:sp>
        <p:nvSpPr>
          <p:cNvPr id="23" name="Text 19"/>
          <p:cNvSpPr txBox="1"/>
          <p:nvPr/>
        </p:nvSpPr>
        <p:spPr>
          <a:xfrm>
            <a:off x="713232" y="4439920"/>
            <a:ext cx="5099152" cy="201168"/>
          </a:xfrm>
          <a:prstGeom prst="rect">
            <a:avLst/>
          </a:prstGeom>
          <a:noFill/>
          <a:ln/>
        </p:spPr>
        <p:txBody>
          <a:bodyPr wrap="square" lIns="0" tIns="0" rIns="0" bIns="0" rtlCol="0" anchor="t"/>
          <a:lstStyle/>
          <a:p>
            <a:pPr algn="l" indent="0" marL="0">
              <a:buNone/>
            </a:pPr>
            <a:r>
              <a:rPr lang="en-US" sz="1050" b="1" spc="240" kern="0" dirty="0">
                <a:solidFill>
                  <a:srgbClr val="2A80C2"/>
                </a:solidFill>
                <a:latin typeface="Arial" pitchFamily="34" charset="0"/>
                <a:ea typeface="Arial" pitchFamily="34" charset="-122"/>
                <a:cs typeface="Arial" pitchFamily="34" charset="-120"/>
              </a:rPr>
              <a:t>BEFORE</a:t>
            </a:r>
            <a:endParaRPr lang="en-US" sz="1050" dirty="0"/>
          </a:p>
        </p:txBody>
      </p:sp>
      <p:sp>
        <p:nvSpPr>
          <p:cNvPr id="24" name="Text 20"/>
          <p:cNvSpPr txBox="1"/>
          <p:nvPr/>
        </p:nvSpPr>
        <p:spPr>
          <a:xfrm>
            <a:off x="713232" y="4769104"/>
            <a:ext cx="5099152" cy="297180"/>
          </a:xfrm>
          <a:prstGeom prst="rect">
            <a:avLst/>
          </a:prstGeom>
          <a:noFill/>
          <a:ln/>
        </p:spPr>
        <p:txBody>
          <a:bodyPr wrap="square" lIns="0" tIns="0" rIns="0" bIns="0" rtlCol="0" anchor="t"/>
          <a:lstStyle/>
          <a:p>
            <a:pPr algn="l" indent="0" marL="0">
              <a:lnSpc>
                <a:spcPct val="108000"/>
              </a:lnSpc>
              <a:buNone/>
            </a:pPr>
            <a:r>
              <a:rPr lang="en-US" sz="1700" b="1" dirty="0">
                <a:solidFill>
                  <a:srgbClr val="0F151B"/>
                </a:solidFill>
                <a:latin typeface="Arial" pitchFamily="34" charset="0"/>
                <a:ea typeface="Arial" pitchFamily="34" charset="-122"/>
                <a:cs typeface="Arial" pitchFamily="34" charset="-120"/>
              </a:rPr>
              <a:t>Traffic that did not translate</a:t>
            </a:r>
            <a:endParaRPr lang="en-US" sz="1700" dirty="0"/>
          </a:p>
        </p:txBody>
      </p:sp>
      <p:sp>
        <p:nvSpPr>
          <p:cNvPr id="25" name="Text 21"/>
          <p:cNvSpPr txBox="1"/>
          <p:nvPr/>
        </p:nvSpPr>
        <p:spPr>
          <a:xfrm>
            <a:off x="713232" y="5176012"/>
            <a:ext cx="5099152" cy="790194"/>
          </a:xfrm>
          <a:prstGeom prst="rect">
            <a:avLst/>
          </a:prstGeom>
          <a:noFill/>
          <a:ln/>
        </p:spPr>
        <p:txBody>
          <a:bodyPr wrap="square" lIns="0" tIns="0" rIns="0" bIns="0" rtlCol="0" anchor="t"/>
          <a:lstStyle/>
          <a:p>
            <a:pPr marL="342900" indent="-342900">
              <a:lnSpc>
                <a:spcPct val="124000"/>
              </a:lnSpc>
              <a:spcAft>
                <a:spcPts val="700"/>
              </a:spcAft>
              <a:buSzPct val="100000"/>
              <a:buChar char="•"/>
            </a:pPr>
            <a:r>
              <a:rPr lang="en-US" sz="1150" dirty="0">
                <a:solidFill>
                  <a:srgbClr val="5A6772"/>
                </a:solidFill>
                <a:latin typeface="Arial" pitchFamily="34" charset="0"/>
                <a:ea typeface="Arial" pitchFamily="34" charset="-122"/>
                <a:cs typeface="Arial" pitchFamily="34" charset="-120"/>
              </a:rPr>
              <a:t>Visibility flat across product categories</a:t>
            </a:r>
            <a:endParaRPr lang="en-US" sz="1150" dirty="0"/>
          </a:p>
          <a:p>
            <a:pPr marL="342900" indent="-342900">
              <a:lnSpc>
                <a:spcPct val="124000"/>
              </a:lnSpc>
              <a:spcAft>
                <a:spcPts val="700"/>
              </a:spcAft>
              <a:buSzPct val="100000"/>
              <a:buChar char="•"/>
            </a:pPr>
            <a:r>
              <a:rPr lang="en-US" sz="1150" dirty="0">
                <a:solidFill>
                  <a:srgbClr val="5A6772"/>
                </a:solidFill>
                <a:latin typeface="Arial" pitchFamily="34" charset="0"/>
                <a:ea typeface="Arial" pitchFamily="34" charset="-122"/>
                <a:cs typeface="Arial" pitchFamily="34" charset="-120"/>
              </a:rPr>
              <a:t>Thin metadata and weak topical coverage</a:t>
            </a:r>
            <a:endParaRPr lang="en-US" sz="1150" dirty="0"/>
          </a:p>
          <a:p>
            <a:pPr marL="342900" indent="-342900">
              <a:lnSpc>
                <a:spcPct val="124000"/>
              </a:lnSpc>
              <a:spcAft>
                <a:spcPts val="700"/>
              </a:spcAft>
              <a:buSzPct val="100000"/>
              <a:buChar char="•"/>
            </a:pPr>
            <a:r>
              <a:rPr lang="en-US" sz="1150" dirty="0">
                <a:solidFill>
                  <a:srgbClr val="5A6772"/>
                </a:solidFill>
                <a:latin typeface="Arial" pitchFamily="34" charset="0"/>
                <a:ea typeface="Arial" pitchFamily="34" charset="-122"/>
                <a:cs typeface="Arial" pitchFamily="34" charset="-120"/>
              </a:rPr>
              <a:t>No measurement of SEO against revenue</a:t>
            </a:r>
            <a:endParaRPr lang="en-US" sz="1150" dirty="0"/>
          </a:p>
        </p:txBody>
      </p:sp>
      <p:sp>
        <p:nvSpPr>
          <p:cNvPr id="26" name="Text 22"/>
          <p:cNvSpPr txBox="1"/>
          <p:nvPr/>
        </p:nvSpPr>
        <p:spPr>
          <a:xfrm>
            <a:off x="6379312" y="4439920"/>
            <a:ext cx="5099152" cy="201168"/>
          </a:xfrm>
          <a:prstGeom prst="rect">
            <a:avLst/>
          </a:prstGeom>
          <a:noFill/>
          <a:ln/>
        </p:spPr>
        <p:txBody>
          <a:bodyPr wrap="square" lIns="0" tIns="0" rIns="0" bIns="0" rtlCol="0" anchor="t"/>
          <a:lstStyle/>
          <a:p>
            <a:pPr algn="l" indent="0" marL="0">
              <a:buNone/>
            </a:pPr>
            <a:r>
              <a:rPr lang="en-US" sz="1050" b="1" spc="240" kern="0" dirty="0">
                <a:solidFill>
                  <a:srgbClr val="2A80C2"/>
                </a:solidFill>
                <a:latin typeface="Arial" pitchFamily="34" charset="0"/>
                <a:ea typeface="Arial" pitchFamily="34" charset="-122"/>
                <a:cs typeface="Arial" pitchFamily="34" charset="-120"/>
              </a:rPr>
              <a:t>WHAT CHANGED</a:t>
            </a:r>
            <a:endParaRPr lang="en-US" sz="1050" dirty="0"/>
          </a:p>
        </p:txBody>
      </p:sp>
      <p:sp>
        <p:nvSpPr>
          <p:cNvPr id="27" name="Text 23"/>
          <p:cNvSpPr txBox="1"/>
          <p:nvPr/>
        </p:nvSpPr>
        <p:spPr>
          <a:xfrm>
            <a:off x="6379312" y="4769104"/>
            <a:ext cx="5099152" cy="297180"/>
          </a:xfrm>
          <a:prstGeom prst="rect">
            <a:avLst/>
          </a:prstGeom>
          <a:noFill/>
          <a:ln/>
        </p:spPr>
        <p:txBody>
          <a:bodyPr wrap="square" lIns="0" tIns="0" rIns="0" bIns="0" rtlCol="0" anchor="t"/>
          <a:lstStyle/>
          <a:p>
            <a:pPr algn="l" indent="0" marL="0">
              <a:lnSpc>
                <a:spcPct val="108000"/>
              </a:lnSpc>
              <a:buNone/>
            </a:pPr>
            <a:r>
              <a:rPr lang="en-US" sz="1700" b="1" dirty="0">
                <a:solidFill>
                  <a:srgbClr val="0F151B"/>
                </a:solidFill>
                <a:latin typeface="Arial" pitchFamily="34" charset="0"/>
                <a:ea typeface="Arial" pitchFamily="34" charset="-122"/>
                <a:cs typeface="Arial" pitchFamily="34" charset="-120"/>
              </a:rPr>
              <a:t>Search built around what people buy</a:t>
            </a:r>
            <a:endParaRPr lang="en-US" sz="1700" dirty="0"/>
          </a:p>
        </p:txBody>
      </p:sp>
      <p:sp>
        <p:nvSpPr>
          <p:cNvPr id="28" name="Text 24"/>
          <p:cNvSpPr txBox="1"/>
          <p:nvPr/>
        </p:nvSpPr>
        <p:spPr>
          <a:xfrm>
            <a:off x="6379312" y="5176012"/>
            <a:ext cx="5099152" cy="790194"/>
          </a:xfrm>
          <a:prstGeom prst="rect">
            <a:avLst/>
          </a:prstGeom>
          <a:noFill/>
          <a:ln/>
        </p:spPr>
        <p:txBody>
          <a:bodyPr wrap="square" lIns="0" tIns="0" rIns="0" bIns="0" rtlCol="0" anchor="t"/>
          <a:lstStyle/>
          <a:p>
            <a:pPr marL="342900" indent="-342900">
              <a:lnSpc>
                <a:spcPct val="124000"/>
              </a:lnSpc>
              <a:spcAft>
                <a:spcPts val="700"/>
              </a:spcAft>
              <a:buSzPct val="100000"/>
              <a:buChar char="•"/>
            </a:pPr>
            <a:r>
              <a:rPr lang="en-US" sz="1150" dirty="0">
                <a:solidFill>
                  <a:srgbClr val="5A6772"/>
                </a:solidFill>
                <a:latin typeface="Arial" pitchFamily="34" charset="0"/>
                <a:ea typeface="Arial" pitchFamily="34" charset="-122"/>
                <a:cs typeface="Arial" pitchFamily="34" charset="-120"/>
              </a:rPr>
              <a:t>Keyword clustering and topical mapping by category</a:t>
            </a:r>
            <a:endParaRPr lang="en-US" sz="1150" dirty="0"/>
          </a:p>
          <a:p>
            <a:pPr marL="342900" indent="-342900">
              <a:lnSpc>
                <a:spcPct val="124000"/>
              </a:lnSpc>
              <a:spcAft>
                <a:spcPts val="700"/>
              </a:spcAft>
              <a:buSzPct val="100000"/>
              <a:buChar char="•"/>
            </a:pPr>
            <a:r>
              <a:rPr lang="en-US" sz="1150" dirty="0">
                <a:solidFill>
                  <a:srgbClr val="5A6772"/>
                </a:solidFill>
                <a:latin typeface="Arial" pitchFamily="34" charset="0"/>
                <a:ea typeface="Arial" pitchFamily="34" charset="-122"/>
                <a:cs typeface="Arial" pitchFamily="34" charset="-120"/>
              </a:rPr>
              <a:t>SEO aligned landing pages and rewritten meta content</a:t>
            </a:r>
            <a:endParaRPr lang="en-US" sz="1150" dirty="0"/>
          </a:p>
          <a:p>
            <a:pPr marL="342900" indent="-342900">
              <a:lnSpc>
                <a:spcPct val="124000"/>
              </a:lnSpc>
              <a:spcAft>
                <a:spcPts val="700"/>
              </a:spcAft>
              <a:buSzPct val="100000"/>
              <a:buChar char="•"/>
            </a:pPr>
            <a:r>
              <a:rPr lang="en-US" sz="1150" dirty="0">
                <a:solidFill>
                  <a:srgbClr val="5A6772"/>
                </a:solidFill>
                <a:latin typeface="Arial" pitchFamily="34" charset="0"/>
                <a:ea typeface="Arial" pitchFamily="34" charset="-122"/>
                <a:cs typeface="Arial" pitchFamily="34" charset="-120"/>
              </a:rPr>
              <a:t>Internal linking and schema for crawlability</a:t>
            </a:r>
            <a:endParaRPr lang="en-US" sz="1150" dirty="0"/>
          </a:p>
        </p:txBody>
      </p:sp>
      <p:sp>
        <p:nvSpPr>
          <p:cNvPr id="29" name="Text 25"/>
          <p:cNvSpPr txBox="1"/>
          <p:nvPr/>
        </p:nvSpPr>
        <p:spPr>
          <a:xfrm>
            <a:off x="10929823" y="6437376"/>
            <a:ext cx="548640" cy="219456"/>
          </a:xfrm>
          <a:prstGeom prst="rect">
            <a:avLst/>
          </a:prstGeom>
          <a:noFill/>
          <a:ln/>
        </p:spPr>
        <p:txBody>
          <a:bodyPr wrap="square" lIns="0" tIns="0" rIns="0" bIns="0" rtlCol="0" anchor="t"/>
          <a:lstStyle/>
          <a:p>
            <a:pPr algn="r" indent="0" marL="0">
              <a:buNone/>
            </a:pPr>
            <a:r>
              <a:rPr lang="en-US" sz="1050" b="1" spc="100" kern="0" dirty="0">
                <a:solidFill>
                  <a:srgbClr val="CBD8E3"/>
                </a:solidFill>
                <a:latin typeface="Arial" pitchFamily="34" charset="0"/>
                <a:ea typeface="Arial" pitchFamily="34" charset="-122"/>
                <a:cs typeface="Arial" pitchFamily="34" charset="-120"/>
              </a:rPr>
              <a:t>13</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1695" cy="2889504"/>
          </a:xfrm>
          <a:prstGeom prst="rect">
            <a:avLst/>
          </a:prstGeom>
          <a:solidFill>
            <a:srgbClr val="0A1825"/>
          </a:solidFill>
          <a:ln w="12700">
            <a:solidFill>
              <a:srgbClr val="333333"/>
            </a:solidFill>
            <a:prstDash val="solid"/>
          </a:ln>
        </p:spPr>
      </p:sp>
      <p:pic>
        <p:nvPicPr>
          <p:cNvPr id="3" name="Image 0" descr="C:\Users\dillo\.claude\skills\client-deck\assets\momentum-digital\momentum-mark-white.png">    </p:cNvPr>
          <p:cNvPicPr>
            <a:picLocks noChangeAspect="1"/>
          </p:cNvPicPr>
          <p:nvPr/>
        </p:nvPicPr>
        <p:blipFill>
          <a:blip r:embed="rId1">
            <a:alphaModFix amt="9000"/>
          </a:blip>
          <a:stretch>
            <a:fillRect/>
          </a:stretch>
        </p:blipFill>
        <p:spPr>
          <a:xfrm>
            <a:off x="8732520" y="-1188720"/>
            <a:ext cx="4389120" cy="5206548"/>
          </a:xfrm>
          <a:prstGeom prst="rect">
            <a:avLst/>
          </a:prstGeom>
        </p:spPr>
      </p:pic>
      <p:pic>
        <p:nvPicPr>
          <p:cNvPr id="4" name="Image 1" descr="Momentum Digital logo">    </p:cNvPr>
          <p:cNvPicPr>
            <a:picLocks noChangeAspect="1"/>
          </p:cNvPicPr>
          <p:nvPr/>
        </p:nvPicPr>
        <p:blipFill>
          <a:blip r:embed="rId2"/>
          <a:stretch>
            <a:fillRect/>
          </a:stretch>
        </p:blipFill>
        <p:spPr>
          <a:xfrm>
            <a:off x="10106863" y="502920"/>
            <a:ext cx="1371600" cy="294904"/>
          </a:xfrm>
          <a:prstGeom prst="rect">
            <a:avLst/>
          </a:prstGeom>
        </p:spPr>
      </p:pic>
      <p:sp>
        <p:nvSpPr>
          <p:cNvPr id="5" name="Text 1"/>
          <p:cNvSpPr txBox="1"/>
          <p:nvPr/>
        </p:nvSpPr>
        <p:spPr>
          <a:xfrm>
            <a:off x="713232" y="548640"/>
            <a:ext cx="5486400" cy="201168"/>
          </a:xfrm>
          <a:prstGeom prst="rect">
            <a:avLst/>
          </a:prstGeom>
          <a:noFill/>
          <a:ln/>
        </p:spPr>
        <p:txBody>
          <a:bodyPr wrap="square" lIns="0" tIns="0" rIns="0" bIns="0" rtlCol="0" anchor="t"/>
          <a:lstStyle/>
          <a:p>
            <a:pPr algn="l" indent="0" marL="0">
              <a:buNone/>
            </a:pPr>
            <a:r>
              <a:rPr lang="en-US" sz="1050" b="1" spc="240" kern="0" dirty="0">
                <a:solidFill>
                  <a:srgbClr val="5AA7E0"/>
                </a:solidFill>
                <a:latin typeface="Arial" pitchFamily="34" charset="0"/>
                <a:ea typeface="Arial" pitchFamily="34" charset="-122"/>
                <a:cs typeface="Arial" pitchFamily="34" charset="-120"/>
              </a:rPr>
              <a:t>CASE STUDY</a:t>
            </a:r>
            <a:endParaRPr lang="en-US" sz="1050" dirty="0"/>
          </a:p>
        </p:txBody>
      </p:sp>
      <p:sp>
        <p:nvSpPr>
          <p:cNvPr id="6" name="Text 2"/>
          <p:cNvSpPr txBox="1"/>
          <p:nvPr/>
        </p:nvSpPr>
        <p:spPr>
          <a:xfrm>
            <a:off x="713232" y="877824"/>
            <a:ext cx="5943600" cy="944880"/>
          </a:xfrm>
          <a:prstGeom prst="rect">
            <a:avLst/>
          </a:prstGeom>
          <a:noFill/>
          <a:ln/>
        </p:spPr>
        <p:txBody>
          <a:bodyPr wrap="square" lIns="0" tIns="0" rIns="0" bIns="0" rtlCol="0" anchor="t"/>
          <a:lstStyle/>
          <a:p>
            <a:pPr algn="l" indent="0" marL="0">
              <a:lnSpc>
                <a:spcPct val="102000"/>
              </a:lnSpc>
              <a:buNone/>
            </a:pPr>
            <a:r>
              <a:rPr lang="en-US" sz="3400" b="1" dirty="0">
                <a:solidFill>
                  <a:srgbClr val="FFFFFF"/>
                </a:solidFill>
                <a:latin typeface="Arial" pitchFamily="34" charset="0"/>
                <a:ea typeface="Arial" pitchFamily="34" charset="-122"/>
                <a:cs typeface="Arial" pitchFamily="34" charset="-120"/>
              </a:rPr>
              <a:t>Detroit Dispensing</a:t>
            </a:r>
            <a:endParaRPr lang="en-US" sz="3400" dirty="0"/>
          </a:p>
          <a:p>
            <a:pPr algn="l" indent="0" marL="0">
              <a:lnSpc>
                <a:spcPct val="102000"/>
              </a:lnSpc>
              <a:buNone/>
            </a:pPr>
            <a:r>
              <a:rPr lang="en-US" sz="3400" b="1" dirty="0">
                <a:solidFill>
                  <a:srgbClr val="FFFFFF"/>
                </a:solidFill>
                <a:latin typeface="Arial" pitchFamily="34" charset="0"/>
                <a:ea typeface="Arial" pitchFamily="34" charset="-122"/>
                <a:cs typeface="Arial" pitchFamily="34" charset="-120"/>
              </a:rPr>
              <a:t>Solutions</a:t>
            </a:r>
            <a:endParaRPr lang="en-US" sz="3400" dirty="0"/>
          </a:p>
        </p:txBody>
      </p:sp>
      <p:sp>
        <p:nvSpPr>
          <p:cNvPr id="7" name="Text 3"/>
          <p:cNvSpPr txBox="1"/>
          <p:nvPr/>
        </p:nvSpPr>
        <p:spPr>
          <a:xfrm>
            <a:off x="713232" y="1950720"/>
            <a:ext cx="5760720" cy="664083"/>
          </a:xfrm>
          <a:prstGeom prst="rect">
            <a:avLst/>
          </a:prstGeom>
          <a:noFill/>
          <a:ln/>
        </p:spPr>
        <p:txBody>
          <a:bodyPr wrap="square" lIns="0" tIns="0" rIns="0" bIns="0" rtlCol="0" anchor="t"/>
          <a:lstStyle/>
          <a:p>
            <a:pPr algn="l" indent="0" marL="0">
              <a:lnSpc>
                <a:spcPct val="126000"/>
              </a:lnSpc>
              <a:buNone/>
            </a:pPr>
            <a:r>
              <a:rPr lang="en-US" sz="1250" dirty="0">
                <a:solidFill>
                  <a:srgbClr val="9DB5C8"/>
                </a:solidFill>
                <a:latin typeface="Arial" pitchFamily="34" charset="0"/>
                <a:ea typeface="Arial" pitchFamily="34" charset="-122"/>
                <a:cs typeface="Arial" pitchFamily="34" charset="-120"/>
              </a:rPr>
              <a:t>B2B equipment manufacturer · six months</a:t>
            </a:r>
            <a:endParaRPr lang="en-US" sz="1250" dirty="0"/>
          </a:p>
          <a:p>
            <a:pPr algn="l" indent="0" marL="0">
              <a:lnSpc>
                <a:spcPct val="126000"/>
              </a:lnSpc>
              <a:buNone/>
            </a:pPr>
            <a:r>
              <a:rPr lang="en-US" sz="1250" dirty="0">
                <a:solidFill>
                  <a:srgbClr val="9DB5C8"/>
                </a:solidFill>
                <a:latin typeface="Arial" pitchFamily="34" charset="0"/>
                <a:ea typeface="Arial" pitchFamily="34" charset="-122"/>
                <a:cs typeface="Arial" pitchFamily="34" charset="-120"/>
              </a:rPr>
              <a:t>Non branded SEO, new service pages, AISEO, lead tracking, LinkedIn retargeting</a:t>
            </a:r>
            <a:endParaRPr lang="en-US" sz="1250" dirty="0"/>
          </a:p>
        </p:txBody>
      </p:sp>
      <p:sp>
        <p:nvSpPr>
          <p:cNvPr id="8" name="Text 4"/>
          <p:cNvSpPr txBox="1"/>
          <p:nvPr/>
        </p:nvSpPr>
        <p:spPr>
          <a:xfrm>
            <a:off x="6583680" y="1060704"/>
            <a:ext cx="4892040" cy="1133856"/>
          </a:xfrm>
          <a:prstGeom prst="rect">
            <a:avLst/>
          </a:prstGeom>
          <a:noFill/>
          <a:ln/>
        </p:spPr>
        <p:txBody>
          <a:bodyPr wrap="square" lIns="0" tIns="0" rIns="0" bIns="0" rtlCol="0" anchor="t"/>
          <a:lstStyle/>
          <a:p>
            <a:pPr algn="r" indent="0" marL="0">
              <a:lnSpc>
                <a:spcPct val="95000"/>
              </a:lnSpc>
              <a:buNone/>
            </a:pPr>
            <a:r>
              <a:rPr lang="en-US" sz="9200" b="1" dirty="0">
                <a:solidFill>
                  <a:srgbClr val="5AA7E0"/>
                </a:solidFill>
                <a:latin typeface="Arial" pitchFamily="34" charset="0"/>
                <a:ea typeface="Arial" pitchFamily="34" charset="-122"/>
                <a:cs typeface="Arial" pitchFamily="34" charset="-120"/>
              </a:rPr>
              <a:t>334</a:t>
            </a:r>
            <a:endParaRPr lang="en-US" sz="9200" dirty="0"/>
          </a:p>
        </p:txBody>
      </p:sp>
      <p:sp>
        <p:nvSpPr>
          <p:cNvPr id="9" name="Text 5"/>
          <p:cNvSpPr txBox="1"/>
          <p:nvPr/>
        </p:nvSpPr>
        <p:spPr>
          <a:xfrm>
            <a:off x="6583680" y="2231136"/>
            <a:ext cx="4892040" cy="246888"/>
          </a:xfrm>
          <a:prstGeom prst="rect">
            <a:avLst/>
          </a:prstGeom>
          <a:noFill/>
          <a:ln/>
        </p:spPr>
        <p:txBody>
          <a:bodyPr wrap="square" lIns="0" tIns="0" rIns="0" bIns="0" rtlCol="0" anchor="t"/>
          <a:lstStyle/>
          <a:p>
            <a:pPr algn="r" indent="0" marL="0">
              <a:lnSpc>
                <a:spcPct val="120000"/>
              </a:lnSpc>
              <a:buNone/>
            </a:pPr>
            <a:r>
              <a:rPr lang="en-US" sz="1200" b="1" dirty="0">
                <a:solidFill>
                  <a:srgbClr val="FFFFFF"/>
                </a:solidFill>
                <a:latin typeface="Arial" pitchFamily="34" charset="0"/>
                <a:ea typeface="Arial" pitchFamily="34" charset="-122"/>
                <a:cs typeface="Arial" pitchFamily="34" charset="-120"/>
              </a:rPr>
              <a:t>Tracked leads, June to December: 176 calls and 158 forms</a:t>
            </a:r>
            <a:endParaRPr lang="en-US" sz="1200" dirty="0"/>
          </a:p>
        </p:txBody>
      </p:sp>
      <p:sp>
        <p:nvSpPr>
          <p:cNvPr id="10" name="Text 6"/>
          <p:cNvSpPr txBox="1"/>
          <p:nvPr/>
        </p:nvSpPr>
        <p:spPr>
          <a:xfrm>
            <a:off x="713232" y="3200400"/>
            <a:ext cx="2179244" cy="430276"/>
          </a:xfrm>
          <a:prstGeom prst="rect">
            <a:avLst/>
          </a:prstGeom>
          <a:noFill/>
          <a:ln/>
        </p:spPr>
        <p:txBody>
          <a:bodyPr wrap="square" lIns="0" tIns="0" rIns="0" bIns="0" rtlCol="0" anchor="t"/>
          <a:lstStyle/>
          <a:p>
            <a:pPr algn="l" indent="0" marL="0">
              <a:lnSpc>
                <a:spcPct val="100000"/>
              </a:lnSpc>
              <a:buNone/>
            </a:pPr>
            <a:r>
              <a:rPr lang="en-US" sz="3100" b="1" dirty="0">
                <a:solidFill>
                  <a:srgbClr val="2A80C2"/>
                </a:solidFill>
                <a:latin typeface="Arial" pitchFamily="34" charset="0"/>
                <a:ea typeface="Arial" pitchFamily="34" charset="-122"/>
                <a:cs typeface="Arial" pitchFamily="34" charset="-120"/>
              </a:rPr>
              <a:t>+129%</a:t>
            </a:r>
            <a:endParaRPr lang="en-US" sz="3100" dirty="0"/>
          </a:p>
        </p:txBody>
      </p:sp>
      <p:sp>
        <p:nvSpPr>
          <p:cNvPr id="11" name="Text 7"/>
          <p:cNvSpPr txBox="1"/>
          <p:nvPr/>
        </p:nvSpPr>
        <p:spPr>
          <a:xfrm>
            <a:off x="713232" y="3685540"/>
            <a:ext cx="2179244" cy="420624"/>
          </a:xfrm>
          <a:prstGeom prst="rect">
            <a:avLst/>
          </a:prstGeom>
          <a:noFill/>
          <a:ln/>
        </p:spPr>
        <p:txBody>
          <a:bodyPr wrap="square" lIns="0" tIns="0" rIns="0" bIns="0" rtlCol="0" anchor="t"/>
          <a:lstStyle/>
          <a:p>
            <a:pPr algn="l" indent="0" marL="0">
              <a:lnSpc>
                <a:spcPct val="120000"/>
              </a:lnSpc>
              <a:buNone/>
            </a:pPr>
            <a:r>
              <a:rPr lang="en-US" sz="1200" b="1" dirty="0">
                <a:solidFill>
                  <a:srgbClr val="0F151B"/>
                </a:solidFill>
                <a:latin typeface="Arial" pitchFamily="34" charset="0"/>
                <a:ea typeface="Arial" pitchFamily="34" charset="-122"/>
                <a:cs typeface="Arial" pitchFamily="34" charset="-120"/>
              </a:rPr>
              <a:t>Organic clicks year on year</a:t>
            </a:r>
            <a:endParaRPr lang="en-US" sz="1200" dirty="0"/>
          </a:p>
        </p:txBody>
      </p:sp>
      <p:sp>
        <p:nvSpPr>
          <p:cNvPr id="12" name="Text 8"/>
          <p:cNvSpPr txBox="1"/>
          <p:nvPr/>
        </p:nvSpPr>
        <p:spPr>
          <a:xfrm>
            <a:off x="713232" y="4170172"/>
            <a:ext cx="2179244" cy="214884"/>
          </a:xfrm>
          <a:prstGeom prst="rect">
            <a:avLst/>
          </a:prstGeom>
          <a:noFill/>
          <a:ln/>
        </p:spPr>
        <p:txBody>
          <a:bodyPr wrap="square" lIns="0" tIns="0" rIns="0" bIns="0" rtlCol="0" anchor="t"/>
          <a:lstStyle/>
          <a:p>
            <a:pPr algn="l" indent="0" marL="0">
              <a:lnSpc>
                <a:spcPct val="120000"/>
              </a:lnSpc>
              <a:buNone/>
            </a:pPr>
            <a:r>
              <a:rPr lang="en-US" sz="1050" dirty="0">
                <a:solidFill>
                  <a:srgbClr val="5A6772"/>
                </a:solidFill>
                <a:latin typeface="Arial" pitchFamily="34" charset="0"/>
                <a:ea typeface="Arial" pitchFamily="34" charset="-122"/>
                <a:cs typeface="Arial" pitchFamily="34" charset="-120"/>
              </a:rPr>
              <a:t>3,095 total</a:t>
            </a:r>
            <a:endParaRPr lang="en-US" sz="1050" dirty="0"/>
          </a:p>
        </p:txBody>
      </p:sp>
      <p:sp>
        <p:nvSpPr>
          <p:cNvPr id="13" name="Shape 9"/>
          <p:cNvSpPr/>
          <p:nvPr/>
        </p:nvSpPr>
        <p:spPr>
          <a:xfrm>
            <a:off x="3166796" y="3200400"/>
            <a:ext cx="0" cy="1294384"/>
          </a:xfrm>
          <a:prstGeom prst="line">
            <a:avLst/>
          </a:prstGeom>
          <a:noFill/>
          <a:ln w="9525">
            <a:solidFill>
              <a:srgbClr val="E2EAF1"/>
            </a:solidFill>
            <a:prstDash val="solid"/>
          </a:ln>
        </p:spPr>
      </p:sp>
      <p:sp>
        <p:nvSpPr>
          <p:cNvPr id="14" name="Text 10"/>
          <p:cNvSpPr txBox="1"/>
          <p:nvPr/>
        </p:nvSpPr>
        <p:spPr>
          <a:xfrm>
            <a:off x="3404540" y="3200400"/>
            <a:ext cx="2179244" cy="430276"/>
          </a:xfrm>
          <a:prstGeom prst="rect">
            <a:avLst/>
          </a:prstGeom>
          <a:noFill/>
          <a:ln/>
        </p:spPr>
        <p:txBody>
          <a:bodyPr wrap="square" lIns="0" tIns="0" rIns="0" bIns="0" rtlCol="0" anchor="t"/>
          <a:lstStyle/>
          <a:p>
            <a:pPr algn="l" indent="0" marL="0">
              <a:lnSpc>
                <a:spcPct val="100000"/>
              </a:lnSpc>
              <a:buNone/>
            </a:pPr>
            <a:r>
              <a:rPr lang="en-US" sz="3100" b="1" dirty="0">
                <a:solidFill>
                  <a:srgbClr val="2A80C2"/>
                </a:solidFill>
                <a:latin typeface="Arial" pitchFamily="34" charset="0"/>
                <a:ea typeface="Arial" pitchFamily="34" charset="-122"/>
                <a:cs typeface="Arial" pitchFamily="34" charset="-120"/>
              </a:rPr>
              <a:t>+70%</a:t>
            </a:r>
            <a:endParaRPr lang="en-US" sz="3100" dirty="0"/>
          </a:p>
        </p:txBody>
      </p:sp>
      <p:sp>
        <p:nvSpPr>
          <p:cNvPr id="15" name="Text 11"/>
          <p:cNvSpPr txBox="1"/>
          <p:nvPr/>
        </p:nvSpPr>
        <p:spPr>
          <a:xfrm>
            <a:off x="3404540" y="3685540"/>
            <a:ext cx="2179244" cy="420624"/>
          </a:xfrm>
          <a:prstGeom prst="rect">
            <a:avLst/>
          </a:prstGeom>
          <a:noFill/>
          <a:ln/>
        </p:spPr>
        <p:txBody>
          <a:bodyPr wrap="square" lIns="0" tIns="0" rIns="0" bIns="0" rtlCol="0" anchor="t"/>
          <a:lstStyle/>
          <a:p>
            <a:pPr algn="l" indent="0" marL="0">
              <a:lnSpc>
                <a:spcPct val="120000"/>
              </a:lnSpc>
              <a:buNone/>
            </a:pPr>
            <a:r>
              <a:rPr lang="en-US" sz="1200" b="1" dirty="0">
                <a:solidFill>
                  <a:srgbClr val="0F151B"/>
                </a:solidFill>
                <a:latin typeface="Arial" pitchFamily="34" charset="0"/>
                <a:ea typeface="Arial" pitchFamily="34" charset="-122"/>
                <a:cs typeface="Arial" pitchFamily="34" charset="-120"/>
              </a:rPr>
              <a:t>Impressions year on year</a:t>
            </a:r>
            <a:endParaRPr lang="en-US" sz="1200" dirty="0"/>
          </a:p>
        </p:txBody>
      </p:sp>
      <p:sp>
        <p:nvSpPr>
          <p:cNvPr id="16" name="Text 12"/>
          <p:cNvSpPr txBox="1"/>
          <p:nvPr/>
        </p:nvSpPr>
        <p:spPr>
          <a:xfrm>
            <a:off x="3404540" y="4170172"/>
            <a:ext cx="2179244" cy="214884"/>
          </a:xfrm>
          <a:prstGeom prst="rect">
            <a:avLst/>
          </a:prstGeom>
          <a:noFill/>
          <a:ln/>
        </p:spPr>
        <p:txBody>
          <a:bodyPr wrap="square" lIns="0" tIns="0" rIns="0" bIns="0" rtlCol="0" anchor="t"/>
          <a:lstStyle/>
          <a:p>
            <a:pPr algn="l" indent="0" marL="0">
              <a:lnSpc>
                <a:spcPct val="120000"/>
              </a:lnSpc>
              <a:buNone/>
            </a:pPr>
            <a:r>
              <a:rPr lang="en-US" sz="1050" dirty="0">
                <a:solidFill>
                  <a:srgbClr val="5A6772"/>
                </a:solidFill>
                <a:latin typeface="Arial" pitchFamily="34" charset="0"/>
                <a:ea typeface="Arial" pitchFamily="34" charset="-122"/>
                <a:cs typeface="Arial" pitchFamily="34" charset="-120"/>
              </a:rPr>
              <a:t>136,000+</a:t>
            </a:r>
            <a:endParaRPr lang="en-US" sz="1050" dirty="0"/>
          </a:p>
        </p:txBody>
      </p:sp>
      <p:sp>
        <p:nvSpPr>
          <p:cNvPr id="17" name="Shape 13"/>
          <p:cNvSpPr/>
          <p:nvPr/>
        </p:nvSpPr>
        <p:spPr>
          <a:xfrm>
            <a:off x="5858104" y="3200400"/>
            <a:ext cx="0" cy="1294384"/>
          </a:xfrm>
          <a:prstGeom prst="line">
            <a:avLst/>
          </a:prstGeom>
          <a:noFill/>
          <a:ln w="9525">
            <a:solidFill>
              <a:srgbClr val="E2EAF1"/>
            </a:solidFill>
            <a:prstDash val="solid"/>
          </a:ln>
        </p:spPr>
      </p:sp>
      <p:sp>
        <p:nvSpPr>
          <p:cNvPr id="18" name="Text 14"/>
          <p:cNvSpPr txBox="1"/>
          <p:nvPr/>
        </p:nvSpPr>
        <p:spPr>
          <a:xfrm>
            <a:off x="6095848" y="3200400"/>
            <a:ext cx="2179244" cy="430276"/>
          </a:xfrm>
          <a:prstGeom prst="rect">
            <a:avLst/>
          </a:prstGeom>
          <a:noFill/>
          <a:ln/>
        </p:spPr>
        <p:txBody>
          <a:bodyPr wrap="square" lIns="0" tIns="0" rIns="0" bIns="0" rtlCol="0" anchor="t"/>
          <a:lstStyle/>
          <a:p>
            <a:pPr algn="l" indent="0" marL="0">
              <a:lnSpc>
                <a:spcPct val="100000"/>
              </a:lnSpc>
              <a:buNone/>
            </a:pPr>
            <a:r>
              <a:rPr lang="en-US" sz="3100" b="1" dirty="0">
                <a:solidFill>
                  <a:srgbClr val="2A80C2"/>
                </a:solidFill>
                <a:latin typeface="Arial" pitchFamily="34" charset="0"/>
                <a:ea typeface="Arial" pitchFamily="34" charset="-122"/>
                <a:cs typeface="Arial" pitchFamily="34" charset="-120"/>
              </a:rPr>
              <a:t>+67%</a:t>
            </a:r>
            <a:endParaRPr lang="en-US" sz="3100" dirty="0"/>
          </a:p>
        </p:txBody>
      </p:sp>
      <p:sp>
        <p:nvSpPr>
          <p:cNvPr id="19" name="Text 15"/>
          <p:cNvSpPr txBox="1"/>
          <p:nvPr/>
        </p:nvSpPr>
        <p:spPr>
          <a:xfrm>
            <a:off x="6095848" y="3685540"/>
            <a:ext cx="2179244" cy="420624"/>
          </a:xfrm>
          <a:prstGeom prst="rect">
            <a:avLst/>
          </a:prstGeom>
          <a:noFill/>
          <a:ln/>
        </p:spPr>
        <p:txBody>
          <a:bodyPr wrap="square" lIns="0" tIns="0" rIns="0" bIns="0" rtlCol="0" anchor="t"/>
          <a:lstStyle/>
          <a:p>
            <a:pPr algn="l" indent="0" marL="0">
              <a:lnSpc>
                <a:spcPct val="120000"/>
              </a:lnSpc>
              <a:buNone/>
            </a:pPr>
            <a:r>
              <a:rPr lang="en-US" sz="1200" b="1" dirty="0">
                <a:solidFill>
                  <a:srgbClr val="0F151B"/>
                </a:solidFill>
                <a:latin typeface="Arial" pitchFamily="34" charset="0"/>
                <a:ea typeface="Arial" pitchFamily="34" charset="-122"/>
                <a:cs typeface="Arial" pitchFamily="34" charset="-120"/>
              </a:rPr>
              <a:t>New users</a:t>
            </a:r>
            <a:endParaRPr lang="en-US" sz="1200" dirty="0"/>
          </a:p>
        </p:txBody>
      </p:sp>
      <p:sp>
        <p:nvSpPr>
          <p:cNvPr id="20" name="Text 16"/>
          <p:cNvSpPr txBox="1"/>
          <p:nvPr/>
        </p:nvSpPr>
        <p:spPr>
          <a:xfrm>
            <a:off x="6095848" y="4170172"/>
            <a:ext cx="2179244" cy="214884"/>
          </a:xfrm>
          <a:prstGeom prst="rect">
            <a:avLst/>
          </a:prstGeom>
          <a:noFill/>
          <a:ln/>
        </p:spPr>
        <p:txBody>
          <a:bodyPr wrap="square" lIns="0" tIns="0" rIns="0" bIns="0" rtlCol="0" anchor="t"/>
          <a:lstStyle/>
          <a:p>
            <a:pPr algn="l" indent="0" marL="0">
              <a:lnSpc>
                <a:spcPct val="120000"/>
              </a:lnSpc>
              <a:buNone/>
            </a:pPr>
            <a:r>
              <a:rPr lang="en-US" sz="1050" dirty="0">
                <a:solidFill>
                  <a:srgbClr val="5A6772"/>
                </a:solidFill>
                <a:latin typeface="Arial" pitchFamily="34" charset="0"/>
                <a:ea typeface="Arial" pitchFamily="34" charset="-122"/>
                <a:cs typeface="Arial" pitchFamily="34" charset="-120"/>
              </a:rPr>
              <a:t>45,740</a:t>
            </a:r>
            <a:endParaRPr lang="en-US" sz="1050" dirty="0"/>
          </a:p>
        </p:txBody>
      </p:sp>
      <p:sp>
        <p:nvSpPr>
          <p:cNvPr id="21" name="Shape 17"/>
          <p:cNvSpPr/>
          <p:nvPr/>
        </p:nvSpPr>
        <p:spPr>
          <a:xfrm>
            <a:off x="8549411" y="3200400"/>
            <a:ext cx="0" cy="1294384"/>
          </a:xfrm>
          <a:prstGeom prst="line">
            <a:avLst/>
          </a:prstGeom>
          <a:noFill/>
          <a:ln w="9525">
            <a:solidFill>
              <a:srgbClr val="E2EAF1"/>
            </a:solidFill>
            <a:prstDash val="solid"/>
          </a:ln>
        </p:spPr>
      </p:sp>
      <p:sp>
        <p:nvSpPr>
          <p:cNvPr id="22" name="Text 18"/>
          <p:cNvSpPr txBox="1"/>
          <p:nvPr/>
        </p:nvSpPr>
        <p:spPr>
          <a:xfrm>
            <a:off x="8787155" y="3200400"/>
            <a:ext cx="2179244" cy="430276"/>
          </a:xfrm>
          <a:prstGeom prst="rect">
            <a:avLst/>
          </a:prstGeom>
          <a:noFill/>
          <a:ln/>
        </p:spPr>
        <p:txBody>
          <a:bodyPr wrap="square" lIns="0" tIns="0" rIns="0" bIns="0" rtlCol="0" anchor="t"/>
          <a:lstStyle/>
          <a:p>
            <a:pPr algn="l" indent="0" marL="0">
              <a:lnSpc>
                <a:spcPct val="100000"/>
              </a:lnSpc>
              <a:buNone/>
            </a:pPr>
            <a:r>
              <a:rPr lang="en-US" sz="3100" b="1" dirty="0">
                <a:solidFill>
                  <a:srgbClr val="F58320"/>
                </a:solidFill>
                <a:latin typeface="Arial" pitchFamily="34" charset="0"/>
                <a:ea typeface="Arial" pitchFamily="34" charset="-122"/>
                <a:cs typeface="Arial" pitchFamily="34" charset="-120"/>
              </a:rPr>
              <a:t>35</a:t>
            </a:r>
            <a:endParaRPr lang="en-US" sz="3100" dirty="0"/>
          </a:p>
        </p:txBody>
      </p:sp>
      <p:sp>
        <p:nvSpPr>
          <p:cNvPr id="23" name="Text 19"/>
          <p:cNvSpPr txBox="1"/>
          <p:nvPr/>
        </p:nvSpPr>
        <p:spPr>
          <a:xfrm>
            <a:off x="8787155" y="3685540"/>
            <a:ext cx="2179244" cy="420624"/>
          </a:xfrm>
          <a:prstGeom prst="rect">
            <a:avLst/>
          </a:prstGeom>
          <a:noFill/>
          <a:ln/>
        </p:spPr>
        <p:txBody>
          <a:bodyPr wrap="square" lIns="0" tIns="0" rIns="0" bIns="0" rtlCol="0" anchor="t"/>
          <a:lstStyle/>
          <a:p>
            <a:pPr algn="l" indent="0" marL="0">
              <a:lnSpc>
                <a:spcPct val="120000"/>
              </a:lnSpc>
              <a:buNone/>
            </a:pPr>
            <a:r>
              <a:rPr lang="en-US" sz="1200" b="1" dirty="0">
                <a:solidFill>
                  <a:srgbClr val="0F151B"/>
                </a:solidFill>
                <a:latin typeface="Arial" pitchFamily="34" charset="0"/>
                <a:ea typeface="Arial" pitchFamily="34" charset="-122"/>
                <a:cs typeface="Arial" pitchFamily="34" charset="-120"/>
              </a:rPr>
              <a:t>AI visibility score</a:t>
            </a:r>
            <a:endParaRPr lang="en-US" sz="1200" dirty="0"/>
          </a:p>
        </p:txBody>
      </p:sp>
      <p:sp>
        <p:nvSpPr>
          <p:cNvPr id="24" name="Text 20"/>
          <p:cNvSpPr txBox="1"/>
          <p:nvPr/>
        </p:nvSpPr>
        <p:spPr>
          <a:xfrm>
            <a:off x="8787155" y="4170172"/>
            <a:ext cx="2179244" cy="214884"/>
          </a:xfrm>
          <a:prstGeom prst="rect">
            <a:avLst/>
          </a:prstGeom>
          <a:noFill/>
          <a:ln/>
        </p:spPr>
        <p:txBody>
          <a:bodyPr wrap="square" lIns="0" tIns="0" rIns="0" bIns="0" rtlCol="0" anchor="t"/>
          <a:lstStyle/>
          <a:p>
            <a:pPr algn="l" indent="0" marL="0">
              <a:lnSpc>
                <a:spcPct val="120000"/>
              </a:lnSpc>
              <a:buNone/>
            </a:pPr>
            <a:r>
              <a:rPr lang="en-US" sz="1050" dirty="0">
                <a:solidFill>
                  <a:srgbClr val="5A6772"/>
                </a:solidFill>
                <a:latin typeface="Arial" pitchFamily="34" charset="0"/>
                <a:ea typeface="Arial" pitchFamily="34" charset="-122"/>
                <a:cs typeface="Arial" pitchFamily="34" charset="-120"/>
              </a:rPr>
              <a:t>More cited pages</a:t>
            </a:r>
            <a:endParaRPr lang="en-US" sz="1050" dirty="0"/>
          </a:p>
        </p:txBody>
      </p:sp>
      <p:sp>
        <p:nvSpPr>
          <p:cNvPr id="25" name="Shape 21"/>
          <p:cNvSpPr/>
          <p:nvPr/>
        </p:nvSpPr>
        <p:spPr>
          <a:xfrm>
            <a:off x="713232" y="4439920"/>
            <a:ext cx="10765231" cy="0"/>
          </a:xfrm>
          <a:prstGeom prst="line">
            <a:avLst/>
          </a:prstGeom>
          <a:noFill/>
          <a:ln w="9525">
            <a:solidFill>
              <a:srgbClr val="E2EAF1"/>
            </a:solidFill>
            <a:prstDash val="solid"/>
          </a:ln>
        </p:spPr>
      </p:sp>
      <p:sp>
        <p:nvSpPr>
          <p:cNvPr id="26" name="Text 22"/>
          <p:cNvSpPr txBox="1"/>
          <p:nvPr/>
        </p:nvSpPr>
        <p:spPr>
          <a:xfrm>
            <a:off x="713232" y="4622800"/>
            <a:ext cx="5099152" cy="201168"/>
          </a:xfrm>
          <a:prstGeom prst="rect">
            <a:avLst/>
          </a:prstGeom>
          <a:noFill/>
          <a:ln/>
        </p:spPr>
        <p:txBody>
          <a:bodyPr wrap="square" lIns="0" tIns="0" rIns="0" bIns="0" rtlCol="0" anchor="t"/>
          <a:lstStyle/>
          <a:p>
            <a:pPr algn="l" indent="0" marL="0">
              <a:buNone/>
            </a:pPr>
            <a:r>
              <a:rPr lang="en-US" sz="1050" b="1" spc="240" kern="0" dirty="0">
                <a:solidFill>
                  <a:srgbClr val="2A80C2"/>
                </a:solidFill>
                <a:latin typeface="Arial" pitchFamily="34" charset="0"/>
                <a:ea typeface="Arial" pitchFamily="34" charset="-122"/>
                <a:cs typeface="Arial" pitchFamily="34" charset="-120"/>
              </a:rPr>
              <a:t>BEFORE</a:t>
            </a:r>
            <a:endParaRPr lang="en-US" sz="1050" dirty="0"/>
          </a:p>
        </p:txBody>
      </p:sp>
      <p:sp>
        <p:nvSpPr>
          <p:cNvPr id="27" name="Text 23"/>
          <p:cNvSpPr txBox="1"/>
          <p:nvPr/>
        </p:nvSpPr>
        <p:spPr>
          <a:xfrm>
            <a:off x="713232" y="4951984"/>
            <a:ext cx="5099152" cy="297180"/>
          </a:xfrm>
          <a:prstGeom prst="rect">
            <a:avLst/>
          </a:prstGeom>
          <a:noFill/>
          <a:ln/>
        </p:spPr>
        <p:txBody>
          <a:bodyPr wrap="square" lIns="0" tIns="0" rIns="0" bIns="0" rtlCol="0" anchor="t"/>
          <a:lstStyle/>
          <a:p>
            <a:pPr algn="l" indent="0" marL="0">
              <a:lnSpc>
                <a:spcPct val="108000"/>
              </a:lnSpc>
              <a:buNone/>
            </a:pPr>
            <a:r>
              <a:rPr lang="en-US" sz="1700" b="1" dirty="0">
                <a:solidFill>
                  <a:srgbClr val="0F151B"/>
                </a:solidFill>
                <a:latin typeface="Arial" pitchFamily="34" charset="0"/>
                <a:ea typeface="Arial" pitchFamily="34" charset="-122"/>
                <a:cs typeface="Arial" pitchFamily="34" charset="-120"/>
              </a:rPr>
              <a:t>Invisible for the searches that matter</a:t>
            </a:r>
            <a:endParaRPr lang="en-US" sz="1700" dirty="0"/>
          </a:p>
        </p:txBody>
      </p:sp>
      <p:sp>
        <p:nvSpPr>
          <p:cNvPr id="28" name="Text 24"/>
          <p:cNvSpPr txBox="1"/>
          <p:nvPr/>
        </p:nvSpPr>
        <p:spPr>
          <a:xfrm>
            <a:off x="713232" y="5358892"/>
            <a:ext cx="5099152" cy="790194"/>
          </a:xfrm>
          <a:prstGeom prst="rect">
            <a:avLst/>
          </a:prstGeom>
          <a:noFill/>
          <a:ln/>
        </p:spPr>
        <p:txBody>
          <a:bodyPr wrap="square" lIns="0" tIns="0" rIns="0" bIns="0" rtlCol="0" anchor="t"/>
          <a:lstStyle/>
          <a:p>
            <a:pPr marL="342900" indent="-342900">
              <a:lnSpc>
                <a:spcPct val="124000"/>
              </a:lnSpc>
              <a:spcAft>
                <a:spcPts val="700"/>
              </a:spcAft>
              <a:buSzPct val="100000"/>
              <a:buChar char="•"/>
            </a:pPr>
            <a:r>
              <a:rPr lang="en-US" sz="1150" dirty="0">
                <a:solidFill>
                  <a:srgbClr val="5A6772"/>
                </a:solidFill>
                <a:latin typeface="Arial" pitchFamily="34" charset="0"/>
                <a:ea typeface="Arial" pitchFamily="34" charset="-122"/>
                <a:cs typeface="Arial" pitchFamily="34" charset="-120"/>
              </a:rPr>
              <a:t>Almost no non branded visibility for equipment terms</a:t>
            </a:r>
            <a:endParaRPr lang="en-US" sz="1150" dirty="0"/>
          </a:p>
          <a:p>
            <a:pPr marL="342900" indent="-342900">
              <a:lnSpc>
                <a:spcPct val="124000"/>
              </a:lnSpc>
              <a:spcAft>
                <a:spcPts val="700"/>
              </a:spcAft>
              <a:buSzPct val="100000"/>
              <a:buChar char="•"/>
            </a:pPr>
            <a:r>
              <a:rPr lang="en-US" sz="1150" dirty="0">
                <a:solidFill>
                  <a:srgbClr val="5A6772"/>
                </a:solidFill>
                <a:latin typeface="Arial" pitchFamily="34" charset="0"/>
                <a:ea typeface="Arial" pitchFamily="34" charset="-122"/>
                <a:cs typeface="Arial" pitchFamily="34" charset="-120"/>
              </a:rPr>
              <a:t>Content gaps across high intent product searches</a:t>
            </a:r>
            <a:endParaRPr lang="en-US" sz="1150" dirty="0"/>
          </a:p>
          <a:p>
            <a:pPr marL="342900" indent="-342900">
              <a:lnSpc>
                <a:spcPct val="124000"/>
              </a:lnSpc>
              <a:spcAft>
                <a:spcPts val="700"/>
              </a:spcAft>
              <a:buSzPct val="100000"/>
              <a:buChar char="•"/>
            </a:pPr>
            <a:r>
              <a:rPr lang="en-US" sz="1150" dirty="0">
                <a:solidFill>
                  <a:srgbClr val="5A6772"/>
                </a:solidFill>
                <a:latin typeface="Arial" pitchFamily="34" charset="0"/>
                <a:ea typeface="Arial" pitchFamily="34" charset="-122"/>
                <a:cs typeface="Arial" pitchFamily="34" charset="-120"/>
              </a:rPr>
              <a:t>Lead attribution unclear across calls and forms</a:t>
            </a:r>
            <a:endParaRPr lang="en-US" sz="1150" dirty="0"/>
          </a:p>
        </p:txBody>
      </p:sp>
      <p:sp>
        <p:nvSpPr>
          <p:cNvPr id="29" name="Text 25"/>
          <p:cNvSpPr txBox="1"/>
          <p:nvPr/>
        </p:nvSpPr>
        <p:spPr>
          <a:xfrm>
            <a:off x="6379312" y="4622800"/>
            <a:ext cx="5099152" cy="201168"/>
          </a:xfrm>
          <a:prstGeom prst="rect">
            <a:avLst/>
          </a:prstGeom>
          <a:noFill/>
          <a:ln/>
        </p:spPr>
        <p:txBody>
          <a:bodyPr wrap="square" lIns="0" tIns="0" rIns="0" bIns="0" rtlCol="0" anchor="t"/>
          <a:lstStyle/>
          <a:p>
            <a:pPr algn="l" indent="0" marL="0">
              <a:buNone/>
            </a:pPr>
            <a:r>
              <a:rPr lang="en-US" sz="1050" b="1" spc="240" kern="0" dirty="0">
                <a:solidFill>
                  <a:srgbClr val="2A80C2"/>
                </a:solidFill>
                <a:latin typeface="Arial" pitchFamily="34" charset="0"/>
                <a:ea typeface="Arial" pitchFamily="34" charset="-122"/>
                <a:cs typeface="Arial" pitchFamily="34" charset="-120"/>
              </a:rPr>
              <a:t>WHAT CHANGED</a:t>
            </a:r>
            <a:endParaRPr lang="en-US" sz="1050" dirty="0"/>
          </a:p>
        </p:txBody>
      </p:sp>
      <p:sp>
        <p:nvSpPr>
          <p:cNvPr id="30" name="Text 26"/>
          <p:cNvSpPr txBox="1"/>
          <p:nvPr/>
        </p:nvSpPr>
        <p:spPr>
          <a:xfrm>
            <a:off x="6379312" y="4951984"/>
            <a:ext cx="5099152" cy="297180"/>
          </a:xfrm>
          <a:prstGeom prst="rect">
            <a:avLst/>
          </a:prstGeom>
          <a:noFill/>
          <a:ln/>
        </p:spPr>
        <p:txBody>
          <a:bodyPr wrap="square" lIns="0" tIns="0" rIns="0" bIns="0" rtlCol="0" anchor="t"/>
          <a:lstStyle/>
          <a:p>
            <a:pPr algn="l" indent="0" marL="0">
              <a:lnSpc>
                <a:spcPct val="108000"/>
              </a:lnSpc>
              <a:buNone/>
            </a:pPr>
            <a:r>
              <a:rPr lang="en-US" sz="1700" b="1" dirty="0">
                <a:solidFill>
                  <a:srgbClr val="0F151B"/>
                </a:solidFill>
                <a:latin typeface="Arial" pitchFamily="34" charset="0"/>
                <a:ea typeface="Arial" pitchFamily="34" charset="-122"/>
                <a:cs typeface="Arial" pitchFamily="34" charset="-120"/>
              </a:rPr>
              <a:t>Product intent search, tracked</a:t>
            </a:r>
            <a:endParaRPr lang="en-US" sz="1700" dirty="0"/>
          </a:p>
        </p:txBody>
      </p:sp>
      <p:sp>
        <p:nvSpPr>
          <p:cNvPr id="31" name="Text 27"/>
          <p:cNvSpPr txBox="1"/>
          <p:nvPr/>
        </p:nvSpPr>
        <p:spPr>
          <a:xfrm>
            <a:off x="6379312" y="5358892"/>
            <a:ext cx="5099152" cy="790194"/>
          </a:xfrm>
          <a:prstGeom prst="rect">
            <a:avLst/>
          </a:prstGeom>
          <a:noFill/>
          <a:ln/>
        </p:spPr>
        <p:txBody>
          <a:bodyPr wrap="square" lIns="0" tIns="0" rIns="0" bIns="0" rtlCol="0" anchor="t"/>
          <a:lstStyle/>
          <a:p>
            <a:pPr marL="342900" indent="-342900">
              <a:lnSpc>
                <a:spcPct val="124000"/>
              </a:lnSpc>
              <a:spcAft>
                <a:spcPts val="700"/>
              </a:spcAft>
              <a:buSzPct val="100000"/>
              <a:buChar char="•"/>
            </a:pPr>
            <a:r>
              <a:rPr lang="en-US" sz="1150" dirty="0">
                <a:solidFill>
                  <a:srgbClr val="5A6772"/>
                </a:solidFill>
                <a:latin typeface="Arial" pitchFamily="34" charset="0"/>
                <a:ea typeface="Arial" pitchFamily="34" charset="-122"/>
                <a:cs typeface="Arial" pitchFamily="34" charset="-120"/>
              </a:rPr>
              <a:t>cfm 1800 ranks #1, concentrate dispenser machine #3</a:t>
            </a:r>
            <a:endParaRPr lang="en-US" sz="1150" dirty="0"/>
          </a:p>
          <a:p>
            <a:pPr marL="342900" indent="-342900">
              <a:lnSpc>
                <a:spcPct val="124000"/>
              </a:lnSpc>
              <a:spcAft>
                <a:spcPts val="700"/>
              </a:spcAft>
              <a:buSzPct val="100000"/>
              <a:buChar char="•"/>
            </a:pPr>
            <a:r>
              <a:rPr lang="en-US" sz="1150" dirty="0">
                <a:solidFill>
                  <a:srgbClr val="5A6772"/>
                </a:solidFill>
                <a:latin typeface="Arial" pitchFamily="34" charset="0"/>
                <a:ea typeface="Arial" pitchFamily="34" charset="-122"/>
                <a:cs typeface="Arial" pitchFamily="34" charset="-120"/>
              </a:rPr>
              <a:t>December delivered 85 inbound leads, organic and paid</a:t>
            </a:r>
            <a:endParaRPr lang="en-US" sz="1150" dirty="0"/>
          </a:p>
          <a:p>
            <a:pPr marL="342900" indent="-342900">
              <a:lnSpc>
                <a:spcPct val="124000"/>
              </a:lnSpc>
              <a:spcAft>
                <a:spcPts val="700"/>
              </a:spcAft>
              <a:buSzPct val="100000"/>
              <a:buChar char="•"/>
            </a:pPr>
            <a:r>
              <a:rPr lang="en-US" sz="1150" dirty="0">
                <a:solidFill>
                  <a:srgbClr val="5A6772"/>
                </a:solidFill>
                <a:latin typeface="Arial" pitchFamily="34" charset="0"/>
                <a:ea typeface="Arial" pitchFamily="34" charset="-122"/>
                <a:cs typeface="Arial" pitchFamily="34" charset="-120"/>
              </a:rPr>
              <a:t>ChatGPT now appears in the monthly lead mix</a:t>
            </a:r>
            <a:endParaRPr lang="en-US" sz="1150" dirty="0"/>
          </a:p>
        </p:txBody>
      </p:sp>
      <p:sp>
        <p:nvSpPr>
          <p:cNvPr id="32" name="Text 28"/>
          <p:cNvSpPr txBox="1"/>
          <p:nvPr/>
        </p:nvSpPr>
        <p:spPr>
          <a:xfrm>
            <a:off x="10929823" y="6437376"/>
            <a:ext cx="548640" cy="219456"/>
          </a:xfrm>
          <a:prstGeom prst="rect">
            <a:avLst/>
          </a:prstGeom>
          <a:noFill/>
          <a:ln/>
        </p:spPr>
        <p:txBody>
          <a:bodyPr wrap="square" lIns="0" tIns="0" rIns="0" bIns="0" rtlCol="0" anchor="t"/>
          <a:lstStyle/>
          <a:p>
            <a:pPr algn="r" indent="0" marL="0">
              <a:buNone/>
            </a:pPr>
            <a:r>
              <a:rPr lang="en-US" sz="1050" b="1" spc="100" kern="0" dirty="0">
                <a:solidFill>
                  <a:srgbClr val="CBD8E3"/>
                </a:solidFill>
                <a:latin typeface="Arial" pitchFamily="34" charset="0"/>
                <a:ea typeface="Arial" pitchFamily="34" charset="-122"/>
                <a:cs typeface="Arial" pitchFamily="34" charset="-120"/>
              </a:rPr>
              <a:t>14</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1695" cy="2889504"/>
          </a:xfrm>
          <a:prstGeom prst="rect">
            <a:avLst/>
          </a:prstGeom>
          <a:solidFill>
            <a:srgbClr val="0A1825"/>
          </a:solidFill>
          <a:ln w="12700">
            <a:solidFill>
              <a:srgbClr val="333333"/>
            </a:solidFill>
            <a:prstDash val="solid"/>
          </a:ln>
        </p:spPr>
      </p:sp>
      <p:pic>
        <p:nvPicPr>
          <p:cNvPr id="3" name="Image 0" descr="C:\Users\dillo\.claude\skills\client-deck\assets\momentum-digital\momentum-mark-white.png">    </p:cNvPr>
          <p:cNvPicPr>
            <a:picLocks noChangeAspect="1"/>
          </p:cNvPicPr>
          <p:nvPr/>
        </p:nvPicPr>
        <p:blipFill>
          <a:blip r:embed="rId1">
            <a:alphaModFix amt="9000"/>
          </a:blip>
          <a:stretch>
            <a:fillRect/>
          </a:stretch>
        </p:blipFill>
        <p:spPr>
          <a:xfrm>
            <a:off x="8732520" y="-1188720"/>
            <a:ext cx="4389120" cy="5206548"/>
          </a:xfrm>
          <a:prstGeom prst="rect">
            <a:avLst/>
          </a:prstGeom>
        </p:spPr>
      </p:pic>
      <p:pic>
        <p:nvPicPr>
          <p:cNvPr id="4" name="Image 1" descr="Momentum Digital logo">    </p:cNvPr>
          <p:cNvPicPr>
            <a:picLocks noChangeAspect="1"/>
          </p:cNvPicPr>
          <p:nvPr/>
        </p:nvPicPr>
        <p:blipFill>
          <a:blip r:embed="rId2"/>
          <a:stretch>
            <a:fillRect/>
          </a:stretch>
        </p:blipFill>
        <p:spPr>
          <a:xfrm>
            <a:off x="10106863" y="502920"/>
            <a:ext cx="1371600" cy="294904"/>
          </a:xfrm>
          <a:prstGeom prst="rect">
            <a:avLst/>
          </a:prstGeom>
        </p:spPr>
      </p:pic>
      <p:sp>
        <p:nvSpPr>
          <p:cNvPr id="5" name="Text 1"/>
          <p:cNvSpPr txBox="1"/>
          <p:nvPr/>
        </p:nvSpPr>
        <p:spPr>
          <a:xfrm>
            <a:off x="713232" y="548640"/>
            <a:ext cx="5486400" cy="201168"/>
          </a:xfrm>
          <a:prstGeom prst="rect">
            <a:avLst/>
          </a:prstGeom>
          <a:noFill/>
          <a:ln/>
        </p:spPr>
        <p:txBody>
          <a:bodyPr wrap="square" lIns="0" tIns="0" rIns="0" bIns="0" rtlCol="0" anchor="t"/>
          <a:lstStyle/>
          <a:p>
            <a:pPr algn="l" indent="0" marL="0">
              <a:buNone/>
            </a:pPr>
            <a:r>
              <a:rPr lang="en-US" sz="1050" b="1" spc="240" kern="0" dirty="0">
                <a:solidFill>
                  <a:srgbClr val="5AA7E0"/>
                </a:solidFill>
                <a:latin typeface="Arial" pitchFamily="34" charset="0"/>
                <a:ea typeface="Arial" pitchFamily="34" charset="-122"/>
                <a:cs typeface="Arial" pitchFamily="34" charset="-120"/>
              </a:rPr>
              <a:t>CASE STUDY</a:t>
            </a:r>
            <a:endParaRPr lang="en-US" sz="1050" dirty="0"/>
          </a:p>
        </p:txBody>
      </p:sp>
      <p:sp>
        <p:nvSpPr>
          <p:cNvPr id="6" name="Text 2"/>
          <p:cNvSpPr txBox="1"/>
          <p:nvPr/>
        </p:nvSpPr>
        <p:spPr>
          <a:xfrm>
            <a:off x="713232" y="877824"/>
            <a:ext cx="5943600" cy="504444"/>
          </a:xfrm>
          <a:prstGeom prst="rect">
            <a:avLst/>
          </a:prstGeom>
          <a:noFill/>
          <a:ln/>
        </p:spPr>
        <p:txBody>
          <a:bodyPr wrap="square" lIns="0" tIns="0" rIns="0" bIns="0" rtlCol="0" anchor="t"/>
          <a:lstStyle/>
          <a:p>
            <a:pPr algn="l" indent="0" marL="0">
              <a:lnSpc>
                <a:spcPct val="102000"/>
              </a:lnSpc>
              <a:buNone/>
            </a:pPr>
            <a:r>
              <a:rPr lang="en-US" sz="3400" b="1" dirty="0">
                <a:solidFill>
                  <a:srgbClr val="FFFFFF"/>
                </a:solidFill>
                <a:latin typeface="Arial" pitchFamily="34" charset="0"/>
                <a:ea typeface="Arial" pitchFamily="34" charset="-122"/>
                <a:cs typeface="Arial" pitchFamily="34" charset="-120"/>
              </a:rPr>
              <a:t>The Kind Insurance</a:t>
            </a:r>
            <a:endParaRPr lang="en-US" sz="3400" dirty="0"/>
          </a:p>
        </p:txBody>
      </p:sp>
      <p:sp>
        <p:nvSpPr>
          <p:cNvPr id="7" name="Text 3"/>
          <p:cNvSpPr txBox="1"/>
          <p:nvPr/>
        </p:nvSpPr>
        <p:spPr>
          <a:xfrm>
            <a:off x="713232" y="1510284"/>
            <a:ext cx="5760720" cy="464058"/>
          </a:xfrm>
          <a:prstGeom prst="rect">
            <a:avLst/>
          </a:prstGeom>
          <a:noFill/>
          <a:ln/>
        </p:spPr>
        <p:txBody>
          <a:bodyPr wrap="square" lIns="0" tIns="0" rIns="0" bIns="0" rtlCol="0" anchor="t"/>
          <a:lstStyle/>
          <a:p>
            <a:pPr algn="l" indent="0" marL="0">
              <a:lnSpc>
                <a:spcPct val="126000"/>
              </a:lnSpc>
              <a:buNone/>
            </a:pPr>
            <a:r>
              <a:rPr lang="en-US" sz="1250" dirty="0">
                <a:solidFill>
                  <a:srgbClr val="9DB5C8"/>
                </a:solidFill>
                <a:latin typeface="Arial" pitchFamily="34" charset="0"/>
                <a:ea typeface="Arial" pitchFamily="34" charset="-122"/>
                <a:cs typeface="Arial" pitchFamily="34" charset="-120"/>
              </a:rPr>
              <a:t>Insurance brokerage · 2025 against 2024</a:t>
            </a:r>
            <a:endParaRPr lang="en-US" sz="1250" dirty="0"/>
          </a:p>
          <a:p>
            <a:pPr algn="l" indent="0" marL="0">
              <a:lnSpc>
                <a:spcPct val="126000"/>
              </a:lnSpc>
              <a:buNone/>
            </a:pPr>
            <a:r>
              <a:rPr lang="en-US" sz="1250" dirty="0">
                <a:solidFill>
                  <a:srgbClr val="9DB5C8"/>
                </a:solidFill>
                <a:latin typeface="Arial" pitchFamily="34" charset="0"/>
                <a:ea typeface="Arial" pitchFamily="34" charset="-122"/>
                <a:cs typeface="Arial" pitchFamily="34" charset="-120"/>
              </a:rPr>
              <a:t>Call first conversion setup, budget reallocation, search term control</a:t>
            </a:r>
            <a:endParaRPr lang="en-US" sz="1250" dirty="0"/>
          </a:p>
        </p:txBody>
      </p:sp>
      <p:sp>
        <p:nvSpPr>
          <p:cNvPr id="8" name="Text 4"/>
          <p:cNvSpPr txBox="1"/>
          <p:nvPr/>
        </p:nvSpPr>
        <p:spPr>
          <a:xfrm>
            <a:off x="6583680" y="1060704"/>
            <a:ext cx="4892040" cy="1133856"/>
          </a:xfrm>
          <a:prstGeom prst="rect">
            <a:avLst/>
          </a:prstGeom>
          <a:noFill/>
          <a:ln/>
        </p:spPr>
        <p:txBody>
          <a:bodyPr wrap="square" lIns="0" tIns="0" rIns="0" bIns="0" rtlCol="0" anchor="t"/>
          <a:lstStyle/>
          <a:p>
            <a:pPr algn="r" indent="0" marL="0">
              <a:lnSpc>
                <a:spcPct val="95000"/>
              </a:lnSpc>
              <a:buNone/>
            </a:pPr>
            <a:r>
              <a:rPr lang="en-US" sz="9200" b="1" dirty="0">
                <a:solidFill>
                  <a:srgbClr val="5AA7E0"/>
                </a:solidFill>
                <a:latin typeface="Arial" pitchFamily="34" charset="0"/>
                <a:ea typeface="Arial" pitchFamily="34" charset="-122"/>
                <a:cs typeface="Arial" pitchFamily="34" charset="-120"/>
              </a:rPr>
              <a:t>638</a:t>
            </a:r>
            <a:endParaRPr lang="en-US" sz="9200" dirty="0"/>
          </a:p>
        </p:txBody>
      </p:sp>
      <p:sp>
        <p:nvSpPr>
          <p:cNvPr id="9" name="Text 5"/>
          <p:cNvSpPr txBox="1"/>
          <p:nvPr/>
        </p:nvSpPr>
        <p:spPr>
          <a:xfrm>
            <a:off x="6583680" y="2231136"/>
            <a:ext cx="4892040" cy="246888"/>
          </a:xfrm>
          <a:prstGeom prst="rect">
            <a:avLst/>
          </a:prstGeom>
          <a:noFill/>
          <a:ln/>
        </p:spPr>
        <p:txBody>
          <a:bodyPr wrap="square" lIns="0" tIns="0" rIns="0" bIns="0" rtlCol="0" anchor="t"/>
          <a:lstStyle/>
          <a:p>
            <a:pPr algn="r" indent="0" marL="0">
              <a:lnSpc>
                <a:spcPct val="120000"/>
              </a:lnSpc>
              <a:buNone/>
            </a:pPr>
            <a:r>
              <a:rPr lang="en-US" sz="1200" b="1" dirty="0">
                <a:solidFill>
                  <a:srgbClr val="FFFFFF"/>
                </a:solidFill>
                <a:latin typeface="Arial" pitchFamily="34" charset="0"/>
                <a:ea typeface="Arial" pitchFamily="34" charset="-122"/>
                <a:cs typeface="Arial" pitchFamily="34" charset="-120"/>
              </a:rPr>
              <a:t>Phone call conversions in 2025, up 314% from 154</a:t>
            </a:r>
            <a:endParaRPr lang="en-US" sz="1200" dirty="0"/>
          </a:p>
        </p:txBody>
      </p:sp>
      <p:sp>
        <p:nvSpPr>
          <p:cNvPr id="10" name="Text 6"/>
          <p:cNvSpPr txBox="1"/>
          <p:nvPr/>
        </p:nvSpPr>
        <p:spPr>
          <a:xfrm>
            <a:off x="713232" y="3200400"/>
            <a:ext cx="2179244" cy="430276"/>
          </a:xfrm>
          <a:prstGeom prst="rect">
            <a:avLst/>
          </a:prstGeom>
          <a:noFill/>
          <a:ln/>
        </p:spPr>
        <p:txBody>
          <a:bodyPr wrap="square" lIns="0" tIns="0" rIns="0" bIns="0" rtlCol="0" anchor="t"/>
          <a:lstStyle/>
          <a:p>
            <a:pPr algn="l" indent="0" marL="0">
              <a:lnSpc>
                <a:spcPct val="100000"/>
              </a:lnSpc>
              <a:buNone/>
            </a:pPr>
            <a:r>
              <a:rPr lang="en-US" sz="3100" b="1" dirty="0">
                <a:solidFill>
                  <a:srgbClr val="2A80C2"/>
                </a:solidFill>
                <a:latin typeface="Arial" pitchFamily="34" charset="0"/>
                <a:ea typeface="Arial" pitchFamily="34" charset="-122"/>
                <a:cs typeface="Arial" pitchFamily="34" charset="-120"/>
              </a:rPr>
              <a:t>+37%</a:t>
            </a:r>
            <a:endParaRPr lang="en-US" sz="3100" dirty="0"/>
          </a:p>
        </p:txBody>
      </p:sp>
      <p:sp>
        <p:nvSpPr>
          <p:cNvPr id="11" name="Text 7"/>
          <p:cNvSpPr txBox="1"/>
          <p:nvPr/>
        </p:nvSpPr>
        <p:spPr>
          <a:xfrm>
            <a:off x="713232" y="3685540"/>
            <a:ext cx="2179244" cy="237744"/>
          </a:xfrm>
          <a:prstGeom prst="rect">
            <a:avLst/>
          </a:prstGeom>
          <a:noFill/>
          <a:ln/>
        </p:spPr>
        <p:txBody>
          <a:bodyPr wrap="square" lIns="0" tIns="0" rIns="0" bIns="0" rtlCol="0" anchor="t"/>
          <a:lstStyle/>
          <a:p>
            <a:pPr algn="l" indent="0" marL="0">
              <a:lnSpc>
                <a:spcPct val="120000"/>
              </a:lnSpc>
              <a:buNone/>
            </a:pPr>
            <a:r>
              <a:rPr lang="en-US" sz="1200" b="1" dirty="0">
                <a:solidFill>
                  <a:srgbClr val="0F151B"/>
                </a:solidFill>
                <a:latin typeface="Arial" pitchFamily="34" charset="0"/>
                <a:ea typeface="Arial" pitchFamily="34" charset="-122"/>
                <a:cs typeface="Arial" pitchFamily="34" charset="-120"/>
              </a:rPr>
              <a:t>Clicks</a:t>
            </a:r>
            <a:endParaRPr lang="en-US" sz="1200" dirty="0"/>
          </a:p>
        </p:txBody>
      </p:sp>
      <p:sp>
        <p:nvSpPr>
          <p:cNvPr id="12" name="Text 8"/>
          <p:cNvSpPr txBox="1"/>
          <p:nvPr/>
        </p:nvSpPr>
        <p:spPr>
          <a:xfrm>
            <a:off x="713232" y="3987292"/>
            <a:ext cx="2179244" cy="214884"/>
          </a:xfrm>
          <a:prstGeom prst="rect">
            <a:avLst/>
          </a:prstGeom>
          <a:noFill/>
          <a:ln/>
        </p:spPr>
        <p:txBody>
          <a:bodyPr wrap="square" lIns="0" tIns="0" rIns="0" bIns="0" rtlCol="0" anchor="t"/>
          <a:lstStyle/>
          <a:p>
            <a:pPr algn="l" indent="0" marL="0">
              <a:lnSpc>
                <a:spcPct val="120000"/>
              </a:lnSpc>
              <a:buNone/>
            </a:pPr>
            <a:r>
              <a:rPr lang="en-US" sz="1050" dirty="0">
                <a:solidFill>
                  <a:srgbClr val="5A6772"/>
                </a:solidFill>
                <a:latin typeface="Arial" pitchFamily="34" charset="0"/>
                <a:ea typeface="Arial" pitchFamily="34" charset="-122"/>
                <a:cs typeface="Arial" pitchFamily="34" charset="-120"/>
              </a:rPr>
              <a:t>14,111 to 19,305</a:t>
            </a:r>
            <a:endParaRPr lang="en-US" sz="1050" dirty="0"/>
          </a:p>
        </p:txBody>
      </p:sp>
      <p:sp>
        <p:nvSpPr>
          <p:cNvPr id="13" name="Shape 9"/>
          <p:cNvSpPr/>
          <p:nvPr/>
        </p:nvSpPr>
        <p:spPr>
          <a:xfrm>
            <a:off x="3166796" y="3200400"/>
            <a:ext cx="0" cy="1111504"/>
          </a:xfrm>
          <a:prstGeom prst="line">
            <a:avLst/>
          </a:prstGeom>
          <a:noFill/>
          <a:ln w="9525">
            <a:solidFill>
              <a:srgbClr val="E2EAF1"/>
            </a:solidFill>
            <a:prstDash val="solid"/>
          </a:ln>
        </p:spPr>
      </p:sp>
      <p:sp>
        <p:nvSpPr>
          <p:cNvPr id="14" name="Text 10"/>
          <p:cNvSpPr txBox="1"/>
          <p:nvPr/>
        </p:nvSpPr>
        <p:spPr>
          <a:xfrm>
            <a:off x="3404540" y="3200400"/>
            <a:ext cx="2179244" cy="430276"/>
          </a:xfrm>
          <a:prstGeom prst="rect">
            <a:avLst/>
          </a:prstGeom>
          <a:noFill/>
          <a:ln/>
        </p:spPr>
        <p:txBody>
          <a:bodyPr wrap="square" lIns="0" tIns="0" rIns="0" bIns="0" rtlCol="0" anchor="t"/>
          <a:lstStyle/>
          <a:p>
            <a:pPr algn="l" indent="0" marL="0">
              <a:lnSpc>
                <a:spcPct val="100000"/>
              </a:lnSpc>
              <a:buNone/>
            </a:pPr>
            <a:r>
              <a:rPr lang="en-US" sz="3100" b="1" dirty="0">
                <a:solidFill>
                  <a:srgbClr val="23A455"/>
                </a:solidFill>
                <a:latin typeface="Arial" pitchFamily="34" charset="0"/>
                <a:ea typeface="Arial" pitchFamily="34" charset="-122"/>
                <a:cs typeface="Arial" pitchFamily="34" charset="-120"/>
              </a:rPr>
              <a:t>33.06%</a:t>
            </a:r>
            <a:endParaRPr lang="en-US" sz="3100" dirty="0"/>
          </a:p>
        </p:txBody>
      </p:sp>
      <p:sp>
        <p:nvSpPr>
          <p:cNvPr id="15" name="Text 11"/>
          <p:cNvSpPr txBox="1"/>
          <p:nvPr/>
        </p:nvSpPr>
        <p:spPr>
          <a:xfrm>
            <a:off x="3404540" y="3685540"/>
            <a:ext cx="2179244" cy="237744"/>
          </a:xfrm>
          <a:prstGeom prst="rect">
            <a:avLst/>
          </a:prstGeom>
          <a:noFill/>
          <a:ln/>
        </p:spPr>
        <p:txBody>
          <a:bodyPr wrap="square" lIns="0" tIns="0" rIns="0" bIns="0" rtlCol="0" anchor="t"/>
          <a:lstStyle/>
          <a:p>
            <a:pPr algn="l" indent="0" marL="0">
              <a:lnSpc>
                <a:spcPct val="120000"/>
              </a:lnSpc>
              <a:buNone/>
            </a:pPr>
            <a:r>
              <a:rPr lang="en-US" sz="1200" b="1" dirty="0">
                <a:solidFill>
                  <a:srgbClr val="0F151B"/>
                </a:solidFill>
                <a:latin typeface="Arial" pitchFamily="34" charset="0"/>
                <a:ea typeface="Arial" pitchFamily="34" charset="-122"/>
                <a:cs typeface="Arial" pitchFamily="34" charset="-120"/>
              </a:rPr>
              <a:t>Call conversion rate</a:t>
            </a:r>
            <a:endParaRPr lang="en-US" sz="1200" dirty="0"/>
          </a:p>
        </p:txBody>
      </p:sp>
      <p:sp>
        <p:nvSpPr>
          <p:cNvPr id="16" name="Text 12"/>
          <p:cNvSpPr txBox="1"/>
          <p:nvPr/>
        </p:nvSpPr>
        <p:spPr>
          <a:xfrm>
            <a:off x="3404540" y="3987292"/>
            <a:ext cx="2179244" cy="214884"/>
          </a:xfrm>
          <a:prstGeom prst="rect">
            <a:avLst/>
          </a:prstGeom>
          <a:noFill/>
          <a:ln/>
        </p:spPr>
        <p:txBody>
          <a:bodyPr wrap="square" lIns="0" tIns="0" rIns="0" bIns="0" rtlCol="0" anchor="t"/>
          <a:lstStyle/>
          <a:p>
            <a:pPr algn="l" indent="0" marL="0">
              <a:lnSpc>
                <a:spcPct val="120000"/>
              </a:lnSpc>
              <a:buNone/>
            </a:pPr>
            <a:r>
              <a:rPr lang="en-US" sz="1050" dirty="0">
                <a:solidFill>
                  <a:srgbClr val="5A6772"/>
                </a:solidFill>
                <a:latin typeface="Arial" pitchFamily="34" charset="0"/>
                <a:ea typeface="Arial" pitchFamily="34" charset="-122"/>
                <a:cs typeface="Arial" pitchFamily="34" charset="-120"/>
              </a:rPr>
              <a:t>Up from 10.91%</a:t>
            </a:r>
            <a:endParaRPr lang="en-US" sz="1050" dirty="0"/>
          </a:p>
        </p:txBody>
      </p:sp>
      <p:sp>
        <p:nvSpPr>
          <p:cNvPr id="17" name="Shape 13"/>
          <p:cNvSpPr/>
          <p:nvPr/>
        </p:nvSpPr>
        <p:spPr>
          <a:xfrm>
            <a:off x="5858104" y="3200400"/>
            <a:ext cx="0" cy="1111504"/>
          </a:xfrm>
          <a:prstGeom prst="line">
            <a:avLst/>
          </a:prstGeom>
          <a:noFill/>
          <a:ln w="9525">
            <a:solidFill>
              <a:srgbClr val="E2EAF1"/>
            </a:solidFill>
            <a:prstDash val="solid"/>
          </a:ln>
        </p:spPr>
      </p:sp>
      <p:sp>
        <p:nvSpPr>
          <p:cNvPr id="18" name="Text 14"/>
          <p:cNvSpPr txBox="1"/>
          <p:nvPr/>
        </p:nvSpPr>
        <p:spPr>
          <a:xfrm>
            <a:off x="6095848" y="3200400"/>
            <a:ext cx="2179244" cy="430276"/>
          </a:xfrm>
          <a:prstGeom prst="rect">
            <a:avLst/>
          </a:prstGeom>
          <a:noFill/>
          <a:ln/>
        </p:spPr>
        <p:txBody>
          <a:bodyPr wrap="square" lIns="0" tIns="0" rIns="0" bIns="0" rtlCol="0" anchor="t"/>
          <a:lstStyle/>
          <a:p>
            <a:pPr algn="l" indent="0" marL="0">
              <a:lnSpc>
                <a:spcPct val="100000"/>
              </a:lnSpc>
              <a:buNone/>
            </a:pPr>
            <a:r>
              <a:rPr lang="en-US" sz="3100" b="1" dirty="0">
                <a:solidFill>
                  <a:srgbClr val="2A80C2"/>
                </a:solidFill>
                <a:latin typeface="Arial" pitchFamily="34" charset="0"/>
                <a:ea typeface="Arial" pitchFamily="34" charset="-122"/>
                <a:cs typeface="Arial" pitchFamily="34" charset="-120"/>
              </a:rPr>
              <a:t>$42.09</a:t>
            </a:r>
            <a:endParaRPr lang="en-US" sz="3100" dirty="0"/>
          </a:p>
        </p:txBody>
      </p:sp>
      <p:sp>
        <p:nvSpPr>
          <p:cNvPr id="19" name="Text 15"/>
          <p:cNvSpPr txBox="1"/>
          <p:nvPr/>
        </p:nvSpPr>
        <p:spPr>
          <a:xfrm>
            <a:off x="6095848" y="3685540"/>
            <a:ext cx="2179244" cy="237744"/>
          </a:xfrm>
          <a:prstGeom prst="rect">
            <a:avLst/>
          </a:prstGeom>
          <a:noFill/>
          <a:ln/>
        </p:spPr>
        <p:txBody>
          <a:bodyPr wrap="square" lIns="0" tIns="0" rIns="0" bIns="0" rtlCol="0" anchor="t"/>
          <a:lstStyle/>
          <a:p>
            <a:pPr algn="l" indent="0" marL="0">
              <a:lnSpc>
                <a:spcPct val="120000"/>
              </a:lnSpc>
              <a:buNone/>
            </a:pPr>
            <a:r>
              <a:rPr lang="en-US" sz="1200" b="1" dirty="0">
                <a:solidFill>
                  <a:srgbClr val="0F151B"/>
                </a:solidFill>
                <a:latin typeface="Arial" pitchFamily="34" charset="0"/>
                <a:ea typeface="Arial" pitchFamily="34" charset="-122"/>
                <a:cs typeface="Arial" pitchFamily="34" charset="-120"/>
              </a:rPr>
              <a:t>Cost per conversion</a:t>
            </a:r>
            <a:endParaRPr lang="en-US" sz="1200" dirty="0"/>
          </a:p>
        </p:txBody>
      </p:sp>
      <p:sp>
        <p:nvSpPr>
          <p:cNvPr id="20" name="Text 16"/>
          <p:cNvSpPr txBox="1"/>
          <p:nvPr/>
        </p:nvSpPr>
        <p:spPr>
          <a:xfrm>
            <a:off x="6095848" y="3987292"/>
            <a:ext cx="2179244" cy="214884"/>
          </a:xfrm>
          <a:prstGeom prst="rect">
            <a:avLst/>
          </a:prstGeom>
          <a:noFill/>
          <a:ln/>
        </p:spPr>
        <p:txBody>
          <a:bodyPr wrap="square" lIns="0" tIns="0" rIns="0" bIns="0" rtlCol="0" anchor="t"/>
          <a:lstStyle/>
          <a:p>
            <a:pPr algn="l" indent="0" marL="0">
              <a:lnSpc>
                <a:spcPct val="120000"/>
              </a:lnSpc>
              <a:buNone/>
            </a:pPr>
            <a:r>
              <a:rPr lang="en-US" sz="1050" dirty="0">
                <a:solidFill>
                  <a:srgbClr val="5A6772"/>
                </a:solidFill>
                <a:latin typeface="Arial" pitchFamily="34" charset="0"/>
                <a:ea typeface="Arial" pitchFamily="34" charset="-122"/>
                <a:cs typeface="Arial" pitchFamily="34" charset="-120"/>
              </a:rPr>
              <a:t>Up from $13.27</a:t>
            </a:r>
            <a:endParaRPr lang="en-US" sz="1050" dirty="0"/>
          </a:p>
        </p:txBody>
      </p:sp>
      <p:sp>
        <p:nvSpPr>
          <p:cNvPr id="21" name="Shape 17"/>
          <p:cNvSpPr/>
          <p:nvPr/>
        </p:nvSpPr>
        <p:spPr>
          <a:xfrm>
            <a:off x="8549411" y="3200400"/>
            <a:ext cx="0" cy="1111504"/>
          </a:xfrm>
          <a:prstGeom prst="line">
            <a:avLst/>
          </a:prstGeom>
          <a:noFill/>
          <a:ln w="9525">
            <a:solidFill>
              <a:srgbClr val="E2EAF1"/>
            </a:solidFill>
            <a:prstDash val="solid"/>
          </a:ln>
        </p:spPr>
      </p:sp>
      <p:sp>
        <p:nvSpPr>
          <p:cNvPr id="22" name="Text 18"/>
          <p:cNvSpPr txBox="1"/>
          <p:nvPr/>
        </p:nvSpPr>
        <p:spPr>
          <a:xfrm>
            <a:off x="8787155" y="3200400"/>
            <a:ext cx="2179244" cy="430276"/>
          </a:xfrm>
          <a:prstGeom prst="rect">
            <a:avLst/>
          </a:prstGeom>
          <a:noFill/>
          <a:ln/>
        </p:spPr>
        <p:txBody>
          <a:bodyPr wrap="square" lIns="0" tIns="0" rIns="0" bIns="0" rtlCol="0" anchor="t"/>
          <a:lstStyle/>
          <a:p>
            <a:pPr algn="l" indent="0" marL="0">
              <a:lnSpc>
                <a:spcPct val="100000"/>
              </a:lnSpc>
              <a:buNone/>
            </a:pPr>
            <a:r>
              <a:rPr lang="en-US" sz="3100" b="1" dirty="0">
                <a:solidFill>
                  <a:srgbClr val="2A80C2"/>
                </a:solidFill>
                <a:latin typeface="Arial" pitchFamily="34" charset="0"/>
                <a:ea typeface="Arial" pitchFamily="34" charset="-122"/>
                <a:cs typeface="Arial" pitchFamily="34" charset="-120"/>
              </a:rPr>
              <a:t>10.37%</a:t>
            </a:r>
            <a:endParaRPr lang="en-US" sz="3100" dirty="0"/>
          </a:p>
        </p:txBody>
      </p:sp>
      <p:sp>
        <p:nvSpPr>
          <p:cNvPr id="23" name="Text 19"/>
          <p:cNvSpPr txBox="1"/>
          <p:nvPr/>
        </p:nvSpPr>
        <p:spPr>
          <a:xfrm>
            <a:off x="8787155" y="3685540"/>
            <a:ext cx="2179244" cy="237744"/>
          </a:xfrm>
          <a:prstGeom prst="rect">
            <a:avLst/>
          </a:prstGeom>
          <a:noFill/>
          <a:ln/>
        </p:spPr>
        <p:txBody>
          <a:bodyPr wrap="square" lIns="0" tIns="0" rIns="0" bIns="0" rtlCol="0" anchor="t"/>
          <a:lstStyle/>
          <a:p>
            <a:pPr algn="l" indent="0" marL="0">
              <a:lnSpc>
                <a:spcPct val="120000"/>
              </a:lnSpc>
              <a:buNone/>
            </a:pPr>
            <a:r>
              <a:rPr lang="en-US" sz="1200" b="1" dirty="0">
                <a:solidFill>
                  <a:srgbClr val="0F151B"/>
                </a:solidFill>
                <a:latin typeface="Arial" pitchFamily="34" charset="0"/>
                <a:ea typeface="Arial" pitchFamily="34" charset="-122"/>
                <a:cs typeface="Arial" pitchFamily="34" charset="-120"/>
              </a:rPr>
              <a:t>Search impression share</a:t>
            </a:r>
            <a:endParaRPr lang="en-US" sz="1200" dirty="0"/>
          </a:p>
        </p:txBody>
      </p:sp>
      <p:sp>
        <p:nvSpPr>
          <p:cNvPr id="24" name="Text 20"/>
          <p:cNvSpPr txBox="1"/>
          <p:nvPr/>
        </p:nvSpPr>
        <p:spPr>
          <a:xfrm>
            <a:off x="8787155" y="3987292"/>
            <a:ext cx="2179244" cy="214884"/>
          </a:xfrm>
          <a:prstGeom prst="rect">
            <a:avLst/>
          </a:prstGeom>
          <a:noFill/>
          <a:ln/>
        </p:spPr>
        <p:txBody>
          <a:bodyPr wrap="square" lIns="0" tIns="0" rIns="0" bIns="0" rtlCol="0" anchor="t"/>
          <a:lstStyle/>
          <a:p>
            <a:pPr algn="l" indent="0" marL="0">
              <a:lnSpc>
                <a:spcPct val="120000"/>
              </a:lnSpc>
              <a:buNone/>
            </a:pPr>
            <a:r>
              <a:rPr lang="en-US" sz="1050" dirty="0">
                <a:solidFill>
                  <a:srgbClr val="5A6772"/>
                </a:solidFill>
                <a:latin typeface="Arial" pitchFamily="34" charset="0"/>
                <a:ea typeface="Arial" pitchFamily="34" charset="-122"/>
                <a:cs typeface="Arial" pitchFamily="34" charset="-120"/>
              </a:rPr>
              <a:t>2025</a:t>
            </a:r>
            <a:endParaRPr lang="en-US" sz="1050" dirty="0"/>
          </a:p>
        </p:txBody>
      </p:sp>
      <p:sp>
        <p:nvSpPr>
          <p:cNvPr id="25" name="Shape 21"/>
          <p:cNvSpPr/>
          <p:nvPr/>
        </p:nvSpPr>
        <p:spPr>
          <a:xfrm>
            <a:off x="713232" y="4257040"/>
            <a:ext cx="10765231" cy="0"/>
          </a:xfrm>
          <a:prstGeom prst="line">
            <a:avLst/>
          </a:prstGeom>
          <a:noFill/>
          <a:ln w="9525">
            <a:solidFill>
              <a:srgbClr val="E2EAF1"/>
            </a:solidFill>
            <a:prstDash val="solid"/>
          </a:ln>
        </p:spPr>
      </p:sp>
      <p:sp>
        <p:nvSpPr>
          <p:cNvPr id="26" name="Text 22"/>
          <p:cNvSpPr txBox="1"/>
          <p:nvPr/>
        </p:nvSpPr>
        <p:spPr>
          <a:xfrm>
            <a:off x="713232" y="4439920"/>
            <a:ext cx="5099152" cy="201168"/>
          </a:xfrm>
          <a:prstGeom prst="rect">
            <a:avLst/>
          </a:prstGeom>
          <a:noFill/>
          <a:ln/>
        </p:spPr>
        <p:txBody>
          <a:bodyPr wrap="square" lIns="0" tIns="0" rIns="0" bIns="0" rtlCol="0" anchor="t"/>
          <a:lstStyle/>
          <a:p>
            <a:pPr algn="l" indent="0" marL="0">
              <a:buNone/>
            </a:pPr>
            <a:r>
              <a:rPr lang="en-US" sz="1050" b="1" spc="240" kern="0" dirty="0">
                <a:solidFill>
                  <a:srgbClr val="2A80C2"/>
                </a:solidFill>
                <a:latin typeface="Arial" pitchFamily="34" charset="0"/>
                <a:ea typeface="Arial" pitchFamily="34" charset="-122"/>
                <a:cs typeface="Arial" pitchFamily="34" charset="-120"/>
              </a:rPr>
              <a:t>BEFORE</a:t>
            </a:r>
            <a:endParaRPr lang="en-US" sz="1050" dirty="0"/>
          </a:p>
        </p:txBody>
      </p:sp>
      <p:sp>
        <p:nvSpPr>
          <p:cNvPr id="27" name="Text 23"/>
          <p:cNvSpPr txBox="1"/>
          <p:nvPr/>
        </p:nvSpPr>
        <p:spPr>
          <a:xfrm>
            <a:off x="713232" y="4769104"/>
            <a:ext cx="5099152" cy="297180"/>
          </a:xfrm>
          <a:prstGeom prst="rect">
            <a:avLst/>
          </a:prstGeom>
          <a:noFill/>
          <a:ln/>
        </p:spPr>
        <p:txBody>
          <a:bodyPr wrap="square" lIns="0" tIns="0" rIns="0" bIns="0" rtlCol="0" anchor="t"/>
          <a:lstStyle/>
          <a:p>
            <a:pPr algn="l" indent="0" marL="0">
              <a:lnSpc>
                <a:spcPct val="108000"/>
              </a:lnSpc>
              <a:buNone/>
            </a:pPr>
            <a:r>
              <a:rPr lang="en-US" sz="1700" b="1" dirty="0">
                <a:solidFill>
                  <a:srgbClr val="0F151B"/>
                </a:solidFill>
                <a:latin typeface="Arial" pitchFamily="34" charset="0"/>
                <a:ea typeface="Arial" pitchFamily="34" charset="-122"/>
                <a:cs typeface="Arial" pitchFamily="34" charset="-120"/>
              </a:rPr>
              <a:t>Cheap conversions that were not calls</a:t>
            </a:r>
            <a:endParaRPr lang="en-US" sz="1700" dirty="0"/>
          </a:p>
        </p:txBody>
      </p:sp>
      <p:sp>
        <p:nvSpPr>
          <p:cNvPr id="28" name="Text 24"/>
          <p:cNvSpPr txBox="1"/>
          <p:nvPr/>
        </p:nvSpPr>
        <p:spPr>
          <a:xfrm>
            <a:off x="713232" y="5176012"/>
            <a:ext cx="5099152" cy="790194"/>
          </a:xfrm>
          <a:prstGeom prst="rect">
            <a:avLst/>
          </a:prstGeom>
          <a:noFill/>
          <a:ln/>
        </p:spPr>
        <p:txBody>
          <a:bodyPr wrap="square" lIns="0" tIns="0" rIns="0" bIns="0" rtlCol="0" anchor="t"/>
          <a:lstStyle/>
          <a:p>
            <a:pPr marL="342900" indent="-342900">
              <a:lnSpc>
                <a:spcPct val="124000"/>
              </a:lnSpc>
              <a:spcAft>
                <a:spcPts val="700"/>
              </a:spcAft>
              <a:buSzPct val="100000"/>
              <a:buChar char="•"/>
            </a:pPr>
            <a:r>
              <a:rPr lang="en-US" sz="1150" dirty="0">
                <a:solidFill>
                  <a:srgbClr val="5A6772"/>
                </a:solidFill>
                <a:latin typeface="Arial" pitchFamily="34" charset="0"/>
                <a:ea typeface="Arial" pitchFamily="34" charset="-122"/>
                <a:cs typeface="Arial" pitchFamily="34" charset="-120"/>
              </a:rPr>
              <a:t>Phone calls were not consistently the goal</a:t>
            </a:r>
            <a:endParaRPr lang="en-US" sz="1150" dirty="0"/>
          </a:p>
          <a:p>
            <a:pPr marL="342900" indent="-342900">
              <a:lnSpc>
                <a:spcPct val="124000"/>
              </a:lnSpc>
              <a:spcAft>
                <a:spcPts val="700"/>
              </a:spcAft>
              <a:buSzPct val="100000"/>
              <a:buChar char="•"/>
            </a:pPr>
            <a:r>
              <a:rPr lang="en-US" sz="1150" dirty="0">
                <a:solidFill>
                  <a:srgbClr val="5A6772"/>
                </a:solidFill>
                <a:latin typeface="Arial" pitchFamily="34" charset="0"/>
                <a:ea typeface="Arial" pitchFamily="34" charset="-122"/>
                <a:cs typeface="Arial" pitchFamily="34" charset="-120"/>
              </a:rPr>
              <a:t>Budget pacing drifted and wasted spend</a:t>
            </a:r>
            <a:endParaRPr lang="en-US" sz="1150" dirty="0"/>
          </a:p>
          <a:p>
            <a:pPr marL="342900" indent="-342900">
              <a:lnSpc>
                <a:spcPct val="124000"/>
              </a:lnSpc>
              <a:spcAft>
                <a:spcPts val="700"/>
              </a:spcAft>
              <a:buSzPct val="100000"/>
              <a:buChar char="•"/>
            </a:pPr>
            <a:r>
              <a:rPr lang="en-US" sz="1150" dirty="0">
                <a:solidFill>
                  <a:srgbClr val="5A6772"/>
                </a:solidFill>
                <a:latin typeface="Arial" pitchFamily="34" charset="0"/>
                <a:ea typeface="Arial" pitchFamily="34" charset="-122"/>
                <a:cs typeface="Arial" pitchFamily="34" charset="-120"/>
              </a:rPr>
              <a:t>Too many campaigns slowed optimization</a:t>
            </a:r>
            <a:endParaRPr lang="en-US" sz="1150" dirty="0"/>
          </a:p>
        </p:txBody>
      </p:sp>
      <p:sp>
        <p:nvSpPr>
          <p:cNvPr id="29" name="Text 25"/>
          <p:cNvSpPr txBox="1"/>
          <p:nvPr/>
        </p:nvSpPr>
        <p:spPr>
          <a:xfrm>
            <a:off x="6379312" y="4439920"/>
            <a:ext cx="5099152" cy="201168"/>
          </a:xfrm>
          <a:prstGeom prst="rect">
            <a:avLst/>
          </a:prstGeom>
          <a:noFill/>
          <a:ln/>
        </p:spPr>
        <p:txBody>
          <a:bodyPr wrap="square" lIns="0" tIns="0" rIns="0" bIns="0" rtlCol="0" anchor="t"/>
          <a:lstStyle/>
          <a:p>
            <a:pPr algn="l" indent="0" marL="0">
              <a:buNone/>
            </a:pPr>
            <a:r>
              <a:rPr lang="en-US" sz="1050" b="1" spc="240" kern="0" dirty="0">
                <a:solidFill>
                  <a:srgbClr val="2A80C2"/>
                </a:solidFill>
                <a:latin typeface="Arial" pitchFamily="34" charset="0"/>
                <a:ea typeface="Arial" pitchFamily="34" charset="-122"/>
                <a:cs typeface="Arial" pitchFamily="34" charset="-120"/>
              </a:rPr>
              <a:t>WHAT CHANGED</a:t>
            </a:r>
            <a:endParaRPr lang="en-US" sz="1050" dirty="0"/>
          </a:p>
        </p:txBody>
      </p:sp>
      <p:sp>
        <p:nvSpPr>
          <p:cNvPr id="30" name="Text 26"/>
          <p:cNvSpPr txBox="1"/>
          <p:nvPr/>
        </p:nvSpPr>
        <p:spPr>
          <a:xfrm>
            <a:off x="6379312" y="4769104"/>
            <a:ext cx="5099152" cy="297180"/>
          </a:xfrm>
          <a:prstGeom prst="rect">
            <a:avLst/>
          </a:prstGeom>
          <a:noFill/>
          <a:ln/>
        </p:spPr>
        <p:txBody>
          <a:bodyPr wrap="square" lIns="0" tIns="0" rIns="0" bIns="0" rtlCol="0" anchor="t"/>
          <a:lstStyle/>
          <a:p>
            <a:pPr algn="l" indent="0" marL="0">
              <a:lnSpc>
                <a:spcPct val="108000"/>
              </a:lnSpc>
              <a:buNone/>
            </a:pPr>
            <a:r>
              <a:rPr lang="en-US" sz="1700" b="1" dirty="0">
                <a:solidFill>
                  <a:srgbClr val="0F151B"/>
                </a:solidFill>
                <a:latin typeface="Arial" pitchFamily="34" charset="0"/>
                <a:ea typeface="Arial" pitchFamily="34" charset="-122"/>
                <a:cs typeface="Arial" pitchFamily="34" charset="-120"/>
              </a:rPr>
              <a:t>One KPI, defended every week</a:t>
            </a:r>
            <a:endParaRPr lang="en-US" sz="1700" dirty="0"/>
          </a:p>
        </p:txBody>
      </p:sp>
      <p:sp>
        <p:nvSpPr>
          <p:cNvPr id="31" name="Text 27"/>
          <p:cNvSpPr txBox="1"/>
          <p:nvPr/>
        </p:nvSpPr>
        <p:spPr>
          <a:xfrm>
            <a:off x="6379312" y="5176012"/>
            <a:ext cx="5099152" cy="790194"/>
          </a:xfrm>
          <a:prstGeom prst="rect">
            <a:avLst/>
          </a:prstGeom>
          <a:noFill/>
          <a:ln/>
        </p:spPr>
        <p:txBody>
          <a:bodyPr wrap="square" lIns="0" tIns="0" rIns="0" bIns="0" rtlCol="0" anchor="t"/>
          <a:lstStyle/>
          <a:p>
            <a:pPr marL="342900" indent="-342900">
              <a:lnSpc>
                <a:spcPct val="124000"/>
              </a:lnSpc>
              <a:spcAft>
                <a:spcPts val="700"/>
              </a:spcAft>
              <a:buSzPct val="100000"/>
              <a:buChar char="•"/>
            </a:pPr>
            <a:r>
              <a:rPr lang="en-US" sz="1150" dirty="0">
                <a:solidFill>
                  <a:srgbClr val="5A6772"/>
                </a:solidFill>
                <a:latin typeface="Arial" pitchFamily="34" charset="0"/>
                <a:ea typeface="Arial" pitchFamily="34" charset="-122"/>
                <a:cs typeface="Arial" pitchFamily="34" charset="-120"/>
              </a:rPr>
              <a:t>Calls set as the main conversion, quality checked</a:t>
            </a:r>
            <a:endParaRPr lang="en-US" sz="1150" dirty="0"/>
          </a:p>
          <a:p>
            <a:pPr marL="342900" indent="-342900">
              <a:lnSpc>
                <a:spcPct val="124000"/>
              </a:lnSpc>
              <a:spcAft>
                <a:spcPts val="700"/>
              </a:spcAft>
              <a:buSzPct val="100000"/>
              <a:buChar char="•"/>
            </a:pPr>
            <a:r>
              <a:rPr lang="en-US" sz="1150" dirty="0">
                <a:solidFill>
                  <a:srgbClr val="5A6772"/>
                </a:solidFill>
                <a:latin typeface="Arial" pitchFamily="34" charset="0"/>
                <a:ea typeface="Arial" pitchFamily="34" charset="-122"/>
                <a:cs typeface="Arial" pitchFamily="34" charset="-120"/>
              </a:rPr>
              <a:t>Spend shifted to winners, weak campaigns paused</a:t>
            </a:r>
            <a:endParaRPr lang="en-US" sz="1150" dirty="0"/>
          </a:p>
          <a:p>
            <a:pPr marL="342900" indent="-342900">
              <a:lnSpc>
                <a:spcPct val="124000"/>
              </a:lnSpc>
              <a:spcAft>
                <a:spcPts val="700"/>
              </a:spcAft>
              <a:buSzPct val="100000"/>
              <a:buChar char="•"/>
            </a:pPr>
            <a:r>
              <a:rPr lang="en-US" sz="1150" dirty="0">
                <a:solidFill>
                  <a:srgbClr val="5A6772"/>
                </a:solidFill>
                <a:latin typeface="Arial" pitchFamily="34" charset="0"/>
                <a:ea typeface="Arial" pitchFamily="34" charset="-122"/>
                <a:cs typeface="Arial" pitchFamily="34" charset="-120"/>
              </a:rPr>
              <a:t>Search terms reviewed often, negatives added</a:t>
            </a:r>
            <a:endParaRPr lang="en-US" sz="1150" dirty="0"/>
          </a:p>
        </p:txBody>
      </p:sp>
      <p:sp>
        <p:nvSpPr>
          <p:cNvPr id="32" name="Text 28"/>
          <p:cNvSpPr txBox="1"/>
          <p:nvPr/>
        </p:nvSpPr>
        <p:spPr>
          <a:xfrm>
            <a:off x="713232" y="6291072"/>
            <a:ext cx="9942271" cy="329184"/>
          </a:xfrm>
          <a:prstGeom prst="rect">
            <a:avLst/>
          </a:prstGeom>
          <a:noFill/>
          <a:ln/>
        </p:spPr>
        <p:txBody>
          <a:bodyPr wrap="square" lIns="0" tIns="0" rIns="0" bIns="0" rtlCol="0" anchor="t"/>
          <a:lstStyle/>
          <a:p>
            <a:pPr algn="l" indent="0" marL="0">
              <a:lnSpc>
                <a:spcPct val="120000"/>
              </a:lnSpc>
              <a:buNone/>
            </a:pPr>
            <a:r>
              <a:rPr lang="en-US" sz="950" i="1" dirty="0">
                <a:solidFill>
                  <a:srgbClr val="5A6772"/>
                </a:solidFill>
                <a:latin typeface="Arial" pitchFamily="34" charset="0"/>
                <a:ea typeface="Arial" pitchFamily="34" charset="-122"/>
                <a:cs typeface="Arial" pitchFamily="34" charset="-120"/>
              </a:rPr>
              <a:t>Cost per conversion rose on purpose. The account stopped buying cheap non call conversions, so call volume more than quadrupled.</a:t>
            </a:r>
            <a:endParaRPr lang="en-US" sz="950" dirty="0"/>
          </a:p>
        </p:txBody>
      </p:sp>
      <p:sp>
        <p:nvSpPr>
          <p:cNvPr id="33" name="Text 29"/>
          <p:cNvSpPr txBox="1"/>
          <p:nvPr/>
        </p:nvSpPr>
        <p:spPr>
          <a:xfrm>
            <a:off x="10929823" y="6437376"/>
            <a:ext cx="548640" cy="219456"/>
          </a:xfrm>
          <a:prstGeom prst="rect">
            <a:avLst/>
          </a:prstGeom>
          <a:noFill/>
          <a:ln/>
        </p:spPr>
        <p:txBody>
          <a:bodyPr wrap="square" lIns="0" tIns="0" rIns="0" bIns="0" rtlCol="0" anchor="t"/>
          <a:lstStyle/>
          <a:p>
            <a:pPr algn="r" indent="0" marL="0">
              <a:buNone/>
            </a:pPr>
            <a:r>
              <a:rPr lang="en-US" sz="1050" b="1" spc="100" kern="0" dirty="0">
                <a:solidFill>
                  <a:srgbClr val="CBD8E3"/>
                </a:solidFill>
                <a:latin typeface="Arial" pitchFamily="34" charset="0"/>
                <a:ea typeface="Arial" pitchFamily="34" charset="-122"/>
                <a:cs typeface="Arial" pitchFamily="34" charset="-120"/>
              </a:rPr>
              <a:t>15</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91695" cy="2889504"/>
          </a:xfrm>
          <a:prstGeom prst="rect">
            <a:avLst/>
          </a:prstGeom>
          <a:solidFill>
            <a:srgbClr val="0A1825"/>
          </a:solidFill>
          <a:ln w="12700">
            <a:solidFill>
              <a:srgbClr val="333333"/>
            </a:solidFill>
            <a:prstDash val="solid"/>
          </a:ln>
        </p:spPr>
      </p:sp>
      <p:pic>
        <p:nvPicPr>
          <p:cNvPr id="3" name="Image 0" descr="C:\Users\dillo\.claude\skills\client-deck\assets\momentum-digital\momentum-mark-white.png">    </p:cNvPr>
          <p:cNvPicPr>
            <a:picLocks noChangeAspect="1"/>
          </p:cNvPicPr>
          <p:nvPr/>
        </p:nvPicPr>
        <p:blipFill>
          <a:blip r:embed="rId1">
            <a:alphaModFix amt="9000"/>
          </a:blip>
          <a:stretch>
            <a:fillRect/>
          </a:stretch>
        </p:blipFill>
        <p:spPr>
          <a:xfrm>
            <a:off x="8732520" y="-1188720"/>
            <a:ext cx="4389120" cy="5206548"/>
          </a:xfrm>
          <a:prstGeom prst="rect">
            <a:avLst/>
          </a:prstGeom>
        </p:spPr>
      </p:pic>
      <p:pic>
        <p:nvPicPr>
          <p:cNvPr id="4" name="Image 1" descr="Momentum Digital logo">    </p:cNvPr>
          <p:cNvPicPr>
            <a:picLocks noChangeAspect="1"/>
          </p:cNvPicPr>
          <p:nvPr/>
        </p:nvPicPr>
        <p:blipFill>
          <a:blip r:embed="rId2"/>
          <a:stretch>
            <a:fillRect/>
          </a:stretch>
        </p:blipFill>
        <p:spPr>
          <a:xfrm>
            <a:off x="10106863" y="502920"/>
            <a:ext cx="1371600" cy="294904"/>
          </a:xfrm>
          <a:prstGeom prst="rect">
            <a:avLst/>
          </a:prstGeom>
        </p:spPr>
      </p:pic>
      <p:sp>
        <p:nvSpPr>
          <p:cNvPr id="5" name="Text 1"/>
          <p:cNvSpPr txBox="1"/>
          <p:nvPr/>
        </p:nvSpPr>
        <p:spPr>
          <a:xfrm>
            <a:off x="713232" y="548640"/>
            <a:ext cx="5486400" cy="201168"/>
          </a:xfrm>
          <a:prstGeom prst="rect">
            <a:avLst/>
          </a:prstGeom>
          <a:noFill/>
          <a:ln/>
        </p:spPr>
        <p:txBody>
          <a:bodyPr wrap="square" lIns="0" tIns="0" rIns="0" bIns="0" rtlCol="0" anchor="t"/>
          <a:lstStyle/>
          <a:p>
            <a:pPr algn="l" indent="0" marL="0">
              <a:buNone/>
            </a:pPr>
            <a:r>
              <a:rPr lang="en-US" sz="1050" b="1" spc="240" kern="0" dirty="0">
                <a:solidFill>
                  <a:srgbClr val="5AA7E0"/>
                </a:solidFill>
                <a:latin typeface="Arial" pitchFamily="34" charset="0"/>
                <a:ea typeface="Arial" pitchFamily="34" charset="-122"/>
                <a:cs typeface="Arial" pitchFamily="34" charset="-120"/>
              </a:rPr>
              <a:t>CASE STUDY</a:t>
            </a:r>
            <a:endParaRPr lang="en-US" sz="1050" dirty="0"/>
          </a:p>
        </p:txBody>
      </p:sp>
      <p:sp>
        <p:nvSpPr>
          <p:cNvPr id="6" name="Text 2"/>
          <p:cNvSpPr txBox="1"/>
          <p:nvPr/>
        </p:nvSpPr>
        <p:spPr>
          <a:xfrm>
            <a:off x="713232" y="877824"/>
            <a:ext cx="5943600" cy="944880"/>
          </a:xfrm>
          <a:prstGeom prst="rect">
            <a:avLst/>
          </a:prstGeom>
          <a:noFill/>
          <a:ln/>
        </p:spPr>
        <p:txBody>
          <a:bodyPr wrap="square" lIns="0" tIns="0" rIns="0" bIns="0" rtlCol="0" anchor="t"/>
          <a:lstStyle/>
          <a:p>
            <a:pPr algn="l" indent="0" marL="0">
              <a:lnSpc>
                <a:spcPct val="102000"/>
              </a:lnSpc>
              <a:buNone/>
            </a:pPr>
            <a:r>
              <a:rPr lang="en-US" sz="3400" b="1" dirty="0">
                <a:solidFill>
                  <a:srgbClr val="FFFFFF"/>
                </a:solidFill>
                <a:latin typeface="Arial" pitchFamily="34" charset="0"/>
                <a:ea typeface="Arial" pitchFamily="34" charset="-122"/>
                <a:cs typeface="Arial" pitchFamily="34" charset="-120"/>
              </a:rPr>
              <a:t>Bedford Corporate</a:t>
            </a:r>
            <a:endParaRPr lang="en-US" sz="3400" dirty="0"/>
          </a:p>
          <a:p>
            <a:pPr algn="l" indent="0" marL="0">
              <a:lnSpc>
                <a:spcPct val="102000"/>
              </a:lnSpc>
              <a:buNone/>
            </a:pPr>
            <a:r>
              <a:rPr lang="en-US" sz="3400" b="1" dirty="0">
                <a:solidFill>
                  <a:srgbClr val="FFFFFF"/>
                </a:solidFill>
                <a:latin typeface="Arial" pitchFamily="34" charset="0"/>
                <a:ea typeface="Arial" pitchFamily="34" charset="-122"/>
                <a:cs typeface="Arial" pitchFamily="34" charset="-120"/>
              </a:rPr>
              <a:t>Housing</a:t>
            </a:r>
            <a:endParaRPr lang="en-US" sz="3400" dirty="0"/>
          </a:p>
        </p:txBody>
      </p:sp>
      <p:sp>
        <p:nvSpPr>
          <p:cNvPr id="7" name="Text 3"/>
          <p:cNvSpPr txBox="1"/>
          <p:nvPr/>
        </p:nvSpPr>
        <p:spPr>
          <a:xfrm>
            <a:off x="713232" y="1950720"/>
            <a:ext cx="5760720" cy="664083"/>
          </a:xfrm>
          <a:prstGeom prst="rect">
            <a:avLst/>
          </a:prstGeom>
          <a:noFill/>
          <a:ln/>
        </p:spPr>
        <p:txBody>
          <a:bodyPr wrap="square" lIns="0" tIns="0" rIns="0" bIns="0" rtlCol="0" anchor="t"/>
          <a:lstStyle/>
          <a:p>
            <a:pPr algn="l" indent="0" marL="0">
              <a:lnSpc>
                <a:spcPct val="126000"/>
              </a:lnSpc>
              <a:buNone/>
            </a:pPr>
            <a:r>
              <a:rPr lang="en-US" sz="1250" dirty="0">
                <a:solidFill>
                  <a:srgbClr val="9DB5C8"/>
                </a:solidFill>
                <a:latin typeface="Arial" pitchFamily="34" charset="0"/>
                <a:ea typeface="Arial" pitchFamily="34" charset="-122"/>
                <a:cs typeface="Arial" pitchFamily="34" charset="-120"/>
              </a:rPr>
              <a:t>Corporate housing, Los Angeles</a:t>
            </a:r>
            <a:endParaRPr lang="en-US" sz="1250" dirty="0"/>
          </a:p>
          <a:p>
            <a:pPr algn="l" indent="0" marL="0">
              <a:lnSpc>
                <a:spcPct val="126000"/>
              </a:lnSpc>
              <a:buNone/>
            </a:pPr>
            <a:r>
              <a:rPr lang="en-US" sz="1250" dirty="0">
                <a:solidFill>
                  <a:srgbClr val="9DB5C8"/>
                </a:solidFill>
                <a:latin typeface="Arial" pitchFamily="34" charset="0"/>
                <a:ea typeface="Arial" pitchFamily="34" charset="-122"/>
                <a:cs typeface="Arial" pitchFamily="34" charset="-120"/>
              </a:rPr>
              <a:t>Google Ads rebuilt around qualified form fills, plus SEO from a standing start</a:t>
            </a:r>
            <a:endParaRPr lang="en-US" sz="1250" dirty="0"/>
          </a:p>
        </p:txBody>
      </p:sp>
      <p:sp>
        <p:nvSpPr>
          <p:cNvPr id="8" name="Text 4"/>
          <p:cNvSpPr txBox="1"/>
          <p:nvPr/>
        </p:nvSpPr>
        <p:spPr>
          <a:xfrm>
            <a:off x="6583680" y="1060704"/>
            <a:ext cx="4892040" cy="1133856"/>
          </a:xfrm>
          <a:prstGeom prst="rect">
            <a:avLst/>
          </a:prstGeom>
          <a:noFill/>
          <a:ln/>
        </p:spPr>
        <p:txBody>
          <a:bodyPr wrap="square" lIns="0" tIns="0" rIns="0" bIns="0" rtlCol="0" anchor="t"/>
          <a:lstStyle/>
          <a:p>
            <a:pPr algn="r" indent="0" marL="0">
              <a:lnSpc>
                <a:spcPct val="95000"/>
              </a:lnSpc>
              <a:buNone/>
            </a:pPr>
            <a:r>
              <a:rPr lang="en-US" sz="9200" b="1" dirty="0">
                <a:solidFill>
                  <a:srgbClr val="5AA7E0"/>
                </a:solidFill>
                <a:latin typeface="Arial" pitchFamily="34" charset="0"/>
                <a:ea typeface="Arial" pitchFamily="34" charset="-122"/>
                <a:cs typeface="Arial" pitchFamily="34" charset="-120"/>
              </a:rPr>
              <a:t>1,130</a:t>
            </a:r>
            <a:endParaRPr lang="en-US" sz="9200" dirty="0"/>
          </a:p>
        </p:txBody>
      </p:sp>
      <p:sp>
        <p:nvSpPr>
          <p:cNvPr id="9" name="Text 5"/>
          <p:cNvSpPr txBox="1"/>
          <p:nvPr/>
        </p:nvSpPr>
        <p:spPr>
          <a:xfrm>
            <a:off x="6583680" y="2231136"/>
            <a:ext cx="4892040" cy="246888"/>
          </a:xfrm>
          <a:prstGeom prst="rect">
            <a:avLst/>
          </a:prstGeom>
          <a:noFill/>
          <a:ln/>
        </p:spPr>
        <p:txBody>
          <a:bodyPr wrap="square" lIns="0" tIns="0" rIns="0" bIns="0" rtlCol="0" anchor="t"/>
          <a:lstStyle/>
          <a:p>
            <a:pPr algn="r" indent="0" marL="0">
              <a:lnSpc>
                <a:spcPct val="120000"/>
              </a:lnSpc>
              <a:buNone/>
            </a:pPr>
            <a:r>
              <a:rPr lang="en-US" sz="1200" b="1" dirty="0">
                <a:solidFill>
                  <a:srgbClr val="FFFFFF"/>
                </a:solidFill>
                <a:latin typeface="Arial" pitchFamily="34" charset="0"/>
                <a:ea typeface="Arial" pitchFamily="34" charset="-122"/>
                <a:cs typeface="Arial" pitchFamily="34" charset="-120"/>
              </a:rPr>
              <a:t>Form conversions on $44K of ad spend</a:t>
            </a:r>
            <a:endParaRPr lang="en-US" sz="1200" dirty="0"/>
          </a:p>
        </p:txBody>
      </p:sp>
      <p:sp>
        <p:nvSpPr>
          <p:cNvPr id="10" name="Text 6"/>
          <p:cNvSpPr txBox="1"/>
          <p:nvPr/>
        </p:nvSpPr>
        <p:spPr>
          <a:xfrm>
            <a:off x="713232" y="3200400"/>
            <a:ext cx="2179244" cy="430276"/>
          </a:xfrm>
          <a:prstGeom prst="rect">
            <a:avLst/>
          </a:prstGeom>
          <a:noFill/>
          <a:ln/>
        </p:spPr>
        <p:txBody>
          <a:bodyPr wrap="square" lIns="0" tIns="0" rIns="0" bIns="0" rtlCol="0" anchor="t"/>
          <a:lstStyle/>
          <a:p>
            <a:pPr algn="l" indent="0" marL="0">
              <a:lnSpc>
                <a:spcPct val="100000"/>
              </a:lnSpc>
              <a:buNone/>
            </a:pPr>
            <a:r>
              <a:rPr lang="en-US" sz="3100" b="1" dirty="0">
                <a:solidFill>
                  <a:srgbClr val="23A455"/>
                </a:solidFill>
                <a:latin typeface="Arial" pitchFamily="34" charset="0"/>
                <a:ea typeface="Arial" pitchFamily="34" charset="-122"/>
                <a:cs typeface="Arial" pitchFamily="34" charset="-120"/>
              </a:rPr>
              <a:t>$38.88</a:t>
            </a:r>
            <a:endParaRPr lang="en-US" sz="3100" dirty="0"/>
          </a:p>
        </p:txBody>
      </p:sp>
      <p:sp>
        <p:nvSpPr>
          <p:cNvPr id="11" name="Text 7"/>
          <p:cNvSpPr txBox="1"/>
          <p:nvPr/>
        </p:nvSpPr>
        <p:spPr>
          <a:xfrm>
            <a:off x="713232" y="3685540"/>
            <a:ext cx="2179244" cy="420624"/>
          </a:xfrm>
          <a:prstGeom prst="rect">
            <a:avLst/>
          </a:prstGeom>
          <a:noFill/>
          <a:ln/>
        </p:spPr>
        <p:txBody>
          <a:bodyPr wrap="square" lIns="0" tIns="0" rIns="0" bIns="0" rtlCol="0" anchor="t"/>
          <a:lstStyle/>
          <a:p>
            <a:pPr algn="l" indent="0" marL="0">
              <a:lnSpc>
                <a:spcPct val="120000"/>
              </a:lnSpc>
              <a:buNone/>
            </a:pPr>
            <a:r>
              <a:rPr lang="en-US" sz="1200" b="1" dirty="0">
                <a:solidFill>
                  <a:srgbClr val="0F151B"/>
                </a:solidFill>
                <a:latin typeface="Arial" pitchFamily="34" charset="0"/>
                <a:ea typeface="Arial" pitchFamily="34" charset="-122"/>
                <a:cs typeface="Arial" pitchFamily="34" charset="-120"/>
              </a:rPr>
              <a:t>Average cost per lead</a:t>
            </a:r>
            <a:endParaRPr lang="en-US" sz="1200" dirty="0"/>
          </a:p>
        </p:txBody>
      </p:sp>
      <p:sp>
        <p:nvSpPr>
          <p:cNvPr id="12" name="Text 8"/>
          <p:cNvSpPr txBox="1"/>
          <p:nvPr/>
        </p:nvSpPr>
        <p:spPr>
          <a:xfrm>
            <a:off x="713232" y="4170172"/>
            <a:ext cx="2179244" cy="214884"/>
          </a:xfrm>
          <a:prstGeom prst="rect">
            <a:avLst/>
          </a:prstGeom>
          <a:noFill/>
          <a:ln/>
        </p:spPr>
        <p:txBody>
          <a:bodyPr wrap="square" lIns="0" tIns="0" rIns="0" bIns="0" rtlCol="0" anchor="t"/>
          <a:lstStyle/>
          <a:p>
            <a:pPr algn="l" indent="0" marL="0">
              <a:lnSpc>
                <a:spcPct val="120000"/>
              </a:lnSpc>
              <a:buNone/>
            </a:pPr>
            <a:r>
              <a:rPr lang="en-US" sz="1050" dirty="0">
                <a:solidFill>
                  <a:srgbClr val="5A6772"/>
                </a:solidFill>
                <a:latin typeface="Arial" pitchFamily="34" charset="0"/>
                <a:ea typeface="Arial" pitchFamily="34" charset="-122"/>
                <a:cs typeface="Arial" pitchFamily="34" charset="-120"/>
              </a:rPr>
              <a:t>About $25 since Aug 2025</a:t>
            </a:r>
            <a:endParaRPr lang="en-US" sz="1050" dirty="0"/>
          </a:p>
        </p:txBody>
      </p:sp>
      <p:sp>
        <p:nvSpPr>
          <p:cNvPr id="13" name="Shape 9"/>
          <p:cNvSpPr/>
          <p:nvPr/>
        </p:nvSpPr>
        <p:spPr>
          <a:xfrm>
            <a:off x="3166796" y="3200400"/>
            <a:ext cx="0" cy="1294384"/>
          </a:xfrm>
          <a:prstGeom prst="line">
            <a:avLst/>
          </a:prstGeom>
          <a:noFill/>
          <a:ln w="9525">
            <a:solidFill>
              <a:srgbClr val="E2EAF1"/>
            </a:solidFill>
            <a:prstDash val="solid"/>
          </a:ln>
        </p:spPr>
      </p:sp>
      <p:sp>
        <p:nvSpPr>
          <p:cNvPr id="14" name="Text 10"/>
          <p:cNvSpPr txBox="1"/>
          <p:nvPr/>
        </p:nvSpPr>
        <p:spPr>
          <a:xfrm>
            <a:off x="3404540" y="3200400"/>
            <a:ext cx="2179244" cy="430276"/>
          </a:xfrm>
          <a:prstGeom prst="rect">
            <a:avLst/>
          </a:prstGeom>
          <a:noFill/>
          <a:ln/>
        </p:spPr>
        <p:txBody>
          <a:bodyPr wrap="square" lIns="0" tIns="0" rIns="0" bIns="0" rtlCol="0" anchor="t"/>
          <a:lstStyle/>
          <a:p>
            <a:pPr algn="l" indent="0" marL="0">
              <a:lnSpc>
                <a:spcPct val="100000"/>
              </a:lnSpc>
              <a:buNone/>
            </a:pPr>
            <a:r>
              <a:rPr lang="en-US" sz="3100" b="1" dirty="0">
                <a:solidFill>
                  <a:srgbClr val="2A80C2"/>
                </a:solidFill>
                <a:latin typeface="Arial" pitchFamily="34" charset="0"/>
                <a:ea typeface="Arial" pitchFamily="34" charset="-122"/>
                <a:cs typeface="Arial" pitchFamily="34" charset="-120"/>
              </a:rPr>
              <a:t>10.12%</a:t>
            </a:r>
            <a:endParaRPr lang="en-US" sz="3100" dirty="0"/>
          </a:p>
        </p:txBody>
      </p:sp>
      <p:sp>
        <p:nvSpPr>
          <p:cNvPr id="15" name="Text 11"/>
          <p:cNvSpPr txBox="1"/>
          <p:nvPr/>
        </p:nvSpPr>
        <p:spPr>
          <a:xfrm>
            <a:off x="3404540" y="3685540"/>
            <a:ext cx="2179244" cy="420624"/>
          </a:xfrm>
          <a:prstGeom prst="rect">
            <a:avLst/>
          </a:prstGeom>
          <a:noFill/>
          <a:ln/>
        </p:spPr>
        <p:txBody>
          <a:bodyPr wrap="square" lIns="0" tIns="0" rIns="0" bIns="0" rtlCol="0" anchor="t"/>
          <a:lstStyle/>
          <a:p>
            <a:pPr algn="l" indent="0" marL="0">
              <a:lnSpc>
                <a:spcPct val="120000"/>
              </a:lnSpc>
              <a:buNone/>
            </a:pPr>
            <a:r>
              <a:rPr lang="en-US" sz="1200" b="1" dirty="0">
                <a:solidFill>
                  <a:srgbClr val="0F151B"/>
                </a:solidFill>
                <a:latin typeface="Arial" pitchFamily="34" charset="0"/>
                <a:ea typeface="Arial" pitchFamily="34" charset="-122"/>
                <a:cs typeface="Arial" pitchFamily="34" charset="-120"/>
              </a:rPr>
              <a:t>Average click through rate</a:t>
            </a:r>
            <a:endParaRPr lang="en-US" sz="1200" dirty="0"/>
          </a:p>
        </p:txBody>
      </p:sp>
      <p:sp>
        <p:nvSpPr>
          <p:cNvPr id="16" name="Shape 12"/>
          <p:cNvSpPr/>
          <p:nvPr/>
        </p:nvSpPr>
        <p:spPr>
          <a:xfrm>
            <a:off x="5858104" y="3200400"/>
            <a:ext cx="0" cy="1294384"/>
          </a:xfrm>
          <a:prstGeom prst="line">
            <a:avLst/>
          </a:prstGeom>
          <a:noFill/>
          <a:ln w="9525">
            <a:solidFill>
              <a:srgbClr val="E2EAF1"/>
            </a:solidFill>
            <a:prstDash val="solid"/>
          </a:ln>
        </p:spPr>
      </p:sp>
      <p:sp>
        <p:nvSpPr>
          <p:cNvPr id="17" name="Text 13"/>
          <p:cNvSpPr txBox="1"/>
          <p:nvPr/>
        </p:nvSpPr>
        <p:spPr>
          <a:xfrm>
            <a:off x="6095848" y="3200400"/>
            <a:ext cx="2179244" cy="430276"/>
          </a:xfrm>
          <a:prstGeom prst="rect">
            <a:avLst/>
          </a:prstGeom>
          <a:noFill/>
          <a:ln/>
        </p:spPr>
        <p:txBody>
          <a:bodyPr wrap="square" lIns="0" tIns="0" rIns="0" bIns="0" rtlCol="0" anchor="t"/>
          <a:lstStyle/>
          <a:p>
            <a:pPr algn="l" indent="0" marL="0">
              <a:lnSpc>
                <a:spcPct val="100000"/>
              </a:lnSpc>
              <a:buNone/>
            </a:pPr>
            <a:r>
              <a:rPr lang="en-US" sz="3100" b="1" dirty="0">
                <a:solidFill>
                  <a:srgbClr val="2A80C2"/>
                </a:solidFill>
                <a:latin typeface="Arial" pitchFamily="34" charset="0"/>
                <a:ea typeface="Arial" pitchFamily="34" charset="-122"/>
                <a:cs typeface="Arial" pitchFamily="34" charset="-120"/>
              </a:rPr>
              <a:t>137</a:t>
            </a:r>
            <a:endParaRPr lang="en-US" sz="3100" dirty="0"/>
          </a:p>
        </p:txBody>
      </p:sp>
      <p:sp>
        <p:nvSpPr>
          <p:cNvPr id="18" name="Text 14"/>
          <p:cNvSpPr txBox="1"/>
          <p:nvPr/>
        </p:nvSpPr>
        <p:spPr>
          <a:xfrm>
            <a:off x="6095848" y="3685540"/>
            <a:ext cx="2179244" cy="420624"/>
          </a:xfrm>
          <a:prstGeom prst="rect">
            <a:avLst/>
          </a:prstGeom>
          <a:noFill/>
          <a:ln/>
        </p:spPr>
        <p:txBody>
          <a:bodyPr wrap="square" lIns="0" tIns="0" rIns="0" bIns="0" rtlCol="0" anchor="t"/>
          <a:lstStyle/>
          <a:p>
            <a:pPr algn="l" indent="0" marL="0">
              <a:lnSpc>
                <a:spcPct val="120000"/>
              </a:lnSpc>
              <a:buNone/>
            </a:pPr>
            <a:r>
              <a:rPr lang="en-US" sz="1200" b="1" dirty="0">
                <a:solidFill>
                  <a:srgbClr val="0F151B"/>
                </a:solidFill>
                <a:latin typeface="Arial" pitchFamily="34" charset="0"/>
                <a:ea typeface="Arial" pitchFamily="34" charset="-122"/>
                <a:cs typeface="Arial" pitchFamily="34" charset="-120"/>
              </a:rPr>
              <a:t>Leads in three weeks</a:t>
            </a:r>
            <a:endParaRPr lang="en-US" sz="1200" dirty="0"/>
          </a:p>
        </p:txBody>
      </p:sp>
      <p:sp>
        <p:nvSpPr>
          <p:cNvPr id="19" name="Text 15"/>
          <p:cNvSpPr txBox="1"/>
          <p:nvPr/>
        </p:nvSpPr>
        <p:spPr>
          <a:xfrm>
            <a:off x="6095848" y="4170172"/>
            <a:ext cx="2179244" cy="214884"/>
          </a:xfrm>
          <a:prstGeom prst="rect">
            <a:avLst/>
          </a:prstGeom>
          <a:noFill/>
          <a:ln/>
        </p:spPr>
        <p:txBody>
          <a:bodyPr wrap="square" lIns="0" tIns="0" rIns="0" bIns="0" rtlCol="0" anchor="t"/>
          <a:lstStyle/>
          <a:p>
            <a:pPr algn="l" indent="0" marL="0">
              <a:lnSpc>
                <a:spcPct val="120000"/>
              </a:lnSpc>
              <a:buNone/>
            </a:pPr>
            <a:r>
              <a:rPr lang="en-US" sz="1050" dirty="0">
                <a:solidFill>
                  <a:srgbClr val="5A6772"/>
                </a:solidFill>
                <a:latin typeface="Arial" pitchFamily="34" charset="0"/>
                <a:ea typeface="Arial" pitchFamily="34" charset="-122"/>
                <a:cs typeface="Arial" pitchFamily="34" charset="-120"/>
              </a:rPr>
              <a:t>130 forms and 7 calls</a:t>
            </a:r>
            <a:endParaRPr lang="en-US" sz="1050" dirty="0"/>
          </a:p>
        </p:txBody>
      </p:sp>
      <p:sp>
        <p:nvSpPr>
          <p:cNvPr id="20" name="Shape 16"/>
          <p:cNvSpPr/>
          <p:nvPr/>
        </p:nvSpPr>
        <p:spPr>
          <a:xfrm>
            <a:off x="8549411" y="3200400"/>
            <a:ext cx="0" cy="1294384"/>
          </a:xfrm>
          <a:prstGeom prst="line">
            <a:avLst/>
          </a:prstGeom>
          <a:noFill/>
          <a:ln w="9525">
            <a:solidFill>
              <a:srgbClr val="E2EAF1"/>
            </a:solidFill>
            <a:prstDash val="solid"/>
          </a:ln>
        </p:spPr>
      </p:sp>
      <p:sp>
        <p:nvSpPr>
          <p:cNvPr id="21" name="Text 17"/>
          <p:cNvSpPr txBox="1"/>
          <p:nvPr/>
        </p:nvSpPr>
        <p:spPr>
          <a:xfrm>
            <a:off x="8787155" y="3200400"/>
            <a:ext cx="2179244" cy="430276"/>
          </a:xfrm>
          <a:prstGeom prst="rect">
            <a:avLst/>
          </a:prstGeom>
          <a:noFill/>
          <a:ln/>
        </p:spPr>
        <p:txBody>
          <a:bodyPr wrap="square" lIns="0" tIns="0" rIns="0" bIns="0" rtlCol="0" anchor="t"/>
          <a:lstStyle/>
          <a:p>
            <a:pPr algn="l" indent="0" marL="0">
              <a:lnSpc>
                <a:spcPct val="100000"/>
              </a:lnSpc>
              <a:buNone/>
            </a:pPr>
            <a:r>
              <a:rPr lang="en-US" sz="3100" b="1" dirty="0">
                <a:solidFill>
                  <a:srgbClr val="2A80C2"/>
                </a:solidFill>
                <a:latin typeface="Arial" pitchFamily="34" charset="0"/>
                <a:ea typeface="Arial" pitchFamily="34" charset="-122"/>
                <a:cs typeface="Arial" pitchFamily="34" charset="-120"/>
              </a:rPr>
              <a:t>~80</a:t>
            </a:r>
            <a:endParaRPr lang="en-US" sz="3100" dirty="0"/>
          </a:p>
        </p:txBody>
      </p:sp>
      <p:sp>
        <p:nvSpPr>
          <p:cNvPr id="22" name="Text 18"/>
          <p:cNvSpPr txBox="1"/>
          <p:nvPr/>
        </p:nvSpPr>
        <p:spPr>
          <a:xfrm>
            <a:off x="8787155" y="3685540"/>
            <a:ext cx="2179244" cy="420624"/>
          </a:xfrm>
          <a:prstGeom prst="rect">
            <a:avLst/>
          </a:prstGeom>
          <a:noFill/>
          <a:ln/>
        </p:spPr>
        <p:txBody>
          <a:bodyPr wrap="square" lIns="0" tIns="0" rIns="0" bIns="0" rtlCol="0" anchor="t"/>
          <a:lstStyle/>
          <a:p>
            <a:pPr algn="l" indent="0" marL="0">
              <a:lnSpc>
                <a:spcPct val="120000"/>
              </a:lnSpc>
              <a:buNone/>
            </a:pPr>
            <a:r>
              <a:rPr lang="en-US" sz="1200" b="1" dirty="0">
                <a:solidFill>
                  <a:srgbClr val="0F151B"/>
                </a:solidFill>
                <a:latin typeface="Arial" pitchFamily="34" charset="0"/>
                <a:ea typeface="Arial" pitchFamily="34" charset="-122"/>
                <a:cs typeface="Arial" pitchFamily="34" charset="-120"/>
              </a:rPr>
              <a:t>Forms per month</a:t>
            </a:r>
            <a:endParaRPr lang="en-US" sz="1200" dirty="0"/>
          </a:p>
        </p:txBody>
      </p:sp>
      <p:sp>
        <p:nvSpPr>
          <p:cNvPr id="23" name="Text 19"/>
          <p:cNvSpPr txBox="1"/>
          <p:nvPr/>
        </p:nvSpPr>
        <p:spPr>
          <a:xfrm>
            <a:off x="8787155" y="4170172"/>
            <a:ext cx="2179244" cy="214884"/>
          </a:xfrm>
          <a:prstGeom prst="rect">
            <a:avLst/>
          </a:prstGeom>
          <a:noFill/>
          <a:ln/>
        </p:spPr>
        <p:txBody>
          <a:bodyPr wrap="square" lIns="0" tIns="0" rIns="0" bIns="0" rtlCol="0" anchor="t"/>
          <a:lstStyle/>
          <a:p>
            <a:pPr algn="l" indent="0" marL="0">
              <a:lnSpc>
                <a:spcPct val="120000"/>
              </a:lnSpc>
              <a:buNone/>
            </a:pPr>
            <a:r>
              <a:rPr lang="en-US" sz="1050" dirty="0">
                <a:solidFill>
                  <a:srgbClr val="5A6772"/>
                </a:solidFill>
                <a:latin typeface="Arial" pitchFamily="34" charset="0"/>
                <a:ea typeface="Arial" pitchFamily="34" charset="-122"/>
                <a:cs typeface="Arial" pitchFamily="34" charset="-120"/>
              </a:rPr>
              <a:t>Ongoing average</a:t>
            </a:r>
            <a:endParaRPr lang="en-US" sz="1050" dirty="0"/>
          </a:p>
        </p:txBody>
      </p:sp>
      <p:sp>
        <p:nvSpPr>
          <p:cNvPr id="24" name="Shape 20"/>
          <p:cNvSpPr/>
          <p:nvPr/>
        </p:nvSpPr>
        <p:spPr>
          <a:xfrm>
            <a:off x="713232" y="4439920"/>
            <a:ext cx="10765231" cy="0"/>
          </a:xfrm>
          <a:prstGeom prst="line">
            <a:avLst/>
          </a:prstGeom>
          <a:noFill/>
          <a:ln w="9525">
            <a:solidFill>
              <a:srgbClr val="E2EAF1"/>
            </a:solidFill>
            <a:prstDash val="solid"/>
          </a:ln>
        </p:spPr>
      </p:sp>
      <p:sp>
        <p:nvSpPr>
          <p:cNvPr id="25" name="Text 21"/>
          <p:cNvSpPr txBox="1"/>
          <p:nvPr/>
        </p:nvSpPr>
        <p:spPr>
          <a:xfrm>
            <a:off x="713232" y="4622800"/>
            <a:ext cx="5099152" cy="201168"/>
          </a:xfrm>
          <a:prstGeom prst="rect">
            <a:avLst/>
          </a:prstGeom>
          <a:noFill/>
          <a:ln/>
        </p:spPr>
        <p:txBody>
          <a:bodyPr wrap="square" lIns="0" tIns="0" rIns="0" bIns="0" rtlCol="0" anchor="t"/>
          <a:lstStyle/>
          <a:p>
            <a:pPr algn="l" indent="0" marL="0">
              <a:buNone/>
            </a:pPr>
            <a:r>
              <a:rPr lang="en-US" sz="1050" b="1" spc="240" kern="0" dirty="0">
                <a:solidFill>
                  <a:srgbClr val="2A80C2"/>
                </a:solidFill>
                <a:latin typeface="Arial" pitchFamily="34" charset="0"/>
                <a:ea typeface="Arial" pitchFamily="34" charset="-122"/>
                <a:cs typeface="Arial" pitchFamily="34" charset="-120"/>
              </a:rPr>
              <a:t>BEFORE</a:t>
            </a:r>
            <a:endParaRPr lang="en-US" sz="1050" dirty="0"/>
          </a:p>
        </p:txBody>
      </p:sp>
      <p:sp>
        <p:nvSpPr>
          <p:cNvPr id="26" name="Text 22"/>
          <p:cNvSpPr txBox="1"/>
          <p:nvPr/>
        </p:nvSpPr>
        <p:spPr>
          <a:xfrm>
            <a:off x="713232" y="4951984"/>
            <a:ext cx="5099152" cy="297180"/>
          </a:xfrm>
          <a:prstGeom prst="rect">
            <a:avLst/>
          </a:prstGeom>
          <a:noFill/>
          <a:ln/>
        </p:spPr>
        <p:txBody>
          <a:bodyPr wrap="square" lIns="0" tIns="0" rIns="0" bIns="0" rtlCol="0" anchor="t"/>
          <a:lstStyle/>
          <a:p>
            <a:pPr algn="l" indent="0" marL="0">
              <a:lnSpc>
                <a:spcPct val="108000"/>
              </a:lnSpc>
              <a:buNone/>
            </a:pPr>
            <a:r>
              <a:rPr lang="en-US" sz="1700" b="1" dirty="0">
                <a:solidFill>
                  <a:srgbClr val="0F151B"/>
                </a:solidFill>
                <a:latin typeface="Arial" pitchFamily="34" charset="0"/>
                <a:ea typeface="Arial" pitchFamily="34" charset="-122"/>
                <a:cs typeface="Arial" pitchFamily="34" charset="-120"/>
              </a:rPr>
              <a:t>Calls that were the wrong fit</a:t>
            </a:r>
            <a:endParaRPr lang="en-US" sz="1700" dirty="0"/>
          </a:p>
        </p:txBody>
      </p:sp>
      <p:sp>
        <p:nvSpPr>
          <p:cNvPr id="27" name="Text 23"/>
          <p:cNvSpPr txBox="1"/>
          <p:nvPr/>
        </p:nvSpPr>
        <p:spPr>
          <a:xfrm>
            <a:off x="713232" y="5358892"/>
            <a:ext cx="5099152" cy="790194"/>
          </a:xfrm>
          <a:prstGeom prst="rect">
            <a:avLst/>
          </a:prstGeom>
          <a:noFill/>
          <a:ln/>
        </p:spPr>
        <p:txBody>
          <a:bodyPr wrap="square" lIns="0" tIns="0" rIns="0" bIns="0" rtlCol="0" anchor="t"/>
          <a:lstStyle/>
          <a:p>
            <a:pPr marL="342900" indent="-342900">
              <a:lnSpc>
                <a:spcPct val="124000"/>
              </a:lnSpc>
              <a:spcAft>
                <a:spcPts val="700"/>
              </a:spcAft>
              <a:buSzPct val="100000"/>
              <a:buChar char="•"/>
            </a:pPr>
            <a:r>
              <a:rPr lang="en-US" sz="1150" dirty="0">
                <a:solidFill>
                  <a:srgbClr val="5A6772"/>
                </a:solidFill>
                <a:latin typeface="Arial" pitchFamily="34" charset="0"/>
                <a:ea typeface="Arial" pitchFamily="34" charset="-122"/>
                <a:cs typeface="Arial" pitchFamily="34" charset="-120"/>
              </a:rPr>
              <a:t>Built around calls on a $60 to $70 daily budget</a:t>
            </a:r>
            <a:endParaRPr lang="en-US" sz="1150" dirty="0"/>
          </a:p>
          <a:p>
            <a:pPr marL="342900" indent="-342900">
              <a:lnSpc>
                <a:spcPct val="124000"/>
              </a:lnSpc>
              <a:spcAft>
                <a:spcPts val="700"/>
              </a:spcAft>
              <a:buSzPct val="100000"/>
              <a:buChar char="•"/>
            </a:pPr>
            <a:r>
              <a:rPr lang="en-US" sz="1150" dirty="0">
                <a:solidFill>
                  <a:srgbClr val="5A6772"/>
                </a:solidFill>
                <a:latin typeface="Arial" pitchFamily="34" charset="0"/>
                <a:ea typeface="Arial" pitchFamily="34" charset="-122"/>
                <a:cs typeface="Arial" pitchFamily="34" charset="-120"/>
              </a:rPr>
              <a:t>Lead quality and cost both unsatisfactory</a:t>
            </a:r>
            <a:endParaRPr lang="en-US" sz="1150" dirty="0"/>
          </a:p>
          <a:p>
            <a:pPr marL="342900" indent="-342900">
              <a:lnSpc>
                <a:spcPct val="124000"/>
              </a:lnSpc>
              <a:spcAft>
                <a:spcPts val="700"/>
              </a:spcAft>
              <a:buSzPct val="100000"/>
              <a:buChar char="•"/>
            </a:pPr>
            <a:r>
              <a:rPr lang="en-US" sz="1150" dirty="0">
                <a:solidFill>
                  <a:srgbClr val="5A6772"/>
                </a:solidFill>
                <a:latin typeface="Arial" pitchFamily="34" charset="0"/>
                <a:ea typeface="Arial" pitchFamily="34" charset="-122"/>
                <a:cs typeface="Arial" pitchFamily="34" charset="-120"/>
              </a:rPr>
              <a:t>No rankings and no Google Maps local pack presence</a:t>
            </a:r>
            <a:endParaRPr lang="en-US" sz="1150" dirty="0"/>
          </a:p>
        </p:txBody>
      </p:sp>
      <p:sp>
        <p:nvSpPr>
          <p:cNvPr id="28" name="Text 24"/>
          <p:cNvSpPr txBox="1"/>
          <p:nvPr/>
        </p:nvSpPr>
        <p:spPr>
          <a:xfrm>
            <a:off x="6379312" y="4622800"/>
            <a:ext cx="5099152" cy="201168"/>
          </a:xfrm>
          <a:prstGeom prst="rect">
            <a:avLst/>
          </a:prstGeom>
          <a:noFill/>
          <a:ln/>
        </p:spPr>
        <p:txBody>
          <a:bodyPr wrap="square" lIns="0" tIns="0" rIns="0" bIns="0" rtlCol="0" anchor="t"/>
          <a:lstStyle/>
          <a:p>
            <a:pPr algn="l" indent="0" marL="0">
              <a:buNone/>
            </a:pPr>
            <a:r>
              <a:rPr lang="en-US" sz="1050" b="1" spc="240" kern="0" dirty="0">
                <a:solidFill>
                  <a:srgbClr val="2A80C2"/>
                </a:solidFill>
                <a:latin typeface="Arial" pitchFamily="34" charset="0"/>
                <a:ea typeface="Arial" pitchFamily="34" charset="-122"/>
                <a:cs typeface="Arial" pitchFamily="34" charset="-120"/>
              </a:rPr>
              <a:t>WHAT CHANGED</a:t>
            </a:r>
            <a:endParaRPr lang="en-US" sz="1050" dirty="0"/>
          </a:p>
        </p:txBody>
      </p:sp>
      <p:sp>
        <p:nvSpPr>
          <p:cNvPr id="29" name="Text 25"/>
          <p:cNvSpPr txBox="1"/>
          <p:nvPr/>
        </p:nvSpPr>
        <p:spPr>
          <a:xfrm>
            <a:off x="6379312" y="4951984"/>
            <a:ext cx="5099152" cy="297180"/>
          </a:xfrm>
          <a:prstGeom prst="rect">
            <a:avLst/>
          </a:prstGeom>
          <a:noFill/>
          <a:ln/>
        </p:spPr>
        <p:txBody>
          <a:bodyPr wrap="square" lIns="0" tIns="0" rIns="0" bIns="0" rtlCol="0" anchor="t"/>
          <a:lstStyle/>
          <a:p>
            <a:pPr algn="l" indent="0" marL="0">
              <a:lnSpc>
                <a:spcPct val="108000"/>
              </a:lnSpc>
              <a:buNone/>
            </a:pPr>
            <a:r>
              <a:rPr lang="en-US" sz="1700" b="1" dirty="0">
                <a:solidFill>
                  <a:srgbClr val="0F151B"/>
                </a:solidFill>
                <a:latin typeface="Arial" pitchFamily="34" charset="0"/>
                <a:ea typeface="Arial" pitchFamily="34" charset="-122"/>
                <a:cs typeface="Arial" pitchFamily="34" charset="-120"/>
              </a:rPr>
              <a:t>Qualified forms, then scale</a:t>
            </a:r>
            <a:endParaRPr lang="en-US" sz="1700" dirty="0"/>
          </a:p>
        </p:txBody>
      </p:sp>
      <p:sp>
        <p:nvSpPr>
          <p:cNvPr id="30" name="Text 26"/>
          <p:cNvSpPr txBox="1"/>
          <p:nvPr/>
        </p:nvSpPr>
        <p:spPr>
          <a:xfrm>
            <a:off x="6379312" y="5358892"/>
            <a:ext cx="5099152" cy="790194"/>
          </a:xfrm>
          <a:prstGeom prst="rect">
            <a:avLst/>
          </a:prstGeom>
          <a:noFill/>
          <a:ln/>
        </p:spPr>
        <p:txBody>
          <a:bodyPr wrap="square" lIns="0" tIns="0" rIns="0" bIns="0" rtlCol="0" anchor="t"/>
          <a:lstStyle/>
          <a:p>
            <a:pPr marL="342900" indent="-342900">
              <a:lnSpc>
                <a:spcPct val="124000"/>
              </a:lnSpc>
              <a:spcAft>
                <a:spcPts val="700"/>
              </a:spcAft>
              <a:buSzPct val="100000"/>
              <a:buChar char="•"/>
            </a:pPr>
            <a:r>
              <a:rPr lang="en-US" sz="1150" dirty="0">
                <a:solidFill>
                  <a:srgbClr val="5A6772"/>
                </a:solidFill>
                <a:latin typeface="Arial" pitchFamily="34" charset="0"/>
                <a:ea typeface="Arial" pitchFamily="34" charset="-122"/>
                <a:cs typeface="Arial" pitchFamily="34" charset="-120"/>
              </a:rPr>
              <a:t>Rebuilt for qualified form fills, with clean tracking</a:t>
            </a:r>
            <a:endParaRPr lang="en-US" sz="1150" dirty="0"/>
          </a:p>
          <a:p>
            <a:pPr marL="342900" indent="-342900">
              <a:lnSpc>
                <a:spcPct val="124000"/>
              </a:lnSpc>
              <a:spcAft>
                <a:spcPts val="700"/>
              </a:spcAft>
              <a:buSzPct val="100000"/>
              <a:buChar char="•"/>
            </a:pPr>
            <a:r>
              <a:rPr lang="en-US" sz="1150" dirty="0">
                <a:solidFill>
                  <a:srgbClr val="5A6772"/>
                </a:solidFill>
                <a:latin typeface="Arial" pitchFamily="34" charset="0"/>
                <a:ea typeface="Arial" pitchFamily="34" charset="-122"/>
                <a:cs typeface="Arial" pitchFamily="34" charset="-120"/>
              </a:rPr>
              <a:t>Targeting tightened to Los Angeles high intent search</a:t>
            </a:r>
            <a:endParaRPr lang="en-US" sz="1150" dirty="0"/>
          </a:p>
          <a:p>
            <a:pPr marL="342900" indent="-342900">
              <a:lnSpc>
                <a:spcPct val="124000"/>
              </a:lnSpc>
              <a:spcAft>
                <a:spcPts val="700"/>
              </a:spcAft>
              <a:buSzPct val="100000"/>
              <a:buChar char="•"/>
            </a:pPr>
            <a:r>
              <a:rPr lang="en-US" sz="1150" dirty="0">
                <a:solidFill>
                  <a:srgbClr val="5A6772"/>
                </a:solidFill>
                <a:latin typeface="Arial" pitchFamily="34" charset="0"/>
                <a:ea typeface="Arial" pitchFamily="34" charset="-122"/>
                <a:cs typeface="Arial" pitchFamily="34" charset="-120"/>
              </a:rPr>
              <a:t>48 paid and 48 organic leads in the same three weeks</a:t>
            </a:r>
            <a:endParaRPr lang="en-US" sz="1150" dirty="0"/>
          </a:p>
        </p:txBody>
      </p:sp>
      <p:sp>
        <p:nvSpPr>
          <p:cNvPr id="31" name="Text 27"/>
          <p:cNvSpPr txBox="1"/>
          <p:nvPr/>
        </p:nvSpPr>
        <p:spPr>
          <a:xfrm>
            <a:off x="10929823" y="6437376"/>
            <a:ext cx="548640" cy="219456"/>
          </a:xfrm>
          <a:prstGeom prst="rect">
            <a:avLst/>
          </a:prstGeom>
          <a:noFill/>
          <a:ln/>
        </p:spPr>
        <p:txBody>
          <a:bodyPr wrap="square" lIns="0" tIns="0" rIns="0" bIns="0" rtlCol="0" anchor="t"/>
          <a:lstStyle/>
          <a:p>
            <a:pPr algn="r" indent="0" marL="0">
              <a:buNone/>
            </a:pPr>
            <a:r>
              <a:rPr lang="en-US" sz="1050" b="1" spc="100" kern="0" dirty="0">
                <a:solidFill>
                  <a:srgbClr val="CBD8E3"/>
                </a:solidFill>
                <a:latin typeface="Arial" pitchFamily="34" charset="0"/>
                <a:ea typeface="Arial" pitchFamily="34" charset="-122"/>
                <a:cs typeface="Arial" pitchFamily="34" charset="-120"/>
              </a:rPr>
              <a:t>16</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91695" cy="2889504"/>
          </a:xfrm>
          <a:prstGeom prst="rect">
            <a:avLst/>
          </a:prstGeom>
          <a:solidFill>
            <a:srgbClr val="0A1825"/>
          </a:solidFill>
          <a:ln w="12700">
            <a:solidFill>
              <a:srgbClr val="333333"/>
            </a:solidFill>
            <a:prstDash val="solid"/>
          </a:ln>
        </p:spPr>
      </p:sp>
      <p:pic>
        <p:nvPicPr>
          <p:cNvPr id="3" name="Image 0" descr="C:\Users\dillo\.claude\skills\client-deck\assets\momentum-digital\momentum-mark-white.png">    </p:cNvPr>
          <p:cNvPicPr>
            <a:picLocks noChangeAspect="1"/>
          </p:cNvPicPr>
          <p:nvPr/>
        </p:nvPicPr>
        <p:blipFill>
          <a:blip r:embed="rId1">
            <a:alphaModFix amt="9000"/>
          </a:blip>
          <a:stretch>
            <a:fillRect/>
          </a:stretch>
        </p:blipFill>
        <p:spPr>
          <a:xfrm>
            <a:off x="8732520" y="-1188720"/>
            <a:ext cx="4389120" cy="5206548"/>
          </a:xfrm>
          <a:prstGeom prst="rect">
            <a:avLst/>
          </a:prstGeom>
        </p:spPr>
      </p:pic>
      <p:pic>
        <p:nvPicPr>
          <p:cNvPr id="4" name="Image 1" descr="Momentum Digital logo">    </p:cNvPr>
          <p:cNvPicPr>
            <a:picLocks noChangeAspect="1"/>
          </p:cNvPicPr>
          <p:nvPr/>
        </p:nvPicPr>
        <p:blipFill>
          <a:blip r:embed="rId2"/>
          <a:stretch>
            <a:fillRect/>
          </a:stretch>
        </p:blipFill>
        <p:spPr>
          <a:xfrm>
            <a:off x="10106863" y="502920"/>
            <a:ext cx="1371600" cy="294904"/>
          </a:xfrm>
          <a:prstGeom prst="rect">
            <a:avLst/>
          </a:prstGeom>
        </p:spPr>
      </p:pic>
      <p:sp>
        <p:nvSpPr>
          <p:cNvPr id="5" name="Text 1"/>
          <p:cNvSpPr txBox="1"/>
          <p:nvPr/>
        </p:nvSpPr>
        <p:spPr>
          <a:xfrm>
            <a:off x="713232" y="548640"/>
            <a:ext cx="5486400" cy="201168"/>
          </a:xfrm>
          <a:prstGeom prst="rect">
            <a:avLst/>
          </a:prstGeom>
          <a:noFill/>
          <a:ln/>
        </p:spPr>
        <p:txBody>
          <a:bodyPr wrap="square" lIns="0" tIns="0" rIns="0" bIns="0" rtlCol="0" anchor="t"/>
          <a:lstStyle/>
          <a:p>
            <a:pPr algn="l" indent="0" marL="0">
              <a:buNone/>
            </a:pPr>
            <a:r>
              <a:rPr lang="en-US" sz="1050" b="1" spc="240" kern="0" dirty="0">
                <a:solidFill>
                  <a:srgbClr val="5AA7E0"/>
                </a:solidFill>
                <a:latin typeface="Arial" pitchFamily="34" charset="0"/>
                <a:ea typeface="Arial" pitchFamily="34" charset="-122"/>
                <a:cs typeface="Arial" pitchFamily="34" charset="-120"/>
              </a:rPr>
              <a:t>CASE STUDY</a:t>
            </a:r>
            <a:endParaRPr lang="en-US" sz="1050" dirty="0"/>
          </a:p>
        </p:txBody>
      </p:sp>
      <p:sp>
        <p:nvSpPr>
          <p:cNvPr id="6" name="Text 2"/>
          <p:cNvSpPr txBox="1"/>
          <p:nvPr/>
        </p:nvSpPr>
        <p:spPr>
          <a:xfrm>
            <a:off x="713232" y="877824"/>
            <a:ext cx="5943600" cy="504444"/>
          </a:xfrm>
          <a:prstGeom prst="rect">
            <a:avLst/>
          </a:prstGeom>
          <a:noFill/>
          <a:ln/>
        </p:spPr>
        <p:txBody>
          <a:bodyPr wrap="square" lIns="0" tIns="0" rIns="0" bIns="0" rtlCol="0" anchor="t"/>
          <a:lstStyle/>
          <a:p>
            <a:pPr algn="l" indent="0" marL="0">
              <a:lnSpc>
                <a:spcPct val="102000"/>
              </a:lnSpc>
              <a:buNone/>
            </a:pPr>
            <a:r>
              <a:rPr lang="en-US" sz="3400" b="1" dirty="0">
                <a:solidFill>
                  <a:srgbClr val="FFFFFF"/>
                </a:solidFill>
                <a:latin typeface="Arial" pitchFamily="34" charset="0"/>
                <a:ea typeface="Arial" pitchFamily="34" charset="-122"/>
                <a:cs typeface="Arial" pitchFamily="34" charset="-120"/>
              </a:rPr>
              <a:t>Drip IV</a:t>
            </a:r>
            <a:endParaRPr lang="en-US" sz="3400" dirty="0"/>
          </a:p>
        </p:txBody>
      </p:sp>
      <p:sp>
        <p:nvSpPr>
          <p:cNvPr id="7" name="Text 3"/>
          <p:cNvSpPr txBox="1"/>
          <p:nvPr/>
        </p:nvSpPr>
        <p:spPr>
          <a:xfrm>
            <a:off x="713232" y="1510284"/>
            <a:ext cx="5760720" cy="664083"/>
          </a:xfrm>
          <a:prstGeom prst="rect">
            <a:avLst/>
          </a:prstGeom>
          <a:noFill/>
          <a:ln/>
        </p:spPr>
        <p:txBody>
          <a:bodyPr wrap="square" lIns="0" tIns="0" rIns="0" bIns="0" rtlCol="0" anchor="t"/>
          <a:lstStyle/>
          <a:p>
            <a:pPr algn="l" indent="0" marL="0">
              <a:lnSpc>
                <a:spcPct val="126000"/>
              </a:lnSpc>
              <a:buNone/>
            </a:pPr>
            <a:r>
              <a:rPr lang="en-US" sz="1250" dirty="0">
                <a:solidFill>
                  <a:srgbClr val="9DB5C8"/>
                </a:solidFill>
                <a:latin typeface="Arial" pitchFamily="34" charset="0"/>
                <a:ea typeface="Arial" pitchFamily="34" charset="-122"/>
                <a:cs typeface="Arial" pitchFamily="34" charset="-120"/>
              </a:rPr>
              <a:t>Med spa and IV lounge, Michigan and Florida</a:t>
            </a:r>
            <a:endParaRPr lang="en-US" sz="1250" dirty="0"/>
          </a:p>
          <a:p>
            <a:pPr algn="l" indent="0" marL="0">
              <a:lnSpc>
                <a:spcPct val="126000"/>
              </a:lnSpc>
              <a:buNone/>
            </a:pPr>
            <a:r>
              <a:rPr lang="en-US" sz="1250" dirty="0">
                <a:solidFill>
                  <a:srgbClr val="9DB5C8"/>
                </a:solidFill>
                <a:latin typeface="Arial" pitchFamily="34" charset="0"/>
                <a:ea typeface="Arial" pitchFamily="34" charset="-122"/>
                <a:cs typeface="Arial" pitchFamily="34" charset="-120"/>
              </a:rPr>
              <a:t>Website redesign, SEO and local SEO, citations, Meta Ads and Google Ads</a:t>
            </a:r>
            <a:endParaRPr lang="en-US" sz="1250" dirty="0"/>
          </a:p>
        </p:txBody>
      </p:sp>
      <p:sp>
        <p:nvSpPr>
          <p:cNvPr id="8" name="Text 4"/>
          <p:cNvSpPr txBox="1"/>
          <p:nvPr/>
        </p:nvSpPr>
        <p:spPr>
          <a:xfrm>
            <a:off x="6583680" y="1060704"/>
            <a:ext cx="4892040" cy="1133856"/>
          </a:xfrm>
          <a:prstGeom prst="rect">
            <a:avLst/>
          </a:prstGeom>
          <a:noFill/>
          <a:ln/>
        </p:spPr>
        <p:txBody>
          <a:bodyPr wrap="square" lIns="0" tIns="0" rIns="0" bIns="0" rtlCol="0" anchor="t"/>
          <a:lstStyle/>
          <a:p>
            <a:pPr algn="r" indent="0" marL="0">
              <a:lnSpc>
                <a:spcPct val="95000"/>
              </a:lnSpc>
              <a:buNone/>
            </a:pPr>
            <a:r>
              <a:rPr lang="en-US" sz="9200" b="1" dirty="0">
                <a:solidFill>
                  <a:srgbClr val="5AA7E0"/>
                </a:solidFill>
                <a:latin typeface="Arial" pitchFamily="34" charset="0"/>
                <a:ea typeface="Arial" pitchFamily="34" charset="-122"/>
                <a:cs typeface="Arial" pitchFamily="34" charset="-120"/>
              </a:rPr>
              <a:t>413</a:t>
            </a:r>
            <a:endParaRPr lang="en-US" sz="9200" dirty="0"/>
          </a:p>
        </p:txBody>
      </p:sp>
      <p:sp>
        <p:nvSpPr>
          <p:cNvPr id="9" name="Text 5"/>
          <p:cNvSpPr txBox="1"/>
          <p:nvPr/>
        </p:nvSpPr>
        <p:spPr>
          <a:xfrm>
            <a:off x="6583680" y="2231136"/>
            <a:ext cx="4892040" cy="429768"/>
          </a:xfrm>
          <a:prstGeom prst="rect">
            <a:avLst/>
          </a:prstGeom>
          <a:noFill/>
          <a:ln/>
        </p:spPr>
        <p:txBody>
          <a:bodyPr wrap="square" lIns="0" tIns="0" rIns="0" bIns="0" rtlCol="0" anchor="t"/>
          <a:lstStyle/>
          <a:p>
            <a:pPr algn="r" indent="0" marL="0">
              <a:lnSpc>
                <a:spcPct val="120000"/>
              </a:lnSpc>
              <a:buNone/>
            </a:pPr>
            <a:r>
              <a:rPr lang="en-US" sz="1200" b="1" dirty="0">
                <a:solidFill>
                  <a:srgbClr val="FFFFFF"/>
                </a:solidFill>
                <a:latin typeface="Arial" pitchFamily="34" charset="0"/>
                <a:ea typeface="Arial" pitchFamily="34" charset="-122"/>
                <a:cs typeface="Arial" pitchFamily="34" charset="-120"/>
              </a:rPr>
              <a:t>Booked calls from organic, Google Business Profile and paid</a:t>
            </a:r>
            <a:endParaRPr lang="en-US" sz="1200" dirty="0"/>
          </a:p>
        </p:txBody>
      </p:sp>
      <p:sp>
        <p:nvSpPr>
          <p:cNvPr id="10" name="Text 6"/>
          <p:cNvSpPr txBox="1"/>
          <p:nvPr/>
        </p:nvSpPr>
        <p:spPr>
          <a:xfrm>
            <a:off x="713232" y="3200400"/>
            <a:ext cx="2179244" cy="430276"/>
          </a:xfrm>
          <a:prstGeom prst="rect">
            <a:avLst/>
          </a:prstGeom>
          <a:noFill/>
          <a:ln/>
        </p:spPr>
        <p:txBody>
          <a:bodyPr wrap="square" lIns="0" tIns="0" rIns="0" bIns="0" rtlCol="0" anchor="t"/>
          <a:lstStyle/>
          <a:p>
            <a:pPr algn="l" indent="0" marL="0">
              <a:lnSpc>
                <a:spcPct val="100000"/>
              </a:lnSpc>
              <a:buNone/>
            </a:pPr>
            <a:r>
              <a:rPr lang="en-US" sz="3100" b="1" dirty="0">
                <a:solidFill>
                  <a:srgbClr val="2A80C2"/>
                </a:solidFill>
                <a:latin typeface="Arial" pitchFamily="34" charset="0"/>
                <a:ea typeface="Arial" pitchFamily="34" charset="-122"/>
                <a:cs typeface="Arial" pitchFamily="34" charset="-120"/>
              </a:rPr>
              <a:t>+933%</a:t>
            </a:r>
            <a:endParaRPr lang="en-US" sz="3100" dirty="0"/>
          </a:p>
        </p:txBody>
      </p:sp>
      <p:sp>
        <p:nvSpPr>
          <p:cNvPr id="11" name="Text 7"/>
          <p:cNvSpPr txBox="1"/>
          <p:nvPr/>
        </p:nvSpPr>
        <p:spPr>
          <a:xfrm>
            <a:off x="713232" y="3685540"/>
            <a:ext cx="2179244" cy="420624"/>
          </a:xfrm>
          <a:prstGeom prst="rect">
            <a:avLst/>
          </a:prstGeom>
          <a:noFill/>
          <a:ln/>
        </p:spPr>
        <p:txBody>
          <a:bodyPr wrap="square" lIns="0" tIns="0" rIns="0" bIns="0" rtlCol="0" anchor="t"/>
          <a:lstStyle/>
          <a:p>
            <a:pPr algn="l" indent="0" marL="0">
              <a:lnSpc>
                <a:spcPct val="120000"/>
              </a:lnSpc>
              <a:buNone/>
            </a:pPr>
            <a:r>
              <a:rPr lang="en-US" sz="1200" b="1" dirty="0">
                <a:solidFill>
                  <a:srgbClr val="0F151B"/>
                </a:solidFill>
                <a:latin typeface="Arial" pitchFamily="34" charset="0"/>
                <a:ea typeface="Arial" pitchFamily="34" charset="-122"/>
                <a:cs typeface="Arial" pitchFamily="34" charset="-120"/>
              </a:rPr>
              <a:t>Organic sessions</a:t>
            </a:r>
            <a:endParaRPr lang="en-US" sz="1200" dirty="0"/>
          </a:p>
        </p:txBody>
      </p:sp>
      <p:sp>
        <p:nvSpPr>
          <p:cNvPr id="12" name="Text 8"/>
          <p:cNvSpPr txBox="1"/>
          <p:nvPr/>
        </p:nvSpPr>
        <p:spPr>
          <a:xfrm>
            <a:off x="713232" y="4170172"/>
            <a:ext cx="2179244" cy="214884"/>
          </a:xfrm>
          <a:prstGeom prst="rect">
            <a:avLst/>
          </a:prstGeom>
          <a:noFill/>
          <a:ln/>
        </p:spPr>
        <p:txBody>
          <a:bodyPr wrap="square" lIns="0" tIns="0" rIns="0" bIns="0" rtlCol="0" anchor="t"/>
          <a:lstStyle/>
          <a:p>
            <a:pPr algn="l" indent="0" marL="0">
              <a:lnSpc>
                <a:spcPct val="120000"/>
              </a:lnSpc>
              <a:buNone/>
            </a:pPr>
            <a:r>
              <a:rPr lang="en-US" sz="1050" dirty="0">
                <a:solidFill>
                  <a:srgbClr val="5A6772"/>
                </a:solidFill>
                <a:latin typeface="Arial" pitchFamily="34" charset="0"/>
                <a:ea typeface="Arial" pitchFamily="34" charset="-122"/>
                <a:cs typeface="Arial" pitchFamily="34" charset="-120"/>
              </a:rPr>
              <a:t>Q1 2025</a:t>
            </a:r>
            <a:endParaRPr lang="en-US" sz="1050" dirty="0"/>
          </a:p>
        </p:txBody>
      </p:sp>
      <p:sp>
        <p:nvSpPr>
          <p:cNvPr id="13" name="Shape 9"/>
          <p:cNvSpPr/>
          <p:nvPr/>
        </p:nvSpPr>
        <p:spPr>
          <a:xfrm>
            <a:off x="3166796" y="3200400"/>
            <a:ext cx="0" cy="1294384"/>
          </a:xfrm>
          <a:prstGeom prst="line">
            <a:avLst/>
          </a:prstGeom>
          <a:noFill/>
          <a:ln w="9525">
            <a:solidFill>
              <a:srgbClr val="E2EAF1"/>
            </a:solidFill>
            <a:prstDash val="solid"/>
          </a:ln>
        </p:spPr>
      </p:sp>
      <p:sp>
        <p:nvSpPr>
          <p:cNvPr id="14" name="Text 10"/>
          <p:cNvSpPr txBox="1"/>
          <p:nvPr/>
        </p:nvSpPr>
        <p:spPr>
          <a:xfrm>
            <a:off x="3404540" y="3200400"/>
            <a:ext cx="2179244" cy="430276"/>
          </a:xfrm>
          <a:prstGeom prst="rect">
            <a:avLst/>
          </a:prstGeom>
          <a:noFill/>
          <a:ln/>
        </p:spPr>
        <p:txBody>
          <a:bodyPr wrap="square" lIns="0" tIns="0" rIns="0" bIns="0" rtlCol="0" anchor="t"/>
          <a:lstStyle/>
          <a:p>
            <a:pPr algn="l" indent="0" marL="0">
              <a:lnSpc>
                <a:spcPct val="100000"/>
              </a:lnSpc>
              <a:buNone/>
            </a:pPr>
            <a:r>
              <a:rPr lang="en-US" sz="3100" b="1" dirty="0">
                <a:solidFill>
                  <a:srgbClr val="23A455"/>
                </a:solidFill>
                <a:latin typeface="Arial" pitchFamily="34" charset="0"/>
                <a:ea typeface="Arial" pitchFamily="34" charset="-122"/>
                <a:cs typeface="Arial" pitchFamily="34" charset="-120"/>
              </a:rPr>
              <a:t>3.3x</a:t>
            </a:r>
            <a:endParaRPr lang="en-US" sz="3100" dirty="0"/>
          </a:p>
        </p:txBody>
      </p:sp>
      <p:sp>
        <p:nvSpPr>
          <p:cNvPr id="15" name="Text 11"/>
          <p:cNvSpPr txBox="1"/>
          <p:nvPr/>
        </p:nvSpPr>
        <p:spPr>
          <a:xfrm>
            <a:off x="3404540" y="3685540"/>
            <a:ext cx="2179244" cy="420624"/>
          </a:xfrm>
          <a:prstGeom prst="rect">
            <a:avLst/>
          </a:prstGeom>
          <a:noFill/>
          <a:ln/>
        </p:spPr>
        <p:txBody>
          <a:bodyPr wrap="square" lIns="0" tIns="0" rIns="0" bIns="0" rtlCol="0" anchor="t"/>
          <a:lstStyle/>
          <a:p>
            <a:pPr algn="l" indent="0" marL="0">
              <a:lnSpc>
                <a:spcPct val="120000"/>
              </a:lnSpc>
              <a:buNone/>
            </a:pPr>
            <a:r>
              <a:rPr lang="en-US" sz="1200" b="1" dirty="0">
                <a:solidFill>
                  <a:srgbClr val="0F151B"/>
                </a:solidFill>
                <a:latin typeface="Arial" pitchFamily="34" charset="0"/>
                <a:ea typeface="Arial" pitchFamily="34" charset="-122"/>
                <a:cs typeface="Arial" pitchFamily="34" charset="-120"/>
              </a:rPr>
              <a:t>Google Ads return on ad spend</a:t>
            </a:r>
            <a:endParaRPr lang="en-US" sz="1200" dirty="0"/>
          </a:p>
        </p:txBody>
      </p:sp>
      <p:sp>
        <p:nvSpPr>
          <p:cNvPr id="16" name="Text 12"/>
          <p:cNvSpPr txBox="1"/>
          <p:nvPr/>
        </p:nvSpPr>
        <p:spPr>
          <a:xfrm>
            <a:off x="3404540" y="4170172"/>
            <a:ext cx="2179244" cy="214884"/>
          </a:xfrm>
          <a:prstGeom prst="rect">
            <a:avLst/>
          </a:prstGeom>
          <a:noFill/>
          <a:ln/>
        </p:spPr>
        <p:txBody>
          <a:bodyPr wrap="square" lIns="0" tIns="0" rIns="0" bIns="0" rtlCol="0" anchor="t"/>
          <a:lstStyle/>
          <a:p>
            <a:pPr algn="l" indent="0" marL="0">
              <a:lnSpc>
                <a:spcPct val="120000"/>
              </a:lnSpc>
              <a:buNone/>
            </a:pPr>
            <a:r>
              <a:rPr lang="en-US" sz="1050" dirty="0">
                <a:solidFill>
                  <a:srgbClr val="5A6772"/>
                </a:solidFill>
                <a:latin typeface="Arial" pitchFamily="34" charset="0"/>
                <a:ea typeface="Arial" pitchFamily="34" charset="-122"/>
                <a:cs typeface="Arial" pitchFamily="34" charset="-120"/>
              </a:rPr>
              <a:t>2.07x blended</a:t>
            </a:r>
            <a:endParaRPr lang="en-US" sz="1050" dirty="0"/>
          </a:p>
        </p:txBody>
      </p:sp>
      <p:sp>
        <p:nvSpPr>
          <p:cNvPr id="17" name="Shape 13"/>
          <p:cNvSpPr/>
          <p:nvPr/>
        </p:nvSpPr>
        <p:spPr>
          <a:xfrm>
            <a:off x="5858104" y="3200400"/>
            <a:ext cx="0" cy="1294384"/>
          </a:xfrm>
          <a:prstGeom prst="line">
            <a:avLst/>
          </a:prstGeom>
          <a:noFill/>
          <a:ln w="9525">
            <a:solidFill>
              <a:srgbClr val="E2EAF1"/>
            </a:solidFill>
            <a:prstDash val="solid"/>
          </a:ln>
        </p:spPr>
      </p:sp>
      <p:sp>
        <p:nvSpPr>
          <p:cNvPr id="18" name="Text 14"/>
          <p:cNvSpPr txBox="1"/>
          <p:nvPr/>
        </p:nvSpPr>
        <p:spPr>
          <a:xfrm>
            <a:off x="6095848" y="3200400"/>
            <a:ext cx="2179244" cy="430276"/>
          </a:xfrm>
          <a:prstGeom prst="rect">
            <a:avLst/>
          </a:prstGeom>
          <a:noFill/>
          <a:ln/>
        </p:spPr>
        <p:txBody>
          <a:bodyPr wrap="square" lIns="0" tIns="0" rIns="0" bIns="0" rtlCol="0" anchor="t"/>
          <a:lstStyle/>
          <a:p>
            <a:pPr algn="l" indent="0" marL="0">
              <a:lnSpc>
                <a:spcPct val="100000"/>
              </a:lnSpc>
              <a:buNone/>
            </a:pPr>
            <a:r>
              <a:rPr lang="en-US" sz="3100" b="1" dirty="0">
                <a:solidFill>
                  <a:srgbClr val="23A455"/>
                </a:solidFill>
                <a:latin typeface="Arial" pitchFamily="34" charset="0"/>
                <a:ea typeface="Arial" pitchFamily="34" charset="-122"/>
                <a:cs typeface="Arial" pitchFamily="34" charset="-120"/>
              </a:rPr>
              <a:t>$11.88</a:t>
            </a:r>
            <a:endParaRPr lang="en-US" sz="3100" dirty="0"/>
          </a:p>
        </p:txBody>
      </p:sp>
      <p:sp>
        <p:nvSpPr>
          <p:cNvPr id="19" name="Text 15"/>
          <p:cNvSpPr txBox="1"/>
          <p:nvPr/>
        </p:nvSpPr>
        <p:spPr>
          <a:xfrm>
            <a:off x="6095848" y="3685540"/>
            <a:ext cx="2179244" cy="420624"/>
          </a:xfrm>
          <a:prstGeom prst="rect">
            <a:avLst/>
          </a:prstGeom>
          <a:noFill/>
          <a:ln/>
        </p:spPr>
        <p:txBody>
          <a:bodyPr wrap="square" lIns="0" tIns="0" rIns="0" bIns="0" rtlCol="0" anchor="t"/>
          <a:lstStyle/>
          <a:p>
            <a:pPr algn="l" indent="0" marL="0">
              <a:lnSpc>
                <a:spcPct val="120000"/>
              </a:lnSpc>
              <a:buNone/>
            </a:pPr>
            <a:r>
              <a:rPr lang="en-US" sz="1200" b="1" dirty="0">
                <a:solidFill>
                  <a:srgbClr val="0F151B"/>
                </a:solidFill>
                <a:latin typeface="Arial" pitchFamily="34" charset="0"/>
                <a:ea typeface="Arial" pitchFamily="34" charset="-122"/>
                <a:cs typeface="Arial" pitchFamily="34" charset="-120"/>
              </a:rPr>
              <a:t>Cost per lead</a:t>
            </a:r>
            <a:endParaRPr lang="en-US" sz="1200" dirty="0"/>
          </a:p>
        </p:txBody>
      </p:sp>
      <p:sp>
        <p:nvSpPr>
          <p:cNvPr id="20" name="Text 16"/>
          <p:cNvSpPr txBox="1"/>
          <p:nvPr/>
        </p:nvSpPr>
        <p:spPr>
          <a:xfrm>
            <a:off x="6095848" y="4170172"/>
            <a:ext cx="2179244" cy="214884"/>
          </a:xfrm>
          <a:prstGeom prst="rect">
            <a:avLst/>
          </a:prstGeom>
          <a:noFill/>
          <a:ln/>
        </p:spPr>
        <p:txBody>
          <a:bodyPr wrap="square" lIns="0" tIns="0" rIns="0" bIns="0" rtlCol="0" anchor="t"/>
          <a:lstStyle/>
          <a:p>
            <a:pPr algn="l" indent="0" marL="0">
              <a:lnSpc>
                <a:spcPct val="120000"/>
              </a:lnSpc>
              <a:buNone/>
            </a:pPr>
            <a:r>
              <a:rPr lang="en-US" sz="1050" dirty="0">
                <a:solidFill>
                  <a:srgbClr val="5A6772"/>
                </a:solidFill>
                <a:latin typeface="Arial" pitchFamily="34" charset="0"/>
                <a:ea typeface="Arial" pitchFamily="34" charset="-122"/>
                <a:cs typeface="Arial" pitchFamily="34" charset="-120"/>
              </a:rPr>
              <a:t>Healthcare lead generation</a:t>
            </a:r>
            <a:endParaRPr lang="en-US" sz="1050" dirty="0"/>
          </a:p>
        </p:txBody>
      </p:sp>
      <p:sp>
        <p:nvSpPr>
          <p:cNvPr id="21" name="Shape 17"/>
          <p:cNvSpPr/>
          <p:nvPr/>
        </p:nvSpPr>
        <p:spPr>
          <a:xfrm>
            <a:off x="8549411" y="3200400"/>
            <a:ext cx="0" cy="1294384"/>
          </a:xfrm>
          <a:prstGeom prst="line">
            <a:avLst/>
          </a:prstGeom>
          <a:noFill/>
          <a:ln w="9525">
            <a:solidFill>
              <a:srgbClr val="E2EAF1"/>
            </a:solidFill>
            <a:prstDash val="solid"/>
          </a:ln>
        </p:spPr>
      </p:sp>
      <p:sp>
        <p:nvSpPr>
          <p:cNvPr id="22" name="Text 18"/>
          <p:cNvSpPr txBox="1"/>
          <p:nvPr/>
        </p:nvSpPr>
        <p:spPr>
          <a:xfrm>
            <a:off x="8787155" y="3200400"/>
            <a:ext cx="2179244" cy="430276"/>
          </a:xfrm>
          <a:prstGeom prst="rect">
            <a:avLst/>
          </a:prstGeom>
          <a:noFill/>
          <a:ln/>
        </p:spPr>
        <p:txBody>
          <a:bodyPr wrap="square" lIns="0" tIns="0" rIns="0" bIns="0" rtlCol="0" anchor="t"/>
          <a:lstStyle/>
          <a:p>
            <a:pPr algn="l" indent="0" marL="0">
              <a:lnSpc>
                <a:spcPct val="100000"/>
              </a:lnSpc>
              <a:buNone/>
            </a:pPr>
            <a:r>
              <a:rPr lang="en-US" sz="3100" b="1" dirty="0">
                <a:solidFill>
                  <a:srgbClr val="2A80C2"/>
                </a:solidFill>
                <a:latin typeface="Arial" pitchFamily="34" charset="0"/>
                <a:ea typeface="Arial" pitchFamily="34" charset="-122"/>
                <a:cs typeface="Arial" pitchFamily="34" charset="-120"/>
              </a:rPr>
              <a:t>146</a:t>
            </a:r>
            <a:endParaRPr lang="en-US" sz="3100" dirty="0"/>
          </a:p>
        </p:txBody>
      </p:sp>
      <p:sp>
        <p:nvSpPr>
          <p:cNvPr id="23" name="Text 19"/>
          <p:cNvSpPr txBox="1"/>
          <p:nvPr/>
        </p:nvSpPr>
        <p:spPr>
          <a:xfrm>
            <a:off x="8787155" y="3685540"/>
            <a:ext cx="2179244" cy="420624"/>
          </a:xfrm>
          <a:prstGeom prst="rect">
            <a:avLst/>
          </a:prstGeom>
          <a:noFill/>
          <a:ln/>
        </p:spPr>
        <p:txBody>
          <a:bodyPr wrap="square" lIns="0" tIns="0" rIns="0" bIns="0" rtlCol="0" anchor="t"/>
          <a:lstStyle/>
          <a:p>
            <a:pPr algn="l" indent="0" marL="0">
              <a:lnSpc>
                <a:spcPct val="120000"/>
              </a:lnSpc>
              <a:buNone/>
            </a:pPr>
            <a:r>
              <a:rPr lang="en-US" sz="1200" b="1" dirty="0">
                <a:solidFill>
                  <a:srgbClr val="0F151B"/>
                </a:solidFill>
                <a:latin typeface="Arial" pitchFamily="34" charset="0"/>
                <a:ea typeface="Arial" pitchFamily="34" charset="-122"/>
                <a:cs typeface="Arial" pitchFamily="34" charset="-120"/>
              </a:rPr>
              <a:t>Bookings from Meta sale ads</a:t>
            </a:r>
            <a:endParaRPr lang="en-US" sz="1200" dirty="0"/>
          </a:p>
        </p:txBody>
      </p:sp>
      <p:sp>
        <p:nvSpPr>
          <p:cNvPr id="24" name="Text 20"/>
          <p:cNvSpPr txBox="1"/>
          <p:nvPr/>
        </p:nvSpPr>
        <p:spPr>
          <a:xfrm>
            <a:off x="8787155" y="4170172"/>
            <a:ext cx="2179244" cy="214884"/>
          </a:xfrm>
          <a:prstGeom prst="rect">
            <a:avLst/>
          </a:prstGeom>
          <a:noFill/>
          <a:ln/>
        </p:spPr>
        <p:txBody>
          <a:bodyPr wrap="square" lIns="0" tIns="0" rIns="0" bIns="0" rtlCol="0" anchor="t"/>
          <a:lstStyle/>
          <a:p>
            <a:pPr algn="l" indent="0" marL="0">
              <a:lnSpc>
                <a:spcPct val="120000"/>
              </a:lnSpc>
              <a:buNone/>
            </a:pPr>
            <a:r>
              <a:rPr lang="en-US" sz="1050" dirty="0">
                <a:solidFill>
                  <a:srgbClr val="5A6772"/>
                </a:solidFill>
                <a:latin typeface="Arial" pitchFamily="34" charset="0"/>
                <a:ea typeface="Arial" pitchFamily="34" charset="-122"/>
                <a:cs typeface="Arial" pitchFamily="34" charset="-120"/>
              </a:rPr>
              <a:t>Plus 73 from Google Ads calls</a:t>
            </a:r>
            <a:endParaRPr lang="en-US" sz="1050" dirty="0"/>
          </a:p>
        </p:txBody>
      </p:sp>
      <p:sp>
        <p:nvSpPr>
          <p:cNvPr id="25" name="Shape 21"/>
          <p:cNvSpPr/>
          <p:nvPr/>
        </p:nvSpPr>
        <p:spPr>
          <a:xfrm>
            <a:off x="713232" y="4439920"/>
            <a:ext cx="10765231" cy="0"/>
          </a:xfrm>
          <a:prstGeom prst="line">
            <a:avLst/>
          </a:prstGeom>
          <a:noFill/>
          <a:ln w="9525">
            <a:solidFill>
              <a:srgbClr val="E2EAF1"/>
            </a:solidFill>
            <a:prstDash val="solid"/>
          </a:ln>
        </p:spPr>
      </p:sp>
      <p:sp>
        <p:nvSpPr>
          <p:cNvPr id="26" name="Text 22"/>
          <p:cNvSpPr txBox="1"/>
          <p:nvPr/>
        </p:nvSpPr>
        <p:spPr>
          <a:xfrm>
            <a:off x="713232" y="4622800"/>
            <a:ext cx="5099152" cy="201168"/>
          </a:xfrm>
          <a:prstGeom prst="rect">
            <a:avLst/>
          </a:prstGeom>
          <a:noFill/>
          <a:ln/>
        </p:spPr>
        <p:txBody>
          <a:bodyPr wrap="square" lIns="0" tIns="0" rIns="0" bIns="0" rtlCol="0" anchor="t"/>
          <a:lstStyle/>
          <a:p>
            <a:pPr algn="l" indent="0" marL="0">
              <a:buNone/>
            </a:pPr>
            <a:r>
              <a:rPr lang="en-US" sz="1050" b="1" spc="240" kern="0" dirty="0">
                <a:solidFill>
                  <a:srgbClr val="2A80C2"/>
                </a:solidFill>
                <a:latin typeface="Arial" pitchFamily="34" charset="0"/>
                <a:ea typeface="Arial" pitchFamily="34" charset="-122"/>
                <a:cs typeface="Arial" pitchFamily="34" charset="-120"/>
              </a:rPr>
              <a:t>BEFORE</a:t>
            </a:r>
            <a:endParaRPr lang="en-US" sz="1050" dirty="0"/>
          </a:p>
        </p:txBody>
      </p:sp>
      <p:sp>
        <p:nvSpPr>
          <p:cNvPr id="27" name="Text 23"/>
          <p:cNvSpPr txBox="1"/>
          <p:nvPr/>
        </p:nvSpPr>
        <p:spPr>
          <a:xfrm>
            <a:off x="713232" y="4951984"/>
            <a:ext cx="5099152" cy="297180"/>
          </a:xfrm>
          <a:prstGeom prst="rect">
            <a:avLst/>
          </a:prstGeom>
          <a:noFill/>
          <a:ln/>
        </p:spPr>
        <p:txBody>
          <a:bodyPr wrap="square" lIns="0" tIns="0" rIns="0" bIns="0" rtlCol="0" anchor="t"/>
          <a:lstStyle/>
          <a:p>
            <a:pPr algn="l" indent="0" marL="0">
              <a:lnSpc>
                <a:spcPct val="108000"/>
              </a:lnSpc>
              <a:buNone/>
            </a:pPr>
            <a:r>
              <a:rPr lang="en-US" sz="1700" b="1" dirty="0">
                <a:solidFill>
                  <a:srgbClr val="0F151B"/>
                </a:solidFill>
                <a:latin typeface="Arial" pitchFamily="34" charset="0"/>
                <a:ea typeface="Arial" pitchFamily="34" charset="-122"/>
                <a:cs typeface="Arial" pitchFamily="34" charset="-120"/>
              </a:rPr>
              <a:t>Growth ambitions, no system</a:t>
            </a:r>
            <a:endParaRPr lang="en-US" sz="1700" dirty="0"/>
          </a:p>
        </p:txBody>
      </p:sp>
      <p:sp>
        <p:nvSpPr>
          <p:cNvPr id="28" name="Text 24"/>
          <p:cNvSpPr txBox="1"/>
          <p:nvPr/>
        </p:nvSpPr>
        <p:spPr>
          <a:xfrm>
            <a:off x="713232" y="5358892"/>
            <a:ext cx="5099152" cy="790194"/>
          </a:xfrm>
          <a:prstGeom prst="rect">
            <a:avLst/>
          </a:prstGeom>
          <a:noFill/>
          <a:ln/>
        </p:spPr>
        <p:txBody>
          <a:bodyPr wrap="square" lIns="0" tIns="0" rIns="0" bIns="0" rtlCol="0" anchor="t"/>
          <a:lstStyle/>
          <a:p>
            <a:pPr marL="342900" indent="-342900">
              <a:lnSpc>
                <a:spcPct val="124000"/>
              </a:lnSpc>
              <a:spcAft>
                <a:spcPts val="700"/>
              </a:spcAft>
              <a:buSzPct val="100000"/>
              <a:buChar char="•"/>
            </a:pPr>
            <a:r>
              <a:rPr lang="en-US" sz="1150" dirty="0">
                <a:solidFill>
                  <a:srgbClr val="5A6772"/>
                </a:solidFill>
                <a:latin typeface="Arial" pitchFamily="34" charset="0"/>
                <a:ea typeface="Arial" pitchFamily="34" charset="-122"/>
                <a:cs typeface="Arial" pitchFamily="34" charset="-120"/>
              </a:rPr>
              <a:t>Expansion planned across two states</a:t>
            </a:r>
            <a:endParaRPr lang="en-US" sz="1150" dirty="0"/>
          </a:p>
          <a:p>
            <a:pPr marL="342900" indent="-342900">
              <a:lnSpc>
                <a:spcPct val="124000"/>
              </a:lnSpc>
              <a:spcAft>
                <a:spcPts val="700"/>
              </a:spcAft>
              <a:buSzPct val="100000"/>
              <a:buChar char="•"/>
            </a:pPr>
            <a:r>
              <a:rPr lang="en-US" sz="1150" dirty="0">
                <a:solidFill>
                  <a:srgbClr val="5A6772"/>
                </a:solidFill>
                <a:latin typeface="Arial" pitchFamily="34" charset="0"/>
                <a:ea typeface="Arial" pitchFamily="34" charset="-122"/>
                <a:cs typeface="Arial" pitchFamily="34" charset="-120"/>
              </a:rPr>
              <a:t>Low visibility in competitive local markets</a:t>
            </a:r>
            <a:endParaRPr lang="en-US" sz="1150" dirty="0"/>
          </a:p>
          <a:p>
            <a:pPr marL="342900" indent="-342900">
              <a:lnSpc>
                <a:spcPct val="124000"/>
              </a:lnSpc>
              <a:spcAft>
                <a:spcPts val="700"/>
              </a:spcAft>
              <a:buSzPct val="100000"/>
              <a:buChar char="•"/>
            </a:pPr>
            <a:r>
              <a:rPr lang="en-US" sz="1150" dirty="0">
                <a:solidFill>
                  <a:srgbClr val="5A6772"/>
                </a:solidFill>
                <a:latin typeface="Arial" pitchFamily="34" charset="0"/>
                <a:ea typeface="Arial" pitchFamily="34" charset="-122"/>
                <a:cs typeface="Arial" pitchFamily="34" charset="-120"/>
              </a:rPr>
              <a:t>No sustainable way to capture and convert leads</a:t>
            </a:r>
            <a:endParaRPr lang="en-US" sz="1150" dirty="0"/>
          </a:p>
        </p:txBody>
      </p:sp>
      <p:sp>
        <p:nvSpPr>
          <p:cNvPr id="29" name="Text 25"/>
          <p:cNvSpPr txBox="1"/>
          <p:nvPr/>
        </p:nvSpPr>
        <p:spPr>
          <a:xfrm>
            <a:off x="6379312" y="4622800"/>
            <a:ext cx="5099152" cy="201168"/>
          </a:xfrm>
          <a:prstGeom prst="rect">
            <a:avLst/>
          </a:prstGeom>
          <a:noFill/>
          <a:ln/>
        </p:spPr>
        <p:txBody>
          <a:bodyPr wrap="square" lIns="0" tIns="0" rIns="0" bIns="0" rtlCol="0" anchor="t"/>
          <a:lstStyle/>
          <a:p>
            <a:pPr algn="l" indent="0" marL="0">
              <a:buNone/>
            </a:pPr>
            <a:r>
              <a:rPr lang="en-US" sz="1050" b="1" spc="240" kern="0" dirty="0">
                <a:solidFill>
                  <a:srgbClr val="2A80C2"/>
                </a:solidFill>
                <a:latin typeface="Arial" pitchFamily="34" charset="0"/>
                <a:ea typeface="Arial" pitchFamily="34" charset="-122"/>
                <a:cs typeface="Arial" pitchFamily="34" charset="-120"/>
              </a:rPr>
              <a:t>WHAT CHANGED</a:t>
            </a:r>
            <a:endParaRPr lang="en-US" sz="1050" dirty="0"/>
          </a:p>
        </p:txBody>
      </p:sp>
      <p:sp>
        <p:nvSpPr>
          <p:cNvPr id="30" name="Text 26"/>
          <p:cNvSpPr txBox="1"/>
          <p:nvPr/>
        </p:nvSpPr>
        <p:spPr>
          <a:xfrm>
            <a:off x="6379312" y="4951984"/>
            <a:ext cx="5099152" cy="297180"/>
          </a:xfrm>
          <a:prstGeom prst="rect">
            <a:avLst/>
          </a:prstGeom>
          <a:noFill/>
          <a:ln/>
        </p:spPr>
        <p:txBody>
          <a:bodyPr wrap="square" lIns="0" tIns="0" rIns="0" bIns="0" rtlCol="0" anchor="t"/>
          <a:lstStyle/>
          <a:p>
            <a:pPr algn="l" indent="0" marL="0">
              <a:lnSpc>
                <a:spcPct val="108000"/>
              </a:lnSpc>
              <a:buNone/>
            </a:pPr>
            <a:r>
              <a:rPr lang="en-US" sz="1700" b="1" dirty="0">
                <a:solidFill>
                  <a:srgbClr val="0F151B"/>
                </a:solidFill>
                <a:latin typeface="Arial" pitchFamily="34" charset="0"/>
                <a:ea typeface="Arial" pitchFamily="34" charset="-122"/>
                <a:cs typeface="Arial" pitchFamily="34" charset="-120"/>
              </a:rPr>
              <a:t>One funnel, three locations</a:t>
            </a:r>
            <a:endParaRPr lang="en-US" sz="1700" dirty="0"/>
          </a:p>
        </p:txBody>
      </p:sp>
      <p:sp>
        <p:nvSpPr>
          <p:cNvPr id="31" name="Text 27"/>
          <p:cNvSpPr txBox="1"/>
          <p:nvPr/>
        </p:nvSpPr>
        <p:spPr>
          <a:xfrm>
            <a:off x="6379312" y="5358892"/>
            <a:ext cx="5099152" cy="790194"/>
          </a:xfrm>
          <a:prstGeom prst="rect">
            <a:avLst/>
          </a:prstGeom>
          <a:noFill/>
          <a:ln/>
        </p:spPr>
        <p:txBody>
          <a:bodyPr wrap="square" lIns="0" tIns="0" rIns="0" bIns="0" rtlCol="0" anchor="t"/>
          <a:lstStyle/>
          <a:p>
            <a:pPr marL="342900" indent="-342900">
              <a:lnSpc>
                <a:spcPct val="124000"/>
              </a:lnSpc>
              <a:spcAft>
                <a:spcPts val="700"/>
              </a:spcAft>
              <a:buSzPct val="100000"/>
              <a:buChar char="•"/>
            </a:pPr>
            <a:r>
              <a:rPr lang="en-US" sz="1150" dirty="0">
                <a:solidFill>
                  <a:srgbClr val="5A6772"/>
                </a:solidFill>
                <a:latin typeface="Arial" pitchFamily="34" charset="0"/>
                <a:ea typeface="Arial" pitchFamily="34" charset="-122"/>
                <a:cs typeface="Arial" pitchFamily="34" charset="-120"/>
              </a:rPr>
              <a:t>Separate campaigns and profiles per location</a:t>
            </a:r>
            <a:endParaRPr lang="en-US" sz="1150" dirty="0"/>
          </a:p>
          <a:p>
            <a:pPr marL="342900" indent="-342900">
              <a:lnSpc>
                <a:spcPct val="124000"/>
              </a:lnSpc>
              <a:spcAft>
                <a:spcPts val="700"/>
              </a:spcAft>
              <a:buSzPct val="100000"/>
              <a:buChar char="•"/>
            </a:pPr>
            <a:r>
              <a:rPr lang="en-US" sz="1150" dirty="0">
                <a:solidFill>
                  <a:srgbClr val="5A6772"/>
                </a:solidFill>
                <a:latin typeface="Arial" pitchFamily="34" charset="0"/>
                <a:ea typeface="Arial" pitchFamily="34" charset="-122"/>
                <a:cs typeface="Arial" pitchFamily="34" charset="-120"/>
              </a:rPr>
              <a:t>Conversion focused site with streamlined booking</a:t>
            </a:r>
            <a:endParaRPr lang="en-US" sz="1150" dirty="0"/>
          </a:p>
          <a:p>
            <a:pPr marL="342900" indent="-342900">
              <a:lnSpc>
                <a:spcPct val="124000"/>
              </a:lnSpc>
              <a:spcAft>
                <a:spcPts val="700"/>
              </a:spcAft>
              <a:buSzPct val="100000"/>
              <a:buChar char="•"/>
            </a:pPr>
            <a:r>
              <a:rPr lang="en-US" sz="1150" dirty="0">
                <a:solidFill>
                  <a:srgbClr val="5A6772"/>
                </a:solidFill>
                <a:latin typeface="Arial" pitchFamily="34" charset="0"/>
                <a:ea typeface="Arial" pitchFamily="34" charset="-122"/>
                <a:cs typeface="Arial" pitchFamily="34" charset="-120"/>
              </a:rPr>
              <a:t>$8,035 in tracked revenue from Google Ads</a:t>
            </a:r>
            <a:endParaRPr lang="en-US" sz="1150" dirty="0"/>
          </a:p>
        </p:txBody>
      </p:sp>
      <p:sp>
        <p:nvSpPr>
          <p:cNvPr id="32" name="Text 28"/>
          <p:cNvSpPr txBox="1"/>
          <p:nvPr/>
        </p:nvSpPr>
        <p:spPr>
          <a:xfrm>
            <a:off x="10929823" y="6437376"/>
            <a:ext cx="548640" cy="219456"/>
          </a:xfrm>
          <a:prstGeom prst="rect">
            <a:avLst/>
          </a:prstGeom>
          <a:noFill/>
          <a:ln/>
        </p:spPr>
        <p:txBody>
          <a:bodyPr wrap="square" lIns="0" tIns="0" rIns="0" bIns="0" rtlCol="0" anchor="t"/>
          <a:lstStyle/>
          <a:p>
            <a:pPr algn="r" indent="0" marL="0">
              <a:buNone/>
            </a:pPr>
            <a:r>
              <a:rPr lang="en-US" sz="1050" b="1" spc="100" kern="0" dirty="0">
                <a:solidFill>
                  <a:srgbClr val="CBD8E3"/>
                </a:solidFill>
                <a:latin typeface="Arial" pitchFamily="34" charset="0"/>
                <a:ea typeface="Arial" pitchFamily="34" charset="-122"/>
                <a:cs typeface="Arial" pitchFamily="34" charset="-120"/>
              </a:rPr>
              <a:t>17</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Momentum Digital logo">    </p:cNvPr>
          <p:cNvPicPr>
            <a:picLocks noChangeAspect="1"/>
          </p:cNvPicPr>
          <p:nvPr/>
        </p:nvPicPr>
        <p:blipFill>
          <a:blip r:embed="rId1"/>
          <a:stretch>
            <a:fillRect/>
          </a:stretch>
        </p:blipFill>
        <p:spPr>
          <a:xfrm>
            <a:off x="10106863" y="658368"/>
            <a:ext cx="1371600" cy="294904"/>
          </a:xfrm>
          <a:prstGeom prst="rect">
            <a:avLst/>
          </a:prstGeom>
        </p:spPr>
      </p:pic>
      <p:sp>
        <p:nvSpPr>
          <p:cNvPr id="3" name="Text 0"/>
          <p:cNvSpPr txBox="1"/>
          <p:nvPr/>
        </p:nvSpPr>
        <p:spPr>
          <a:xfrm>
            <a:off x="713232" y="658368"/>
            <a:ext cx="8753551" cy="201168"/>
          </a:xfrm>
          <a:prstGeom prst="rect">
            <a:avLst/>
          </a:prstGeom>
          <a:noFill/>
          <a:ln/>
        </p:spPr>
        <p:txBody>
          <a:bodyPr wrap="square" lIns="0" tIns="0" rIns="0" bIns="0" rtlCol="0" anchor="t"/>
          <a:lstStyle/>
          <a:p>
            <a:pPr algn="l" indent="0" marL="0">
              <a:buNone/>
            </a:pPr>
            <a:r>
              <a:rPr lang="en-US" sz="1050" b="1" spc="240" kern="0" dirty="0">
                <a:solidFill>
                  <a:srgbClr val="2A80C2"/>
                </a:solidFill>
                <a:latin typeface="Arial" pitchFamily="34" charset="0"/>
                <a:ea typeface="Arial" pitchFamily="34" charset="-122"/>
                <a:cs typeface="Arial" pitchFamily="34" charset="-120"/>
              </a:rPr>
              <a:t>MORE PROOF</a:t>
            </a:r>
            <a:endParaRPr lang="en-US" sz="1050" dirty="0"/>
          </a:p>
        </p:txBody>
      </p:sp>
      <p:sp>
        <p:nvSpPr>
          <p:cNvPr id="4" name="Text 1"/>
          <p:cNvSpPr txBox="1"/>
          <p:nvPr/>
        </p:nvSpPr>
        <p:spPr>
          <a:xfrm>
            <a:off x="713232" y="987552"/>
            <a:ext cx="8570671" cy="1074420"/>
          </a:xfrm>
          <a:prstGeom prst="rect">
            <a:avLst/>
          </a:prstGeom>
          <a:noFill/>
          <a:ln/>
        </p:spPr>
        <p:txBody>
          <a:bodyPr wrap="square" lIns="0" tIns="0" rIns="0" bIns="0" rtlCol="0" anchor="t"/>
          <a:lstStyle/>
          <a:p>
            <a:pPr algn="l" indent="0" marL="0">
              <a:lnSpc>
                <a:spcPct val="102000"/>
              </a:lnSpc>
              <a:buNone/>
            </a:pPr>
            <a:r>
              <a:rPr lang="en-US" sz="3900" b="1" dirty="0">
                <a:solidFill>
                  <a:srgbClr val="0F151B"/>
                </a:solidFill>
                <a:latin typeface="Arial" pitchFamily="34" charset="0"/>
                <a:ea typeface="Arial" pitchFamily="34" charset="-122"/>
                <a:cs typeface="Arial" pitchFamily="34" charset="-120"/>
              </a:rPr>
              <a:t>Nine more clients, nine more numbers</a:t>
            </a:r>
            <a:endParaRPr lang="en-US" sz="3900" dirty="0"/>
          </a:p>
        </p:txBody>
      </p:sp>
      <p:sp>
        <p:nvSpPr>
          <p:cNvPr id="5" name="Text 2"/>
          <p:cNvSpPr txBox="1"/>
          <p:nvPr/>
        </p:nvSpPr>
        <p:spPr>
          <a:xfrm>
            <a:off x="10929823" y="6437376"/>
            <a:ext cx="548640" cy="219456"/>
          </a:xfrm>
          <a:prstGeom prst="rect">
            <a:avLst/>
          </a:prstGeom>
          <a:noFill/>
          <a:ln/>
        </p:spPr>
        <p:txBody>
          <a:bodyPr wrap="square" lIns="0" tIns="0" rIns="0" bIns="0" rtlCol="0" anchor="t"/>
          <a:lstStyle/>
          <a:p>
            <a:pPr algn="r" indent="0" marL="0">
              <a:buNone/>
            </a:pPr>
            <a:r>
              <a:rPr lang="en-US" sz="1050" b="1" spc="100" kern="0" dirty="0">
                <a:solidFill>
                  <a:srgbClr val="CBD8E3"/>
                </a:solidFill>
                <a:latin typeface="Arial" pitchFamily="34" charset="0"/>
                <a:ea typeface="Arial" pitchFamily="34" charset="-122"/>
                <a:cs typeface="Arial" pitchFamily="34" charset="-120"/>
              </a:rPr>
              <a:t>18</a:t>
            </a:r>
            <a:endParaRPr lang="en-US" sz="1050" dirty="0"/>
          </a:p>
        </p:txBody>
      </p:sp>
      <p:sp>
        <p:nvSpPr>
          <p:cNvPr id="6" name="Text 3"/>
          <p:cNvSpPr txBox="1"/>
          <p:nvPr/>
        </p:nvSpPr>
        <p:spPr>
          <a:xfrm>
            <a:off x="713232" y="2487168"/>
            <a:ext cx="1640982" cy="468376"/>
          </a:xfrm>
          <a:prstGeom prst="rect">
            <a:avLst/>
          </a:prstGeom>
          <a:noFill/>
          <a:ln/>
        </p:spPr>
        <p:txBody>
          <a:bodyPr wrap="square" lIns="0" tIns="0" rIns="0" bIns="0" rtlCol="0" anchor="t"/>
          <a:lstStyle/>
          <a:p>
            <a:pPr algn="l" indent="0" marL="0">
              <a:lnSpc>
                <a:spcPct val="100000"/>
              </a:lnSpc>
              <a:buNone/>
            </a:pPr>
            <a:r>
              <a:rPr lang="en-US" sz="3400" b="1" dirty="0">
                <a:solidFill>
                  <a:srgbClr val="2A80C2"/>
                </a:solidFill>
                <a:latin typeface="Arial" pitchFamily="34" charset="0"/>
                <a:ea typeface="Arial" pitchFamily="34" charset="-122"/>
                <a:cs typeface="Arial" pitchFamily="34" charset="-120"/>
              </a:rPr>
              <a:t>53</a:t>
            </a:r>
            <a:endParaRPr lang="en-US" sz="3400" dirty="0"/>
          </a:p>
        </p:txBody>
      </p:sp>
      <p:sp>
        <p:nvSpPr>
          <p:cNvPr id="7" name="Text 4"/>
          <p:cNvSpPr txBox="1"/>
          <p:nvPr/>
        </p:nvSpPr>
        <p:spPr>
          <a:xfrm>
            <a:off x="713232" y="3010408"/>
            <a:ext cx="1640982" cy="420624"/>
          </a:xfrm>
          <a:prstGeom prst="rect">
            <a:avLst/>
          </a:prstGeom>
          <a:noFill/>
          <a:ln/>
        </p:spPr>
        <p:txBody>
          <a:bodyPr wrap="square" lIns="0" tIns="0" rIns="0" bIns="0" rtlCol="0" anchor="t"/>
          <a:lstStyle/>
          <a:p>
            <a:pPr algn="l" indent="0" marL="0">
              <a:lnSpc>
                <a:spcPct val="120000"/>
              </a:lnSpc>
              <a:buNone/>
            </a:pPr>
            <a:r>
              <a:rPr lang="en-US" sz="1200" b="1" dirty="0">
                <a:solidFill>
                  <a:srgbClr val="0F151B"/>
                </a:solidFill>
                <a:latin typeface="Arial" pitchFamily="34" charset="0"/>
                <a:ea typeface="Arial" pitchFamily="34" charset="-122"/>
                <a:cs typeface="Arial" pitchFamily="34" charset="-120"/>
              </a:rPr>
              <a:t>Qualified leads in 30 days</a:t>
            </a:r>
            <a:endParaRPr lang="en-US" sz="1200" dirty="0"/>
          </a:p>
        </p:txBody>
      </p:sp>
      <p:sp>
        <p:nvSpPr>
          <p:cNvPr id="8" name="Text 5"/>
          <p:cNvSpPr txBox="1"/>
          <p:nvPr/>
        </p:nvSpPr>
        <p:spPr>
          <a:xfrm>
            <a:off x="713232" y="3495040"/>
            <a:ext cx="1640982" cy="534924"/>
          </a:xfrm>
          <a:prstGeom prst="rect">
            <a:avLst/>
          </a:prstGeom>
          <a:noFill/>
          <a:ln/>
        </p:spPr>
        <p:txBody>
          <a:bodyPr wrap="square" lIns="0" tIns="0" rIns="0" bIns="0" rtlCol="0" anchor="t"/>
          <a:lstStyle/>
          <a:p>
            <a:pPr algn="l" indent="0" marL="0">
              <a:lnSpc>
                <a:spcPct val="120000"/>
              </a:lnSpc>
              <a:buNone/>
            </a:pPr>
            <a:r>
              <a:rPr lang="en-US" sz="1050" dirty="0">
                <a:solidFill>
                  <a:srgbClr val="5A6772"/>
                </a:solidFill>
                <a:latin typeface="Arial" pitchFamily="34" charset="0"/>
                <a:ea typeface="Arial" pitchFamily="34" charset="-122"/>
                <a:cs typeface="Arial" pitchFamily="34" charset="-120"/>
              </a:rPr>
              <a:t>Tristate Window and Siding, plus 19 booked appointments</a:t>
            </a:r>
            <a:endParaRPr lang="en-US" sz="1050" dirty="0"/>
          </a:p>
        </p:txBody>
      </p:sp>
      <p:sp>
        <p:nvSpPr>
          <p:cNvPr id="9" name="Shape 6"/>
          <p:cNvSpPr/>
          <p:nvPr/>
        </p:nvSpPr>
        <p:spPr>
          <a:xfrm>
            <a:off x="2628534" y="2487168"/>
            <a:ext cx="0" cy="1652524"/>
          </a:xfrm>
          <a:prstGeom prst="line">
            <a:avLst/>
          </a:prstGeom>
          <a:noFill/>
          <a:ln w="9525">
            <a:solidFill>
              <a:srgbClr val="E2EAF1"/>
            </a:solidFill>
            <a:prstDash val="solid"/>
          </a:ln>
        </p:spPr>
      </p:sp>
      <p:sp>
        <p:nvSpPr>
          <p:cNvPr id="10" name="Text 7"/>
          <p:cNvSpPr txBox="1"/>
          <p:nvPr/>
        </p:nvSpPr>
        <p:spPr>
          <a:xfrm>
            <a:off x="2866278" y="2487168"/>
            <a:ext cx="1640982" cy="468376"/>
          </a:xfrm>
          <a:prstGeom prst="rect">
            <a:avLst/>
          </a:prstGeom>
          <a:noFill/>
          <a:ln/>
        </p:spPr>
        <p:txBody>
          <a:bodyPr wrap="square" lIns="0" tIns="0" rIns="0" bIns="0" rtlCol="0" anchor="t"/>
          <a:lstStyle/>
          <a:p>
            <a:pPr algn="l" indent="0" marL="0">
              <a:lnSpc>
                <a:spcPct val="100000"/>
              </a:lnSpc>
              <a:buNone/>
            </a:pPr>
            <a:r>
              <a:rPr lang="en-US" sz="3400" b="1" dirty="0">
                <a:solidFill>
                  <a:srgbClr val="2A80C2"/>
                </a:solidFill>
                <a:latin typeface="Arial" pitchFamily="34" charset="0"/>
                <a:ea typeface="Arial" pitchFamily="34" charset="-122"/>
                <a:cs typeface="Arial" pitchFamily="34" charset="-120"/>
              </a:rPr>
              <a:t>71</a:t>
            </a:r>
            <a:endParaRPr lang="en-US" sz="3400" dirty="0"/>
          </a:p>
        </p:txBody>
      </p:sp>
      <p:sp>
        <p:nvSpPr>
          <p:cNvPr id="11" name="Text 8"/>
          <p:cNvSpPr txBox="1"/>
          <p:nvPr/>
        </p:nvSpPr>
        <p:spPr>
          <a:xfrm>
            <a:off x="2866278" y="3010408"/>
            <a:ext cx="1640982" cy="420624"/>
          </a:xfrm>
          <a:prstGeom prst="rect">
            <a:avLst/>
          </a:prstGeom>
          <a:noFill/>
          <a:ln/>
        </p:spPr>
        <p:txBody>
          <a:bodyPr wrap="square" lIns="0" tIns="0" rIns="0" bIns="0" rtlCol="0" anchor="t"/>
          <a:lstStyle/>
          <a:p>
            <a:pPr algn="l" indent="0" marL="0">
              <a:lnSpc>
                <a:spcPct val="120000"/>
              </a:lnSpc>
              <a:buNone/>
            </a:pPr>
            <a:r>
              <a:rPr lang="en-US" sz="1200" b="1" dirty="0">
                <a:solidFill>
                  <a:srgbClr val="0F151B"/>
                </a:solidFill>
                <a:latin typeface="Arial" pitchFamily="34" charset="0"/>
                <a:ea typeface="Arial" pitchFamily="34" charset="-122"/>
                <a:cs typeface="Arial" pitchFamily="34" charset="-120"/>
              </a:rPr>
              <a:t>Paid leads</a:t>
            </a:r>
            <a:endParaRPr lang="en-US" sz="1200" dirty="0"/>
          </a:p>
        </p:txBody>
      </p:sp>
      <p:sp>
        <p:nvSpPr>
          <p:cNvPr id="12" name="Text 9"/>
          <p:cNvSpPr txBox="1"/>
          <p:nvPr/>
        </p:nvSpPr>
        <p:spPr>
          <a:xfrm>
            <a:off x="2866278" y="3495040"/>
            <a:ext cx="1640982" cy="534924"/>
          </a:xfrm>
          <a:prstGeom prst="rect">
            <a:avLst/>
          </a:prstGeom>
          <a:noFill/>
          <a:ln/>
        </p:spPr>
        <p:txBody>
          <a:bodyPr wrap="square" lIns="0" tIns="0" rIns="0" bIns="0" rtlCol="0" anchor="t"/>
          <a:lstStyle/>
          <a:p>
            <a:pPr algn="l" indent="0" marL="0">
              <a:lnSpc>
                <a:spcPct val="120000"/>
              </a:lnSpc>
              <a:buNone/>
            </a:pPr>
            <a:r>
              <a:rPr lang="en-US" sz="1050" dirty="0">
                <a:solidFill>
                  <a:srgbClr val="5A6772"/>
                </a:solidFill>
                <a:latin typeface="Arial" pitchFamily="34" charset="0"/>
                <a:ea typeface="Arial" pitchFamily="34" charset="-122"/>
                <a:cs typeface="Arial" pitchFamily="34" charset="-120"/>
              </a:rPr>
              <a:t>Jade International freight, $19.58 Google CPL</a:t>
            </a:r>
            <a:endParaRPr lang="en-US" sz="1050" dirty="0"/>
          </a:p>
        </p:txBody>
      </p:sp>
      <p:sp>
        <p:nvSpPr>
          <p:cNvPr id="13" name="Shape 10"/>
          <p:cNvSpPr/>
          <p:nvPr/>
        </p:nvSpPr>
        <p:spPr>
          <a:xfrm>
            <a:off x="4781580" y="2487168"/>
            <a:ext cx="0" cy="1652524"/>
          </a:xfrm>
          <a:prstGeom prst="line">
            <a:avLst/>
          </a:prstGeom>
          <a:noFill/>
          <a:ln w="9525">
            <a:solidFill>
              <a:srgbClr val="E2EAF1"/>
            </a:solidFill>
            <a:prstDash val="solid"/>
          </a:ln>
        </p:spPr>
      </p:sp>
      <p:sp>
        <p:nvSpPr>
          <p:cNvPr id="14" name="Text 11"/>
          <p:cNvSpPr txBox="1"/>
          <p:nvPr/>
        </p:nvSpPr>
        <p:spPr>
          <a:xfrm>
            <a:off x="5019324" y="2487168"/>
            <a:ext cx="1640982" cy="468376"/>
          </a:xfrm>
          <a:prstGeom prst="rect">
            <a:avLst/>
          </a:prstGeom>
          <a:noFill/>
          <a:ln/>
        </p:spPr>
        <p:txBody>
          <a:bodyPr wrap="square" lIns="0" tIns="0" rIns="0" bIns="0" rtlCol="0" anchor="t"/>
          <a:lstStyle/>
          <a:p>
            <a:pPr algn="l" indent="0" marL="0">
              <a:lnSpc>
                <a:spcPct val="100000"/>
              </a:lnSpc>
              <a:buNone/>
            </a:pPr>
            <a:r>
              <a:rPr lang="en-US" sz="3400" b="1" dirty="0">
                <a:solidFill>
                  <a:srgbClr val="2A80C2"/>
                </a:solidFill>
                <a:latin typeface="Arial" pitchFamily="34" charset="0"/>
                <a:ea typeface="Arial" pitchFamily="34" charset="-122"/>
                <a:cs typeface="Arial" pitchFamily="34" charset="-120"/>
              </a:rPr>
              <a:t>7.9K</a:t>
            </a:r>
            <a:endParaRPr lang="en-US" sz="3400" dirty="0"/>
          </a:p>
        </p:txBody>
      </p:sp>
      <p:sp>
        <p:nvSpPr>
          <p:cNvPr id="15" name="Text 12"/>
          <p:cNvSpPr txBox="1"/>
          <p:nvPr/>
        </p:nvSpPr>
        <p:spPr>
          <a:xfrm>
            <a:off x="5019324" y="3010408"/>
            <a:ext cx="1640982" cy="420624"/>
          </a:xfrm>
          <a:prstGeom prst="rect">
            <a:avLst/>
          </a:prstGeom>
          <a:noFill/>
          <a:ln/>
        </p:spPr>
        <p:txBody>
          <a:bodyPr wrap="square" lIns="0" tIns="0" rIns="0" bIns="0" rtlCol="0" anchor="t"/>
          <a:lstStyle/>
          <a:p>
            <a:pPr algn="l" indent="0" marL="0">
              <a:lnSpc>
                <a:spcPct val="120000"/>
              </a:lnSpc>
              <a:buNone/>
            </a:pPr>
            <a:r>
              <a:rPr lang="en-US" sz="1200" b="1" dirty="0">
                <a:solidFill>
                  <a:srgbClr val="0F151B"/>
                </a:solidFill>
                <a:latin typeface="Arial" pitchFamily="34" charset="0"/>
                <a:ea typeface="Arial" pitchFamily="34" charset="-122"/>
                <a:cs typeface="Arial" pitchFamily="34" charset="-120"/>
              </a:rPr>
              <a:t>Organic clicks</a:t>
            </a:r>
            <a:endParaRPr lang="en-US" sz="1200" dirty="0"/>
          </a:p>
        </p:txBody>
      </p:sp>
      <p:sp>
        <p:nvSpPr>
          <p:cNvPr id="16" name="Text 13"/>
          <p:cNvSpPr txBox="1"/>
          <p:nvPr/>
        </p:nvSpPr>
        <p:spPr>
          <a:xfrm>
            <a:off x="5019324" y="3495040"/>
            <a:ext cx="1640982" cy="534924"/>
          </a:xfrm>
          <a:prstGeom prst="rect">
            <a:avLst/>
          </a:prstGeom>
          <a:noFill/>
          <a:ln/>
        </p:spPr>
        <p:txBody>
          <a:bodyPr wrap="square" lIns="0" tIns="0" rIns="0" bIns="0" rtlCol="0" anchor="t"/>
          <a:lstStyle/>
          <a:p>
            <a:pPr algn="l" indent="0" marL="0">
              <a:lnSpc>
                <a:spcPct val="120000"/>
              </a:lnSpc>
              <a:buNone/>
            </a:pPr>
            <a:r>
              <a:rPr lang="en-US" sz="1050" dirty="0">
                <a:solidFill>
                  <a:srgbClr val="5A6772"/>
                </a:solidFill>
                <a:latin typeface="Arial" pitchFamily="34" charset="0"/>
                <a:ea typeface="Arial" pitchFamily="34" charset="-122"/>
                <a:cs typeface="Arial" pitchFamily="34" charset="-120"/>
              </a:rPr>
              <a:t>Sweetlife NYC, Wix to WordPress with no traffic loss</a:t>
            </a:r>
            <a:endParaRPr lang="en-US" sz="1050" dirty="0"/>
          </a:p>
        </p:txBody>
      </p:sp>
      <p:sp>
        <p:nvSpPr>
          <p:cNvPr id="17" name="Shape 14"/>
          <p:cNvSpPr/>
          <p:nvPr/>
        </p:nvSpPr>
        <p:spPr>
          <a:xfrm>
            <a:off x="6934627" y="2487168"/>
            <a:ext cx="0" cy="1652524"/>
          </a:xfrm>
          <a:prstGeom prst="line">
            <a:avLst/>
          </a:prstGeom>
          <a:noFill/>
          <a:ln w="9525">
            <a:solidFill>
              <a:srgbClr val="E2EAF1"/>
            </a:solidFill>
            <a:prstDash val="solid"/>
          </a:ln>
        </p:spPr>
      </p:sp>
      <p:sp>
        <p:nvSpPr>
          <p:cNvPr id="18" name="Text 15"/>
          <p:cNvSpPr txBox="1"/>
          <p:nvPr/>
        </p:nvSpPr>
        <p:spPr>
          <a:xfrm>
            <a:off x="7172371" y="2487168"/>
            <a:ext cx="1640982" cy="468376"/>
          </a:xfrm>
          <a:prstGeom prst="rect">
            <a:avLst/>
          </a:prstGeom>
          <a:noFill/>
          <a:ln/>
        </p:spPr>
        <p:txBody>
          <a:bodyPr wrap="square" lIns="0" tIns="0" rIns="0" bIns="0" rtlCol="0" anchor="t"/>
          <a:lstStyle/>
          <a:p>
            <a:pPr algn="l" indent="0" marL="0">
              <a:lnSpc>
                <a:spcPct val="100000"/>
              </a:lnSpc>
              <a:buNone/>
            </a:pPr>
            <a:r>
              <a:rPr lang="en-US" sz="3400" b="1" dirty="0">
                <a:solidFill>
                  <a:srgbClr val="2A80C2"/>
                </a:solidFill>
                <a:latin typeface="Arial" pitchFamily="34" charset="0"/>
                <a:ea typeface="Arial" pitchFamily="34" charset="-122"/>
                <a:cs typeface="Arial" pitchFamily="34" charset="-120"/>
              </a:rPr>
              <a:t>172</a:t>
            </a:r>
            <a:endParaRPr lang="en-US" sz="3400" dirty="0"/>
          </a:p>
        </p:txBody>
      </p:sp>
      <p:sp>
        <p:nvSpPr>
          <p:cNvPr id="19" name="Text 16"/>
          <p:cNvSpPr txBox="1"/>
          <p:nvPr/>
        </p:nvSpPr>
        <p:spPr>
          <a:xfrm>
            <a:off x="7172371" y="3010408"/>
            <a:ext cx="1640982" cy="420624"/>
          </a:xfrm>
          <a:prstGeom prst="rect">
            <a:avLst/>
          </a:prstGeom>
          <a:noFill/>
          <a:ln/>
        </p:spPr>
        <p:txBody>
          <a:bodyPr wrap="square" lIns="0" tIns="0" rIns="0" bIns="0" rtlCol="0" anchor="t"/>
          <a:lstStyle/>
          <a:p>
            <a:pPr algn="l" indent="0" marL="0">
              <a:lnSpc>
                <a:spcPct val="120000"/>
              </a:lnSpc>
              <a:buNone/>
            </a:pPr>
            <a:r>
              <a:rPr lang="en-US" sz="1200" b="1" dirty="0">
                <a:solidFill>
                  <a:srgbClr val="0F151B"/>
                </a:solidFill>
                <a:latin typeface="Arial" pitchFamily="34" charset="0"/>
                <a:ea typeface="Arial" pitchFamily="34" charset="-122"/>
                <a:cs typeface="Arial" pitchFamily="34" charset="-120"/>
              </a:rPr>
              <a:t>Tracked conversions</a:t>
            </a:r>
            <a:endParaRPr lang="en-US" sz="1200" dirty="0"/>
          </a:p>
        </p:txBody>
      </p:sp>
      <p:sp>
        <p:nvSpPr>
          <p:cNvPr id="20" name="Text 17"/>
          <p:cNvSpPr txBox="1"/>
          <p:nvPr/>
        </p:nvSpPr>
        <p:spPr>
          <a:xfrm>
            <a:off x="7172371" y="3495040"/>
            <a:ext cx="1640982" cy="534924"/>
          </a:xfrm>
          <a:prstGeom prst="rect">
            <a:avLst/>
          </a:prstGeom>
          <a:noFill/>
          <a:ln/>
        </p:spPr>
        <p:txBody>
          <a:bodyPr wrap="square" lIns="0" tIns="0" rIns="0" bIns="0" rtlCol="0" anchor="t"/>
          <a:lstStyle/>
          <a:p>
            <a:pPr algn="l" indent="0" marL="0">
              <a:lnSpc>
                <a:spcPct val="120000"/>
              </a:lnSpc>
              <a:buNone/>
            </a:pPr>
            <a:r>
              <a:rPr lang="en-US" sz="1050" dirty="0">
                <a:solidFill>
                  <a:srgbClr val="5A6772"/>
                </a:solidFill>
                <a:latin typeface="Arial" pitchFamily="34" charset="0"/>
                <a:ea typeface="Arial" pitchFamily="34" charset="-122"/>
                <a:cs typeface="Arial" pitchFamily="34" charset="-120"/>
              </a:rPr>
              <a:t>LaserSkin MedSpa, 21 booked appointments</a:t>
            </a:r>
            <a:endParaRPr lang="en-US" sz="1050" dirty="0"/>
          </a:p>
        </p:txBody>
      </p:sp>
      <p:sp>
        <p:nvSpPr>
          <p:cNvPr id="21" name="Shape 18"/>
          <p:cNvSpPr/>
          <p:nvPr/>
        </p:nvSpPr>
        <p:spPr>
          <a:xfrm>
            <a:off x="9087673" y="2487168"/>
            <a:ext cx="0" cy="1652524"/>
          </a:xfrm>
          <a:prstGeom prst="line">
            <a:avLst/>
          </a:prstGeom>
          <a:noFill/>
          <a:ln w="9525">
            <a:solidFill>
              <a:srgbClr val="E2EAF1"/>
            </a:solidFill>
            <a:prstDash val="solid"/>
          </a:ln>
        </p:spPr>
      </p:sp>
      <p:sp>
        <p:nvSpPr>
          <p:cNvPr id="22" name="Text 19"/>
          <p:cNvSpPr txBox="1"/>
          <p:nvPr/>
        </p:nvSpPr>
        <p:spPr>
          <a:xfrm>
            <a:off x="9325417" y="2487168"/>
            <a:ext cx="1640982" cy="468376"/>
          </a:xfrm>
          <a:prstGeom prst="rect">
            <a:avLst/>
          </a:prstGeom>
          <a:noFill/>
          <a:ln/>
        </p:spPr>
        <p:txBody>
          <a:bodyPr wrap="square" lIns="0" tIns="0" rIns="0" bIns="0" rtlCol="0" anchor="t"/>
          <a:lstStyle/>
          <a:p>
            <a:pPr algn="l" indent="0" marL="0">
              <a:lnSpc>
                <a:spcPct val="100000"/>
              </a:lnSpc>
              <a:buNone/>
            </a:pPr>
            <a:r>
              <a:rPr lang="en-US" sz="3400" b="1" dirty="0">
                <a:solidFill>
                  <a:srgbClr val="2A80C2"/>
                </a:solidFill>
                <a:latin typeface="Arial" pitchFamily="34" charset="0"/>
                <a:ea typeface="Arial" pitchFamily="34" charset="-122"/>
                <a:cs typeface="Arial" pitchFamily="34" charset="-120"/>
              </a:rPr>
              <a:t>24,688</a:t>
            </a:r>
            <a:endParaRPr lang="en-US" sz="3400" dirty="0"/>
          </a:p>
        </p:txBody>
      </p:sp>
      <p:sp>
        <p:nvSpPr>
          <p:cNvPr id="23" name="Text 20"/>
          <p:cNvSpPr txBox="1"/>
          <p:nvPr/>
        </p:nvSpPr>
        <p:spPr>
          <a:xfrm>
            <a:off x="9325417" y="3010408"/>
            <a:ext cx="1640982" cy="420624"/>
          </a:xfrm>
          <a:prstGeom prst="rect">
            <a:avLst/>
          </a:prstGeom>
          <a:noFill/>
          <a:ln/>
        </p:spPr>
        <p:txBody>
          <a:bodyPr wrap="square" lIns="0" tIns="0" rIns="0" bIns="0" rtlCol="0" anchor="t"/>
          <a:lstStyle/>
          <a:p>
            <a:pPr algn="l" indent="0" marL="0">
              <a:lnSpc>
                <a:spcPct val="120000"/>
              </a:lnSpc>
              <a:buNone/>
            </a:pPr>
            <a:r>
              <a:rPr lang="en-US" sz="1200" b="1" dirty="0">
                <a:solidFill>
                  <a:srgbClr val="0F151B"/>
                </a:solidFill>
                <a:latin typeface="Arial" pitchFamily="34" charset="0"/>
                <a:ea typeface="Arial" pitchFamily="34" charset="-122"/>
                <a:cs typeface="Arial" pitchFamily="34" charset="-120"/>
              </a:rPr>
              <a:t>Sessions</a:t>
            </a:r>
            <a:endParaRPr lang="en-US" sz="1200" dirty="0"/>
          </a:p>
        </p:txBody>
      </p:sp>
      <p:sp>
        <p:nvSpPr>
          <p:cNvPr id="24" name="Text 21"/>
          <p:cNvSpPr txBox="1"/>
          <p:nvPr/>
        </p:nvSpPr>
        <p:spPr>
          <a:xfrm>
            <a:off x="9325417" y="3495040"/>
            <a:ext cx="1640982" cy="534924"/>
          </a:xfrm>
          <a:prstGeom prst="rect">
            <a:avLst/>
          </a:prstGeom>
          <a:noFill/>
          <a:ln/>
        </p:spPr>
        <p:txBody>
          <a:bodyPr wrap="square" lIns="0" tIns="0" rIns="0" bIns="0" rtlCol="0" anchor="t"/>
          <a:lstStyle/>
          <a:p>
            <a:pPr algn="l" indent="0" marL="0">
              <a:lnSpc>
                <a:spcPct val="120000"/>
              </a:lnSpc>
              <a:buNone/>
            </a:pPr>
            <a:r>
              <a:rPr lang="en-US" sz="1050" dirty="0">
                <a:solidFill>
                  <a:srgbClr val="5A6772"/>
                </a:solidFill>
                <a:latin typeface="Arial" pitchFamily="34" charset="0"/>
                <a:ea typeface="Arial" pitchFamily="34" charset="-122"/>
                <a:cs typeface="Arial" pitchFamily="34" charset="-120"/>
              </a:rPr>
              <a:t>Mosser Legal appellate practice</a:t>
            </a:r>
            <a:endParaRPr lang="en-US" sz="1050" dirty="0"/>
          </a:p>
        </p:txBody>
      </p:sp>
      <p:sp>
        <p:nvSpPr>
          <p:cNvPr id="25" name="Shape 22"/>
          <p:cNvSpPr/>
          <p:nvPr/>
        </p:nvSpPr>
        <p:spPr>
          <a:xfrm>
            <a:off x="713232" y="4224528"/>
            <a:ext cx="10765231" cy="0"/>
          </a:xfrm>
          <a:prstGeom prst="line">
            <a:avLst/>
          </a:prstGeom>
          <a:noFill/>
          <a:ln w="9525">
            <a:solidFill>
              <a:srgbClr val="E2EAF1"/>
            </a:solidFill>
            <a:prstDash val="solid"/>
          </a:ln>
        </p:spPr>
      </p:sp>
      <p:sp>
        <p:nvSpPr>
          <p:cNvPr id="26" name="Text 23"/>
          <p:cNvSpPr txBox="1"/>
          <p:nvPr/>
        </p:nvSpPr>
        <p:spPr>
          <a:xfrm>
            <a:off x="713232" y="4443984"/>
            <a:ext cx="1640982" cy="468376"/>
          </a:xfrm>
          <a:prstGeom prst="rect">
            <a:avLst/>
          </a:prstGeom>
          <a:noFill/>
          <a:ln/>
        </p:spPr>
        <p:txBody>
          <a:bodyPr wrap="square" lIns="0" tIns="0" rIns="0" bIns="0" rtlCol="0" anchor="t"/>
          <a:lstStyle/>
          <a:p>
            <a:pPr algn="l" indent="0" marL="0">
              <a:lnSpc>
                <a:spcPct val="100000"/>
              </a:lnSpc>
              <a:buNone/>
            </a:pPr>
            <a:r>
              <a:rPr lang="en-US" sz="3400" b="1" dirty="0">
                <a:solidFill>
                  <a:srgbClr val="23A455"/>
                </a:solidFill>
                <a:latin typeface="Arial" pitchFamily="34" charset="0"/>
                <a:ea typeface="Arial" pitchFamily="34" charset="-122"/>
                <a:cs typeface="Arial" pitchFamily="34" charset="-120"/>
              </a:rPr>
              <a:t>$594K</a:t>
            </a:r>
            <a:endParaRPr lang="en-US" sz="3400" dirty="0"/>
          </a:p>
        </p:txBody>
      </p:sp>
      <p:sp>
        <p:nvSpPr>
          <p:cNvPr id="27" name="Text 24"/>
          <p:cNvSpPr txBox="1"/>
          <p:nvPr/>
        </p:nvSpPr>
        <p:spPr>
          <a:xfrm>
            <a:off x="713232" y="4967224"/>
            <a:ext cx="1640982" cy="420624"/>
          </a:xfrm>
          <a:prstGeom prst="rect">
            <a:avLst/>
          </a:prstGeom>
          <a:noFill/>
          <a:ln/>
        </p:spPr>
        <p:txBody>
          <a:bodyPr wrap="square" lIns="0" tIns="0" rIns="0" bIns="0" rtlCol="0" anchor="t"/>
          <a:lstStyle/>
          <a:p>
            <a:pPr algn="l" indent="0" marL="0">
              <a:lnSpc>
                <a:spcPct val="120000"/>
              </a:lnSpc>
              <a:buNone/>
            </a:pPr>
            <a:r>
              <a:rPr lang="en-US" sz="1200" b="1" dirty="0">
                <a:solidFill>
                  <a:srgbClr val="0F151B"/>
                </a:solidFill>
                <a:latin typeface="Arial" pitchFamily="34" charset="0"/>
                <a:ea typeface="Arial" pitchFamily="34" charset="-122"/>
                <a:cs typeface="Arial" pitchFamily="34" charset="-120"/>
              </a:rPr>
              <a:t>Annual sales in 2021</a:t>
            </a:r>
            <a:endParaRPr lang="en-US" sz="1200" dirty="0"/>
          </a:p>
        </p:txBody>
      </p:sp>
      <p:sp>
        <p:nvSpPr>
          <p:cNvPr id="28" name="Text 25"/>
          <p:cNvSpPr txBox="1"/>
          <p:nvPr/>
        </p:nvSpPr>
        <p:spPr>
          <a:xfrm>
            <a:off x="713232" y="5451856"/>
            <a:ext cx="1640982" cy="534924"/>
          </a:xfrm>
          <a:prstGeom prst="rect">
            <a:avLst/>
          </a:prstGeom>
          <a:noFill/>
          <a:ln/>
        </p:spPr>
        <p:txBody>
          <a:bodyPr wrap="square" lIns="0" tIns="0" rIns="0" bIns="0" rtlCol="0" anchor="t"/>
          <a:lstStyle/>
          <a:p>
            <a:pPr algn="l" indent="0" marL="0">
              <a:lnSpc>
                <a:spcPct val="120000"/>
              </a:lnSpc>
              <a:buNone/>
            </a:pPr>
            <a:r>
              <a:rPr lang="en-US" sz="1050" dirty="0">
                <a:solidFill>
                  <a:srgbClr val="5A6772"/>
                </a:solidFill>
                <a:latin typeface="Arial" pitchFamily="34" charset="0"/>
                <a:ea typeface="Arial" pitchFamily="34" charset="-122"/>
                <a:cs typeface="Arial" pitchFamily="34" charset="-120"/>
              </a:rPr>
              <a:t>Alex Mika Jewelry, up from $142K in 2016</a:t>
            </a:r>
            <a:endParaRPr lang="en-US" sz="1050" dirty="0"/>
          </a:p>
        </p:txBody>
      </p:sp>
      <p:sp>
        <p:nvSpPr>
          <p:cNvPr id="29" name="Shape 26"/>
          <p:cNvSpPr/>
          <p:nvPr/>
        </p:nvSpPr>
        <p:spPr>
          <a:xfrm>
            <a:off x="2628534" y="4443984"/>
            <a:ext cx="0" cy="1652524"/>
          </a:xfrm>
          <a:prstGeom prst="line">
            <a:avLst/>
          </a:prstGeom>
          <a:noFill/>
          <a:ln w="9525">
            <a:solidFill>
              <a:srgbClr val="E2EAF1"/>
            </a:solidFill>
            <a:prstDash val="solid"/>
          </a:ln>
        </p:spPr>
      </p:sp>
      <p:sp>
        <p:nvSpPr>
          <p:cNvPr id="30" name="Text 27"/>
          <p:cNvSpPr txBox="1"/>
          <p:nvPr/>
        </p:nvSpPr>
        <p:spPr>
          <a:xfrm>
            <a:off x="2866278" y="4443984"/>
            <a:ext cx="1640982" cy="468376"/>
          </a:xfrm>
          <a:prstGeom prst="rect">
            <a:avLst/>
          </a:prstGeom>
          <a:noFill/>
          <a:ln/>
        </p:spPr>
        <p:txBody>
          <a:bodyPr wrap="square" lIns="0" tIns="0" rIns="0" bIns="0" rtlCol="0" anchor="t"/>
          <a:lstStyle/>
          <a:p>
            <a:pPr algn="l" indent="0" marL="0">
              <a:lnSpc>
                <a:spcPct val="100000"/>
              </a:lnSpc>
              <a:buNone/>
            </a:pPr>
            <a:r>
              <a:rPr lang="en-US" sz="3400" b="1" dirty="0">
                <a:solidFill>
                  <a:srgbClr val="23A455"/>
                </a:solidFill>
                <a:latin typeface="Arial" pitchFamily="34" charset="0"/>
                <a:ea typeface="Arial" pitchFamily="34" charset="-122"/>
                <a:cs typeface="Arial" pitchFamily="34" charset="-120"/>
              </a:rPr>
              <a:t>5 → 35</a:t>
            </a:r>
            <a:endParaRPr lang="en-US" sz="3400" dirty="0"/>
          </a:p>
        </p:txBody>
      </p:sp>
      <p:sp>
        <p:nvSpPr>
          <p:cNvPr id="31" name="Text 28"/>
          <p:cNvSpPr txBox="1"/>
          <p:nvPr/>
        </p:nvSpPr>
        <p:spPr>
          <a:xfrm>
            <a:off x="2866278" y="4967224"/>
            <a:ext cx="1640982" cy="420624"/>
          </a:xfrm>
          <a:prstGeom prst="rect">
            <a:avLst/>
          </a:prstGeom>
          <a:noFill/>
          <a:ln/>
        </p:spPr>
        <p:txBody>
          <a:bodyPr wrap="square" lIns="0" tIns="0" rIns="0" bIns="0" rtlCol="0" anchor="t"/>
          <a:lstStyle/>
          <a:p>
            <a:pPr algn="l" indent="0" marL="0">
              <a:lnSpc>
                <a:spcPct val="120000"/>
              </a:lnSpc>
              <a:buNone/>
            </a:pPr>
            <a:r>
              <a:rPr lang="en-US" sz="1200" b="1" dirty="0">
                <a:solidFill>
                  <a:srgbClr val="0F151B"/>
                </a:solidFill>
                <a:latin typeface="Arial" pitchFamily="34" charset="0"/>
                <a:ea typeface="Arial" pitchFamily="34" charset="-122"/>
                <a:cs typeface="Arial" pitchFamily="34" charset="-120"/>
              </a:rPr>
              <a:t>Domain authority</a:t>
            </a:r>
            <a:endParaRPr lang="en-US" sz="1200" dirty="0"/>
          </a:p>
        </p:txBody>
      </p:sp>
      <p:sp>
        <p:nvSpPr>
          <p:cNvPr id="32" name="Text 29"/>
          <p:cNvSpPr txBox="1"/>
          <p:nvPr/>
        </p:nvSpPr>
        <p:spPr>
          <a:xfrm>
            <a:off x="2866278" y="5451856"/>
            <a:ext cx="1640982" cy="534924"/>
          </a:xfrm>
          <a:prstGeom prst="rect">
            <a:avLst/>
          </a:prstGeom>
          <a:noFill/>
          <a:ln/>
        </p:spPr>
        <p:txBody>
          <a:bodyPr wrap="square" lIns="0" tIns="0" rIns="0" bIns="0" rtlCol="0" anchor="t"/>
          <a:lstStyle/>
          <a:p>
            <a:pPr algn="l" indent="0" marL="0">
              <a:lnSpc>
                <a:spcPct val="120000"/>
              </a:lnSpc>
              <a:buNone/>
            </a:pPr>
            <a:r>
              <a:rPr lang="en-US" sz="1050" dirty="0">
                <a:solidFill>
                  <a:srgbClr val="5A6772"/>
                </a:solidFill>
                <a:latin typeface="Arial" pitchFamily="34" charset="0"/>
                <a:ea typeface="Arial" pitchFamily="34" charset="-122"/>
                <a:cs typeface="Arial" pitchFamily="34" charset="-120"/>
              </a:rPr>
              <a:t>Alex Mika Jewelry, backlinks 224 to 2,408</a:t>
            </a:r>
            <a:endParaRPr lang="en-US" sz="1050" dirty="0"/>
          </a:p>
        </p:txBody>
      </p:sp>
      <p:sp>
        <p:nvSpPr>
          <p:cNvPr id="33" name="Shape 30"/>
          <p:cNvSpPr/>
          <p:nvPr/>
        </p:nvSpPr>
        <p:spPr>
          <a:xfrm>
            <a:off x="4781580" y="4443984"/>
            <a:ext cx="0" cy="1652524"/>
          </a:xfrm>
          <a:prstGeom prst="line">
            <a:avLst/>
          </a:prstGeom>
          <a:noFill/>
          <a:ln w="9525">
            <a:solidFill>
              <a:srgbClr val="E2EAF1"/>
            </a:solidFill>
            <a:prstDash val="solid"/>
          </a:ln>
        </p:spPr>
      </p:sp>
      <p:sp>
        <p:nvSpPr>
          <p:cNvPr id="34" name="Text 31"/>
          <p:cNvSpPr txBox="1"/>
          <p:nvPr/>
        </p:nvSpPr>
        <p:spPr>
          <a:xfrm>
            <a:off x="5019324" y="4443984"/>
            <a:ext cx="1640982" cy="468376"/>
          </a:xfrm>
          <a:prstGeom prst="rect">
            <a:avLst/>
          </a:prstGeom>
          <a:noFill/>
          <a:ln/>
        </p:spPr>
        <p:txBody>
          <a:bodyPr wrap="square" lIns="0" tIns="0" rIns="0" bIns="0" rtlCol="0" anchor="t"/>
          <a:lstStyle/>
          <a:p>
            <a:pPr algn="l" indent="0" marL="0">
              <a:lnSpc>
                <a:spcPct val="100000"/>
              </a:lnSpc>
              <a:buNone/>
            </a:pPr>
            <a:r>
              <a:rPr lang="en-US" sz="3400" b="1" dirty="0">
                <a:solidFill>
                  <a:srgbClr val="23A455"/>
                </a:solidFill>
                <a:latin typeface="Arial" pitchFamily="34" charset="0"/>
                <a:ea typeface="Arial" pitchFamily="34" charset="-122"/>
                <a:cs typeface="Arial" pitchFamily="34" charset="-120"/>
              </a:rPr>
              <a:t>1,200+</a:t>
            </a:r>
            <a:endParaRPr lang="en-US" sz="3400" dirty="0"/>
          </a:p>
        </p:txBody>
      </p:sp>
      <p:sp>
        <p:nvSpPr>
          <p:cNvPr id="35" name="Text 32"/>
          <p:cNvSpPr txBox="1"/>
          <p:nvPr/>
        </p:nvSpPr>
        <p:spPr>
          <a:xfrm>
            <a:off x="5019324" y="4967224"/>
            <a:ext cx="1640982" cy="420624"/>
          </a:xfrm>
          <a:prstGeom prst="rect">
            <a:avLst/>
          </a:prstGeom>
          <a:noFill/>
          <a:ln/>
        </p:spPr>
        <p:txBody>
          <a:bodyPr wrap="square" lIns="0" tIns="0" rIns="0" bIns="0" rtlCol="0" anchor="t"/>
          <a:lstStyle/>
          <a:p>
            <a:pPr algn="l" indent="0" marL="0">
              <a:lnSpc>
                <a:spcPct val="120000"/>
              </a:lnSpc>
              <a:buNone/>
            </a:pPr>
            <a:r>
              <a:rPr lang="en-US" sz="1200" b="1" dirty="0">
                <a:solidFill>
                  <a:srgbClr val="0F151B"/>
                </a:solidFill>
                <a:latin typeface="Arial" pitchFamily="34" charset="0"/>
                <a:ea typeface="Arial" pitchFamily="34" charset="-122"/>
                <a:cs typeface="Arial" pitchFamily="34" charset="-120"/>
              </a:rPr>
              <a:t>Ranking keywords from zero</a:t>
            </a:r>
            <a:endParaRPr lang="en-US" sz="1200" dirty="0"/>
          </a:p>
        </p:txBody>
      </p:sp>
      <p:sp>
        <p:nvSpPr>
          <p:cNvPr id="36" name="Text 33"/>
          <p:cNvSpPr txBox="1"/>
          <p:nvPr/>
        </p:nvSpPr>
        <p:spPr>
          <a:xfrm>
            <a:off x="5019324" y="5451856"/>
            <a:ext cx="1640982" cy="534924"/>
          </a:xfrm>
          <a:prstGeom prst="rect">
            <a:avLst/>
          </a:prstGeom>
          <a:noFill/>
          <a:ln/>
        </p:spPr>
        <p:txBody>
          <a:bodyPr wrap="square" lIns="0" tIns="0" rIns="0" bIns="0" rtlCol="0" anchor="t"/>
          <a:lstStyle/>
          <a:p>
            <a:pPr algn="l" indent="0" marL="0">
              <a:lnSpc>
                <a:spcPct val="120000"/>
              </a:lnSpc>
              <a:buNone/>
            </a:pPr>
            <a:r>
              <a:rPr lang="en-US" sz="1050" dirty="0">
                <a:solidFill>
                  <a:srgbClr val="5A6772"/>
                </a:solidFill>
                <a:latin typeface="Arial" pitchFamily="34" charset="0"/>
                <a:ea typeface="Arial" pitchFamily="34" charset="-122"/>
                <a:cs typeface="Arial" pitchFamily="34" charset="-120"/>
              </a:rPr>
              <a:t>7Bros Apparel Shopify build</a:t>
            </a:r>
            <a:endParaRPr lang="en-US" sz="1050" dirty="0"/>
          </a:p>
        </p:txBody>
      </p:sp>
      <p:sp>
        <p:nvSpPr>
          <p:cNvPr id="37" name="Shape 34"/>
          <p:cNvSpPr/>
          <p:nvPr/>
        </p:nvSpPr>
        <p:spPr>
          <a:xfrm>
            <a:off x="6934627" y="4443984"/>
            <a:ext cx="0" cy="1652524"/>
          </a:xfrm>
          <a:prstGeom prst="line">
            <a:avLst/>
          </a:prstGeom>
          <a:noFill/>
          <a:ln w="9525">
            <a:solidFill>
              <a:srgbClr val="E2EAF1"/>
            </a:solidFill>
            <a:prstDash val="solid"/>
          </a:ln>
        </p:spPr>
      </p:sp>
      <p:sp>
        <p:nvSpPr>
          <p:cNvPr id="38" name="Text 35"/>
          <p:cNvSpPr txBox="1"/>
          <p:nvPr/>
        </p:nvSpPr>
        <p:spPr>
          <a:xfrm>
            <a:off x="7172371" y="4443984"/>
            <a:ext cx="1640982" cy="468376"/>
          </a:xfrm>
          <a:prstGeom prst="rect">
            <a:avLst/>
          </a:prstGeom>
          <a:noFill/>
          <a:ln/>
        </p:spPr>
        <p:txBody>
          <a:bodyPr wrap="square" lIns="0" tIns="0" rIns="0" bIns="0" rtlCol="0" anchor="t"/>
          <a:lstStyle/>
          <a:p>
            <a:pPr algn="l" indent="0" marL="0">
              <a:lnSpc>
                <a:spcPct val="100000"/>
              </a:lnSpc>
              <a:buNone/>
            </a:pPr>
            <a:r>
              <a:rPr lang="en-US" sz="3400" b="1" dirty="0">
                <a:solidFill>
                  <a:srgbClr val="23A455"/>
                </a:solidFill>
                <a:latin typeface="Arial" pitchFamily="34" charset="0"/>
                <a:ea typeface="Arial" pitchFamily="34" charset="-122"/>
                <a:cs typeface="Arial" pitchFamily="34" charset="-120"/>
              </a:rPr>
              <a:t>130+</a:t>
            </a:r>
            <a:endParaRPr lang="en-US" sz="3400" dirty="0"/>
          </a:p>
        </p:txBody>
      </p:sp>
      <p:sp>
        <p:nvSpPr>
          <p:cNvPr id="39" name="Text 36"/>
          <p:cNvSpPr txBox="1"/>
          <p:nvPr/>
        </p:nvSpPr>
        <p:spPr>
          <a:xfrm>
            <a:off x="7172371" y="4967224"/>
            <a:ext cx="1640982" cy="420624"/>
          </a:xfrm>
          <a:prstGeom prst="rect">
            <a:avLst/>
          </a:prstGeom>
          <a:noFill/>
          <a:ln/>
        </p:spPr>
        <p:txBody>
          <a:bodyPr wrap="square" lIns="0" tIns="0" rIns="0" bIns="0" rtlCol="0" anchor="t"/>
          <a:lstStyle/>
          <a:p>
            <a:pPr algn="l" indent="0" marL="0">
              <a:lnSpc>
                <a:spcPct val="120000"/>
              </a:lnSpc>
              <a:buNone/>
            </a:pPr>
            <a:r>
              <a:rPr lang="en-US" sz="1200" b="1" dirty="0">
                <a:solidFill>
                  <a:srgbClr val="0F151B"/>
                </a:solidFill>
                <a:latin typeface="Arial" pitchFamily="34" charset="0"/>
                <a:ea typeface="Arial" pitchFamily="34" charset="-122"/>
                <a:cs typeface="Arial" pitchFamily="34" charset="-120"/>
              </a:rPr>
              <a:t>New signups</a:t>
            </a:r>
            <a:endParaRPr lang="en-US" sz="1200" dirty="0"/>
          </a:p>
        </p:txBody>
      </p:sp>
      <p:sp>
        <p:nvSpPr>
          <p:cNvPr id="40" name="Text 37"/>
          <p:cNvSpPr txBox="1"/>
          <p:nvPr/>
        </p:nvSpPr>
        <p:spPr>
          <a:xfrm>
            <a:off x="7172371" y="5451856"/>
            <a:ext cx="1640982" cy="534924"/>
          </a:xfrm>
          <a:prstGeom prst="rect">
            <a:avLst/>
          </a:prstGeom>
          <a:noFill/>
          <a:ln/>
        </p:spPr>
        <p:txBody>
          <a:bodyPr wrap="square" lIns="0" tIns="0" rIns="0" bIns="0" rtlCol="0" anchor="t"/>
          <a:lstStyle/>
          <a:p>
            <a:pPr algn="l" indent="0" marL="0">
              <a:lnSpc>
                <a:spcPct val="120000"/>
              </a:lnSpc>
              <a:buNone/>
            </a:pPr>
            <a:r>
              <a:rPr lang="en-US" sz="1050" dirty="0">
                <a:solidFill>
                  <a:srgbClr val="5A6772"/>
                </a:solidFill>
                <a:latin typeface="Arial" pitchFamily="34" charset="0"/>
                <a:ea typeface="Arial" pitchFamily="34" charset="-122"/>
                <a:cs typeface="Arial" pitchFamily="34" charset="-120"/>
              </a:rPr>
              <a:t>Sweetlife NYC, QR to form flow in under a month</a:t>
            </a:r>
            <a:endParaRPr lang="en-US" sz="1050" dirty="0"/>
          </a:p>
        </p:txBody>
      </p:sp>
      <p:sp>
        <p:nvSpPr>
          <p:cNvPr id="41" name="Shape 38"/>
          <p:cNvSpPr/>
          <p:nvPr/>
        </p:nvSpPr>
        <p:spPr>
          <a:xfrm>
            <a:off x="9087673" y="4443984"/>
            <a:ext cx="0" cy="1652524"/>
          </a:xfrm>
          <a:prstGeom prst="line">
            <a:avLst/>
          </a:prstGeom>
          <a:noFill/>
          <a:ln w="9525">
            <a:solidFill>
              <a:srgbClr val="E2EAF1"/>
            </a:solidFill>
            <a:prstDash val="solid"/>
          </a:ln>
        </p:spPr>
      </p:sp>
      <p:sp>
        <p:nvSpPr>
          <p:cNvPr id="42" name="Text 39"/>
          <p:cNvSpPr txBox="1"/>
          <p:nvPr/>
        </p:nvSpPr>
        <p:spPr>
          <a:xfrm>
            <a:off x="9325417" y="4443984"/>
            <a:ext cx="1640982" cy="468376"/>
          </a:xfrm>
          <a:prstGeom prst="rect">
            <a:avLst/>
          </a:prstGeom>
          <a:noFill/>
          <a:ln/>
        </p:spPr>
        <p:txBody>
          <a:bodyPr wrap="square" lIns="0" tIns="0" rIns="0" bIns="0" rtlCol="0" anchor="t"/>
          <a:lstStyle/>
          <a:p>
            <a:pPr algn="l" indent="0" marL="0">
              <a:lnSpc>
                <a:spcPct val="100000"/>
              </a:lnSpc>
              <a:buNone/>
            </a:pPr>
            <a:r>
              <a:rPr lang="en-US" sz="3400" b="1" dirty="0">
                <a:solidFill>
                  <a:srgbClr val="23A455"/>
                </a:solidFill>
                <a:latin typeface="Arial" pitchFamily="34" charset="0"/>
                <a:ea typeface="Arial" pitchFamily="34" charset="-122"/>
                <a:cs typeface="Arial" pitchFamily="34" charset="-120"/>
              </a:rPr>
              <a:t>100K+</a:t>
            </a:r>
            <a:endParaRPr lang="en-US" sz="3400" dirty="0"/>
          </a:p>
        </p:txBody>
      </p:sp>
      <p:sp>
        <p:nvSpPr>
          <p:cNvPr id="43" name="Text 40"/>
          <p:cNvSpPr txBox="1"/>
          <p:nvPr/>
        </p:nvSpPr>
        <p:spPr>
          <a:xfrm>
            <a:off x="9325417" y="4967224"/>
            <a:ext cx="1640982" cy="420624"/>
          </a:xfrm>
          <a:prstGeom prst="rect">
            <a:avLst/>
          </a:prstGeom>
          <a:noFill/>
          <a:ln/>
        </p:spPr>
        <p:txBody>
          <a:bodyPr wrap="square" lIns="0" tIns="0" rIns="0" bIns="0" rtlCol="0" anchor="t"/>
          <a:lstStyle/>
          <a:p>
            <a:pPr algn="l" indent="0" marL="0">
              <a:lnSpc>
                <a:spcPct val="120000"/>
              </a:lnSpc>
              <a:buNone/>
            </a:pPr>
            <a:r>
              <a:rPr lang="en-US" sz="1200" b="1" dirty="0">
                <a:solidFill>
                  <a:srgbClr val="0F151B"/>
                </a:solidFill>
                <a:latin typeface="Arial" pitchFamily="34" charset="0"/>
                <a:ea typeface="Arial" pitchFamily="34" charset="-122"/>
                <a:cs typeface="Arial" pitchFamily="34" charset="-120"/>
              </a:rPr>
              <a:t>Guests and site visitors</a:t>
            </a:r>
            <a:endParaRPr lang="en-US" sz="1200" dirty="0"/>
          </a:p>
        </p:txBody>
      </p:sp>
      <p:sp>
        <p:nvSpPr>
          <p:cNvPr id="44" name="Text 41"/>
          <p:cNvSpPr txBox="1"/>
          <p:nvPr/>
        </p:nvSpPr>
        <p:spPr>
          <a:xfrm>
            <a:off x="9325417" y="5451856"/>
            <a:ext cx="1640982" cy="534924"/>
          </a:xfrm>
          <a:prstGeom prst="rect">
            <a:avLst/>
          </a:prstGeom>
          <a:noFill/>
          <a:ln/>
        </p:spPr>
        <p:txBody>
          <a:bodyPr wrap="square" lIns="0" tIns="0" rIns="0" bIns="0" rtlCol="0" anchor="t"/>
          <a:lstStyle/>
          <a:p>
            <a:pPr algn="l" indent="0" marL="0">
              <a:lnSpc>
                <a:spcPct val="120000"/>
              </a:lnSpc>
              <a:buNone/>
            </a:pPr>
            <a:r>
              <a:rPr lang="en-US" sz="1050" dirty="0">
                <a:solidFill>
                  <a:srgbClr val="5A6772"/>
                </a:solidFill>
                <a:latin typeface="Arial" pitchFamily="34" charset="0"/>
                <a:ea typeface="Arial" pitchFamily="34" charset="-122"/>
                <a:cs typeface="Arial" pitchFamily="34" charset="-120"/>
              </a:rPr>
              <a:t>NOTO PHL and NOTO HTX, 200+ reviews</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825"/>
        </a:solidFill>
      </p:bgPr>
    </p:bg>
    <p:spTree>
      <p:nvGrpSpPr>
        <p:cNvPr id="1" name=""/>
        <p:cNvGrpSpPr/>
        <p:nvPr/>
      </p:nvGrpSpPr>
      <p:grpSpPr>
        <a:xfrm>
          <a:off x="0" y="0"/>
          <a:ext cx="0" cy="0"/>
          <a:chOff x="0" y="0"/>
          <a:chExt cx="0" cy="0"/>
        </a:xfrm>
      </p:grpSpPr>
      <p:sp>
        <p:nvSpPr>
          <p:cNvPr id="2" name="Text 0"/>
          <p:cNvSpPr txBox="1"/>
          <p:nvPr/>
        </p:nvSpPr>
        <p:spPr>
          <a:xfrm>
            <a:off x="4480560" y="502920"/>
            <a:ext cx="8138160" cy="6949440"/>
          </a:xfrm>
          <a:prstGeom prst="rect">
            <a:avLst/>
          </a:prstGeom>
          <a:noFill/>
          <a:ln/>
        </p:spPr>
        <p:txBody>
          <a:bodyPr wrap="square" lIns="0" tIns="0" rIns="0" bIns="0" rtlCol="0" anchor="t"/>
          <a:lstStyle/>
          <a:p>
            <a:pPr algn="r" indent="0" marL="0">
              <a:lnSpc>
                <a:spcPct val="100000"/>
              </a:lnSpc>
              <a:buNone/>
            </a:pPr>
            <a:r>
              <a:rPr lang="en-US" sz="43000" b="1" dirty="0">
                <a:solidFill>
                  <a:srgbClr val="112B3F"/>
                </a:solidFill>
                <a:latin typeface="Arial" pitchFamily="34" charset="0"/>
                <a:ea typeface="Arial" pitchFamily="34" charset="-122"/>
                <a:cs typeface="Arial" pitchFamily="34" charset="-120"/>
              </a:rPr>
              <a:t>03</a:t>
            </a:r>
            <a:endParaRPr lang="en-US" sz="43000" dirty="0"/>
          </a:p>
        </p:txBody>
      </p:sp>
      <p:pic>
        <p:nvPicPr>
          <p:cNvPr id="3" name="Image 0" descr="Momentum Digital logo">    </p:cNvPr>
          <p:cNvPicPr>
            <a:picLocks noChangeAspect="1"/>
          </p:cNvPicPr>
          <p:nvPr/>
        </p:nvPicPr>
        <p:blipFill>
          <a:blip r:embed="rId1"/>
          <a:stretch>
            <a:fillRect/>
          </a:stretch>
        </p:blipFill>
        <p:spPr>
          <a:xfrm>
            <a:off x="10106863" y="658368"/>
            <a:ext cx="1371600" cy="294904"/>
          </a:xfrm>
          <a:prstGeom prst="rect">
            <a:avLst/>
          </a:prstGeom>
        </p:spPr>
      </p:pic>
      <p:sp>
        <p:nvSpPr>
          <p:cNvPr id="4" name="Text 1"/>
          <p:cNvSpPr txBox="1"/>
          <p:nvPr/>
        </p:nvSpPr>
        <p:spPr>
          <a:xfrm>
            <a:off x="713232" y="3063240"/>
            <a:ext cx="6766560" cy="201168"/>
          </a:xfrm>
          <a:prstGeom prst="rect">
            <a:avLst/>
          </a:prstGeom>
          <a:noFill/>
          <a:ln/>
        </p:spPr>
        <p:txBody>
          <a:bodyPr wrap="square" lIns="0" tIns="0" rIns="0" bIns="0" rtlCol="0" anchor="t"/>
          <a:lstStyle/>
          <a:p>
            <a:pPr algn="l" indent="0" marL="0">
              <a:buNone/>
            </a:pPr>
            <a:r>
              <a:rPr lang="en-US" sz="1050" b="1" spc="240" kern="0" dirty="0">
                <a:solidFill>
                  <a:srgbClr val="5AA7E0"/>
                </a:solidFill>
                <a:latin typeface="Arial" pitchFamily="34" charset="0"/>
                <a:ea typeface="Arial" pitchFamily="34" charset="-122"/>
                <a:cs typeface="Arial" pitchFamily="34" charset="-120"/>
              </a:rPr>
              <a:t>SECTION THREE</a:t>
            </a:r>
            <a:endParaRPr lang="en-US" sz="1050" dirty="0"/>
          </a:p>
        </p:txBody>
      </p:sp>
      <p:sp>
        <p:nvSpPr>
          <p:cNvPr id="5" name="Text 2"/>
          <p:cNvSpPr txBox="1"/>
          <p:nvPr/>
        </p:nvSpPr>
        <p:spPr>
          <a:xfrm>
            <a:off x="713232" y="3392424"/>
            <a:ext cx="7498080" cy="633984"/>
          </a:xfrm>
          <a:prstGeom prst="rect">
            <a:avLst/>
          </a:prstGeom>
          <a:noFill/>
          <a:ln/>
        </p:spPr>
        <p:txBody>
          <a:bodyPr wrap="square" lIns="0" tIns="0" rIns="0" bIns="0" rtlCol="0" anchor="t"/>
          <a:lstStyle/>
          <a:p>
            <a:pPr algn="l" indent="0" marL="0">
              <a:lnSpc>
                <a:spcPct val="102000"/>
              </a:lnSpc>
              <a:buNone/>
            </a:pPr>
            <a:r>
              <a:rPr lang="en-US" sz="4400" b="1" dirty="0">
                <a:solidFill>
                  <a:srgbClr val="FFFFFF"/>
                </a:solidFill>
                <a:latin typeface="Arial" pitchFamily="34" charset="0"/>
                <a:ea typeface="Arial" pitchFamily="34" charset="-122"/>
                <a:cs typeface="Arial" pitchFamily="34" charset="-120"/>
              </a:rPr>
              <a:t>Working together</a:t>
            </a:r>
            <a:endParaRPr lang="en-US" sz="4400" dirty="0"/>
          </a:p>
        </p:txBody>
      </p:sp>
      <p:sp>
        <p:nvSpPr>
          <p:cNvPr id="6" name="Text 3"/>
          <p:cNvSpPr txBox="1"/>
          <p:nvPr/>
        </p:nvSpPr>
        <p:spPr>
          <a:xfrm>
            <a:off x="713232" y="4282440"/>
            <a:ext cx="6766560" cy="559308"/>
          </a:xfrm>
          <a:prstGeom prst="rect">
            <a:avLst/>
          </a:prstGeom>
          <a:noFill/>
          <a:ln/>
        </p:spPr>
        <p:txBody>
          <a:bodyPr wrap="square" lIns="0" tIns="0" rIns="0" bIns="0" rtlCol="0" anchor="t"/>
          <a:lstStyle/>
          <a:p>
            <a:pPr algn="l" indent="0" marL="0">
              <a:lnSpc>
                <a:spcPct val="130000"/>
              </a:lnSpc>
              <a:buNone/>
            </a:pPr>
            <a:r>
              <a:rPr lang="en-US" sz="1500" dirty="0">
                <a:solidFill>
                  <a:srgbClr val="9DB5C8"/>
                </a:solidFill>
                <a:latin typeface="Arial" pitchFamily="34" charset="0"/>
                <a:ea typeface="Arial" pitchFamily="34" charset="-122"/>
                <a:cs typeface="Arial" pitchFamily="34" charset="-120"/>
              </a:rPr>
              <a:t>How an engagement starts, what it costs, and what you get back every month.</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4983480"/>
            <a:ext cx="12191695" cy="1874520"/>
          </a:xfrm>
          <a:prstGeom prst="rect">
            <a:avLst/>
          </a:prstGeom>
          <a:solidFill>
            <a:srgbClr val="0A1825"/>
          </a:solidFill>
          <a:ln w="12700">
            <a:solidFill>
              <a:srgbClr val="333333"/>
            </a:solidFill>
            <a:prstDash val="solid"/>
          </a:ln>
        </p:spPr>
      </p:sp>
      <p:pic>
        <p:nvPicPr>
          <p:cNvPr id="3" name="Image 0" descr="Momentum Digital logo">    </p:cNvPr>
          <p:cNvPicPr>
            <a:picLocks noChangeAspect="1"/>
          </p:cNvPicPr>
          <p:nvPr/>
        </p:nvPicPr>
        <p:blipFill>
          <a:blip r:embed="rId1"/>
          <a:stretch>
            <a:fillRect/>
          </a:stretch>
        </p:blipFill>
        <p:spPr>
          <a:xfrm>
            <a:off x="10106863" y="658368"/>
            <a:ext cx="1371600" cy="294904"/>
          </a:xfrm>
          <a:prstGeom prst="rect">
            <a:avLst/>
          </a:prstGeom>
        </p:spPr>
      </p:pic>
      <p:sp>
        <p:nvSpPr>
          <p:cNvPr id="4" name="Text 1"/>
          <p:cNvSpPr txBox="1"/>
          <p:nvPr/>
        </p:nvSpPr>
        <p:spPr>
          <a:xfrm>
            <a:off x="713232" y="658368"/>
            <a:ext cx="8753551" cy="201168"/>
          </a:xfrm>
          <a:prstGeom prst="rect">
            <a:avLst/>
          </a:prstGeom>
          <a:noFill/>
          <a:ln/>
        </p:spPr>
        <p:txBody>
          <a:bodyPr wrap="square" lIns="0" tIns="0" rIns="0" bIns="0" rtlCol="0" anchor="t"/>
          <a:lstStyle/>
          <a:p>
            <a:pPr algn="l" indent="0" marL="0">
              <a:buNone/>
            </a:pPr>
            <a:r>
              <a:rPr lang="en-US" sz="1050" b="1" spc="240" kern="0" dirty="0">
                <a:solidFill>
                  <a:srgbClr val="2A80C2"/>
                </a:solidFill>
                <a:latin typeface="Arial" pitchFamily="34" charset="0"/>
                <a:ea typeface="Arial" pitchFamily="34" charset="-122"/>
                <a:cs typeface="Arial" pitchFamily="34" charset="-120"/>
              </a:rPr>
              <a:t>PROCESS</a:t>
            </a:r>
            <a:endParaRPr lang="en-US" sz="1050" dirty="0"/>
          </a:p>
        </p:txBody>
      </p:sp>
      <p:sp>
        <p:nvSpPr>
          <p:cNvPr id="5" name="Text 2"/>
          <p:cNvSpPr txBox="1"/>
          <p:nvPr/>
        </p:nvSpPr>
        <p:spPr>
          <a:xfrm>
            <a:off x="713232" y="987552"/>
            <a:ext cx="8570671" cy="569214"/>
          </a:xfrm>
          <a:prstGeom prst="rect">
            <a:avLst/>
          </a:prstGeom>
          <a:noFill/>
          <a:ln/>
        </p:spPr>
        <p:txBody>
          <a:bodyPr wrap="square" lIns="0" tIns="0" rIns="0" bIns="0" rtlCol="0" anchor="t"/>
          <a:lstStyle/>
          <a:p>
            <a:pPr algn="l" indent="0" marL="0">
              <a:lnSpc>
                <a:spcPct val="102000"/>
              </a:lnSpc>
              <a:buNone/>
            </a:pPr>
            <a:r>
              <a:rPr lang="en-US" sz="3900" b="1" dirty="0">
                <a:solidFill>
                  <a:srgbClr val="0F151B"/>
                </a:solidFill>
                <a:latin typeface="Arial" pitchFamily="34" charset="0"/>
                <a:ea typeface="Arial" pitchFamily="34" charset="-122"/>
                <a:cs typeface="Arial" pitchFamily="34" charset="-120"/>
              </a:rPr>
              <a:t>How an engagement runs</a:t>
            </a:r>
            <a:endParaRPr lang="en-US" sz="3900" dirty="0"/>
          </a:p>
        </p:txBody>
      </p:sp>
      <p:sp>
        <p:nvSpPr>
          <p:cNvPr id="6" name="Text 3"/>
          <p:cNvSpPr txBox="1"/>
          <p:nvPr/>
        </p:nvSpPr>
        <p:spPr>
          <a:xfrm>
            <a:off x="713232" y="1703070"/>
            <a:ext cx="8046720" cy="356616"/>
          </a:xfrm>
          <a:prstGeom prst="rect">
            <a:avLst/>
          </a:prstGeom>
          <a:noFill/>
          <a:ln/>
        </p:spPr>
        <p:txBody>
          <a:bodyPr wrap="square" lIns="0" tIns="0" rIns="0" bIns="0" rtlCol="0" anchor="t"/>
          <a:lstStyle/>
          <a:p>
            <a:pPr algn="l" indent="0" marL="0">
              <a:lnSpc>
                <a:spcPct val="128000"/>
              </a:lnSpc>
              <a:buNone/>
            </a:pPr>
            <a:r>
              <a:rPr lang="en-US" sz="1800" dirty="0">
                <a:solidFill>
                  <a:srgbClr val="5A6772"/>
                </a:solidFill>
                <a:latin typeface="Arial" pitchFamily="34" charset="0"/>
                <a:ea typeface="Arial" pitchFamily="34" charset="-122"/>
                <a:cs typeface="Arial" pitchFamily="34" charset="-120"/>
              </a:rPr>
              <a:t>It starts with a free audit, and nothing is guessed after that.</a:t>
            </a:r>
            <a:endParaRPr lang="en-US" sz="1800" dirty="0"/>
          </a:p>
        </p:txBody>
      </p:sp>
      <p:sp>
        <p:nvSpPr>
          <p:cNvPr id="7" name="Text 4"/>
          <p:cNvSpPr txBox="1"/>
          <p:nvPr/>
        </p:nvSpPr>
        <p:spPr>
          <a:xfrm>
            <a:off x="10929823" y="6437376"/>
            <a:ext cx="548640" cy="219456"/>
          </a:xfrm>
          <a:prstGeom prst="rect">
            <a:avLst/>
          </a:prstGeom>
          <a:noFill/>
          <a:ln/>
        </p:spPr>
        <p:txBody>
          <a:bodyPr wrap="square" lIns="0" tIns="0" rIns="0" bIns="0" rtlCol="0" anchor="t"/>
          <a:lstStyle/>
          <a:p>
            <a:pPr algn="r" indent="0" marL="0">
              <a:buNone/>
            </a:pPr>
            <a:r>
              <a:rPr lang="en-US" sz="1050" b="1" spc="100" kern="0" dirty="0">
                <a:solidFill>
                  <a:srgbClr val="CBD8E3"/>
                </a:solidFill>
                <a:latin typeface="Arial" pitchFamily="34" charset="0"/>
                <a:ea typeface="Arial" pitchFamily="34" charset="-122"/>
                <a:cs typeface="Arial" pitchFamily="34" charset="-120"/>
              </a:rPr>
              <a:t>19</a:t>
            </a:r>
            <a:endParaRPr lang="en-US" sz="1050" dirty="0"/>
          </a:p>
        </p:txBody>
      </p:sp>
      <p:sp>
        <p:nvSpPr>
          <p:cNvPr id="8" name="Text 5"/>
          <p:cNvSpPr txBox="1"/>
          <p:nvPr/>
        </p:nvSpPr>
        <p:spPr>
          <a:xfrm>
            <a:off x="713232" y="2514600"/>
            <a:ext cx="1604406" cy="292608"/>
          </a:xfrm>
          <a:prstGeom prst="rect">
            <a:avLst/>
          </a:prstGeom>
          <a:noFill/>
          <a:ln/>
        </p:spPr>
        <p:txBody>
          <a:bodyPr wrap="square" lIns="0" tIns="0" rIns="0" bIns="0" rtlCol="0" anchor="t"/>
          <a:lstStyle/>
          <a:p>
            <a:pPr algn="l" indent="0" marL="0">
              <a:buNone/>
            </a:pPr>
            <a:r>
              <a:rPr lang="en-US" sz="1500" b="1" spc="100" kern="0" dirty="0">
                <a:solidFill>
                  <a:srgbClr val="2A80C2"/>
                </a:solidFill>
                <a:latin typeface="Arial" pitchFamily="34" charset="0"/>
                <a:ea typeface="Arial" pitchFamily="34" charset="-122"/>
                <a:cs typeface="Arial" pitchFamily="34" charset="-120"/>
              </a:rPr>
              <a:t>01</a:t>
            </a:r>
            <a:endParaRPr lang="en-US" sz="1500" dirty="0"/>
          </a:p>
        </p:txBody>
      </p:sp>
      <p:sp>
        <p:nvSpPr>
          <p:cNvPr id="9" name="Text 6"/>
          <p:cNvSpPr txBox="1"/>
          <p:nvPr/>
        </p:nvSpPr>
        <p:spPr>
          <a:xfrm>
            <a:off x="713232" y="2935224"/>
            <a:ext cx="1604406" cy="483108"/>
          </a:xfrm>
          <a:prstGeom prst="rect">
            <a:avLst/>
          </a:prstGeom>
          <a:noFill/>
          <a:ln/>
        </p:spPr>
        <p:txBody>
          <a:bodyPr wrap="square" lIns="0" tIns="0" rIns="0" bIns="0" rtlCol="0" anchor="t"/>
          <a:lstStyle/>
          <a:p>
            <a:pPr algn="l" indent="0" marL="0">
              <a:lnSpc>
                <a:spcPct val="110000"/>
              </a:lnSpc>
              <a:buNone/>
            </a:pPr>
            <a:r>
              <a:rPr lang="en-US" sz="1500" b="1" dirty="0">
                <a:solidFill>
                  <a:srgbClr val="0F151B"/>
                </a:solidFill>
                <a:latin typeface="Arial" pitchFamily="34" charset="0"/>
                <a:ea typeface="Arial" pitchFamily="34" charset="-122"/>
                <a:cs typeface="Arial" pitchFamily="34" charset="-120"/>
              </a:rPr>
              <a:t>Free marketing audit</a:t>
            </a:r>
            <a:endParaRPr lang="en-US" sz="1500" dirty="0"/>
          </a:p>
        </p:txBody>
      </p:sp>
      <p:sp>
        <p:nvSpPr>
          <p:cNvPr id="10" name="Text 7"/>
          <p:cNvSpPr txBox="1"/>
          <p:nvPr/>
        </p:nvSpPr>
        <p:spPr>
          <a:xfrm>
            <a:off x="713232" y="3528060"/>
            <a:ext cx="1604406" cy="904113"/>
          </a:xfrm>
          <a:prstGeom prst="rect">
            <a:avLst/>
          </a:prstGeom>
          <a:noFill/>
          <a:ln/>
        </p:spPr>
        <p:txBody>
          <a:bodyPr wrap="square" lIns="0" tIns="0" rIns="0" bIns="0" rtlCol="0" anchor="t"/>
          <a:lstStyle/>
          <a:p>
            <a:pPr algn="l" indent="0" marL="0">
              <a:lnSpc>
                <a:spcPct val="126000"/>
              </a:lnSpc>
              <a:buNone/>
            </a:pPr>
            <a:r>
              <a:rPr lang="en-US" sz="1050" dirty="0">
                <a:solidFill>
                  <a:srgbClr val="5A6772"/>
                </a:solidFill>
                <a:latin typeface="Arial" pitchFamily="34" charset="0"/>
                <a:ea typeface="Arial" pitchFamily="34" charset="-122"/>
                <a:cs typeface="Arial" pitchFamily="34" charset="-120"/>
              </a:rPr>
              <a:t>We audit the website, SEO and full digital presence before quoting. Published as a $500 value.</a:t>
            </a:r>
            <a:endParaRPr lang="en-US" sz="1050" dirty="0"/>
          </a:p>
        </p:txBody>
      </p:sp>
      <p:sp>
        <p:nvSpPr>
          <p:cNvPr id="11" name="Shape 8"/>
          <p:cNvSpPr/>
          <p:nvPr/>
        </p:nvSpPr>
        <p:spPr>
          <a:xfrm>
            <a:off x="2610246" y="2514600"/>
            <a:ext cx="0" cy="1737360"/>
          </a:xfrm>
          <a:prstGeom prst="line">
            <a:avLst/>
          </a:prstGeom>
          <a:noFill/>
          <a:ln w="9525">
            <a:solidFill>
              <a:srgbClr val="E2EAF1"/>
            </a:solidFill>
            <a:prstDash val="solid"/>
          </a:ln>
        </p:spPr>
      </p:sp>
      <p:sp>
        <p:nvSpPr>
          <p:cNvPr id="12" name="Text 9"/>
          <p:cNvSpPr txBox="1"/>
          <p:nvPr/>
        </p:nvSpPr>
        <p:spPr>
          <a:xfrm>
            <a:off x="2866278" y="2514600"/>
            <a:ext cx="1604406" cy="292608"/>
          </a:xfrm>
          <a:prstGeom prst="rect">
            <a:avLst/>
          </a:prstGeom>
          <a:noFill/>
          <a:ln/>
        </p:spPr>
        <p:txBody>
          <a:bodyPr wrap="square" lIns="0" tIns="0" rIns="0" bIns="0" rtlCol="0" anchor="t"/>
          <a:lstStyle/>
          <a:p>
            <a:pPr algn="l" indent="0" marL="0">
              <a:buNone/>
            </a:pPr>
            <a:r>
              <a:rPr lang="en-US" sz="1500" b="1" spc="100" kern="0" dirty="0">
                <a:solidFill>
                  <a:srgbClr val="2A80C2"/>
                </a:solidFill>
                <a:latin typeface="Arial" pitchFamily="34" charset="0"/>
                <a:ea typeface="Arial" pitchFamily="34" charset="-122"/>
                <a:cs typeface="Arial" pitchFamily="34" charset="-120"/>
              </a:rPr>
              <a:t>02</a:t>
            </a:r>
            <a:endParaRPr lang="en-US" sz="1500" dirty="0"/>
          </a:p>
        </p:txBody>
      </p:sp>
      <p:sp>
        <p:nvSpPr>
          <p:cNvPr id="13" name="Text 10"/>
          <p:cNvSpPr txBox="1"/>
          <p:nvPr/>
        </p:nvSpPr>
        <p:spPr>
          <a:xfrm>
            <a:off x="2866278" y="2935224"/>
            <a:ext cx="1604406" cy="483108"/>
          </a:xfrm>
          <a:prstGeom prst="rect">
            <a:avLst/>
          </a:prstGeom>
          <a:noFill/>
          <a:ln/>
        </p:spPr>
        <p:txBody>
          <a:bodyPr wrap="square" lIns="0" tIns="0" rIns="0" bIns="0" rtlCol="0" anchor="t"/>
          <a:lstStyle/>
          <a:p>
            <a:pPr algn="l" indent="0" marL="0">
              <a:lnSpc>
                <a:spcPct val="110000"/>
              </a:lnSpc>
              <a:buNone/>
            </a:pPr>
            <a:r>
              <a:rPr lang="en-US" sz="1500" b="1" dirty="0">
                <a:solidFill>
                  <a:srgbClr val="0F151B"/>
                </a:solidFill>
                <a:latin typeface="Arial" pitchFamily="34" charset="0"/>
                <a:ea typeface="Arial" pitchFamily="34" charset="-122"/>
                <a:cs typeface="Arial" pitchFamily="34" charset="-120"/>
              </a:rPr>
              <a:t>Strategy and goals</a:t>
            </a:r>
            <a:endParaRPr lang="en-US" sz="1500" dirty="0"/>
          </a:p>
        </p:txBody>
      </p:sp>
      <p:sp>
        <p:nvSpPr>
          <p:cNvPr id="14" name="Text 11"/>
          <p:cNvSpPr txBox="1"/>
          <p:nvPr/>
        </p:nvSpPr>
        <p:spPr>
          <a:xfrm>
            <a:off x="2866278" y="3528060"/>
            <a:ext cx="1604406" cy="736092"/>
          </a:xfrm>
          <a:prstGeom prst="rect">
            <a:avLst/>
          </a:prstGeom>
          <a:noFill/>
          <a:ln/>
        </p:spPr>
        <p:txBody>
          <a:bodyPr wrap="square" lIns="0" tIns="0" rIns="0" bIns="0" rtlCol="0" anchor="t"/>
          <a:lstStyle/>
          <a:p>
            <a:pPr algn="l" indent="0" marL="0">
              <a:lnSpc>
                <a:spcPct val="126000"/>
              </a:lnSpc>
              <a:buNone/>
            </a:pPr>
            <a:r>
              <a:rPr lang="en-US" sz="1050" dirty="0">
                <a:solidFill>
                  <a:srgbClr val="5A6772"/>
                </a:solidFill>
                <a:latin typeface="Arial" pitchFamily="34" charset="0"/>
                <a:ea typeface="Arial" pitchFamily="34" charset="-122"/>
                <a:cs typeface="Arial" pitchFamily="34" charset="-120"/>
              </a:rPr>
              <a:t>We agree the outcome first: calls, forms, bookings or sales, and how each is counted.</a:t>
            </a:r>
            <a:endParaRPr lang="en-US" sz="1050" dirty="0"/>
          </a:p>
        </p:txBody>
      </p:sp>
      <p:sp>
        <p:nvSpPr>
          <p:cNvPr id="15" name="Shape 12"/>
          <p:cNvSpPr/>
          <p:nvPr/>
        </p:nvSpPr>
        <p:spPr>
          <a:xfrm>
            <a:off x="4763292" y="2514600"/>
            <a:ext cx="0" cy="1737360"/>
          </a:xfrm>
          <a:prstGeom prst="line">
            <a:avLst/>
          </a:prstGeom>
          <a:noFill/>
          <a:ln w="9525">
            <a:solidFill>
              <a:srgbClr val="E2EAF1"/>
            </a:solidFill>
            <a:prstDash val="solid"/>
          </a:ln>
        </p:spPr>
      </p:sp>
      <p:sp>
        <p:nvSpPr>
          <p:cNvPr id="16" name="Text 13"/>
          <p:cNvSpPr txBox="1"/>
          <p:nvPr/>
        </p:nvSpPr>
        <p:spPr>
          <a:xfrm>
            <a:off x="5019324" y="2514600"/>
            <a:ext cx="1604406" cy="292608"/>
          </a:xfrm>
          <a:prstGeom prst="rect">
            <a:avLst/>
          </a:prstGeom>
          <a:noFill/>
          <a:ln/>
        </p:spPr>
        <p:txBody>
          <a:bodyPr wrap="square" lIns="0" tIns="0" rIns="0" bIns="0" rtlCol="0" anchor="t"/>
          <a:lstStyle/>
          <a:p>
            <a:pPr algn="l" indent="0" marL="0">
              <a:buNone/>
            </a:pPr>
            <a:r>
              <a:rPr lang="en-US" sz="1500" b="1" spc="100" kern="0" dirty="0">
                <a:solidFill>
                  <a:srgbClr val="2A80C2"/>
                </a:solidFill>
                <a:latin typeface="Arial" pitchFamily="34" charset="0"/>
                <a:ea typeface="Arial" pitchFamily="34" charset="-122"/>
                <a:cs typeface="Arial" pitchFamily="34" charset="-120"/>
              </a:rPr>
              <a:t>03</a:t>
            </a:r>
            <a:endParaRPr lang="en-US" sz="1500" dirty="0"/>
          </a:p>
        </p:txBody>
      </p:sp>
      <p:sp>
        <p:nvSpPr>
          <p:cNvPr id="17" name="Text 14"/>
          <p:cNvSpPr txBox="1"/>
          <p:nvPr/>
        </p:nvSpPr>
        <p:spPr>
          <a:xfrm>
            <a:off x="5019324" y="2935224"/>
            <a:ext cx="1604406" cy="273558"/>
          </a:xfrm>
          <a:prstGeom prst="rect">
            <a:avLst/>
          </a:prstGeom>
          <a:noFill/>
          <a:ln/>
        </p:spPr>
        <p:txBody>
          <a:bodyPr wrap="square" lIns="0" tIns="0" rIns="0" bIns="0" rtlCol="0" anchor="t"/>
          <a:lstStyle/>
          <a:p>
            <a:pPr algn="l" indent="0" marL="0">
              <a:lnSpc>
                <a:spcPct val="110000"/>
              </a:lnSpc>
              <a:buNone/>
            </a:pPr>
            <a:r>
              <a:rPr lang="en-US" sz="1500" b="1" dirty="0">
                <a:solidFill>
                  <a:srgbClr val="0F151B"/>
                </a:solidFill>
                <a:latin typeface="Arial" pitchFamily="34" charset="0"/>
                <a:ea typeface="Arial" pitchFamily="34" charset="-122"/>
                <a:cs typeface="Arial" pitchFamily="34" charset="-120"/>
              </a:rPr>
              <a:t>Build</a:t>
            </a:r>
            <a:endParaRPr lang="en-US" sz="1500" dirty="0"/>
          </a:p>
        </p:txBody>
      </p:sp>
      <p:sp>
        <p:nvSpPr>
          <p:cNvPr id="18" name="Text 15"/>
          <p:cNvSpPr txBox="1"/>
          <p:nvPr/>
        </p:nvSpPr>
        <p:spPr>
          <a:xfrm>
            <a:off x="5019324" y="3318510"/>
            <a:ext cx="1604406" cy="904113"/>
          </a:xfrm>
          <a:prstGeom prst="rect">
            <a:avLst/>
          </a:prstGeom>
          <a:noFill/>
          <a:ln/>
        </p:spPr>
        <p:txBody>
          <a:bodyPr wrap="square" lIns="0" tIns="0" rIns="0" bIns="0" rtlCol="0" anchor="t"/>
          <a:lstStyle/>
          <a:p>
            <a:pPr algn="l" indent="0" marL="0">
              <a:lnSpc>
                <a:spcPct val="126000"/>
              </a:lnSpc>
              <a:buNone/>
            </a:pPr>
            <a:r>
              <a:rPr lang="en-US" sz="1050" dirty="0">
                <a:solidFill>
                  <a:srgbClr val="5A6772"/>
                </a:solidFill>
                <a:latin typeface="Arial" pitchFamily="34" charset="0"/>
                <a:ea typeface="Arial" pitchFamily="34" charset="-122"/>
                <a:cs typeface="Arial" pitchFamily="34" charset="-120"/>
              </a:rPr>
              <a:t>Site, tracking, campaigns, content and automations built to that plan, with clear owners.</a:t>
            </a:r>
            <a:endParaRPr lang="en-US" sz="1050" dirty="0"/>
          </a:p>
        </p:txBody>
      </p:sp>
      <p:sp>
        <p:nvSpPr>
          <p:cNvPr id="19" name="Shape 16"/>
          <p:cNvSpPr/>
          <p:nvPr/>
        </p:nvSpPr>
        <p:spPr>
          <a:xfrm>
            <a:off x="6916339" y="2514600"/>
            <a:ext cx="0" cy="1737360"/>
          </a:xfrm>
          <a:prstGeom prst="line">
            <a:avLst/>
          </a:prstGeom>
          <a:noFill/>
          <a:ln w="9525">
            <a:solidFill>
              <a:srgbClr val="E2EAF1"/>
            </a:solidFill>
            <a:prstDash val="solid"/>
          </a:ln>
        </p:spPr>
      </p:sp>
      <p:sp>
        <p:nvSpPr>
          <p:cNvPr id="20" name="Text 17"/>
          <p:cNvSpPr txBox="1"/>
          <p:nvPr/>
        </p:nvSpPr>
        <p:spPr>
          <a:xfrm>
            <a:off x="7172371" y="2514600"/>
            <a:ext cx="1604406" cy="292608"/>
          </a:xfrm>
          <a:prstGeom prst="rect">
            <a:avLst/>
          </a:prstGeom>
          <a:noFill/>
          <a:ln/>
        </p:spPr>
        <p:txBody>
          <a:bodyPr wrap="square" lIns="0" tIns="0" rIns="0" bIns="0" rtlCol="0" anchor="t"/>
          <a:lstStyle/>
          <a:p>
            <a:pPr algn="l" indent="0" marL="0">
              <a:buNone/>
            </a:pPr>
            <a:r>
              <a:rPr lang="en-US" sz="1500" b="1" spc="100" kern="0" dirty="0">
                <a:solidFill>
                  <a:srgbClr val="2A80C2"/>
                </a:solidFill>
                <a:latin typeface="Arial" pitchFamily="34" charset="0"/>
                <a:ea typeface="Arial" pitchFamily="34" charset="-122"/>
                <a:cs typeface="Arial" pitchFamily="34" charset="-120"/>
              </a:rPr>
              <a:t>04</a:t>
            </a:r>
            <a:endParaRPr lang="en-US" sz="1500" dirty="0"/>
          </a:p>
        </p:txBody>
      </p:sp>
      <p:sp>
        <p:nvSpPr>
          <p:cNvPr id="21" name="Text 18"/>
          <p:cNvSpPr txBox="1"/>
          <p:nvPr/>
        </p:nvSpPr>
        <p:spPr>
          <a:xfrm>
            <a:off x="7172371" y="2935224"/>
            <a:ext cx="1604406" cy="483108"/>
          </a:xfrm>
          <a:prstGeom prst="rect">
            <a:avLst/>
          </a:prstGeom>
          <a:noFill/>
          <a:ln/>
        </p:spPr>
        <p:txBody>
          <a:bodyPr wrap="square" lIns="0" tIns="0" rIns="0" bIns="0" rtlCol="0" anchor="t"/>
          <a:lstStyle/>
          <a:p>
            <a:pPr algn="l" indent="0" marL="0">
              <a:lnSpc>
                <a:spcPct val="110000"/>
              </a:lnSpc>
              <a:buNone/>
            </a:pPr>
            <a:r>
              <a:rPr lang="en-US" sz="1500" b="1" dirty="0">
                <a:solidFill>
                  <a:srgbClr val="0F151B"/>
                </a:solidFill>
                <a:latin typeface="Arial" pitchFamily="34" charset="0"/>
                <a:ea typeface="Arial" pitchFamily="34" charset="-122"/>
                <a:cs typeface="Arial" pitchFamily="34" charset="-120"/>
              </a:rPr>
              <a:t>Launch and optimize</a:t>
            </a:r>
            <a:endParaRPr lang="en-US" sz="1500" dirty="0"/>
          </a:p>
        </p:txBody>
      </p:sp>
      <p:sp>
        <p:nvSpPr>
          <p:cNvPr id="22" name="Text 19"/>
          <p:cNvSpPr txBox="1"/>
          <p:nvPr/>
        </p:nvSpPr>
        <p:spPr>
          <a:xfrm>
            <a:off x="7172371" y="3528060"/>
            <a:ext cx="1604406" cy="904113"/>
          </a:xfrm>
          <a:prstGeom prst="rect">
            <a:avLst/>
          </a:prstGeom>
          <a:noFill/>
          <a:ln/>
        </p:spPr>
        <p:txBody>
          <a:bodyPr wrap="square" lIns="0" tIns="0" rIns="0" bIns="0" rtlCol="0" anchor="t"/>
          <a:lstStyle/>
          <a:p>
            <a:pPr algn="l" indent="0" marL="0">
              <a:lnSpc>
                <a:spcPct val="126000"/>
              </a:lnSpc>
              <a:buNone/>
            </a:pPr>
            <a:r>
              <a:rPr lang="en-US" sz="1050" dirty="0">
                <a:solidFill>
                  <a:srgbClr val="5A6772"/>
                </a:solidFill>
                <a:latin typeface="Arial" pitchFamily="34" charset="0"/>
                <a:ea typeface="Arial" pitchFamily="34" charset="-122"/>
                <a:cs typeface="Arial" pitchFamily="34" charset="-120"/>
              </a:rPr>
              <a:t>First runs watched closely, then continuous testing on ads, pages and search terms.</a:t>
            </a:r>
            <a:endParaRPr lang="en-US" sz="1050" dirty="0"/>
          </a:p>
        </p:txBody>
      </p:sp>
      <p:sp>
        <p:nvSpPr>
          <p:cNvPr id="23" name="Shape 20"/>
          <p:cNvSpPr/>
          <p:nvPr/>
        </p:nvSpPr>
        <p:spPr>
          <a:xfrm>
            <a:off x="9069385" y="2514600"/>
            <a:ext cx="0" cy="1737360"/>
          </a:xfrm>
          <a:prstGeom prst="line">
            <a:avLst/>
          </a:prstGeom>
          <a:noFill/>
          <a:ln w="9525">
            <a:solidFill>
              <a:srgbClr val="E2EAF1"/>
            </a:solidFill>
            <a:prstDash val="solid"/>
          </a:ln>
        </p:spPr>
      </p:sp>
      <p:sp>
        <p:nvSpPr>
          <p:cNvPr id="24" name="Text 21"/>
          <p:cNvSpPr txBox="1"/>
          <p:nvPr/>
        </p:nvSpPr>
        <p:spPr>
          <a:xfrm>
            <a:off x="9325417" y="2514600"/>
            <a:ext cx="1604406" cy="292608"/>
          </a:xfrm>
          <a:prstGeom prst="rect">
            <a:avLst/>
          </a:prstGeom>
          <a:noFill/>
          <a:ln/>
        </p:spPr>
        <p:txBody>
          <a:bodyPr wrap="square" lIns="0" tIns="0" rIns="0" bIns="0" rtlCol="0" anchor="t"/>
          <a:lstStyle/>
          <a:p>
            <a:pPr algn="l" indent="0" marL="0">
              <a:buNone/>
            </a:pPr>
            <a:r>
              <a:rPr lang="en-US" sz="1500" b="1" spc="100" kern="0" dirty="0">
                <a:solidFill>
                  <a:srgbClr val="2A80C2"/>
                </a:solidFill>
                <a:latin typeface="Arial" pitchFamily="34" charset="0"/>
                <a:ea typeface="Arial" pitchFamily="34" charset="-122"/>
                <a:cs typeface="Arial" pitchFamily="34" charset="-120"/>
              </a:rPr>
              <a:t>05</a:t>
            </a:r>
            <a:endParaRPr lang="en-US" sz="1500" dirty="0"/>
          </a:p>
        </p:txBody>
      </p:sp>
      <p:sp>
        <p:nvSpPr>
          <p:cNvPr id="25" name="Text 22"/>
          <p:cNvSpPr txBox="1"/>
          <p:nvPr/>
        </p:nvSpPr>
        <p:spPr>
          <a:xfrm>
            <a:off x="9325417" y="2935224"/>
            <a:ext cx="1604406" cy="273558"/>
          </a:xfrm>
          <a:prstGeom prst="rect">
            <a:avLst/>
          </a:prstGeom>
          <a:noFill/>
          <a:ln/>
        </p:spPr>
        <p:txBody>
          <a:bodyPr wrap="square" lIns="0" tIns="0" rIns="0" bIns="0" rtlCol="0" anchor="t"/>
          <a:lstStyle/>
          <a:p>
            <a:pPr algn="l" indent="0" marL="0">
              <a:lnSpc>
                <a:spcPct val="110000"/>
              </a:lnSpc>
              <a:buNone/>
            </a:pPr>
            <a:r>
              <a:rPr lang="en-US" sz="1500" b="1" dirty="0">
                <a:solidFill>
                  <a:srgbClr val="0F151B"/>
                </a:solidFill>
                <a:latin typeface="Arial" pitchFamily="34" charset="0"/>
                <a:ea typeface="Arial" pitchFamily="34" charset="-122"/>
                <a:cs typeface="Arial" pitchFamily="34" charset="-120"/>
              </a:rPr>
              <a:t>Report</a:t>
            </a:r>
            <a:endParaRPr lang="en-US" sz="1500" dirty="0"/>
          </a:p>
        </p:txBody>
      </p:sp>
      <p:sp>
        <p:nvSpPr>
          <p:cNvPr id="26" name="Text 23"/>
          <p:cNvSpPr txBox="1"/>
          <p:nvPr/>
        </p:nvSpPr>
        <p:spPr>
          <a:xfrm>
            <a:off x="9325417" y="3318510"/>
            <a:ext cx="1604406" cy="736092"/>
          </a:xfrm>
          <a:prstGeom prst="rect">
            <a:avLst/>
          </a:prstGeom>
          <a:noFill/>
          <a:ln/>
        </p:spPr>
        <p:txBody>
          <a:bodyPr wrap="square" lIns="0" tIns="0" rIns="0" bIns="0" rtlCol="0" anchor="t"/>
          <a:lstStyle/>
          <a:p>
            <a:pPr algn="l" indent="0" marL="0">
              <a:lnSpc>
                <a:spcPct val="126000"/>
              </a:lnSpc>
              <a:buNone/>
            </a:pPr>
            <a:r>
              <a:rPr lang="en-US" sz="1050" dirty="0">
                <a:solidFill>
                  <a:srgbClr val="5A6772"/>
                </a:solidFill>
                <a:latin typeface="Arial" pitchFamily="34" charset="0"/>
                <a:ea typeface="Arial" pitchFamily="34" charset="-122"/>
                <a:cs typeface="Arial" pitchFamily="34" charset="-120"/>
              </a:rPr>
              <a:t>Analytics, tracking and consulting are in every retainer. You see the same numbers we do.</a:t>
            </a:r>
            <a:endParaRPr lang="en-US" sz="1050" dirty="0"/>
          </a:p>
        </p:txBody>
      </p:sp>
      <p:sp>
        <p:nvSpPr>
          <p:cNvPr id="27" name="Text 24"/>
          <p:cNvSpPr txBox="1"/>
          <p:nvPr/>
        </p:nvSpPr>
        <p:spPr>
          <a:xfrm>
            <a:off x="713232" y="5230368"/>
            <a:ext cx="7315200" cy="201168"/>
          </a:xfrm>
          <a:prstGeom prst="rect">
            <a:avLst/>
          </a:prstGeom>
          <a:noFill/>
          <a:ln/>
        </p:spPr>
        <p:txBody>
          <a:bodyPr wrap="square" lIns="0" tIns="0" rIns="0" bIns="0" rtlCol="0" anchor="t"/>
          <a:lstStyle/>
          <a:p>
            <a:pPr algn="l" indent="0" marL="0">
              <a:buNone/>
            </a:pPr>
            <a:r>
              <a:rPr lang="en-US" sz="1050" b="1" spc="240" kern="0" dirty="0">
                <a:solidFill>
                  <a:srgbClr val="5AA7E0"/>
                </a:solidFill>
                <a:latin typeface="Arial" pitchFamily="34" charset="0"/>
                <a:ea typeface="Arial" pitchFamily="34" charset="-122"/>
                <a:cs typeface="Arial" pitchFamily="34" charset="-120"/>
              </a:rPr>
              <a:t>MOMENTUM'S OWN PUBLISHED COMMITMENT</a:t>
            </a:r>
            <a:endParaRPr lang="en-US" sz="1050" dirty="0"/>
          </a:p>
        </p:txBody>
      </p:sp>
      <p:sp>
        <p:nvSpPr>
          <p:cNvPr id="28" name="Text 25"/>
          <p:cNvSpPr txBox="1"/>
          <p:nvPr/>
        </p:nvSpPr>
        <p:spPr>
          <a:xfrm>
            <a:off x="713232" y="5541264"/>
            <a:ext cx="10515600" cy="352044"/>
          </a:xfrm>
          <a:prstGeom prst="rect">
            <a:avLst/>
          </a:prstGeom>
          <a:noFill/>
          <a:ln/>
        </p:spPr>
        <p:txBody>
          <a:bodyPr wrap="square" lIns="0" tIns="0" rIns="0" bIns="0" rtlCol="0" anchor="t"/>
          <a:lstStyle/>
          <a:p>
            <a:pPr algn="l" indent="0" marL="0">
              <a:lnSpc>
                <a:spcPct val="108000"/>
              </a:lnSpc>
              <a:buNone/>
            </a:pPr>
            <a:r>
              <a:rPr lang="en-US" sz="2100" b="1" dirty="0">
                <a:solidFill>
                  <a:srgbClr val="FFFFFF"/>
                </a:solidFill>
                <a:latin typeface="Arial" pitchFamily="34" charset="0"/>
                <a:ea typeface="Arial" pitchFamily="34" charset="-122"/>
                <a:cs typeface="Arial" pitchFamily="34" charset="-120"/>
              </a:rPr>
              <a:t>"We guarantee to grow your business online or your money back"</a:t>
            </a:r>
            <a:endParaRPr lang="en-US" sz="2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Image 0" descr="Momentum Digital logo">    </p:cNvPr>
          <p:cNvPicPr>
            <a:picLocks noChangeAspect="1"/>
          </p:cNvPicPr>
          <p:nvPr/>
        </p:nvPicPr>
        <p:blipFill>
          <a:blip r:embed="rId1"/>
          <a:stretch>
            <a:fillRect/>
          </a:stretch>
        </p:blipFill>
        <p:spPr>
          <a:xfrm>
            <a:off x="10106863" y="658368"/>
            <a:ext cx="1371600" cy="294904"/>
          </a:xfrm>
          <a:prstGeom prst="rect">
            <a:avLst/>
          </a:prstGeom>
        </p:spPr>
      </p:pic>
      <p:sp>
        <p:nvSpPr>
          <p:cNvPr id="3" name="Text 0"/>
          <p:cNvSpPr txBox="1"/>
          <p:nvPr/>
        </p:nvSpPr>
        <p:spPr>
          <a:xfrm>
            <a:off x="713232" y="658368"/>
            <a:ext cx="8753551" cy="201168"/>
          </a:xfrm>
          <a:prstGeom prst="rect">
            <a:avLst/>
          </a:prstGeom>
          <a:noFill/>
          <a:ln/>
        </p:spPr>
        <p:txBody>
          <a:bodyPr wrap="square" lIns="0" tIns="0" rIns="0" bIns="0" rtlCol="0" anchor="t"/>
          <a:lstStyle/>
          <a:p>
            <a:pPr algn="l" indent="0" marL="0">
              <a:buNone/>
            </a:pPr>
            <a:r>
              <a:rPr lang="en-US" sz="1050" b="1" spc="240" kern="0" dirty="0">
                <a:solidFill>
                  <a:srgbClr val="2A80C2"/>
                </a:solidFill>
                <a:latin typeface="Arial" pitchFamily="34" charset="0"/>
                <a:ea typeface="Arial" pitchFamily="34" charset="-122"/>
                <a:cs typeface="Arial" pitchFamily="34" charset="-120"/>
              </a:rPr>
              <a:t>PRICING</a:t>
            </a:r>
            <a:endParaRPr lang="en-US" sz="1050" dirty="0"/>
          </a:p>
        </p:txBody>
      </p:sp>
      <p:sp>
        <p:nvSpPr>
          <p:cNvPr id="4" name="Text 1"/>
          <p:cNvSpPr txBox="1"/>
          <p:nvPr/>
        </p:nvSpPr>
        <p:spPr>
          <a:xfrm>
            <a:off x="713232" y="987552"/>
            <a:ext cx="8570671" cy="569214"/>
          </a:xfrm>
          <a:prstGeom prst="rect">
            <a:avLst/>
          </a:prstGeom>
          <a:noFill/>
          <a:ln/>
        </p:spPr>
        <p:txBody>
          <a:bodyPr wrap="square" lIns="0" tIns="0" rIns="0" bIns="0" rtlCol="0" anchor="t"/>
          <a:lstStyle/>
          <a:p>
            <a:pPr algn="l" indent="0" marL="0">
              <a:lnSpc>
                <a:spcPct val="102000"/>
              </a:lnSpc>
              <a:buNone/>
            </a:pPr>
            <a:r>
              <a:rPr lang="en-US" sz="3900" b="1" dirty="0">
                <a:solidFill>
                  <a:srgbClr val="0F151B"/>
                </a:solidFill>
                <a:latin typeface="Arial" pitchFamily="34" charset="0"/>
                <a:ea typeface="Arial" pitchFamily="34" charset="-122"/>
                <a:cs typeface="Arial" pitchFamily="34" charset="-120"/>
              </a:rPr>
              <a:t>Three ways to start</a:t>
            </a:r>
            <a:endParaRPr lang="en-US" sz="3900" dirty="0"/>
          </a:p>
        </p:txBody>
      </p:sp>
      <p:sp>
        <p:nvSpPr>
          <p:cNvPr id="5" name="Text 2"/>
          <p:cNvSpPr txBox="1"/>
          <p:nvPr/>
        </p:nvSpPr>
        <p:spPr>
          <a:xfrm>
            <a:off x="713232" y="1703070"/>
            <a:ext cx="8046720" cy="649224"/>
          </a:xfrm>
          <a:prstGeom prst="rect">
            <a:avLst/>
          </a:prstGeom>
          <a:noFill/>
          <a:ln/>
        </p:spPr>
        <p:txBody>
          <a:bodyPr wrap="square" lIns="0" tIns="0" rIns="0" bIns="0" rtlCol="0" anchor="t"/>
          <a:lstStyle/>
          <a:p>
            <a:pPr algn="l" indent="0" marL="0">
              <a:lnSpc>
                <a:spcPct val="128000"/>
              </a:lnSpc>
              <a:buNone/>
            </a:pPr>
            <a:r>
              <a:rPr lang="en-US" sz="1800" dirty="0">
                <a:solidFill>
                  <a:srgbClr val="5A6772"/>
                </a:solidFill>
                <a:latin typeface="Arial" pitchFamily="34" charset="0"/>
                <a:ea typeface="Arial" pitchFamily="34" charset="-122"/>
                <a:cs typeface="Arial" pitchFamily="34" charset="-120"/>
              </a:rPr>
              <a:t>Published pricing. Every monthly package runs on a three month minimum.</a:t>
            </a:r>
            <a:endParaRPr lang="en-US" sz="1800" dirty="0"/>
          </a:p>
        </p:txBody>
      </p:sp>
      <p:sp>
        <p:nvSpPr>
          <p:cNvPr id="6" name="Text 3"/>
          <p:cNvSpPr txBox="1"/>
          <p:nvPr/>
        </p:nvSpPr>
        <p:spPr>
          <a:xfrm>
            <a:off x="10929823" y="6437376"/>
            <a:ext cx="548640" cy="219456"/>
          </a:xfrm>
          <a:prstGeom prst="rect">
            <a:avLst/>
          </a:prstGeom>
          <a:noFill/>
          <a:ln/>
        </p:spPr>
        <p:txBody>
          <a:bodyPr wrap="square" lIns="0" tIns="0" rIns="0" bIns="0" rtlCol="0" anchor="t"/>
          <a:lstStyle/>
          <a:p>
            <a:pPr algn="r" indent="0" marL="0">
              <a:buNone/>
            </a:pPr>
            <a:r>
              <a:rPr lang="en-US" sz="1050" b="1" spc="100" kern="0" dirty="0">
                <a:solidFill>
                  <a:srgbClr val="CBD8E3"/>
                </a:solidFill>
                <a:latin typeface="Arial" pitchFamily="34" charset="0"/>
                <a:ea typeface="Arial" pitchFamily="34" charset="-122"/>
                <a:cs typeface="Arial" pitchFamily="34" charset="-120"/>
              </a:rPr>
              <a:t>20</a:t>
            </a:r>
            <a:endParaRPr lang="en-US" sz="1050" dirty="0"/>
          </a:p>
        </p:txBody>
      </p:sp>
      <p:sp>
        <p:nvSpPr>
          <p:cNvPr id="7" name="Text 4"/>
          <p:cNvSpPr txBox="1"/>
          <p:nvPr/>
        </p:nvSpPr>
        <p:spPr>
          <a:xfrm>
            <a:off x="713232" y="2651760"/>
            <a:ext cx="3017520" cy="310896"/>
          </a:xfrm>
          <a:prstGeom prst="rect">
            <a:avLst/>
          </a:prstGeom>
          <a:noFill/>
          <a:ln/>
        </p:spPr>
        <p:txBody>
          <a:bodyPr wrap="square" lIns="0" tIns="0" rIns="0" bIns="0" rtlCol="0" anchor="t"/>
          <a:lstStyle/>
          <a:p>
            <a:pPr algn="l" indent="0" marL="0">
              <a:lnSpc>
                <a:spcPct val="110000"/>
              </a:lnSpc>
              <a:buNone/>
            </a:pPr>
            <a:r>
              <a:rPr lang="en-US" sz="1600" b="1" dirty="0">
                <a:solidFill>
                  <a:srgbClr val="0F151B"/>
                </a:solidFill>
                <a:latin typeface="Arial" pitchFamily="34" charset="0"/>
                <a:ea typeface="Arial" pitchFamily="34" charset="-122"/>
                <a:cs typeface="Arial" pitchFamily="34" charset="-120"/>
              </a:rPr>
              <a:t>Small Business Kickstart</a:t>
            </a:r>
            <a:endParaRPr lang="en-US" sz="1600" dirty="0"/>
          </a:p>
        </p:txBody>
      </p:sp>
      <p:sp>
        <p:nvSpPr>
          <p:cNvPr id="8" name="Text 5"/>
          <p:cNvSpPr txBox="1"/>
          <p:nvPr/>
        </p:nvSpPr>
        <p:spPr>
          <a:xfrm>
            <a:off x="713232" y="3008376"/>
            <a:ext cx="3017520" cy="219456"/>
          </a:xfrm>
          <a:prstGeom prst="rect">
            <a:avLst/>
          </a:prstGeom>
          <a:noFill/>
          <a:ln/>
        </p:spPr>
        <p:txBody>
          <a:bodyPr wrap="square" lIns="0" tIns="0" rIns="0" bIns="0" rtlCol="0" anchor="t"/>
          <a:lstStyle/>
          <a:p>
            <a:pPr algn="l" indent="0" marL="0">
              <a:lnSpc>
                <a:spcPct val="120000"/>
              </a:lnSpc>
              <a:buNone/>
            </a:pPr>
            <a:r>
              <a:rPr lang="en-US" sz="1050" dirty="0">
                <a:solidFill>
                  <a:srgbClr val="5A6772"/>
                </a:solidFill>
                <a:latin typeface="Arial" pitchFamily="34" charset="0"/>
                <a:ea typeface="Arial" pitchFamily="34" charset="-122"/>
                <a:cs typeface="Arial" pitchFamily="34" charset="-120"/>
              </a:rPr>
              <a:t>Local marketing package</a:t>
            </a:r>
            <a:endParaRPr lang="en-US" sz="1050" dirty="0"/>
          </a:p>
        </p:txBody>
      </p:sp>
      <p:sp>
        <p:nvSpPr>
          <p:cNvPr id="9" name="Text 6"/>
          <p:cNvSpPr txBox="1"/>
          <p:nvPr/>
        </p:nvSpPr>
        <p:spPr>
          <a:xfrm>
            <a:off x="713232" y="3392424"/>
            <a:ext cx="3017520" cy="445008"/>
          </a:xfrm>
          <a:prstGeom prst="rect">
            <a:avLst/>
          </a:prstGeom>
          <a:noFill/>
          <a:ln/>
        </p:spPr>
        <p:txBody>
          <a:bodyPr wrap="square" lIns="0" tIns="0" rIns="0" bIns="0" rtlCol="0" anchor="t"/>
          <a:lstStyle/>
          <a:p>
            <a:pPr algn="l" indent="0" marL="0">
              <a:lnSpc>
                <a:spcPct val="100000"/>
              </a:lnSpc>
              <a:buNone/>
            </a:pPr>
            <a:r>
              <a:rPr lang="en-US" sz="3000" b="1" dirty="0">
                <a:solidFill>
                  <a:srgbClr val="2A80C2"/>
                </a:solidFill>
                <a:latin typeface="Arial" pitchFamily="34" charset="0"/>
                <a:ea typeface="Arial" pitchFamily="34" charset="-122"/>
                <a:cs typeface="Arial" pitchFamily="34" charset="-120"/>
              </a:rPr>
              <a:t>$999/mo</a:t>
            </a:r>
            <a:endParaRPr lang="en-US" sz="3000" dirty="0"/>
          </a:p>
        </p:txBody>
      </p:sp>
      <p:sp>
        <p:nvSpPr>
          <p:cNvPr id="10" name="Text 7"/>
          <p:cNvSpPr txBox="1"/>
          <p:nvPr/>
        </p:nvSpPr>
        <p:spPr>
          <a:xfrm>
            <a:off x="713232" y="3874008"/>
            <a:ext cx="3017520" cy="224028"/>
          </a:xfrm>
          <a:prstGeom prst="rect">
            <a:avLst/>
          </a:prstGeom>
          <a:noFill/>
          <a:ln/>
        </p:spPr>
        <p:txBody>
          <a:bodyPr wrap="square" lIns="0" tIns="0" rIns="0" bIns="0" rtlCol="0" anchor="t"/>
          <a:lstStyle/>
          <a:p>
            <a:pPr algn="l" indent="0" marL="0">
              <a:lnSpc>
                <a:spcPct val="120000"/>
              </a:lnSpc>
              <a:buNone/>
            </a:pPr>
            <a:r>
              <a:rPr lang="en-US" sz="1050" dirty="0">
                <a:solidFill>
                  <a:srgbClr val="5A6772"/>
                </a:solidFill>
                <a:latin typeface="Arial" pitchFamily="34" charset="0"/>
                <a:ea typeface="Arial" pitchFamily="34" charset="-122"/>
                <a:cs typeface="Arial" pitchFamily="34" charset="-120"/>
              </a:rPr>
              <a:t>Monthly · 3 month minimum</a:t>
            </a:r>
            <a:endParaRPr lang="en-US" sz="1050" dirty="0"/>
          </a:p>
        </p:txBody>
      </p:sp>
      <p:sp>
        <p:nvSpPr>
          <p:cNvPr id="11" name="Shape 8"/>
          <p:cNvSpPr/>
          <p:nvPr/>
        </p:nvSpPr>
        <p:spPr>
          <a:xfrm>
            <a:off x="713232" y="4162044"/>
            <a:ext cx="3017520" cy="0"/>
          </a:xfrm>
          <a:prstGeom prst="line">
            <a:avLst/>
          </a:prstGeom>
          <a:noFill/>
          <a:ln w="9525">
            <a:solidFill>
              <a:srgbClr val="E2EAF1"/>
            </a:solidFill>
            <a:prstDash val="solid"/>
          </a:ln>
        </p:spPr>
      </p:sp>
      <p:sp>
        <p:nvSpPr>
          <p:cNvPr id="12" name="Text 9"/>
          <p:cNvSpPr txBox="1"/>
          <p:nvPr/>
        </p:nvSpPr>
        <p:spPr>
          <a:xfrm>
            <a:off x="713232" y="4299204"/>
            <a:ext cx="3017520" cy="1198880"/>
          </a:xfrm>
          <a:prstGeom prst="rect">
            <a:avLst/>
          </a:prstGeom>
          <a:noFill/>
          <a:ln/>
        </p:spPr>
        <p:txBody>
          <a:bodyPr wrap="square" lIns="0" tIns="0" rIns="0" bIns="0" rtlCol="0" anchor="t"/>
          <a:lstStyle/>
          <a:p>
            <a:pPr marL="342900" indent="-342900">
              <a:lnSpc>
                <a:spcPct val="124000"/>
              </a:lnSpc>
              <a:spcAft>
                <a:spcPts val="700"/>
              </a:spcAft>
              <a:buSzPct val="100000"/>
              <a:buChar char="•"/>
            </a:pPr>
            <a:r>
              <a:rPr lang="en-US" sz="1000" dirty="0">
                <a:solidFill>
                  <a:srgbClr val="5A6772"/>
                </a:solidFill>
                <a:latin typeface="Arial" pitchFamily="34" charset="0"/>
                <a:ea typeface="Arial" pitchFamily="34" charset="-122"/>
                <a:cs typeface="Arial" pitchFamily="34" charset="-120"/>
              </a:rPr>
              <a:t>Full marketing audit</a:t>
            </a:r>
            <a:endParaRPr lang="en-US" sz="1000" dirty="0"/>
          </a:p>
          <a:p>
            <a:pPr marL="342900" indent="-342900">
              <a:lnSpc>
                <a:spcPct val="124000"/>
              </a:lnSpc>
              <a:spcAft>
                <a:spcPts val="700"/>
              </a:spcAft>
              <a:buSzPct val="100000"/>
              <a:buChar char="•"/>
            </a:pPr>
            <a:r>
              <a:rPr lang="en-US" sz="1000" dirty="0">
                <a:solidFill>
                  <a:srgbClr val="5A6772"/>
                </a:solidFill>
                <a:latin typeface="Arial" pitchFamily="34" charset="0"/>
                <a:ea typeface="Arial" pitchFamily="34" charset="-122"/>
                <a:cs typeface="Arial" pitchFamily="34" charset="-120"/>
              </a:rPr>
              <a:t>Local SEO</a:t>
            </a:r>
            <a:endParaRPr lang="en-US" sz="1000" dirty="0"/>
          </a:p>
          <a:p>
            <a:pPr marL="342900" indent="-342900">
              <a:lnSpc>
                <a:spcPct val="124000"/>
              </a:lnSpc>
              <a:spcAft>
                <a:spcPts val="700"/>
              </a:spcAft>
              <a:buSzPct val="100000"/>
              <a:buChar char="•"/>
            </a:pPr>
            <a:r>
              <a:rPr lang="en-US" sz="1000" dirty="0">
                <a:solidFill>
                  <a:srgbClr val="5A6772"/>
                </a:solidFill>
                <a:latin typeface="Arial" pitchFamily="34" charset="0"/>
                <a:ea typeface="Arial" pitchFamily="34" charset="-122"/>
                <a:cs typeface="Arial" pitchFamily="34" charset="-120"/>
              </a:rPr>
              <a:t>Google Business Profile</a:t>
            </a:r>
            <a:endParaRPr lang="en-US" sz="1000" dirty="0"/>
          </a:p>
          <a:p>
            <a:pPr marL="342900" indent="-342900">
              <a:lnSpc>
                <a:spcPct val="124000"/>
              </a:lnSpc>
              <a:spcAft>
                <a:spcPts val="700"/>
              </a:spcAft>
              <a:buSzPct val="100000"/>
              <a:buChar char="•"/>
            </a:pPr>
            <a:r>
              <a:rPr lang="en-US" sz="1000" dirty="0">
                <a:solidFill>
                  <a:srgbClr val="5A6772"/>
                </a:solidFill>
                <a:latin typeface="Arial" pitchFamily="34" charset="0"/>
                <a:ea typeface="Arial" pitchFamily="34" charset="-122"/>
                <a:cs typeface="Arial" pitchFamily="34" charset="-120"/>
              </a:rPr>
              <a:t>Basic website optimizations</a:t>
            </a:r>
            <a:endParaRPr lang="en-US" sz="1000" dirty="0"/>
          </a:p>
          <a:p>
            <a:pPr marL="342900" indent="-342900">
              <a:lnSpc>
                <a:spcPct val="124000"/>
              </a:lnSpc>
              <a:spcAft>
                <a:spcPts val="700"/>
              </a:spcAft>
              <a:buSzPct val="100000"/>
              <a:buChar char="•"/>
            </a:pPr>
            <a:r>
              <a:rPr lang="en-US" sz="1000" dirty="0">
                <a:solidFill>
                  <a:srgbClr val="5A6772"/>
                </a:solidFill>
                <a:latin typeface="Arial" pitchFamily="34" charset="0"/>
                <a:ea typeface="Arial" pitchFamily="34" charset="-122"/>
                <a:cs typeface="Arial" pitchFamily="34" charset="-120"/>
              </a:rPr>
              <a:t>Analytics and reporting</a:t>
            </a:r>
            <a:endParaRPr lang="en-US" sz="1000" dirty="0"/>
          </a:p>
        </p:txBody>
      </p:sp>
      <p:sp>
        <p:nvSpPr>
          <p:cNvPr id="13" name="Text 10"/>
          <p:cNvSpPr txBox="1"/>
          <p:nvPr/>
        </p:nvSpPr>
        <p:spPr>
          <a:xfrm>
            <a:off x="713232" y="5687568"/>
            <a:ext cx="3017520" cy="274320"/>
          </a:xfrm>
          <a:prstGeom prst="rect">
            <a:avLst/>
          </a:prstGeom>
          <a:noFill/>
          <a:ln/>
        </p:spPr>
        <p:txBody>
          <a:bodyPr wrap="square" lIns="0" tIns="0" rIns="0" bIns="0" rtlCol="0" anchor="t"/>
          <a:lstStyle/>
          <a:p>
            <a:pPr algn="l" indent="0" marL="0">
              <a:buNone/>
            </a:pPr>
            <a:r>
              <a:rPr lang="en-US" sz="950" i="1" dirty="0">
                <a:solidFill>
                  <a:srgbClr val="5A6772"/>
                </a:solidFill>
                <a:latin typeface="Arial" pitchFamily="34" charset="0"/>
                <a:ea typeface="Arial" pitchFamily="34" charset="-122"/>
                <a:cs typeface="Arial" pitchFamily="34" charset="-120"/>
              </a:rPr>
              <a:t>Published as guaranteed growth.</a:t>
            </a:r>
            <a:endParaRPr lang="en-US" sz="950" dirty="0"/>
          </a:p>
        </p:txBody>
      </p:sp>
      <p:sp>
        <p:nvSpPr>
          <p:cNvPr id="14" name="Shape 11"/>
          <p:cNvSpPr/>
          <p:nvPr/>
        </p:nvSpPr>
        <p:spPr>
          <a:xfrm>
            <a:off x="4389120" y="2377440"/>
            <a:ext cx="3931920" cy="3913632"/>
          </a:xfrm>
          <a:prstGeom prst="rect">
            <a:avLst/>
          </a:prstGeom>
          <a:solidFill>
            <a:srgbClr val="0A1825"/>
          </a:solidFill>
          <a:ln w="12700">
            <a:solidFill>
              <a:srgbClr val="333333"/>
            </a:solidFill>
            <a:prstDash val="solid"/>
          </a:ln>
        </p:spPr>
      </p:sp>
      <p:sp>
        <p:nvSpPr>
          <p:cNvPr id="15" name="Text 12"/>
          <p:cNvSpPr txBox="1"/>
          <p:nvPr/>
        </p:nvSpPr>
        <p:spPr>
          <a:xfrm>
            <a:off x="4754880" y="2651760"/>
            <a:ext cx="3200400" cy="310896"/>
          </a:xfrm>
          <a:prstGeom prst="rect">
            <a:avLst/>
          </a:prstGeom>
          <a:noFill/>
          <a:ln/>
        </p:spPr>
        <p:txBody>
          <a:bodyPr wrap="square" lIns="0" tIns="0" rIns="0" bIns="0" rtlCol="0" anchor="t"/>
          <a:lstStyle/>
          <a:p>
            <a:pPr algn="l" indent="0" marL="0">
              <a:lnSpc>
                <a:spcPct val="110000"/>
              </a:lnSpc>
              <a:buNone/>
            </a:pPr>
            <a:r>
              <a:rPr lang="en-US" sz="1600" b="1" dirty="0">
                <a:solidFill>
                  <a:srgbClr val="FFFFFF"/>
                </a:solidFill>
                <a:latin typeface="Arial" pitchFamily="34" charset="0"/>
                <a:ea typeface="Arial" pitchFamily="34" charset="-122"/>
                <a:cs typeface="Arial" pitchFamily="34" charset="-120"/>
              </a:rPr>
              <a:t>Small Business Growth</a:t>
            </a:r>
            <a:endParaRPr lang="en-US" sz="1600" dirty="0"/>
          </a:p>
        </p:txBody>
      </p:sp>
      <p:sp>
        <p:nvSpPr>
          <p:cNvPr id="16" name="Text 13"/>
          <p:cNvSpPr txBox="1"/>
          <p:nvPr/>
        </p:nvSpPr>
        <p:spPr>
          <a:xfrm>
            <a:off x="4754880" y="3008376"/>
            <a:ext cx="3200400" cy="219456"/>
          </a:xfrm>
          <a:prstGeom prst="rect">
            <a:avLst/>
          </a:prstGeom>
          <a:noFill/>
          <a:ln/>
        </p:spPr>
        <p:txBody>
          <a:bodyPr wrap="square" lIns="0" tIns="0" rIns="0" bIns="0" rtlCol="0" anchor="t"/>
          <a:lstStyle/>
          <a:p>
            <a:pPr algn="l" indent="0" marL="0">
              <a:lnSpc>
                <a:spcPct val="120000"/>
              </a:lnSpc>
              <a:buNone/>
            </a:pPr>
            <a:r>
              <a:rPr lang="en-US" sz="1050" dirty="0">
                <a:solidFill>
                  <a:srgbClr val="9DB5C8"/>
                </a:solidFill>
                <a:latin typeface="Arial" pitchFamily="34" charset="0"/>
                <a:ea typeface="Arial" pitchFamily="34" charset="-122"/>
                <a:cs typeface="Arial" pitchFamily="34" charset="-120"/>
              </a:rPr>
              <a:t>Digital marketing expansion</a:t>
            </a:r>
            <a:endParaRPr lang="en-US" sz="1050" dirty="0"/>
          </a:p>
        </p:txBody>
      </p:sp>
      <p:sp>
        <p:nvSpPr>
          <p:cNvPr id="17" name="Text 14"/>
          <p:cNvSpPr txBox="1"/>
          <p:nvPr/>
        </p:nvSpPr>
        <p:spPr>
          <a:xfrm>
            <a:off x="4754880" y="3392424"/>
            <a:ext cx="3200400" cy="445008"/>
          </a:xfrm>
          <a:prstGeom prst="rect">
            <a:avLst/>
          </a:prstGeom>
          <a:noFill/>
          <a:ln/>
        </p:spPr>
        <p:txBody>
          <a:bodyPr wrap="square" lIns="0" tIns="0" rIns="0" bIns="0" rtlCol="0" anchor="t"/>
          <a:lstStyle/>
          <a:p>
            <a:pPr algn="l" indent="0" marL="0">
              <a:lnSpc>
                <a:spcPct val="100000"/>
              </a:lnSpc>
              <a:buNone/>
            </a:pPr>
            <a:r>
              <a:rPr lang="en-US" sz="3000" b="1" dirty="0">
                <a:solidFill>
                  <a:srgbClr val="5AA7E0"/>
                </a:solidFill>
                <a:latin typeface="Arial" pitchFamily="34" charset="0"/>
                <a:ea typeface="Arial" pitchFamily="34" charset="-122"/>
                <a:cs typeface="Arial" pitchFamily="34" charset="-120"/>
              </a:rPr>
              <a:t>$2,999/mo</a:t>
            </a:r>
            <a:endParaRPr lang="en-US" sz="3000" dirty="0"/>
          </a:p>
        </p:txBody>
      </p:sp>
      <p:sp>
        <p:nvSpPr>
          <p:cNvPr id="18" name="Text 15"/>
          <p:cNvSpPr txBox="1"/>
          <p:nvPr/>
        </p:nvSpPr>
        <p:spPr>
          <a:xfrm>
            <a:off x="4754880" y="3874008"/>
            <a:ext cx="3200400" cy="224028"/>
          </a:xfrm>
          <a:prstGeom prst="rect">
            <a:avLst/>
          </a:prstGeom>
          <a:noFill/>
          <a:ln/>
        </p:spPr>
        <p:txBody>
          <a:bodyPr wrap="square" lIns="0" tIns="0" rIns="0" bIns="0" rtlCol="0" anchor="t"/>
          <a:lstStyle/>
          <a:p>
            <a:pPr algn="l" indent="0" marL="0">
              <a:lnSpc>
                <a:spcPct val="120000"/>
              </a:lnSpc>
              <a:buNone/>
            </a:pPr>
            <a:r>
              <a:rPr lang="en-US" sz="1050" dirty="0">
                <a:solidFill>
                  <a:srgbClr val="9DB5C8"/>
                </a:solidFill>
                <a:latin typeface="Arial" pitchFamily="34" charset="0"/>
                <a:ea typeface="Arial" pitchFamily="34" charset="-122"/>
                <a:cs typeface="Arial" pitchFamily="34" charset="-120"/>
              </a:rPr>
              <a:t>Monthly · 3 month minimum</a:t>
            </a:r>
            <a:endParaRPr lang="en-US" sz="1050" dirty="0"/>
          </a:p>
        </p:txBody>
      </p:sp>
      <p:sp>
        <p:nvSpPr>
          <p:cNvPr id="19" name="Shape 16"/>
          <p:cNvSpPr/>
          <p:nvPr/>
        </p:nvSpPr>
        <p:spPr>
          <a:xfrm>
            <a:off x="4754880" y="4162044"/>
            <a:ext cx="3200400" cy="0"/>
          </a:xfrm>
          <a:prstGeom prst="line">
            <a:avLst/>
          </a:prstGeom>
          <a:noFill/>
          <a:ln w="9525">
            <a:solidFill>
              <a:srgbClr val="1E4460"/>
            </a:solidFill>
            <a:prstDash val="solid"/>
          </a:ln>
        </p:spPr>
      </p:sp>
      <p:sp>
        <p:nvSpPr>
          <p:cNvPr id="20" name="Text 17"/>
          <p:cNvSpPr txBox="1"/>
          <p:nvPr/>
        </p:nvSpPr>
        <p:spPr>
          <a:xfrm>
            <a:off x="4754880" y="4299204"/>
            <a:ext cx="3200400" cy="1198880"/>
          </a:xfrm>
          <a:prstGeom prst="rect">
            <a:avLst/>
          </a:prstGeom>
          <a:noFill/>
          <a:ln/>
        </p:spPr>
        <p:txBody>
          <a:bodyPr wrap="square" lIns="0" tIns="0" rIns="0" bIns="0" rtlCol="0" anchor="t"/>
          <a:lstStyle/>
          <a:p>
            <a:pPr marL="342900" indent="-342900">
              <a:lnSpc>
                <a:spcPct val="124000"/>
              </a:lnSpc>
              <a:spcAft>
                <a:spcPts val="700"/>
              </a:spcAft>
              <a:buSzPct val="100000"/>
              <a:buChar char="•"/>
            </a:pPr>
            <a:r>
              <a:rPr lang="en-US" sz="1000" dirty="0">
                <a:solidFill>
                  <a:srgbClr val="9DB5C8"/>
                </a:solidFill>
                <a:latin typeface="Arial" pitchFamily="34" charset="0"/>
                <a:ea typeface="Arial" pitchFamily="34" charset="-122"/>
                <a:cs typeface="Arial" pitchFamily="34" charset="-120"/>
              </a:rPr>
              <a:t>Everything in Kickstart</a:t>
            </a:r>
            <a:endParaRPr lang="en-US" sz="1000" dirty="0"/>
          </a:p>
          <a:p>
            <a:pPr marL="342900" indent="-342900">
              <a:lnSpc>
                <a:spcPct val="124000"/>
              </a:lnSpc>
              <a:spcAft>
                <a:spcPts val="700"/>
              </a:spcAft>
              <a:buSzPct val="100000"/>
              <a:buChar char="•"/>
            </a:pPr>
            <a:r>
              <a:rPr lang="en-US" sz="1000" dirty="0">
                <a:solidFill>
                  <a:srgbClr val="9DB5C8"/>
                </a:solidFill>
                <a:latin typeface="Arial" pitchFamily="34" charset="0"/>
                <a:ea typeface="Arial" pitchFamily="34" charset="-122"/>
                <a:cs typeface="Arial" pitchFamily="34" charset="-120"/>
              </a:rPr>
              <a:t>Website management and SEO</a:t>
            </a:r>
            <a:endParaRPr lang="en-US" sz="1000" dirty="0"/>
          </a:p>
          <a:p>
            <a:pPr marL="342900" indent="-342900">
              <a:lnSpc>
                <a:spcPct val="124000"/>
              </a:lnSpc>
              <a:spcAft>
                <a:spcPts val="700"/>
              </a:spcAft>
              <a:buSzPct val="100000"/>
              <a:buChar char="•"/>
            </a:pPr>
            <a:r>
              <a:rPr lang="en-US" sz="1000" dirty="0">
                <a:solidFill>
                  <a:srgbClr val="9DB5C8"/>
                </a:solidFill>
                <a:latin typeface="Arial" pitchFamily="34" charset="0"/>
                <a:ea typeface="Arial" pitchFamily="34" charset="-122"/>
                <a:cs typeface="Arial" pitchFamily="34" charset="-120"/>
              </a:rPr>
              <a:t>Backlinking, content and blogging</a:t>
            </a:r>
            <a:endParaRPr lang="en-US" sz="1000" dirty="0"/>
          </a:p>
          <a:p>
            <a:pPr marL="342900" indent="-342900">
              <a:lnSpc>
                <a:spcPct val="124000"/>
              </a:lnSpc>
              <a:spcAft>
                <a:spcPts val="700"/>
              </a:spcAft>
              <a:buSzPct val="100000"/>
              <a:buChar char="•"/>
            </a:pPr>
            <a:r>
              <a:rPr lang="en-US" sz="1000" dirty="0">
                <a:solidFill>
                  <a:srgbClr val="9DB5C8"/>
                </a:solidFill>
                <a:latin typeface="Arial" pitchFamily="34" charset="0"/>
                <a:ea typeface="Arial" pitchFamily="34" charset="-122"/>
                <a:cs typeface="Arial" pitchFamily="34" charset="-120"/>
              </a:rPr>
              <a:t>Google Ads, PPC, social and design</a:t>
            </a:r>
            <a:endParaRPr lang="en-US" sz="1000" dirty="0"/>
          </a:p>
          <a:p>
            <a:pPr marL="342900" indent="-342900">
              <a:lnSpc>
                <a:spcPct val="124000"/>
              </a:lnSpc>
              <a:spcAft>
                <a:spcPts val="700"/>
              </a:spcAft>
              <a:buSzPct val="100000"/>
              <a:buChar char="•"/>
            </a:pPr>
            <a:r>
              <a:rPr lang="en-US" sz="1000" dirty="0">
                <a:solidFill>
                  <a:srgbClr val="9DB5C8"/>
                </a:solidFill>
                <a:latin typeface="Arial" pitchFamily="34" charset="0"/>
                <a:ea typeface="Arial" pitchFamily="34" charset="-122"/>
                <a:cs typeface="Arial" pitchFamily="34" charset="-120"/>
              </a:rPr>
              <a:t>Strategy, analytics and consulting</a:t>
            </a:r>
            <a:endParaRPr lang="en-US" sz="1000" dirty="0"/>
          </a:p>
        </p:txBody>
      </p:sp>
      <p:sp>
        <p:nvSpPr>
          <p:cNvPr id="21" name="Text 18"/>
          <p:cNvSpPr txBox="1"/>
          <p:nvPr/>
        </p:nvSpPr>
        <p:spPr>
          <a:xfrm>
            <a:off x="4754880" y="5687568"/>
            <a:ext cx="3200400" cy="274320"/>
          </a:xfrm>
          <a:prstGeom prst="rect">
            <a:avLst/>
          </a:prstGeom>
          <a:noFill/>
          <a:ln/>
        </p:spPr>
        <p:txBody>
          <a:bodyPr wrap="square" lIns="0" tIns="0" rIns="0" bIns="0" rtlCol="0" anchor="t"/>
          <a:lstStyle/>
          <a:p>
            <a:pPr algn="l" indent="0" marL="0">
              <a:buNone/>
            </a:pPr>
            <a:r>
              <a:rPr lang="en-US" sz="950" i="1" dirty="0">
                <a:solidFill>
                  <a:srgbClr val="9DB5C8"/>
                </a:solidFill>
                <a:latin typeface="Arial" pitchFamily="34" charset="0"/>
                <a:ea typeface="Arial" pitchFamily="34" charset="-122"/>
                <a:cs typeface="Arial" pitchFamily="34" charset="-120"/>
              </a:rPr>
              <a:t>Most complete monthly package.</a:t>
            </a:r>
            <a:endParaRPr lang="en-US" sz="950" dirty="0"/>
          </a:p>
        </p:txBody>
      </p:sp>
      <p:sp>
        <p:nvSpPr>
          <p:cNvPr id="22" name="Shape 19"/>
          <p:cNvSpPr/>
          <p:nvPr/>
        </p:nvSpPr>
        <p:spPr>
          <a:xfrm>
            <a:off x="8604504" y="2560320"/>
            <a:ext cx="0" cy="3675888"/>
          </a:xfrm>
          <a:prstGeom prst="line">
            <a:avLst/>
          </a:prstGeom>
          <a:noFill/>
          <a:ln w="9525">
            <a:solidFill>
              <a:srgbClr val="E2EAF1"/>
            </a:solidFill>
            <a:prstDash val="solid"/>
          </a:ln>
        </p:spPr>
      </p:sp>
      <p:sp>
        <p:nvSpPr>
          <p:cNvPr id="23" name="Text 20"/>
          <p:cNvSpPr txBox="1"/>
          <p:nvPr/>
        </p:nvSpPr>
        <p:spPr>
          <a:xfrm>
            <a:off x="8988552" y="2651760"/>
            <a:ext cx="2971800" cy="310896"/>
          </a:xfrm>
          <a:prstGeom prst="rect">
            <a:avLst/>
          </a:prstGeom>
          <a:noFill/>
          <a:ln/>
        </p:spPr>
        <p:txBody>
          <a:bodyPr wrap="square" lIns="0" tIns="0" rIns="0" bIns="0" rtlCol="0" anchor="t"/>
          <a:lstStyle/>
          <a:p>
            <a:pPr algn="l" indent="0" marL="0">
              <a:lnSpc>
                <a:spcPct val="110000"/>
              </a:lnSpc>
              <a:buNone/>
            </a:pPr>
            <a:r>
              <a:rPr lang="en-US" sz="1600" b="1" dirty="0">
                <a:solidFill>
                  <a:srgbClr val="0F151B"/>
                </a:solidFill>
                <a:latin typeface="Arial" pitchFamily="34" charset="0"/>
                <a:ea typeface="Arial" pitchFamily="34" charset="-122"/>
                <a:cs typeface="Arial" pitchFamily="34" charset="-120"/>
              </a:rPr>
              <a:t>Ultimate Small Business SEO</a:t>
            </a:r>
            <a:endParaRPr lang="en-US" sz="1600" dirty="0"/>
          </a:p>
        </p:txBody>
      </p:sp>
      <p:sp>
        <p:nvSpPr>
          <p:cNvPr id="24" name="Text 21"/>
          <p:cNvSpPr txBox="1"/>
          <p:nvPr/>
        </p:nvSpPr>
        <p:spPr>
          <a:xfrm>
            <a:off x="8988552" y="3008376"/>
            <a:ext cx="2971800" cy="219456"/>
          </a:xfrm>
          <a:prstGeom prst="rect">
            <a:avLst/>
          </a:prstGeom>
          <a:noFill/>
          <a:ln/>
        </p:spPr>
        <p:txBody>
          <a:bodyPr wrap="square" lIns="0" tIns="0" rIns="0" bIns="0" rtlCol="0" anchor="t"/>
          <a:lstStyle/>
          <a:p>
            <a:pPr algn="l" indent="0" marL="0">
              <a:lnSpc>
                <a:spcPct val="120000"/>
              </a:lnSpc>
              <a:buNone/>
            </a:pPr>
            <a:r>
              <a:rPr lang="en-US" sz="1050" dirty="0">
                <a:solidFill>
                  <a:srgbClr val="5A6772"/>
                </a:solidFill>
                <a:latin typeface="Arial" pitchFamily="34" charset="0"/>
                <a:ea typeface="Arial" pitchFamily="34" charset="-122"/>
                <a:cs typeface="Arial" pitchFamily="34" charset="-120"/>
              </a:rPr>
              <a:t>Full service Google SEO</a:t>
            </a:r>
            <a:endParaRPr lang="en-US" sz="1050" dirty="0"/>
          </a:p>
        </p:txBody>
      </p:sp>
      <p:sp>
        <p:nvSpPr>
          <p:cNvPr id="25" name="Text 22"/>
          <p:cNvSpPr txBox="1"/>
          <p:nvPr/>
        </p:nvSpPr>
        <p:spPr>
          <a:xfrm>
            <a:off x="8988552" y="3392424"/>
            <a:ext cx="2971800" cy="445008"/>
          </a:xfrm>
          <a:prstGeom prst="rect">
            <a:avLst/>
          </a:prstGeom>
          <a:noFill/>
          <a:ln/>
        </p:spPr>
        <p:txBody>
          <a:bodyPr wrap="square" lIns="0" tIns="0" rIns="0" bIns="0" rtlCol="0" anchor="t"/>
          <a:lstStyle/>
          <a:p>
            <a:pPr algn="l" indent="0" marL="0">
              <a:lnSpc>
                <a:spcPct val="100000"/>
              </a:lnSpc>
              <a:buNone/>
            </a:pPr>
            <a:r>
              <a:rPr lang="en-US" sz="3000" b="1" dirty="0">
                <a:solidFill>
                  <a:srgbClr val="2A80C2"/>
                </a:solidFill>
                <a:latin typeface="Arial" pitchFamily="34" charset="0"/>
                <a:ea typeface="Arial" pitchFamily="34" charset="-122"/>
                <a:cs typeface="Arial" pitchFamily="34" charset="-120"/>
              </a:rPr>
              <a:t>$10,000</a:t>
            </a:r>
            <a:endParaRPr lang="en-US" sz="3000" dirty="0"/>
          </a:p>
        </p:txBody>
      </p:sp>
      <p:sp>
        <p:nvSpPr>
          <p:cNvPr id="26" name="Text 23"/>
          <p:cNvSpPr txBox="1"/>
          <p:nvPr/>
        </p:nvSpPr>
        <p:spPr>
          <a:xfrm>
            <a:off x="8988552" y="3874008"/>
            <a:ext cx="2971800" cy="224028"/>
          </a:xfrm>
          <a:prstGeom prst="rect">
            <a:avLst/>
          </a:prstGeom>
          <a:noFill/>
          <a:ln/>
        </p:spPr>
        <p:txBody>
          <a:bodyPr wrap="square" lIns="0" tIns="0" rIns="0" bIns="0" rtlCol="0" anchor="t"/>
          <a:lstStyle/>
          <a:p>
            <a:pPr algn="l" indent="0" marL="0">
              <a:lnSpc>
                <a:spcPct val="120000"/>
              </a:lnSpc>
              <a:buNone/>
            </a:pPr>
            <a:r>
              <a:rPr lang="en-US" sz="1050" dirty="0">
                <a:solidFill>
                  <a:srgbClr val="5A6772"/>
                </a:solidFill>
                <a:latin typeface="Arial" pitchFamily="34" charset="0"/>
                <a:ea typeface="Arial" pitchFamily="34" charset="-122"/>
                <a:cs typeface="Arial" pitchFamily="34" charset="-120"/>
              </a:rPr>
              <a:t>12 months, or $1,000/mo x 12</a:t>
            </a:r>
            <a:endParaRPr lang="en-US" sz="1050" dirty="0"/>
          </a:p>
        </p:txBody>
      </p:sp>
      <p:sp>
        <p:nvSpPr>
          <p:cNvPr id="27" name="Shape 24"/>
          <p:cNvSpPr/>
          <p:nvPr/>
        </p:nvSpPr>
        <p:spPr>
          <a:xfrm>
            <a:off x="8988552" y="4162044"/>
            <a:ext cx="2971800" cy="0"/>
          </a:xfrm>
          <a:prstGeom prst="line">
            <a:avLst/>
          </a:prstGeom>
          <a:noFill/>
          <a:ln w="9525">
            <a:solidFill>
              <a:srgbClr val="E2EAF1"/>
            </a:solidFill>
            <a:prstDash val="solid"/>
          </a:ln>
        </p:spPr>
      </p:sp>
      <p:sp>
        <p:nvSpPr>
          <p:cNvPr id="28" name="Text 25"/>
          <p:cNvSpPr txBox="1"/>
          <p:nvPr/>
        </p:nvSpPr>
        <p:spPr>
          <a:xfrm>
            <a:off x="8988552" y="4299204"/>
            <a:ext cx="2971800" cy="1198880"/>
          </a:xfrm>
          <a:prstGeom prst="rect">
            <a:avLst/>
          </a:prstGeom>
          <a:noFill/>
          <a:ln/>
        </p:spPr>
        <p:txBody>
          <a:bodyPr wrap="square" lIns="0" tIns="0" rIns="0" bIns="0" rtlCol="0" anchor="t"/>
          <a:lstStyle/>
          <a:p>
            <a:pPr marL="342900" indent="-342900">
              <a:lnSpc>
                <a:spcPct val="124000"/>
              </a:lnSpc>
              <a:spcAft>
                <a:spcPts val="700"/>
              </a:spcAft>
              <a:buSzPct val="100000"/>
              <a:buChar char="•"/>
            </a:pPr>
            <a:r>
              <a:rPr lang="en-US" sz="1000" dirty="0">
                <a:solidFill>
                  <a:srgbClr val="5A6772"/>
                </a:solidFill>
                <a:latin typeface="Arial" pitchFamily="34" charset="0"/>
                <a:ea typeface="Arial" pitchFamily="34" charset="-122"/>
                <a:cs typeface="Arial" pitchFamily="34" charset="-120"/>
              </a:rPr>
              <a:t>Full SEO audit</a:t>
            </a:r>
            <a:endParaRPr lang="en-US" sz="1000" dirty="0"/>
          </a:p>
          <a:p>
            <a:pPr marL="342900" indent="-342900">
              <a:lnSpc>
                <a:spcPct val="124000"/>
              </a:lnSpc>
              <a:spcAft>
                <a:spcPts val="700"/>
              </a:spcAft>
              <a:buSzPct val="100000"/>
              <a:buChar char="•"/>
            </a:pPr>
            <a:r>
              <a:rPr lang="en-US" sz="1000" dirty="0">
                <a:solidFill>
                  <a:srgbClr val="5A6772"/>
                </a:solidFill>
                <a:latin typeface="Arial" pitchFamily="34" charset="0"/>
                <a:ea typeface="Arial" pitchFamily="34" charset="-122"/>
                <a:cs typeface="Arial" pitchFamily="34" charset="-120"/>
              </a:rPr>
              <a:t>Local SEO and GBP marketing</a:t>
            </a:r>
            <a:endParaRPr lang="en-US" sz="1000" dirty="0"/>
          </a:p>
          <a:p>
            <a:pPr marL="342900" indent="-342900">
              <a:lnSpc>
                <a:spcPct val="124000"/>
              </a:lnSpc>
              <a:spcAft>
                <a:spcPts val="700"/>
              </a:spcAft>
              <a:buSzPct val="100000"/>
              <a:buChar char="•"/>
            </a:pPr>
            <a:r>
              <a:rPr lang="en-US" sz="1000" dirty="0">
                <a:solidFill>
                  <a:srgbClr val="5A6772"/>
                </a:solidFill>
                <a:latin typeface="Arial" pitchFamily="34" charset="0"/>
                <a:ea typeface="Arial" pitchFamily="34" charset="-122"/>
                <a:cs typeface="Arial" pitchFamily="34" charset="-120"/>
              </a:rPr>
              <a:t>Website support and SEO</a:t>
            </a:r>
            <a:endParaRPr lang="en-US" sz="1000" dirty="0"/>
          </a:p>
          <a:p>
            <a:pPr marL="342900" indent="-342900">
              <a:lnSpc>
                <a:spcPct val="124000"/>
              </a:lnSpc>
              <a:spcAft>
                <a:spcPts val="700"/>
              </a:spcAft>
              <a:buSzPct val="100000"/>
              <a:buChar char="•"/>
            </a:pPr>
            <a:r>
              <a:rPr lang="en-US" sz="1000" dirty="0">
                <a:solidFill>
                  <a:srgbClr val="5A6772"/>
                </a:solidFill>
                <a:latin typeface="Arial" pitchFamily="34" charset="0"/>
                <a:ea typeface="Arial" pitchFamily="34" charset="-122"/>
                <a:cs typeface="Arial" pitchFamily="34" charset="-120"/>
              </a:rPr>
              <a:t>Google Local Ads</a:t>
            </a:r>
            <a:endParaRPr lang="en-US" sz="1000" dirty="0"/>
          </a:p>
          <a:p>
            <a:pPr marL="342900" indent="-342900">
              <a:lnSpc>
                <a:spcPct val="124000"/>
              </a:lnSpc>
              <a:spcAft>
                <a:spcPts val="700"/>
              </a:spcAft>
              <a:buSzPct val="100000"/>
              <a:buChar char="•"/>
            </a:pPr>
            <a:r>
              <a:rPr lang="en-US" sz="1000" dirty="0">
                <a:solidFill>
                  <a:srgbClr val="5A6772"/>
                </a:solidFill>
                <a:latin typeface="Arial" pitchFamily="34" charset="0"/>
                <a:ea typeface="Arial" pitchFamily="34" charset="-122"/>
                <a:cs typeface="Arial" pitchFamily="34" charset="-120"/>
              </a:rPr>
              <a:t>Strategy and consulting</a:t>
            </a:r>
            <a:endParaRPr lang="en-US" sz="1000" dirty="0"/>
          </a:p>
        </p:txBody>
      </p:sp>
      <p:sp>
        <p:nvSpPr>
          <p:cNvPr id="29" name="Text 26"/>
          <p:cNvSpPr txBox="1"/>
          <p:nvPr/>
        </p:nvSpPr>
        <p:spPr>
          <a:xfrm>
            <a:off x="8988552" y="5687568"/>
            <a:ext cx="2971800" cy="274320"/>
          </a:xfrm>
          <a:prstGeom prst="rect">
            <a:avLst/>
          </a:prstGeom>
          <a:noFill/>
          <a:ln/>
        </p:spPr>
        <p:txBody>
          <a:bodyPr wrap="square" lIns="0" tIns="0" rIns="0" bIns="0" rtlCol="0" anchor="t"/>
          <a:lstStyle/>
          <a:p>
            <a:pPr algn="l" indent="0" marL="0">
              <a:buNone/>
            </a:pPr>
            <a:r>
              <a:rPr lang="en-US" sz="950" i="1" dirty="0">
                <a:solidFill>
                  <a:srgbClr val="5A6772"/>
                </a:solidFill>
                <a:latin typeface="Arial" pitchFamily="34" charset="0"/>
                <a:ea typeface="Arial" pitchFamily="34" charset="-122"/>
                <a:cs typeface="Arial" pitchFamily="34" charset="-120"/>
              </a:rPr>
              <a:t>Published guarantee: first page of Google.</a:t>
            </a:r>
            <a:endParaRPr lang="en-US" sz="950" dirty="0"/>
          </a:p>
        </p:txBody>
      </p:sp>
      <p:sp>
        <p:nvSpPr>
          <p:cNvPr id="30" name="Text 27"/>
          <p:cNvSpPr txBox="1"/>
          <p:nvPr/>
        </p:nvSpPr>
        <p:spPr>
          <a:xfrm>
            <a:off x="713232" y="6400800"/>
            <a:ext cx="9942271" cy="237744"/>
          </a:xfrm>
          <a:prstGeom prst="rect">
            <a:avLst/>
          </a:prstGeom>
          <a:noFill/>
          <a:ln/>
        </p:spPr>
        <p:txBody>
          <a:bodyPr wrap="square" lIns="0" tIns="0" rIns="0" bIns="0" rtlCol="0" anchor="t"/>
          <a:lstStyle/>
          <a:p>
            <a:pPr algn="l" indent="0" marL="0">
              <a:buNone/>
            </a:pPr>
            <a:r>
              <a:rPr lang="en-US" sz="950" i="1" dirty="0">
                <a:solidFill>
                  <a:srgbClr val="8A97A2"/>
                </a:solidFill>
                <a:latin typeface="Arial" pitchFamily="34" charset="0"/>
                <a:ea typeface="Arial" pitchFamily="34" charset="-122"/>
                <a:cs typeface="Arial" pitchFamily="34" charset="-120"/>
              </a:rPr>
              <a:t>Stated minimum retainers: $1,000 per month for standard packages, $3,000 per month for custom packages. Refer a business and you both get 20% off the next month.</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2" name="Image 0" descr="Momentum Digital logo">    </p:cNvPr>
          <p:cNvPicPr>
            <a:picLocks noChangeAspect="1"/>
          </p:cNvPicPr>
          <p:nvPr/>
        </p:nvPicPr>
        <p:blipFill>
          <a:blip r:embed="rId1"/>
          <a:stretch>
            <a:fillRect/>
          </a:stretch>
        </p:blipFill>
        <p:spPr>
          <a:xfrm>
            <a:off x="10106863" y="658368"/>
            <a:ext cx="1371600" cy="294904"/>
          </a:xfrm>
          <a:prstGeom prst="rect">
            <a:avLst/>
          </a:prstGeom>
        </p:spPr>
      </p:pic>
      <p:sp>
        <p:nvSpPr>
          <p:cNvPr id="3" name="Text 0"/>
          <p:cNvSpPr txBox="1"/>
          <p:nvPr/>
        </p:nvSpPr>
        <p:spPr>
          <a:xfrm>
            <a:off x="713232" y="658368"/>
            <a:ext cx="8753551" cy="201168"/>
          </a:xfrm>
          <a:prstGeom prst="rect">
            <a:avLst/>
          </a:prstGeom>
          <a:noFill/>
          <a:ln/>
        </p:spPr>
        <p:txBody>
          <a:bodyPr wrap="square" lIns="0" tIns="0" rIns="0" bIns="0" rtlCol="0" anchor="t"/>
          <a:lstStyle/>
          <a:p>
            <a:pPr algn="l" indent="0" marL="0">
              <a:buNone/>
            </a:pPr>
            <a:r>
              <a:rPr lang="en-US" sz="1050" b="1" spc="240" kern="0" dirty="0">
                <a:solidFill>
                  <a:srgbClr val="2A80C2"/>
                </a:solidFill>
                <a:latin typeface="Arial" pitchFamily="34" charset="0"/>
                <a:ea typeface="Arial" pitchFamily="34" charset="-122"/>
                <a:cs typeface="Arial" pitchFamily="34" charset="-120"/>
              </a:rPr>
              <a:t>PRICING</a:t>
            </a:r>
            <a:endParaRPr lang="en-US" sz="1050" dirty="0"/>
          </a:p>
        </p:txBody>
      </p:sp>
      <p:sp>
        <p:nvSpPr>
          <p:cNvPr id="4" name="Text 1"/>
          <p:cNvSpPr txBox="1"/>
          <p:nvPr/>
        </p:nvSpPr>
        <p:spPr>
          <a:xfrm>
            <a:off x="713232" y="987552"/>
            <a:ext cx="8570671" cy="1074420"/>
          </a:xfrm>
          <a:prstGeom prst="rect">
            <a:avLst/>
          </a:prstGeom>
          <a:noFill/>
          <a:ln/>
        </p:spPr>
        <p:txBody>
          <a:bodyPr wrap="square" lIns="0" tIns="0" rIns="0" bIns="0" rtlCol="0" anchor="t"/>
          <a:lstStyle/>
          <a:p>
            <a:pPr algn="l" indent="0" marL="0">
              <a:lnSpc>
                <a:spcPct val="102000"/>
              </a:lnSpc>
              <a:buNone/>
            </a:pPr>
            <a:r>
              <a:rPr lang="en-US" sz="3900" b="1" dirty="0">
                <a:solidFill>
                  <a:srgbClr val="0F151B"/>
                </a:solidFill>
                <a:latin typeface="Arial" pitchFamily="34" charset="0"/>
                <a:ea typeface="Arial" pitchFamily="34" charset="-122"/>
                <a:cs typeface="Arial" pitchFamily="34" charset="-120"/>
              </a:rPr>
              <a:t>Add on and single service pricing</a:t>
            </a:r>
            <a:endParaRPr lang="en-US" sz="3900" dirty="0"/>
          </a:p>
        </p:txBody>
      </p:sp>
      <p:sp>
        <p:nvSpPr>
          <p:cNvPr id="5" name="Text 2"/>
          <p:cNvSpPr txBox="1"/>
          <p:nvPr/>
        </p:nvSpPr>
        <p:spPr>
          <a:xfrm>
            <a:off x="10929823" y="6437376"/>
            <a:ext cx="548640" cy="219456"/>
          </a:xfrm>
          <a:prstGeom prst="rect">
            <a:avLst/>
          </a:prstGeom>
          <a:noFill/>
          <a:ln/>
        </p:spPr>
        <p:txBody>
          <a:bodyPr wrap="square" lIns="0" tIns="0" rIns="0" bIns="0" rtlCol="0" anchor="t"/>
          <a:lstStyle/>
          <a:p>
            <a:pPr algn="r" indent="0" marL="0">
              <a:buNone/>
            </a:pPr>
            <a:r>
              <a:rPr lang="en-US" sz="1050" b="1" spc="100" kern="0" dirty="0">
                <a:solidFill>
                  <a:srgbClr val="CBD8E3"/>
                </a:solidFill>
                <a:latin typeface="Arial" pitchFamily="34" charset="0"/>
                <a:ea typeface="Arial" pitchFamily="34" charset="-122"/>
                <a:cs typeface="Arial" pitchFamily="34" charset="-120"/>
              </a:rPr>
              <a:t>21</a:t>
            </a:r>
            <a:endParaRPr lang="en-US" sz="10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713232" y="2194560"/>
          <a:ext cx="10765231" cy="914400"/>
        </p:xfrm>
        <a:graphic>
          <a:graphicData uri="http://schemas.openxmlformats.org/drawingml/2006/table">
            <a:tbl>
              <a:tblPr/>
              <a:tblGrid>
                <a:gridCol w="2788920"/>
                <a:gridCol w="1371600"/>
                <a:gridCol w="1737360"/>
                <a:gridCol w="4864608"/>
              </a:tblGrid>
              <a:tr h="420624">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Service</a:t>
                      </a:r>
                      <a:endParaRPr lang="en-US" sz="115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0A1825"/>
                    </a:solidFill>
                  </a:tcPr>
                </a:tc>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Price</a:t>
                      </a:r>
                      <a:endParaRPr lang="en-US" sz="115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0A1825"/>
                    </a:solidFill>
                  </a:tcPr>
                </a:tc>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Term</a:t>
                      </a:r>
                      <a:endParaRPr lang="en-US" sz="115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0A1825"/>
                    </a:solidFill>
                  </a:tcPr>
                </a:tc>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What it covers</a:t>
                      </a:r>
                      <a:endParaRPr lang="en-US" sz="115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0A1825"/>
                    </a:solidFill>
                  </a:tcPr>
                </a:tc>
              </a:tr>
              <a:tr h="420624">
                <a:tc>
                  <a:txBody>
                    <a:bodyPr/>
                    <a:lstStyle/>
                    <a:p>
                      <a:pPr algn="l" indent="0" marL="0">
                        <a:buNone/>
                      </a:pPr>
                      <a:r>
                        <a:rPr lang="en-US" sz="1150" dirty="0">
                          <a:solidFill>
                            <a:srgbClr val="0F151B"/>
                          </a:solidFill>
                          <a:latin typeface="Arial" pitchFamily="34" charset="0"/>
                          <a:ea typeface="Arial" pitchFamily="34" charset="-122"/>
                          <a:cs typeface="Arial" pitchFamily="34" charset="-120"/>
                        </a:rPr>
                        <a:t>Google My Business management</a:t>
                      </a:r>
                      <a:endParaRPr lang="en-US" sz="115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F151B"/>
                          </a:solidFill>
                          <a:latin typeface="Arial" pitchFamily="34" charset="0"/>
                          <a:ea typeface="Arial" pitchFamily="34" charset="-122"/>
                          <a:cs typeface="Arial" pitchFamily="34" charset="-120"/>
                        </a:rPr>
                        <a:t>$500/mo</a:t>
                      </a:r>
                      <a:endParaRPr lang="en-US" sz="115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F151B"/>
                          </a:solidFill>
                          <a:latin typeface="Arial" pitchFamily="34" charset="0"/>
                          <a:ea typeface="Arial" pitchFamily="34" charset="-122"/>
                          <a:cs typeface="Arial" pitchFamily="34" charset="-120"/>
                        </a:rPr>
                        <a:t>3 month minimum</a:t>
                      </a:r>
                      <a:endParaRPr lang="en-US" sz="115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F151B"/>
                          </a:solidFill>
                          <a:latin typeface="Arial" pitchFamily="34" charset="0"/>
                          <a:ea typeface="Arial" pitchFamily="34" charset="-122"/>
                          <a:cs typeface="Arial" pitchFamily="34" charset="-120"/>
                        </a:rPr>
                        <a:t>GMB audit and makeover, posts, pictures, reviews, content, reporting</a:t>
                      </a:r>
                      <a:endParaRPr lang="en-US" sz="115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FFFFF"/>
                    </a:solidFill>
                  </a:tcPr>
                </a:tc>
              </a:tr>
              <a:tr h="420624">
                <a:tc>
                  <a:txBody>
                    <a:bodyPr/>
                    <a:lstStyle/>
                    <a:p>
                      <a:pPr algn="l" indent="0" marL="0">
                        <a:buNone/>
                      </a:pPr>
                      <a:r>
                        <a:rPr lang="en-US" sz="1150" dirty="0">
                          <a:solidFill>
                            <a:srgbClr val="0F151B"/>
                          </a:solidFill>
                          <a:latin typeface="Arial" pitchFamily="34" charset="0"/>
                          <a:ea typeface="Arial" pitchFamily="34" charset="-122"/>
                          <a:cs typeface="Arial" pitchFamily="34" charset="-120"/>
                        </a:rPr>
                        <a:t>Backlinking and domain authority</a:t>
                      </a:r>
                      <a:endParaRPr lang="en-US" sz="115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1F6FA"/>
                    </a:solidFill>
                  </a:tcPr>
                </a:tc>
                <a:tc>
                  <a:txBody>
                    <a:bodyPr/>
                    <a:lstStyle/>
                    <a:p>
                      <a:pPr algn="l" indent="0" marL="0">
                        <a:buNone/>
                      </a:pPr>
                      <a:r>
                        <a:rPr lang="en-US" sz="1150" dirty="0">
                          <a:solidFill>
                            <a:srgbClr val="0F151B"/>
                          </a:solidFill>
                          <a:latin typeface="Arial" pitchFamily="34" charset="0"/>
                          <a:ea typeface="Arial" pitchFamily="34" charset="-122"/>
                          <a:cs typeface="Arial" pitchFamily="34" charset="-120"/>
                        </a:rPr>
                        <a:t>$500/mo</a:t>
                      </a:r>
                      <a:endParaRPr lang="en-US" sz="115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1F6FA"/>
                    </a:solidFill>
                  </a:tcPr>
                </a:tc>
                <a:tc>
                  <a:txBody>
                    <a:bodyPr/>
                    <a:lstStyle/>
                    <a:p>
                      <a:pPr algn="l" indent="0" marL="0">
                        <a:buNone/>
                      </a:pPr>
                      <a:r>
                        <a:rPr lang="en-US" sz="1150" dirty="0">
                          <a:solidFill>
                            <a:srgbClr val="0F151B"/>
                          </a:solidFill>
                          <a:latin typeface="Arial" pitchFamily="34" charset="0"/>
                          <a:ea typeface="Arial" pitchFamily="34" charset="-122"/>
                          <a:cs typeface="Arial" pitchFamily="34" charset="-120"/>
                        </a:rPr>
                        <a:t>3 month minimum</a:t>
                      </a:r>
                      <a:endParaRPr lang="en-US" sz="115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1F6FA"/>
                    </a:solidFill>
                  </a:tcPr>
                </a:tc>
                <a:tc>
                  <a:txBody>
                    <a:bodyPr/>
                    <a:lstStyle/>
                    <a:p>
                      <a:pPr algn="l" indent="0" marL="0">
                        <a:buNone/>
                      </a:pPr>
                      <a:r>
                        <a:rPr lang="en-US" sz="1150" dirty="0">
                          <a:solidFill>
                            <a:srgbClr val="0F151B"/>
                          </a:solidFill>
                          <a:latin typeface="Arial" pitchFamily="34" charset="0"/>
                          <a:ea typeface="Arial" pitchFamily="34" charset="-122"/>
                          <a:cs typeface="Arial" pitchFamily="34" charset="-120"/>
                        </a:rPr>
                        <a:t>Citations, directories, profile links, niche blog networks, premium sites</a:t>
                      </a:r>
                      <a:endParaRPr lang="en-US" sz="115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1F6FA"/>
                    </a:solidFill>
                  </a:tcPr>
                </a:tc>
              </a:tr>
              <a:tr h="420624">
                <a:tc>
                  <a:txBody>
                    <a:bodyPr/>
                    <a:lstStyle/>
                    <a:p>
                      <a:pPr algn="l" indent="0" marL="0">
                        <a:buNone/>
                      </a:pPr>
                      <a:r>
                        <a:rPr lang="en-US" sz="1150" dirty="0">
                          <a:solidFill>
                            <a:srgbClr val="0F151B"/>
                          </a:solidFill>
                          <a:latin typeface="Arial" pitchFamily="34" charset="0"/>
                          <a:ea typeface="Arial" pitchFamily="34" charset="-122"/>
                          <a:cs typeface="Arial" pitchFamily="34" charset="-120"/>
                        </a:rPr>
                        <a:t>Full SEO marketing package</a:t>
                      </a:r>
                      <a:endParaRPr lang="en-US" sz="115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F151B"/>
                          </a:solidFill>
                          <a:latin typeface="Arial" pitchFamily="34" charset="0"/>
                          <a:ea typeface="Arial" pitchFamily="34" charset="-122"/>
                          <a:cs typeface="Arial" pitchFamily="34" charset="-120"/>
                        </a:rPr>
                        <a:t>$1,000/mo</a:t>
                      </a:r>
                      <a:endParaRPr lang="en-US" sz="115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F151B"/>
                          </a:solidFill>
                          <a:latin typeface="Arial" pitchFamily="34" charset="0"/>
                          <a:ea typeface="Arial" pitchFamily="34" charset="-122"/>
                          <a:cs typeface="Arial" pitchFamily="34" charset="-120"/>
                        </a:rPr>
                        <a:t>3 month minimum</a:t>
                      </a:r>
                      <a:endParaRPr lang="en-US" sz="115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F151B"/>
                          </a:solidFill>
                          <a:latin typeface="Arial" pitchFamily="34" charset="0"/>
                          <a:ea typeface="Arial" pitchFamily="34" charset="-122"/>
                          <a:cs typeface="Arial" pitchFamily="34" charset="-120"/>
                        </a:rPr>
                        <a:t>GMB, local and website SEO, speed and mobile, citations, backlinks, content</a:t>
                      </a:r>
                      <a:endParaRPr lang="en-US" sz="115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FFFFF"/>
                    </a:solidFill>
                  </a:tcPr>
                </a:tc>
              </a:tr>
              <a:tr h="420624">
                <a:tc>
                  <a:txBody>
                    <a:bodyPr/>
                    <a:lstStyle/>
                    <a:p>
                      <a:pPr algn="l" indent="0" marL="0">
                        <a:buNone/>
                      </a:pPr>
                      <a:r>
                        <a:rPr lang="en-US" sz="1150" dirty="0">
                          <a:solidFill>
                            <a:srgbClr val="0F151B"/>
                          </a:solidFill>
                          <a:latin typeface="Arial" pitchFamily="34" charset="0"/>
                          <a:ea typeface="Arial" pitchFamily="34" charset="-122"/>
                          <a:cs typeface="Arial" pitchFamily="34" charset="-120"/>
                        </a:rPr>
                        <a:t>Content and blogging</a:t>
                      </a:r>
                      <a:endParaRPr lang="en-US" sz="115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1F6FA"/>
                    </a:solidFill>
                  </a:tcPr>
                </a:tc>
                <a:tc>
                  <a:txBody>
                    <a:bodyPr/>
                    <a:lstStyle/>
                    <a:p>
                      <a:pPr algn="l" indent="0" marL="0">
                        <a:buNone/>
                      </a:pPr>
                      <a:r>
                        <a:rPr lang="en-US" sz="1150" dirty="0">
                          <a:solidFill>
                            <a:srgbClr val="0F151B"/>
                          </a:solidFill>
                          <a:latin typeface="Arial" pitchFamily="34" charset="0"/>
                          <a:ea typeface="Arial" pitchFamily="34" charset="-122"/>
                          <a:cs typeface="Arial" pitchFamily="34" charset="-120"/>
                        </a:rPr>
                        <a:t>$1,000/mo</a:t>
                      </a:r>
                      <a:endParaRPr lang="en-US" sz="115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1F6FA"/>
                    </a:solidFill>
                  </a:tcPr>
                </a:tc>
                <a:tc>
                  <a:txBody>
                    <a:bodyPr/>
                    <a:lstStyle/>
                    <a:p>
                      <a:pPr algn="l" indent="0" marL="0">
                        <a:buNone/>
                      </a:pPr>
                      <a:r>
                        <a:rPr lang="en-US" sz="1150" dirty="0">
                          <a:solidFill>
                            <a:srgbClr val="0F151B"/>
                          </a:solidFill>
                          <a:latin typeface="Arial" pitchFamily="34" charset="0"/>
                          <a:ea typeface="Arial" pitchFamily="34" charset="-122"/>
                          <a:cs typeface="Arial" pitchFamily="34" charset="-120"/>
                        </a:rPr>
                        <a:t>3 month minimum</a:t>
                      </a:r>
                      <a:endParaRPr lang="en-US" sz="115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1F6FA"/>
                    </a:solidFill>
                  </a:tcPr>
                </a:tc>
                <a:tc>
                  <a:txBody>
                    <a:bodyPr/>
                    <a:lstStyle/>
                    <a:p>
                      <a:pPr algn="l" indent="0" marL="0">
                        <a:buNone/>
                      </a:pPr>
                      <a:r>
                        <a:rPr lang="en-US" sz="1150" dirty="0">
                          <a:solidFill>
                            <a:srgbClr val="0F151B"/>
                          </a:solidFill>
                          <a:latin typeface="Arial" pitchFamily="34" charset="0"/>
                          <a:ea typeface="Arial" pitchFamily="34" charset="-122"/>
                          <a:cs typeface="Arial" pitchFamily="34" charset="-120"/>
                        </a:rPr>
                        <a:t>Four blogs or pages a month, research, writing, edits, SEO and linking</a:t>
                      </a:r>
                      <a:endParaRPr lang="en-US" sz="115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1F6FA"/>
                    </a:solidFill>
                  </a:tcPr>
                </a:tc>
              </a:tr>
              <a:tr h="420624">
                <a:tc>
                  <a:txBody>
                    <a:bodyPr/>
                    <a:lstStyle/>
                    <a:p>
                      <a:pPr algn="l" indent="0" marL="0">
                        <a:buNone/>
                      </a:pPr>
                      <a:r>
                        <a:rPr lang="en-US" sz="1150" dirty="0">
                          <a:solidFill>
                            <a:srgbClr val="0F151B"/>
                          </a:solidFill>
                          <a:latin typeface="Arial" pitchFamily="34" charset="0"/>
                          <a:ea typeface="Arial" pitchFamily="34" charset="-122"/>
                          <a:cs typeface="Arial" pitchFamily="34" charset="-120"/>
                        </a:rPr>
                        <a:t>Social media marketing</a:t>
                      </a:r>
                      <a:endParaRPr lang="en-US" sz="115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F151B"/>
                          </a:solidFill>
                          <a:latin typeface="Arial" pitchFamily="34" charset="0"/>
                          <a:ea typeface="Arial" pitchFamily="34" charset="-122"/>
                          <a:cs typeface="Arial" pitchFamily="34" charset="-120"/>
                        </a:rPr>
                        <a:t>$1,000/mo</a:t>
                      </a:r>
                      <a:endParaRPr lang="en-US" sz="115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F151B"/>
                          </a:solidFill>
                          <a:latin typeface="Arial" pitchFamily="34" charset="0"/>
                          <a:ea typeface="Arial" pitchFamily="34" charset="-122"/>
                          <a:cs typeface="Arial" pitchFamily="34" charset="-120"/>
                        </a:rPr>
                        <a:t>3 month minimum</a:t>
                      </a:r>
                      <a:endParaRPr lang="en-US" sz="115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F151B"/>
                          </a:solidFill>
                          <a:latin typeface="Arial" pitchFamily="34" charset="0"/>
                          <a:ea typeface="Arial" pitchFamily="34" charset="-122"/>
                          <a:cs typeface="Arial" pitchFamily="34" charset="-120"/>
                        </a:rPr>
                        <a:t>Calendar, design, posting 3x weekly, stories, hashtags, engagement</a:t>
                      </a:r>
                      <a:endParaRPr lang="en-US" sz="115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FFFFF"/>
                    </a:solidFill>
                  </a:tcPr>
                </a:tc>
              </a:tr>
              <a:tr h="420624">
                <a:tc>
                  <a:txBody>
                    <a:bodyPr/>
                    <a:lstStyle/>
                    <a:p>
                      <a:pPr algn="l" indent="0" marL="0">
                        <a:buNone/>
                      </a:pPr>
                      <a:r>
                        <a:rPr lang="en-US" sz="1150" dirty="0">
                          <a:solidFill>
                            <a:srgbClr val="0F151B"/>
                          </a:solidFill>
                          <a:latin typeface="Arial" pitchFamily="34" charset="0"/>
                          <a:ea typeface="Arial" pitchFamily="34" charset="-122"/>
                          <a:cs typeface="Arial" pitchFamily="34" charset="-120"/>
                        </a:rPr>
                        <a:t>Custom marketing solutions</a:t>
                      </a:r>
                      <a:endParaRPr lang="en-US" sz="115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1F6FA"/>
                    </a:solidFill>
                  </a:tcPr>
                </a:tc>
                <a:tc>
                  <a:txBody>
                    <a:bodyPr/>
                    <a:lstStyle/>
                    <a:p>
                      <a:pPr algn="l" indent="0" marL="0">
                        <a:buNone/>
                      </a:pPr>
                      <a:r>
                        <a:rPr lang="en-US" sz="1150" dirty="0">
                          <a:solidFill>
                            <a:srgbClr val="0F151B"/>
                          </a:solidFill>
                          <a:latin typeface="Arial" pitchFamily="34" charset="0"/>
                          <a:ea typeface="Arial" pitchFamily="34" charset="-122"/>
                          <a:cs typeface="Arial" pitchFamily="34" charset="-120"/>
                        </a:rPr>
                        <a:t>from $1,000/mo</a:t>
                      </a:r>
                      <a:endParaRPr lang="en-US" sz="115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1F6FA"/>
                    </a:solidFill>
                  </a:tcPr>
                </a:tc>
                <a:tc>
                  <a:txBody>
                    <a:bodyPr/>
                    <a:lstStyle/>
                    <a:p>
                      <a:pPr algn="l" indent="0" marL="0">
                        <a:buNone/>
                      </a:pPr>
                      <a:r>
                        <a:rPr lang="en-US" sz="1150" dirty="0">
                          <a:solidFill>
                            <a:srgbClr val="0F151B"/>
                          </a:solidFill>
                          <a:latin typeface="Arial" pitchFamily="34" charset="0"/>
                          <a:ea typeface="Arial" pitchFamily="34" charset="-122"/>
                          <a:cs typeface="Arial" pitchFamily="34" charset="-120"/>
                        </a:rPr>
                        <a:t>Monthly</a:t>
                      </a:r>
                      <a:endParaRPr lang="en-US" sz="115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1F6FA"/>
                    </a:solidFill>
                  </a:tcPr>
                </a:tc>
                <a:tc>
                  <a:txBody>
                    <a:bodyPr/>
                    <a:lstStyle/>
                    <a:p>
                      <a:pPr algn="l" indent="0" marL="0">
                        <a:buNone/>
                      </a:pPr>
                      <a:r>
                        <a:rPr lang="en-US" sz="1150" dirty="0">
                          <a:solidFill>
                            <a:srgbClr val="0F151B"/>
                          </a:solidFill>
                          <a:latin typeface="Arial" pitchFamily="34" charset="0"/>
                          <a:ea typeface="Arial" pitchFamily="34" charset="-122"/>
                          <a:cs typeface="Arial" pitchFamily="34" charset="-120"/>
                        </a:rPr>
                        <a:t>Any combination of web, social, SEO, local SEO, PPC and graphic design</a:t>
                      </a:r>
                      <a:endParaRPr lang="en-US" sz="115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1F6FA"/>
                    </a:solidFill>
                  </a:tcPr>
                </a:tc>
              </a:tr>
              <a:tr h="420624">
                <a:tc>
                  <a:txBody>
                    <a:bodyPr/>
                    <a:lstStyle/>
                    <a:p>
                      <a:pPr algn="l" indent="0" marL="0">
                        <a:buNone/>
                      </a:pPr>
                      <a:r>
                        <a:rPr lang="en-US" sz="1150" dirty="0">
                          <a:solidFill>
                            <a:srgbClr val="0F151B"/>
                          </a:solidFill>
                          <a:latin typeface="Arial" pitchFamily="34" charset="0"/>
                          <a:ea typeface="Arial" pitchFamily="34" charset="-122"/>
                          <a:cs typeface="Arial" pitchFamily="34" charset="-120"/>
                        </a:rPr>
                        <a:t>Paid advertising management</a:t>
                      </a:r>
                      <a:endParaRPr lang="en-US" sz="115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F151B"/>
                          </a:solidFill>
                          <a:latin typeface="Arial" pitchFamily="34" charset="0"/>
                          <a:ea typeface="Arial" pitchFamily="34" charset="-122"/>
                          <a:cs typeface="Arial" pitchFamily="34" charset="-120"/>
                        </a:rPr>
                        <a:t>$1,500/mo</a:t>
                      </a:r>
                      <a:endParaRPr lang="en-US" sz="115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F151B"/>
                          </a:solidFill>
                          <a:latin typeface="Arial" pitchFamily="34" charset="0"/>
                          <a:ea typeface="Arial" pitchFamily="34" charset="-122"/>
                          <a:cs typeface="Arial" pitchFamily="34" charset="-120"/>
                        </a:rPr>
                        <a:t>3 month minimum</a:t>
                      </a:r>
                      <a:endParaRPr lang="en-US" sz="115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F151B"/>
                          </a:solidFill>
                          <a:latin typeface="Arial" pitchFamily="34" charset="0"/>
                          <a:ea typeface="Arial" pitchFamily="34" charset="-122"/>
                          <a:cs typeface="Arial" pitchFamily="34" charset="-120"/>
                        </a:rPr>
                        <a:t>Audit, setup or takeover, buildout, targeting, creative, conversion tracking</a:t>
                      </a:r>
                      <a:endParaRPr lang="en-US" sz="115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FFFFF"/>
                    </a:solidFill>
                  </a:tcPr>
                </a:tc>
              </a:tr>
              <a:tr h="420624">
                <a:tc>
                  <a:txBody>
                    <a:bodyPr/>
                    <a:lstStyle/>
                    <a:p>
                      <a:pPr algn="l" indent="0" marL="0">
                        <a:buNone/>
                      </a:pPr>
                      <a:r>
                        <a:rPr lang="en-US" sz="1150" dirty="0">
                          <a:solidFill>
                            <a:srgbClr val="0F151B"/>
                          </a:solidFill>
                          <a:latin typeface="Arial" pitchFamily="34" charset="0"/>
                          <a:ea typeface="Arial" pitchFamily="34" charset="-122"/>
                          <a:cs typeface="Arial" pitchFamily="34" charset="-120"/>
                        </a:rPr>
                        <a:t>Design and branding</a:t>
                      </a:r>
                      <a:endParaRPr lang="en-US" sz="115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1F6FA"/>
                    </a:solidFill>
                  </a:tcPr>
                </a:tc>
                <a:tc>
                  <a:txBody>
                    <a:bodyPr/>
                    <a:lstStyle/>
                    <a:p>
                      <a:pPr algn="l" indent="0" marL="0">
                        <a:buNone/>
                      </a:pPr>
                      <a:r>
                        <a:rPr lang="en-US" sz="1150" dirty="0">
                          <a:solidFill>
                            <a:srgbClr val="0F151B"/>
                          </a:solidFill>
                          <a:latin typeface="Arial" pitchFamily="34" charset="0"/>
                          <a:ea typeface="Arial" pitchFamily="34" charset="-122"/>
                          <a:cs typeface="Arial" pitchFamily="34" charset="-120"/>
                        </a:rPr>
                        <a:t>$3,000</a:t>
                      </a:r>
                      <a:endParaRPr lang="en-US" sz="115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1F6FA"/>
                    </a:solidFill>
                  </a:tcPr>
                </a:tc>
                <a:tc>
                  <a:txBody>
                    <a:bodyPr/>
                    <a:lstStyle/>
                    <a:p>
                      <a:pPr algn="l" indent="0" marL="0">
                        <a:buNone/>
                      </a:pPr>
                      <a:r>
                        <a:rPr lang="en-US" sz="1150" dirty="0">
                          <a:solidFill>
                            <a:srgbClr val="0F151B"/>
                          </a:solidFill>
                          <a:latin typeface="Arial" pitchFamily="34" charset="0"/>
                          <a:ea typeface="Arial" pitchFamily="34" charset="-122"/>
                          <a:cs typeface="Arial" pitchFamily="34" charset="-120"/>
                        </a:rPr>
                        <a:t>One time, about 3 months</a:t>
                      </a:r>
                      <a:endParaRPr lang="en-US" sz="115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1F6FA"/>
                    </a:solidFill>
                  </a:tcPr>
                </a:tc>
                <a:tc>
                  <a:txBody>
                    <a:bodyPr/>
                    <a:lstStyle/>
                    <a:p>
                      <a:pPr algn="l" indent="0" marL="0">
                        <a:buNone/>
                      </a:pPr>
                      <a:r>
                        <a:rPr lang="en-US" sz="1150" dirty="0">
                          <a:solidFill>
                            <a:srgbClr val="0F151B"/>
                          </a:solidFill>
                          <a:latin typeface="Arial" pitchFamily="34" charset="0"/>
                          <a:ea typeface="Arial" pitchFamily="34" charset="-122"/>
                          <a:cs typeface="Arial" pitchFamily="34" charset="-120"/>
                        </a:rPr>
                        <a:t>Strategy, research, mockups, unlimited edits, logo and social design, full rights</a:t>
                      </a:r>
                      <a:endParaRPr lang="en-US" sz="115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1F6FA"/>
                    </a:solidFill>
                  </a:tcPr>
                </a:tc>
              </a:tr>
            </a:tbl>
          </a:graphicData>
        </a:graphic>
      </p:graphicFrame>
      <p:sp>
        <p:nvSpPr>
          <p:cNvPr id="7" name="Text 3"/>
          <p:cNvSpPr txBox="1"/>
          <p:nvPr/>
        </p:nvSpPr>
        <p:spPr>
          <a:xfrm>
            <a:off x="713232" y="6400800"/>
            <a:ext cx="9942271" cy="237744"/>
          </a:xfrm>
          <a:prstGeom prst="rect">
            <a:avLst/>
          </a:prstGeom>
          <a:noFill/>
          <a:ln/>
        </p:spPr>
        <p:txBody>
          <a:bodyPr wrap="square" lIns="0" tIns="0" rIns="0" bIns="0" rtlCol="0" anchor="t"/>
          <a:lstStyle/>
          <a:p>
            <a:pPr algn="l" indent="0" marL="0">
              <a:buNone/>
            </a:pPr>
            <a:r>
              <a:rPr lang="en-US" sz="950" i="1" dirty="0">
                <a:solidFill>
                  <a:srgbClr val="8A97A2"/>
                </a:solidFill>
                <a:latin typeface="Arial" pitchFamily="34" charset="0"/>
                <a:ea typeface="Arial" pitchFamily="34" charset="-122"/>
                <a:cs typeface="Arial" pitchFamily="34" charset="-120"/>
              </a:rPr>
              <a:t>Paid advertising management is quoted plus your ad media budget. Backlinking and social pricing range with volume. All figures published at needmomentum.com/marketing-prices/.</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825"/>
        </a:solidFill>
      </p:bgPr>
    </p:bg>
    <p:spTree>
      <p:nvGrpSpPr>
        <p:cNvPr id="1" name=""/>
        <p:cNvGrpSpPr/>
        <p:nvPr/>
      </p:nvGrpSpPr>
      <p:grpSpPr>
        <a:xfrm>
          <a:off x="0" y="0"/>
          <a:ext cx="0" cy="0"/>
          <a:chOff x="0" y="0"/>
          <a:chExt cx="0" cy="0"/>
        </a:xfrm>
      </p:grpSpPr>
      <p:sp>
        <p:nvSpPr>
          <p:cNvPr id="2" name="Shape 0"/>
          <p:cNvSpPr/>
          <p:nvPr/>
        </p:nvSpPr>
        <p:spPr>
          <a:xfrm>
            <a:off x="7086600" y="0"/>
            <a:ext cx="5105095" cy="6858000"/>
          </a:xfrm>
          <a:prstGeom prst="rect">
            <a:avLst/>
          </a:prstGeom>
          <a:solidFill>
            <a:srgbClr val="112B3F"/>
          </a:solidFill>
          <a:ln w="12700">
            <a:solidFill>
              <a:srgbClr val="333333"/>
            </a:solidFill>
            <a:prstDash val="solid"/>
          </a:ln>
        </p:spPr>
      </p:sp>
      <p:pic>
        <p:nvPicPr>
          <p:cNvPr id="3" name="Image 0" descr="C:\Users\dillo\.claude\skills\client-deck\assets\momentum-digital\momentum-mark-white.png">    </p:cNvPr>
          <p:cNvPicPr>
            <a:picLocks noChangeAspect="1"/>
          </p:cNvPicPr>
          <p:nvPr/>
        </p:nvPicPr>
        <p:blipFill>
          <a:blip r:embed="rId1">
            <a:alphaModFix amt="10000"/>
          </a:blip>
          <a:stretch>
            <a:fillRect/>
          </a:stretch>
        </p:blipFill>
        <p:spPr>
          <a:xfrm>
            <a:off x="8686800" y="1051560"/>
            <a:ext cx="5852160" cy="6942064"/>
          </a:xfrm>
          <a:prstGeom prst="rect">
            <a:avLst/>
          </a:prstGeom>
        </p:spPr>
      </p:pic>
      <p:pic>
        <p:nvPicPr>
          <p:cNvPr id="4" name="Image 1" descr="Momentum Digital logo">    </p:cNvPr>
          <p:cNvPicPr>
            <a:picLocks noChangeAspect="1"/>
          </p:cNvPicPr>
          <p:nvPr/>
        </p:nvPicPr>
        <p:blipFill>
          <a:blip r:embed="rId2"/>
          <a:stretch>
            <a:fillRect/>
          </a:stretch>
        </p:blipFill>
        <p:spPr>
          <a:xfrm>
            <a:off x="713232" y="658368"/>
            <a:ext cx="2880360" cy="619299"/>
          </a:xfrm>
          <a:prstGeom prst="rect">
            <a:avLst/>
          </a:prstGeom>
        </p:spPr>
      </p:pic>
      <p:sp>
        <p:nvSpPr>
          <p:cNvPr id="5" name="Text 1"/>
          <p:cNvSpPr txBox="1"/>
          <p:nvPr/>
        </p:nvSpPr>
        <p:spPr>
          <a:xfrm>
            <a:off x="713232" y="2286000"/>
            <a:ext cx="5852160" cy="201168"/>
          </a:xfrm>
          <a:prstGeom prst="rect">
            <a:avLst/>
          </a:prstGeom>
          <a:noFill/>
          <a:ln/>
        </p:spPr>
        <p:txBody>
          <a:bodyPr wrap="square" lIns="0" tIns="0" rIns="0" bIns="0" rtlCol="0" anchor="t"/>
          <a:lstStyle/>
          <a:p>
            <a:pPr algn="l" indent="0" marL="0">
              <a:buNone/>
            </a:pPr>
            <a:r>
              <a:rPr lang="en-US" sz="1050" b="1" spc="240" kern="0" dirty="0">
                <a:solidFill>
                  <a:srgbClr val="5AA7E0"/>
                </a:solidFill>
                <a:latin typeface="Arial" pitchFamily="34" charset="0"/>
                <a:ea typeface="Arial" pitchFamily="34" charset="-122"/>
                <a:cs typeface="Arial" pitchFamily="34" charset="-120"/>
              </a:rPr>
              <a:t>NEXT STEP</a:t>
            </a:r>
            <a:endParaRPr lang="en-US" sz="1050" dirty="0"/>
          </a:p>
        </p:txBody>
      </p:sp>
      <p:sp>
        <p:nvSpPr>
          <p:cNvPr id="6" name="Text 2"/>
          <p:cNvSpPr txBox="1"/>
          <p:nvPr/>
        </p:nvSpPr>
        <p:spPr>
          <a:xfrm>
            <a:off x="713232" y="2615184"/>
            <a:ext cx="6400800" cy="1421892"/>
          </a:xfrm>
          <a:prstGeom prst="rect">
            <a:avLst/>
          </a:prstGeom>
          <a:noFill/>
          <a:ln/>
        </p:spPr>
        <p:txBody>
          <a:bodyPr wrap="square" lIns="0" tIns="0" rIns="0" bIns="0" rtlCol="0" anchor="t"/>
          <a:lstStyle/>
          <a:p>
            <a:pPr algn="l" indent="0" marL="0">
              <a:lnSpc>
                <a:spcPct val="99000"/>
              </a:lnSpc>
              <a:buNone/>
            </a:pPr>
            <a:r>
              <a:rPr lang="en-US" sz="5400" b="1" dirty="0">
                <a:solidFill>
                  <a:srgbClr val="FFFFFF"/>
                </a:solidFill>
                <a:latin typeface="Arial" pitchFamily="34" charset="0"/>
                <a:ea typeface="Arial" pitchFamily="34" charset="-122"/>
                <a:cs typeface="Arial" pitchFamily="34" charset="-120"/>
              </a:rPr>
              <a:t>Start with the</a:t>
            </a:r>
            <a:endParaRPr lang="en-US" sz="5400" dirty="0"/>
          </a:p>
          <a:p>
            <a:pPr algn="l" indent="0" marL="0">
              <a:lnSpc>
                <a:spcPct val="99000"/>
              </a:lnSpc>
              <a:buNone/>
            </a:pPr>
            <a:r>
              <a:rPr lang="en-US" sz="5400" b="1" dirty="0">
                <a:solidFill>
                  <a:srgbClr val="FFFFFF"/>
                </a:solidFill>
                <a:latin typeface="Arial" pitchFamily="34" charset="0"/>
                <a:ea typeface="Arial" pitchFamily="34" charset="-122"/>
                <a:cs typeface="Arial" pitchFamily="34" charset="-120"/>
              </a:rPr>
              <a:t>free audit.</a:t>
            </a:r>
            <a:endParaRPr lang="en-US" sz="5400" dirty="0"/>
          </a:p>
        </p:txBody>
      </p:sp>
      <p:sp>
        <p:nvSpPr>
          <p:cNvPr id="7" name="Text 3"/>
          <p:cNvSpPr txBox="1"/>
          <p:nvPr/>
        </p:nvSpPr>
        <p:spPr>
          <a:xfrm>
            <a:off x="713232" y="4347972"/>
            <a:ext cx="6035040" cy="778764"/>
          </a:xfrm>
          <a:prstGeom prst="rect">
            <a:avLst/>
          </a:prstGeom>
          <a:noFill/>
          <a:ln/>
        </p:spPr>
        <p:txBody>
          <a:bodyPr wrap="square" lIns="0" tIns="0" rIns="0" bIns="0" rtlCol="0" anchor="t"/>
          <a:lstStyle/>
          <a:p>
            <a:pPr algn="l" indent="0" marL="0">
              <a:lnSpc>
                <a:spcPct val="134000"/>
              </a:lnSpc>
              <a:buNone/>
            </a:pPr>
            <a:r>
              <a:rPr lang="en-US" sz="1400" dirty="0">
                <a:solidFill>
                  <a:srgbClr val="9DB5C8"/>
                </a:solidFill>
                <a:latin typeface="Arial" pitchFamily="34" charset="0"/>
                <a:ea typeface="Arial" pitchFamily="34" charset="-122"/>
                <a:cs typeface="Arial" pitchFamily="34" charset="-120"/>
              </a:rPr>
              <a:t>We audit the website, SEO, Google Business Profile and the current digital presence, then walk through what we found and what we would do first. Published on the site as a $500 value.</a:t>
            </a:r>
            <a:endParaRPr lang="en-US" sz="1400" dirty="0"/>
          </a:p>
        </p:txBody>
      </p:sp>
      <p:sp>
        <p:nvSpPr>
          <p:cNvPr id="8" name="Shape 4"/>
          <p:cNvSpPr/>
          <p:nvPr/>
        </p:nvSpPr>
        <p:spPr>
          <a:xfrm>
            <a:off x="713232" y="5532120"/>
            <a:ext cx="6309360" cy="0"/>
          </a:xfrm>
          <a:prstGeom prst="line">
            <a:avLst/>
          </a:prstGeom>
          <a:noFill/>
          <a:ln w="9525">
            <a:solidFill>
              <a:srgbClr val="1E4460"/>
            </a:solidFill>
            <a:prstDash val="solid"/>
          </a:ln>
        </p:spPr>
      </p:sp>
      <p:sp>
        <p:nvSpPr>
          <p:cNvPr id="9" name="Text 5"/>
          <p:cNvSpPr txBox="1"/>
          <p:nvPr/>
        </p:nvSpPr>
        <p:spPr>
          <a:xfrm>
            <a:off x="713232" y="5760720"/>
            <a:ext cx="2743200" cy="310896"/>
          </a:xfrm>
          <a:prstGeom prst="rect">
            <a:avLst/>
          </a:prstGeom>
          <a:noFill/>
          <a:ln/>
        </p:spPr>
        <p:txBody>
          <a:bodyPr wrap="square" lIns="0" tIns="0" rIns="0" bIns="0" rtlCol="0" anchor="t"/>
          <a:lstStyle/>
          <a:p>
            <a:pPr algn="l" indent="0" marL="0">
              <a:buNone/>
            </a:pPr>
            <a:r>
              <a:rPr lang="en-US" sz="1700" b="1" dirty="0">
                <a:solidFill>
                  <a:srgbClr val="5AA7E0"/>
                </a:solidFill>
                <a:latin typeface="Arial" pitchFamily="34" charset="0"/>
                <a:ea typeface="Arial" pitchFamily="34" charset="-122"/>
                <a:cs typeface="Arial" pitchFamily="34" charset="-120"/>
              </a:rPr>
              <a:t>(215) 876-2954</a:t>
            </a:r>
            <a:endParaRPr lang="en-US" sz="1700" dirty="0"/>
          </a:p>
        </p:txBody>
      </p:sp>
      <p:sp>
        <p:nvSpPr>
          <p:cNvPr id="10" name="Text 6"/>
          <p:cNvSpPr txBox="1"/>
          <p:nvPr/>
        </p:nvSpPr>
        <p:spPr>
          <a:xfrm>
            <a:off x="713232" y="6144768"/>
            <a:ext cx="2743200" cy="548640"/>
          </a:xfrm>
          <a:prstGeom prst="rect">
            <a:avLst/>
          </a:prstGeom>
          <a:noFill/>
          <a:ln/>
        </p:spPr>
        <p:txBody>
          <a:bodyPr wrap="square" lIns="0" tIns="0" rIns="0" bIns="0" rtlCol="0" anchor="t"/>
          <a:lstStyle/>
          <a:p>
            <a:pPr algn="l" indent="0" marL="0">
              <a:lnSpc>
                <a:spcPct val="130000"/>
              </a:lnSpc>
              <a:buNone/>
            </a:pPr>
            <a:r>
              <a:rPr lang="en-US" sz="1150" dirty="0">
                <a:solidFill>
                  <a:srgbClr val="9DB5C8"/>
                </a:solidFill>
                <a:latin typeface="Arial" pitchFamily="34" charset="0"/>
                <a:ea typeface="Arial" pitchFamily="34" charset="-122"/>
                <a:cs typeface="Arial" pitchFamily="34" charset="-120"/>
              </a:rPr>
              <a:t>hi@needmomentum.com</a:t>
            </a:r>
            <a:endParaRPr lang="en-US" sz="1150" dirty="0"/>
          </a:p>
          <a:p>
            <a:pPr algn="l" indent="0" marL="0">
              <a:lnSpc>
                <a:spcPct val="130000"/>
              </a:lnSpc>
              <a:buNone/>
            </a:pPr>
            <a:r>
              <a:rPr lang="en-US" sz="1150" dirty="0">
                <a:solidFill>
                  <a:srgbClr val="9DB5C8"/>
                </a:solidFill>
                <a:latin typeface="Arial" pitchFamily="34" charset="0"/>
                <a:ea typeface="Arial" pitchFamily="34" charset="-122"/>
                <a:cs typeface="Arial" pitchFamily="34" charset="-120"/>
              </a:rPr>
              <a:t>needmomentum.com</a:t>
            </a:r>
            <a:endParaRPr lang="en-US" sz="1150" dirty="0"/>
          </a:p>
        </p:txBody>
      </p:sp>
      <p:sp>
        <p:nvSpPr>
          <p:cNvPr id="11" name="Text 7"/>
          <p:cNvSpPr txBox="1"/>
          <p:nvPr/>
        </p:nvSpPr>
        <p:spPr>
          <a:xfrm>
            <a:off x="3913632" y="5760720"/>
            <a:ext cx="3108960" cy="822960"/>
          </a:xfrm>
          <a:prstGeom prst="rect">
            <a:avLst/>
          </a:prstGeom>
          <a:noFill/>
          <a:ln/>
        </p:spPr>
        <p:txBody>
          <a:bodyPr wrap="square" lIns="0" tIns="0" rIns="0" bIns="0" rtlCol="0" anchor="t"/>
          <a:lstStyle/>
          <a:p>
            <a:pPr algn="l" indent="0" marL="0">
              <a:lnSpc>
                <a:spcPct val="130000"/>
              </a:lnSpc>
              <a:buNone/>
            </a:pPr>
            <a:r>
              <a:rPr lang="en-US" sz="1150" dirty="0">
                <a:solidFill>
                  <a:srgbClr val="9DB5C8"/>
                </a:solidFill>
                <a:latin typeface="Arial" pitchFamily="34" charset="0"/>
                <a:ea typeface="Arial" pitchFamily="34" charset="-122"/>
                <a:cs typeface="Arial" pitchFamily="34" charset="-120"/>
              </a:rPr>
              <a:t>1635 Market St. #1601</a:t>
            </a:r>
            <a:endParaRPr lang="en-US" sz="1150" dirty="0"/>
          </a:p>
          <a:p>
            <a:pPr algn="l" indent="0" marL="0">
              <a:lnSpc>
                <a:spcPct val="130000"/>
              </a:lnSpc>
              <a:buNone/>
            </a:pPr>
            <a:r>
              <a:rPr lang="en-US" sz="1150" dirty="0">
                <a:solidFill>
                  <a:srgbClr val="9DB5C8"/>
                </a:solidFill>
                <a:latin typeface="Arial" pitchFamily="34" charset="0"/>
                <a:ea typeface="Arial" pitchFamily="34" charset="-122"/>
                <a:cs typeface="Arial" pitchFamily="34" charset="-120"/>
              </a:rPr>
              <a:t>Philadelphia, PA 19103</a:t>
            </a:r>
            <a:endParaRPr lang="en-US" sz="1150" dirty="0"/>
          </a:p>
          <a:p>
            <a:pPr algn="l" indent="0" marL="0">
              <a:lnSpc>
                <a:spcPct val="130000"/>
              </a:lnSpc>
              <a:buNone/>
            </a:pPr>
            <a:r>
              <a:rPr lang="en-US" sz="1150" dirty="0">
                <a:solidFill>
                  <a:srgbClr val="9DB5C8"/>
                </a:solidFill>
                <a:latin typeface="Arial" pitchFamily="34" charset="0"/>
                <a:ea typeface="Arial" pitchFamily="34" charset="-122"/>
                <a:cs typeface="Arial" pitchFamily="34" charset="-120"/>
              </a:rPr>
              <a:t>Mon to Fri, 9:00am to 7:00pm</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Momentum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Momentum Digital, marketing that makes the phone ring</dc:title>
  <dc:subject>Capabilities, case studies and pricing</dc:subject>
  <dc:creator>Momentum Digital</dc:creator>
  <cp:lastModifiedBy>Momentum Digital</cp:lastModifiedBy>
  <cp:revision>1</cp:revision>
  <dcterms:created xsi:type="dcterms:W3CDTF">2026-09-04T15:30:39Z</dcterms:created>
  <dcterms:modified xsi:type="dcterms:W3CDTF">2026-09-04T15:30:39Z</dcterms:modified>
</cp:coreProperties>
</file>