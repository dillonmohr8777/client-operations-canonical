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MENTUM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REPLENISH  |  7 ELEVEN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274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1 TO AUGUST 31,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6492240"/>
            <a:ext cx="10863072" cy="0"/>
          </a:xfrm>
          <a:prstGeom prst="line">
            <a:avLst/>
          </a:prstGeom>
          <a:noFill/>
          <a:ln w="12700">
            <a:solidFill>
              <a:srgbClr val="D7DA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 360  |  Verified Google Ads delivery as of August 31,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ordstream.com/blog/2026-google-ads-benchmark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pic>
        <p:nvPicPr>
          <p:cNvPr id="4" name="Image 0" descr="C:\Users\dillo\Documents\Codex\projects\client-operations\clients\momentum-360\deliverables\2026-08-31-august-2026-paid-media-monthly-reports\assets\replenish-7-el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640080"/>
            <a:ext cx="1325880" cy="1325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77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2C3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Replenish campaign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report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77240" y="2907792"/>
            <a:ext cx="6903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1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clear August view of spend, traffic efficiency, and store level campaign performance across the nine location program.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4069080"/>
            <a:ext cx="9966960" cy="0"/>
          </a:xfrm>
          <a:prstGeom prst="line">
            <a:avLst/>
          </a:prstGeom>
          <a:noFill/>
          <a:ln w="15240">
            <a:solidFill>
              <a:srgbClr val="38506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352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9AAC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August 1 to August 31, 2026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5138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C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August 31, 2026  |  Replenish and 7 Eleven only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5870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 360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August account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top line Google Ads delivery across the Replenish store program.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25146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7DA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$684.74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2295144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SPEND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1 to 31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46704" y="1664208"/>
            <a:ext cx="25146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7DA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8288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705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11296" y="2295144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11296" y="2542032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38,690 impressions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25146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7DA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8288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$0.97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199632" y="2295144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CPC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99632" y="2542032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1.82% account CTR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723376" y="1664208"/>
            <a:ext cx="25146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7DA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87968" y="18288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887968" y="2295144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CAMPAIGNS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87968" y="2542032"/>
            <a:ext cx="21854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Replenish scope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3182112"/>
            <a:ext cx="6784848" cy="2340864"/>
          </a:xfrm>
          <a:prstGeom prst="roundRect">
            <a:avLst>
              <a:gd name="adj" fmla="val 1953"/>
            </a:avLst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44728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BE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signal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822192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Replenish generated 705 clicks from 38,690 impressions while maintaining an average cost below one dollar per click.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14400" y="4855464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reporting is pending validation. Click to get directions remains a separate site reporting KPI.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08392" y="3182112"/>
            <a:ext cx="3529584" cy="2340864"/>
          </a:xfrm>
          <a:prstGeom prst="roundRect">
            <a:avLst>
              <a:gd name="adj" fmla="val 1953"/>
            </a:avLst>
          </a:prstGeom>
          <a:solidFill>
            <a:srgbClr val="FFFFFF"/>
          </a:solidFill>
          <a:ln w="12700">
            <a:solidFill>
              <a:srgbClr val="D7DA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34472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efficiency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73568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007243"/>
                </a:solidFill>
                <a:uFill>
                  <a:solidFill>
                    <a:srgbClr val="007243"/>
                  </a:solidFill>
                </a:u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53% lower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973568" y="446227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average CPC than the 2026 Restaurants and Food search benchmark of $2.05.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campaign leaders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five highest spend campaigns represented $474.23 of August media delivery.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Torrey Del Mar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88336" y="1673352"/>
            <a:ext cx="4754880" cy="201168"/>
          </a:xfrm>
          <a:prstGeom prst="roundRect">
            <a:avLst>
              <a:gd name="adj" fmla="val 18182"/>
            </a:avLst>
          </a:prstGeom>
          <a:solidFill>
            <a:srgbClr val="E0E4DF"/>
          </a:solidFill>
          <a:ln w="12700">
            <a:solidFill>
              <a:srgbClr val="E0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88336" y="1673352"/>
            <a:ext cx="4754880" cy="201168"/>
          </a:xfrm>
          <a:prstGeom prst="roundRect">
            <a:avLst>
              <a:gd name="adj" fmla="val 18182"/>
            </a:avLst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6367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$127.25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42832" y="16367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176 clicks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163677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2.37% CTR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148840"/>
            <a:ext cx="10579608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323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Carmel Mountain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88336" y="2459736"/>
            <a:ext cx="4754880" cy="201168"/>
          </a:xfrm>
          <a:prstGeom prst="roundRect">
            <a:avLst>
              <a:gd name="adj" fmla="val 18182"/>
            </a:avLst>
          </a:prstGeom>
          <a:solidFill>
            <a:srgbClr val="E0E4DF"/>
          </a:solidFill>
          <a:ln w="12700">
            <a:solidFill>
              <a:srgbClr val="E0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2459736"/>
            <a:ext cx="4139455" cy="201168"/>
          </a:xfrm>
          <a:prstGeom prst="roundRect">
            <a:avLst>
              <a:gd name="adj" fmla="val 18182"/>
            </a:avLst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4231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$110.78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42832" y="2423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 clicks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95560" y="242316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2.81% CTR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2935224"/>
            <a:ext cx="10579608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Coral Springs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88336" y="3246120"/>
            <a:ext cx="4754880" cy="201168"/>
          </a:xfrm>
          <a:prstGeom prst="roundRect">
            <a:avLst>
              <a:gd name="adj" fmla="val 18182"/>
            </a:avLst>
          </a:prstGeom>
          <a:solidFill>
            <a:srgbClr val="E0E4DF"/>
          </a:solidFill>
          <a:ln w="12700">
            <a:solidFill>
              <a:srgbClr val="E0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88336" y="3246120"/>
            <a:ext cx="3203052" cy="201168"/>
          </a:xfrm>
          <a:prstGeom prst="roundRect">
            <a:avLst>
              <a:gd name="adj" fmla="val 18182"/>
            </a:avLst>
          </a:prstGeom>
          <a:solidFill>
            <a:srgbClr val="004E30"/>
          </a:solidFill>
          <a:ln w="12700">
            <a:solidFill>
              <a:srgbClr val="004E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320954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$85.72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2832" y="32095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clicks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95560" y="32095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0.46% CTR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3721608"/>
            <a:ext cx="10579608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0050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Boca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88336" y="4032504"/>
            <a:ext cx="4754880" cy="201168"/>
          </a:xfrm>
          <a:prstGeom prst="roundRect">
            <a:avLst>
              <a:gd name="adj" fmla="val 18182"/>
            </a:avLst>
          </a:prstGeom>
          <a:solidFill>
            <a:srgbClr val="E0E4DF"/>
          </a:solidFill>
          <a:ln w="12700">
            <a:solidFill>
              <a:srgbClr val="E0E4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88336" y="4032504"/>
            <a:ext cx="3089458" cy="201168"/>
          </a:xfrm>
          <a:prstGeom prst="roundRect">
            <a:avLst>
              <a:gd name="adj" fmla="val 18182"/>
            </a:avLst>
          </a:prstGeom>
          <a:solidFill>
            <a:srgbClr val="004E30"/>
          </a:solidFill>
          <a:ln w="12700">
            <a:solidFill>
              <a:srgbClr val="004E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9959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$82.68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42832" y="3995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clicks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95560" y="399592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1.40% CTR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4507992"/>
            <a:ext cx="10579608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7914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Pompano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88336" y="4818888"/>
            <a:ext cx="4754880" cy="201168"/>
          </a:xfrm>
          <a:prstGeom prst="roundRect">
            <a:avLst>
              <a:gd name="adj" fmla="val 18182"/>
            </a:avLst>
          </a:prstGeom>
          <a:solidFill>
            <a:srgbClr val="E0E4DF"/>
          </a:solidFill>
          <a:ln w="12700">
            <a:solidFill>
              <a:srgbClr val="E0E4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4818888"/>
            <a:ext cx="2533445" cy="201168"/>
          </a:xfrm>
          <a:prstGeom prst="roundRect">
            <a:avLst>
              <a:gd name="adj" fmla="val 18182"/>
            </a:avLst>
          </a:prstGeom>
          <a:solidFill>
            <a:srgbClr val="004E30"/>
          </a:solidFill>
          <a:ln w="12700">
            <a:solidFill>
              <a:srgbClr val="004E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478231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$67.80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42832" y="47823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 clicks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95560" y="478231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2.11% CTR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5294376"/>
            <a:ext cx="10579608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5696712"/>
            <a:ext cx="10579608" cy="512064"/>
          </a:xfrm>
          <a:prstGeom prst="roundRect">
            <a:avLst>
              <a:gd name="adj" fmla="val 5357"/>
            </a:avLst>
          </a:prstGeom>
          <a:solidFill>
            <a:srgbClr val="E2F0E8"/>
          </a:solidFill>
          <a:ln w="12700">
            <a:solidFill>
              <a:srgbClr val="E2F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586130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E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Carmel Mountain led click through rate at 2.81%. Torrey Del Mar led both spend and click volume.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completed in August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delivery, reporting, and measurement work completed for Replenish.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166360" cy="4370832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12700">
            <a:solidFill>
              <a:srgbClr val="D7DA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423160"/>
            <a:ext cx="4553712" cy="3035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the August top line campaign read across nine store campaigns.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two weekly performance packets and preserved the location level view.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Reconciled billing, account access, and campaign readiness follow ups.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Replenish reporting and media evidence separate from Fresh Blends.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9904" y="1627632"/>
            <a:ext cx="5148072" cy="4370832"/>
          </a:xfrm>
          <a:prstGeom prst="roundRect">
            <a:avLst>
              <a:gd name="adj" fmla="val 1046"/>
            </a:avLst>
          </a:prstGeom>
          <a:solidFill>
            <a:srgbClr val="0A1A32"/>
          </a:solidFill>
          <a:ln w="12700">
            <a:solidFill>
              <a:srgbClr val="0A1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boundary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82512" y="2514600"/>
            <a:ext cx="44988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campaign KPIs are complete. Click to get directions remains in the existing site reporting layer and will be added separately before the client presentation.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382512" y="4069080"/>
            <a:ext cx="4343400" cy="0"/>
          </a:xfrm>
          <a:prstGeom prst="line">
            <a:avLst/>
          </a:prstGeom>
          <a:noFill/>
          <a:ln w="12700">
            <a:solidFill>
              <a:srgbClr val="3850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4343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AC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LINE CAMPAIGN KPIS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82512" y="4654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2C3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0" y="4343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AC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DIRECTIONS KPI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654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7A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September action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measurement layer first, then review store level optimization opportunities.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4944" y="1691640"/>
            <a:ext cx="420624" cy="420624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7739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53312" y="1664208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directions KPI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96512" y="17007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DILLON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23560" y="1664208"/>
            <a:ext cx="4178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the August click to get directions read from the site reporting layer.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6960" y="169164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presentation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53312" y="2624328"/>
            <a:ext cx="9884664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3044952"/>
            <a:ext cx="420624" cy="420624"/>
          </a:xfrm>
          <a:prstGeom prst="ellipse">
            <a:avLst/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1272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3017520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top line KPIs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96512" y="305409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RUBEN AND MOMENTUM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23560" y="3017520"/>
            <a:ext cx="4178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campaign delivery by location and surface questions for Mia.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0" y="304495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September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53312" y="3977640"/>
            <a:ext cx="9884664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4398264"/>
            <a:ext cx="420624" cy="420624"/>
          </a:xfrm>
          <a:prstGeom prst="ellipse">
            <a:avLst/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4805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370832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Prioritize store review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096512" y="440740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07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23560" y="4370832"/>
            <a:ext cx="4178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creative and targeting review on lower engagement locations.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6960" y="439826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KPI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53312" y="5330952"/>
            <a:ext cx="9884664" cy="0"/>
          </a:xfrm>
          <a:prstGeom prst="line">
            <a:avLst/>
          </a:prstGeom>
          <a:noFill/>
          <a:ln w="10160">
            <a:solidFill>
              <a:srgbClr val="D7DA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806440"/>
            <a:ext cx="10579608" cy="475488"/>
          </a:xfrm>
          <a:prstGeom prst="roundRect">
            <a:avLst>
              <a:gd name="adj" fmla="val 5769"/>
            </a:avLst>
          </a:prstGeom>
          <a:solidFill>
            <a:srgbClr val="E2F0E8"/>
          </a:solidFill>
          <a:ln w="12700">
            <a:solidFill>
              <a:srgbClr val="E2F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95274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E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scope: one Replenish PowerPoint. Fresh Blends is not part of the August presentation.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43"/>
          </a:solidFill>
          <a:ln w="12700">
            <a:solidFill>
              <a:srgbClr val="007243"/>
            </a:solidFill>
            <a:prstDash val="solid"/>
          </a:ln>
        </p:spPr>
      </p:sp>
      <p:pic>
        <p:nvPicPr>
          <p:cNvPr id="3" name="Image 0" descr="C:\Users\dillo\Documents\Codex\projects\client-operations\clients\momentum-360\deliverables\2026-08-31-august-2026-paid-media-monthly-reports\assets\replenish-7-el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713232"/>
            <a:ext cx="1207008" cy="1207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9875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2C3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REPLENISH  |  AUGUST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41248" y="1600200"/>
            <a:ext cx="7589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Efficient traffic delivery.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 ownership for the final KPI.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41248" y="3154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1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 line campaign view is complete. Adding the site based directions KPI will finish the client presentation without blending brands or unsupported outcomes.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1248" y="4315968"/>
            <a:ext cx="9875520" cy="0"/>
          </a:xfrm>
          <a:prstGeom prst="line">
            <a:avLst/>
          </a:prstGeom>
          <a:noFill/>
          <a:ln w="12700">
            <a:solidFill>
              <a:srgbClr val="38506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663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 360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5074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C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client performance reporting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Momentum 360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Replenish August 2026 Monthly Performance</dc:title>
  <dc:subject>Replenish August 2026 campaign performance</dc:subject>
  <dc:creator>Momentum 360</dc:creator>
  <cp:lastModifiedBy>Momentum 360</cp:lastModifiedBy>
  <cp:revision>1</cp:revision>
  <dcterms:created xsi:type="dcterms:W3CDTF">2026-08-31T19:07:44Z</dcterms:created>
  <dcterms:modified xsi:type="dcterms:W3CDTF">2026-08-31T19:07:44Z</dcterms:modified>
</cp:coreProperties>
</file>