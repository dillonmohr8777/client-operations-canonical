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specimen. Uses the existing Momentum Digital lockup, blue, navy, Arial deck typography and full-bleed motif. This proof does not establish Momentum 360 brand tokens. Internal specimen, not marketing results.
[Sources]
C:/Users/dillo/.claude/skills/client-deck/brands/momentum-digital.json
C:/Users/dillo/.claude/skills/client-deck/lib/deck-kit.mjs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explanation of the installed client-deck workflow. Brand fields reside in JSON; layout methods reside in Deck; Deck.save calls choreograph.py. Internal specimen, not marketing results.
[Sources]
C:/Users/dillo/.claude/skills/client-deck/brands/momentum-digital.json
C:/Users/dillo/.claude/skills/client-deck/lib/deck-kit.mjs
C:/Users/dillo/.claude/skills/client-deck/scripts/choreograph.py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figures are typography tokens, not performance statistics: type.display=54, type.body=14 and type.caption=10.5 in momentum-digital.json. The specimen figures themselves use statXl=62. Deck text uses Arial for portability; web typography remains a separate implementation concern. Internal specimen, not marketing results.
[Sources]
C:/Users/dillo/.claude/skills/client-deck/brands/momentum-digital.json
C:/Users/dillo/.claude/skills/client-deck/lib/deck-kit.mjs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specimen demonstrates the numeral settle role, heading rise and logo fade. Subtle is explicitly selected for this proof even though the installed Deck constructor defaults to bold. Internal specimen, not marketing results.
[Sources]
C:/Users/dillo/.claude/skills/client-deck/lib/deck-kit.mjs
C:/Users/dillo/.claude/skills/client-deck/scripts/choreograph.py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Behavior summary: title/display/sub roles combine fade with translation; figure/hero/step-num roles fade and scale upward; numeral fades and scales downward; rule-h and rule-v wipe; foot/static roles are excluded. Internal specimen, not marketing results.
[Sources]
C:/Users/dillo/.claude/skills/client-deck/scripts/choreograph.py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describe the existing skill workflow, not a client delivery commitment. The build script uses Deck.save with animationStyle subtle; verification opens PowerPoint without a window and inspects native timeline effects. Internal specimen, not marketing results.
[Sources]
C:/Users/dillo/.claude/skills/client-deck/SKILL.md
C:/Users/dillo/.claude/skills/client-deck/lib/deck-kit.mjs
C:/Users/dillo/.claude/skills/client-deck/scripts/choreograph.py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structure is verified by native text and graphicFrame/table elements in the PPTX plus PowerPoint COM opening. Logo and monogram are image assets. PDF/PNG outputs are static review exports and do not demonstrate playback. Internal specimen, not marketing results.
[Sources]
C:/Users/dillo/.claude/skills/client-deck/lib/deck-kit.mjs
C:/Users/dillo/.claude/skills/client-deck/scripts/choreograph.py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specimen. This proof reuses the installed Momentum Digital brand and kit. Future clients require their own verified brand profiles. Motion remains editable native PowerPoint timing; no video is embedded or exported. Internal specimen, not marketing results.
[Sources]
C:/Users/dillo/.claude/skills/client-deck/SKILL.md
C:/Users/dillo/.claude/skills/client-deck/brands/momentum-digital.json
C:/Users/dillo/.claude/skills/client-deck/lib/deck-kit.mjs
C:/Users/dillo/.claude/skills/client-deck/scripts/choreograph.py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825"/>
        </a:solidFill>
      </p:bgPr>
    </p:bg>
    <p:spTree>
      <p:nvGrpSpPr>
        <p:cNvPr id="1" name=""/>
        <p:cNvGrpSpPr/>
        <p:nvPr/>
      </p:nvGrpSpPr>
      <p:grpSpPr>
        <a:xfrm>
          <a:off x="0" y="0"/>
          <a:ext cx="0" cy="0"/>
          <a:chOff x="0" y="0"/>
          <a:chExt cx="0" cy="0"/>
        </a:xfrm>
      </p:grpSpPr>
      <p:sp>
        <p:nvSpPr>
          <p:cNvPr id="2" name="role:panel-right"/>
          <p:cNvSpPr/>
          <p:nvPr/>
        </p:nvSpPr>
        <p:spPr>
          <a:xfrm>
            <a:off x="7086600" y="0"/>
            <a:ext cx="5105095" cy="6858000"/>
          </a:xfrm>
          <a:prstGeom prst="rect">
            <a:avLst/>
          </a:prstGeom>
          <a:solidFill>
            <a:srgbClr val="112B3F"/>
          </a:solidFill>
          <a:ln w="12700">
            <a:solidFill>
              <a:srgbClr val="333333"/>
            </a:solidFill>
            <a:prstDash val="solid"/>
          </a:ln>
        </p:spPr>
      </p:sp>
      <p:pic>
        <p:nvPicPr>
          <p:cNvPr id="3" name="role:motif" descr="C:\Users\dillo\.claude\skills\client-deck\assets\momentum-digital\momentum-mark-white.png">    </p:cNvPr>
          <p:cNvPicPr>
            <a:picLocks noChangeAspect="1"/>
          </p:cNvPicPr>
          <p:nvPr/>
        </p:nvPicPr>
        <p:blipFill>
          <a:blip r:embed="rId1">
            <a:alphaModFix amt="10000"/>
          </a:blip>
          <a:stretch>
            <a:fillRect/>
          </a:stretch>
        </p:blipFill>
        <p:spPr>
          <a:xfrm>
            <a:off x="8686800" y="1051560"/>
            <a:ext cx="5852160" cy="6942064"/>
          </a:xfrm>
          <a:prstGeom prst="rect">
            <a:avLst/>
          </a:prstGeom>
        </p:spPr>
      </p:pic>
      <p:pic>
        <p:nvPicPr>
          <p:cNvPr id="4" name="role:logo" descr="Momentum Digital logo">    </p:cNvPr>
          <p:cNvPicPr>
            <a:picLocks noChangeAspect="1"/>
          </p:cNvPicPr>
          <p:nvPr/>
        </p:nvPicPr>
        <p:blipFill>
          <a:blip r:embed="rId2"/>
          <a:stretch>
            <a:fillRect/>
          </a:stretch>
        </p:blipFill>
        <p:spPr>
          <a:xfrm>
            <a:off x="713232" y="658368"/>
            <a:ext cx="2880360" cy="619299"/>
          </a:xfrm>
          <a:prstGeom prst="rect">
            <a:avLst/>
          </a:prstGeom>
        </p:spPr>
      </p:pic>
      <p:sp>
        <p:nvSpPr>
          <p:cNvPr id="5" name="role:kicker"/>
          <p:cNvSpPr txBox="1"/>
          <p:nvPr/>
        </p:nvSpPr>
        <p:spPr>
          <a:xfrm>
            <a:off x="713232" y="1810512"/>
            <a:ext cx="6035040" cy="201168"/>
          </a:xfrm>
          <a:prstGeom prst="rect">
            <a:avLst/>
          </a:prstGeom>
          <a:noFill/>
          <a:ln/>
        </p:spPr>
        <p:txBody>
          <a:bodyPr wrap="square" lIns="0" tIns="0" rIns="0" bIns="0" rtlCol="0" anchor="t"/>
          <a:lstStyle/>
          <a:p>
            <a:pPr algn="l" indent="0" marL="0">
              <a:buNone/>
            </a:pPr>
            <a:r>
              <a:rPr lang="en-US" sz="1050" b="1" spc="240" kern="0" dirty="0">
                <a:solidFill>
                  <a:srgbClr val="5AA7E0"/>
                </a:solidFill>
                <a:latin typeface="Arial" pitchFamily="34" charset="0"/>
                <a:ea typeface="Arial" pitchFamily="34" charset="-122"/>
                <a:cs typeface="Arial" pitchFamily="34" charset="-120"/>
              </a:rPr>
              <a:t>DESIGN + MOTION SYSTEM</a:t>
            </a:r>
            <a:endParaRPr lang="en-US" sz="1050" dirty="0"/>
          </a:p>
        </p:txBody>
      </p:sp>
      <p:sp>
        <p:nvSpPr>
          <p:cNvPr id="6" name="role:display"/>
          <p:cNvSpPr txBox="1"/>
          <p:nvPr/>
        </p:nvSpPr>
        <p:spPr>
          <a:xfrm>
            <a:off x="713232" y="2139696"/>
            <a:ext cx="6309360" cy="1435608"/>
          </a:xfrm>
          <a:prstGeom prst="rect">
            <a:avLst/>
          </a:prstGeom>
          <a:noFill/>
          <a:ln/>
        </p:spPr>
        <p:txBody>
          <a:bodyPr wrap="square" lIns="0" tIns="0" rIns="0" bIns="0" rtlCol="0" anchor="t"/>
          <a:lstStyle/>
          <a:p>
            <a:pPr algn="l" indent="0" marL="0">
              <a:lnSpc>
                <a:spcPct val="100000"/>
              </a:lnSpc>
              <a:buNone/>
            </a:pPr>
            <a:r>
              <a:rPr lang="en-US" sz="5400" b="1" dirty="0">
                <a:solidFill>
                  <a:srgbClr val="FFFFFF"/>
                </a:solidFill>
                <a:latin typeface="Arial" pitchFamily="34" charset="0"/>
                <a:ea typeface="Arial" pitchFamily="34" charset="-122"/>
                <a:cs typeface="Arial" pitchFamily="34" charset="-120"/>
              </a:rPr>
              <a:t>Built to move.</a:t>
            </a:r>
            <a:endParaRPr lang="en-US" sz="5400" dirty="0"/>
          </a:p>
          <a:p>
            <a:pPr algn="l" indent="0" marL="0">
              <a:lnSpc>
                <a:spcPct val="100000"/>
              </a:lnSpc>
              <a:buNone/>
            </a:pPr>
            <a:r>
              <a:rPr lang="en-US" sz="5400" b="1" dirty="0">
                <a:solidFill>
                  <a:srgbClr val="FFFFFF"/>
                </a:solidFill>
                <a:latin typeface="Arial" pitchFamily="34" charset="0"/>
                <a:ea typeface="Arial" pitchFamily="34" charset="-122"/>
                <a:cs typeface="Arial" pitchFamily="34" charset="-120"/>
              </a:rPr>
              <a:t>Easy to edit.</a:t>
            </a:r>
            <a:endParaRPr lang="en-US" sz="5400" dirty="0"/>
          </a:p>
        </p:txBody>
      </p:sp>
      <p:sp>
        <p:nvSpPr>
          <p:cNvPr id="7" name="role:sub"/>
          <p:cNvSpPr txBox="1"/>
          <p:nvPr/>
        </p:nvSpPr>
        <p:spPr>
          <a:xfrm>
            <a:off x="713232" y="3995928"/>
            <a:ext cx="5852160" cy="382524"/>
          </a:xfrm>
          <a:prstGeom prst="rect">
            <a:avLst/>
          </a:prstGeom>
          <a:noFill/>
          <a:ln/>
        </p:spPr>
        <p:txBody>
          <a:bodyPr wrap="square" lIns="0" tIns="0" rIns="0" bIns="0" rtlCol="0" anchor="t"/>
          <a:lstStyle/>
          <a:p>
            <a:pPr algn="l" indent="0" marL="0">
              <a:lnSpc>
                <a:spcPct val="132000"/>
              </a:lnSpc>
              <a:buNone/>
            </a:pPr>
            <a:r>
              <a:rPr lang="en-US" sz="1900" dirty="0">
                <a:solidFill>
                  <a:srgbClr val="9DB5C8"/>
                </a:solidFill>
                <a:latin typeface="Arial" pitchFamily="34" charset="0"/>
                <a:ea typeface="Arial" pitchFamily="34" charset="-122"/>
                <a:cs typeface="Arial" pitchFamily="34" charset="-120"/>
              </a:rPr>
              <a:t>A reusable system for Momentum Digital.</a:t>
            </a:r>
            <a:endParaRPr lang="en-US" sz="1900" dirty="0"/>
          </a:p>
        </p:txBody>
      </p:sp>
      <p:sp>
        <p:nvSpPr>
          <p:cNvPr id="8" name="role:foot"/>
          <p:cNvSpPr txBox="1"/>
          <p:nvPr/>
        </p:nvSpPr>
        <p:spPr>
          <a:xfrm>
            <a:off x="713232" y="6016752"/>
            <a:ext cx="6400800" cy="237744"/>
          </a:xfrm>
          <a:prstGeom prst="rect">
            <a:avLst/>
          </a:prstGeom>
          <a:noFill/>
          <a:ln/>
        </p:spPr>
        <p:txBody>
          <a:bodyPr wrap="square" lIns="0" tIns="0" rIns="0" bIns="0" rtlCol="0" anchor="t"/>
          <a:lstStyle/>
          <a:p>
            <a:pPr algn="l" indent="0" marL="0">
              <a:buNone/>
            </a:pPr>
            <a:r>
              <a:rPr lang="en-US" sz="1100" b="1" spc="120" kern="0" dirty="0">
                <a:solidFill>
                  <a:srgbClr val="9DB5C8"/>
                </a:solidFill>
                <a:latin typeface="Arial" pitchFamily="34" charset="0"/>
                <a:ea typeface="Arial" pitchFamily="34" charset="-122"/>
                <a:cs typeface="Arial" pitchFamily="34" charset="-120"/>
              </a:rPr>
              <a:t>INTERNAL SPECIMEN  /  04 SEP 2026</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42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900" decel="700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320" decel="70000"/>
                                        <p:tgtEl>
                                          <p:spTgt spid="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280" decel="70000"/>
                                        <p:tgtEl>
                                          <p:spTgt spid="5"/>
                                        </p:tgtEl>
                                      </p:cBhvr>
                                    </p:animEffect>
                                    <p:anim calcmode="lin" valueType="num">
                                      <p:cBhvr additive="base">
                                        <p:cTn id="17" dur="280" decel="70000" fill="hold"/>
                                        <p:tgtEl>
                                          <p:spTgt spid="5"/>
                                        </p:tgtEl>
                                        <p:attrNameLst>
                                          <p:attrName>ppt_y</p:attrName>
                                        </p:attrNameLst>
                                      </p:cBhvr>
                                      <p:tavLst>
                                        <p:tav tm="0">
                                          <p:val>
                                            <p:strVal val="#ppt_y+0.02"/>
                                          </p:val>
                                        </p:tav>
                                        <p:tav tm="100000">
                                          <p:val>
                                            <p:strVal val="#ppt_y"/>
                                          </p:val>
                                        </p:tav>
                                      </p:tavLst>
                                    </p:anim>
                                  </p:childTnLst>
                                </p:cTn>
                              </p:par>
                              <p:par>
                                <p:cTn id="18" presetID="10" presetClass="entr" presetSubtype="0" fill="hold" grpId="0" nodeType="withEffect">
                                  <p:stCondLst>
                                    <p:cond delay="55"/>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480" decel="70000"/>
                                        <p:tgtEl>
                                          <p:spTgt spid="6"/>
                                        </p:tgtEl>
                                      </p:cBhvr>
                                    </p:animEffect>
                                    <p:anim calcmode="lin" valueType="num">
                                      <p:cBhvr additive="base">
                                        <p:cTn id="21" dur="480" decel="70000" fill="hold"/>
                                        <p:tgtEl>
                                          <p:spTgt spid="6"/>
                                        </p:tgtEl>
                                        <p:attrNameLst>
                                          <p:attrName>ppt_y</p:attrName>
                                        </p:attrNameLst>
                                      </p:cBhvr>
                                      <p:tavLst>
                                        <p:tav tm="0">
                                          <p:val>
                                            <p:strVal val="#ppt_y+0.038"/>
                                          </p:val>
                                        </p:tav>
                                        <p:tav tm="100000">
                                          <p:val>
                                            <p:strVal val="#ppt_y"/>
                                          </p:val>
                                        </p:tav>
                                      </p:tavLst>
                                    </p:anim>
                                  </p:childTnLst>
                                </p:cTn>
                              </p:par>
                              <p:par>
                                <p:cTn id="22" presetID="10" presetClass="entr" presetSubtype="0" fill="hold" grpId="0" nodeType="withEffect">
                                  <p:stCondLst>
                                    <p:cond delay="11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340" decel="70000"/>
                                        <p:tgtEl>
                                          <p:spTgt spid="7"/>
                                        </p:tgtEl>
                                      </p:cBhvr>
                                    </p:animEffect>
                                    <p:anim calcmode="lin" valueType="num">
                                      <p:cBhvr additive="base">
                                        <p:cTn id="25" dur="340" decel="70000" fill="hold"/>
                                        <p:tgtEl>
                                          <p:spTgt spid="7"/>
                                        </p:tgtEl>
                                        <p:attrNameLst>
                                          <p:attrName>ppt_y</p:attrName>
                                        </p:attrNameLst>
                                      </p:cBhvr>
                                      <p:tavLst>
                                        <p:tav tm="0">
                                          <p:val>
                                            <p:strVal val="#ppt_y+0.02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role:logo" descr="Momentum Digital logo">    </p:cNvPr>
          <p:cNvPicPr>
            <a:picLocks noChangeAspect="1"/>
          </p:cNvPicPr>
          <p:nvPr/>
        </p:nvPicPr>
        <p:blipFill>
          <a:blip r:embed="rId1"/>
          <a:stretch>
            <a:fillRect/>
          </a:stretch>
        </p:blipFill>
        <p:spPr>
          <a:xfrm>
            <a:off x="10106863" y="658368"/>
            <a:ext cx="1371600" cy="294904"/>
          </a:xfrm>
          <a:prstGeom prst="rect">
            <a:avLst/>
          </a:prstGeom>
        </p:spPr>
      </p:pic>
      <p:sp>
        <p:nvSpPr>
          <p:cNvPr id="3" name="role:kicker"/>
          <p:cNvSpPr txBox="1"/>
          <p:nvPr/>
        </p:nvSpPr>
        <p:spPr>
          <a:xfrm>
            <a:off x="713232" y="658368"/>
            <a:ext cx="8753551" cy="201168"/>
          </a:xfrm>
          <a:prstGeom prst="rect">
            <a:avLst/>
          </a:prstGeom>
          <a:noFill/>
          <a:ln/>
        </p:spPr>
        <p:txBody>
          <a:bodyPr wrap="square" lIns="0" tIns="0" rIns="0" bIns="0" rtlCol="0" anchor="t"/>
          <a:lstStyle/>
          <a:p>
            <a:pPr algn="l" indent="0" marL="0">
              <a:buNone/>
            </a:pPr>
            <a:r>
              <a:rPr lang="en-US" sz="1050" b="1" spc="240" kern="0" dirty="0">
                <a:solidFill>
                  <a:srgbClr val="17557F"/>
                </a:solidFill>
                <a:latin typeface="Arial" pitchFamily="34" charset="0"/>
                <a:ea typeface="Arial" pitchFamily="34" charset="-122"/>
                <a:cs typeface="Arial" pitchFamily="34" charset="-120"/>
              </a:rPr>
              <a:t>FOUNDATION</a:t>
            </a:r>
            <a:endParaRPr lang="en-US" sz="1050" dirty="0"/>
          </a:p>
        </p:txBody>
      </p:sp>
      <p:sp>
        <p:nvSpPr>
          <p:cNvPr id="4" name="role:title"/>
          <p:cNvSpPr txBox="1"/>
          <p:nvPr/>
        </p:nvSpPr>
        <p:spPr>
          <a:xfrm>
            <a:off x="713232" y="987552"/>
            <a:ext cx="8570671" cy="569214"/>
          </a:xfrm>
          <a:prstGeom prst="rect">
            <a:avLst/>
          </a:prstGeom>
          <a:noFill/>
          <a:ln/>
        </p:spPr>
        <p:txBody>
          <a:bodyPr wrap="square" lIns="0" tIns="0" rIns="0" bIns="0" rtlCol="0" anchor="t"/>
          <a:lstStyle/>
          <a:p>
            <a:pPr algn="l" indent="0" marL="0">
              <a:lnSpc>
                <a:spcPct val="102000"/>
              </a:lnSpc>
              <a:buNone/>
            </a:pPr>
            <a:r>
              <a:rPr lang="en-US" sz="3900" b="1" dirty="0">
                <a:solidFill>
                  <a:srgbClr val="0F151B"/>
                </a:solidFill>
                <a:latin typeface="Arial" pitchFamily="34" charset="0"/>
                <a:ea typeface="Arial" pitchFamily="34" charset="-122"/>
                <a:cs typeface="Arial" pitchFamily="34" charset="-120"/>
              </a:rPr>
              <a:t>One system. Clear ownership.</a:t>
            </a:r>
            <a:endParaRPr lang="en-US" sz="3900" dirty="0"/>
          </a:p>
        </p:txBody>
      </p:sp>
      <p:sp>
        <p:nvSpPr>
          <p:cNvPr id="5" name="role:sub"/>
          <p:cNvSpPr txBox="1"/>
          <p:nvPr/>
        </p:nvSpPr>
        <p:spPr>
          <a:xfrm>
            <a:off x="713232" y="1703070"/>
            <a:ext cx="8046720" cy="356616"/>
          </a:xfrm>
          <a:prstGeom prst="rect">
            <a:avLst/>
          </a:prstGeom>
          <a:noFill/>
          <a:ln/>
        </p:spPr>
        <p:txBody>
          <a:bodyPr wrap="square" lIns="0" tIns="0" rIns="0" bIns="0" rtlCol="0" anchor="t"/>
          <a:lstStyle/>
          <a:p>
            <a:pPr algn="l" indent="0" marL="0">
              <a:lnSpc>
                <a:spcPct val="128000"/>
              </a:lnSpc>
              <a:buNone/>
            </a:pPr>
            <a:r>
              <a:rPr lang="en-US" sz="1800" dirty="0">
                <a:solidFill>
                  <a:srgbClr val="5A6772"/>
                </a:solidFill>
                <a:latin typeface="Arial" pitchFamily="34" charset="0"/>
                <a:ea typeface="Arial" pitchFamily="34" charset="-122"/>
                <a:cs typeface="Arial" pitchFamily="34" charset="-120"/>
              </a:rPr>
              <a:t>The content changes. The design rules stay consistent.</a:t>
            </a:r>
            <a:endParaRPr lang="en-US" sz="1800" dirty="0"/>
          </a:p>
        </p:txBody>
      </p:sp>
      <p:sp>
        <p:nvSpPr>
          <p:cNvPr id="6" name="role:static"/>
          <p:cNvSpPr txBox="1"/>
          <p:nvPr/>
        </p:nvSpPr>
        <p:spPr>
          <a:xfrm>
            <a:off x="10929823" y="6437376"/>
            <a:ext cx="548640" cy="219456"/>
          </a:xfrm>
          <a:prstGeom prst="rect">
            <a:avLst/>
          </a:prstGeom>
          <a:noFill/>
          <a:ln/>
        </p:spPr>
        <p:txBody>
          <a:bodyPr wrap="square" lIns="0" tIns="0" rIns="0" bIns="0" rtlCol="0" anchor="t"/>
          <a:lstStyle/>
          <a:p>
            <a:pPr algn="r" indent="0" marL="0">
              <a:buNone/>
            </a:pPr>
            <a:r>
              <a:rPr lang="en-US" sz="1050" b="1" spc="100" kern="0" dirty="0">
                <a:solidFill>
                  <a:srgbClr val="5A6772"/>
                </a:solidFill>
                <a:latin typeface="Arial" pitchFamily="34" charset="0"/>
                <a:ea typeface="Arial" pitchFamily="34" charset="-122"/>
                <a:cs typeface="Arial" pitchFamily="34" charset="-120"/>
              </a:rPr>
              <a:t>01</a:t>
            </a:r>
            <a:endParaRPr lang="en-US" sz="1050" dirty="0"/>
          </a:p>
        </p:txBody>
      </p:sp>
      <p:sp>
        <p:nvSpPr>
          <p:cNvPr id="7" name="role:row-head"/>
          <p:cNvSpPr txBox="1"/>
          <p:nvPr/>
        </p:nvSpPr>
        <p:spPr>
          <a:xfrm>
            <a:off x="713232" y="2626614"/>
            <a:ext cx="3383280" cy="275336"/>
          </a:xfrm>
          <a:prstGeom prst="rect">
            <a:avLst/>
          </a:prstGeom>
          <a:noFill/>
          <a:ln/>
        </p:spPr>
        <p:txBody>
          <a:bodyPr wrap="square" lIns="0" tIns="0" rIns="0" bIns="0" rtlCol="0" anchor="t"/>
          <a:lstStyle/>
          <a:p>
            <a:pPr algn="l" indent="0" marL="0">
              <a:lnSpc>
                <a:spcPct val="110000"/>
              </a:lnSpc>
              <a:buNone/>
            </a:pPr>
            <a:r>
              <a:rPr lang="en-US" sz="1550" b="1" dirty="0">
                <a:solidFill>
                  <a:srgbClr val="0F151B"/>
                </a:solidFill>
                <a:latin typeface="Arial" pitchFamily="34" charset="0"/>
                <a:ea typeface="Arial" pitchFamily="34" charset="-122"/>
                <a:cs typeface="Arial" pitchFamily="34" charset="-120"/>
              </a:rPr>
              <a:t>Brand</a:t>
            </a:r>
            <a:endParaRPr lang="en-US" sz="1550" dirty="0"/>
          </a:p>
        </p:txBody>
      </p:sp>
      <p:sp>
        <p:nvSpPr>
          <p:cNvPr id="8" name="role:row-body"/>
          <p:cNvSpPr txBox="1"/>
          <p:nvPr/>
        </p:nvSpPr>
        <p:spPr>
          <a:xfrm>
            <a:off x="4507992" y="2626614"/>
            <a:ext cx="6970471" cy="461264"/>
          </a:xfrm>
          <a:prstGeom prst="rect">
            <a:avLst/>
          </a:prstGeom>
          <a:noFill/>
          <a:ln/>
        </p:spPr>
        <p:txBody>
          <a:bodyPr wrap="square" lIns="0" tIns="0" rIns="0" bIns="0" rtlCol="0" anchor="t"/>
          <a:lstStyle/>
          <a:p>
            <a:pPr algn="l" indent="0" marL="0">
              <a:lnSpc>
                <a:spcPct val="128000"/>
              </a:lnSpc>
              <a:buNone/>
            </a:pPr>
            <a:r>
              <a:rPr lang="en-US" sz="1250" dirty="0">
                <a:solidFill>
                  <a:srgbClr val="5A6772"/>
                </a:solidFill>
                <a:latin typeface="Arial" pitchFamily="34" charset="0"/>
                <a:ea typeface="Arial" pitchFamily="34" charset="-122"/>
                <a:cs typeface="Arial" pitchFamily="34" charset="-120"/>
              </a:rPr>
              <a:t>The verified client profile owns color, logo assets, typography and contact identity.</a:t>
            </a:r>
            <a:endParaRPr lang="en-US" sz="1250" dirty="0"/>
          </a:p>
        </p:txBody>
      </p:sp>
      <p:sp>
        <p:nvSpPr>
          <p:cNvPr id="9" name="role:rule-h"/>
          <p:cNvSpPr/>
          <p:nvPr/>
        </p:nvSpPr>
        <p:spPr>
          <a:xfrm>
            <a:off x="713232" y="3252470"/>
            <a:ext cx="10765231" cy="0"/>
          </a:xfrm>
          <a:prstGeom prst="line">
            <a:avLst/>
          </a:prstGeom>
          <a:noFill/>
          <a:ln w="9525">
            <a:solidFill>
              <a:srgbClr val="E2EAF1"/>
            </a:solidFill>
            <a:prstDash val="solid"/>
          </a:ln>
        </p:spPr>
      </p:sp>
      <p:sp>
        <p:nvSpPr>
          <p:cNvPr id="10" name="role:row-head"/>
          <p:cNvSpPr txBox="1"/>
          <p:nvPr/>
        </p:nvSpPr>
        <p:spPr>
          <a:xfrm>
            <a:off x="713232" y="3417062"/>
            <a:ext cx="3383280" cy="275336"/>
          </a:xfrm>
          <a:prstGeom prst="rect">
            <a:avLst/>
          </a:prstGeom>
          <a:noFill/>
          <a:ln/>
        </p:spPr>
        <p:txBody>
          <a:bodyPr wrap="square" lIns="0" tIns="0" rIns="0" bIns="0" rtlCol="0" anchor="t"/>
          <a:lstStyle/>
          <a:p>
            <a:pPr algn="l" indent="0" marL="0">
              <a:lnSpc>
                <a:spcPct val="110000"/>
              </a:lnSpc>
              <a:buNone/>
            </a:pPr>
            <a:r>
              <a:rPr lang="en-US" sz="1550" b="1" dirty="0">
                <a:solidFill>
                  <a:srgbClr val="0F151B"/>
                </a:solidFill>
                <a:latin typeface="Arial" pitchFamily="34" charset="0"/>
                <a:ea typeface="Arial" pitchFamily="34" charset="-122"/>
                <a:cs typeface="Arial" pitchFamily="34" charset="-120"/>
              </a:rPr>
              <a:t>Composition</a:t>
            </a:r>
            <a:endParaRPr lang="en-US" sz="1550" dirty="0"/>
          </a:p>
        </p:txBody>
      </p:sp>
      <p:sp>
        <p:nvSpPr>
          <p:cNvPr id="11" name="role:row-body"/>
          <p:cNvSpPr txBox="1"/>
          <p:nvPr/>
        </p:nvSpPr>
        <p:spPr>
          <a:xfrm>
            <a:off x="4507992" y="3417062"/>
            <a:ext cx="6970471" cy="258064"/>
          </a:xfrm>
          <a:prstGeom prst="rect">
            <a:avLst/>
          </a:prstGeom>
          <a:noFill/>
          <a:ln/>
        </p:spPr>
        <p:txBody>
          <a:bodyPr wrap="square" lIns="0" tIns="0" rIns="0" bIns="0" rtlCol="0" anchor="t"/>
          <a:lstStyle/>
          <a:p>
            <a:pPr algn="l" indent="0" marL="0">
              <a:lnSpc>
                <a:spcPct val="128000"/>
              </a:lnSpc>
              <a:buNone/>
            </a:pPr>
            <a:r>
              <a:rPr lang="en-US" sz="1250" dirty="0">
                <a:solidFill>
                  <a:srgbClr val="5A6772"/>
                </a:solidFill>
                <a:latin typeface="Arial" pitchFamily="34" charset="0"/>
                <a:ea typeface="Arial" pitchFamily="34" charset="-122"/>
                <a:cs typeface="Arial" pitchFamily="34" charset="-120"/>
              </a:rPr>
              <a:t>Reusable slide layouts own hierarchy, whitespace, rules and the light / dark rhythm.</a:t>
            </a:r>
            <a:endParaRPr lang="en-US" sz="1250" dirty="0"/>
          </a:p>
        </p:txBody>
      </p:sp>
      <p:sp>
        <p:nvSpPr>
          <p:cNvPr id="12" name="role:rule-h"/>
          <p:cNvSpPr/>
          <p:nvPr/>
        </p:nvSpPr>
        <p:spPr>
          <a:xfrm>
            <a:off x="713232" y="3856990"/>
            <a:ext cx="10765231" cy="0"/>
          </a:xfrm>
          <a:prstGeom prst="line">
            <a:avLst/>
          </a:prstGeom>
          <a:noFill/>
          <a:ln w="9525">
            <a:solidFill>
              <a:srgbClr val="E2EAF1"/>
            </a:solidFill>
            <a:prstDash val="solid"/>
          </a:ln>
        </p:spPr>
      </p:sp>
      <p:sp>
        <p:nvSpPr>
          <p:cNvPr id="13" name="role:row-head"/>
          <p:cNvSpPr txBox="1"/>
          <p:nvPr/>
        </p:nvSpPr>
        <p:spPr>
          <a:xfrm>
            <a:off x="713232" y="4021582"/>
            <a:ext cx="3383280" cy="275336"/>
          </a:xfrm>
          <a:prstGeom prst="rect">
            <a:avLst/>
          </a:prstGeom>
          <a:noFill/>
          <a:ln/>
        </p:spPr>
        <p:txBody>
          <a:bodyPr wrap="square" lIns="0" tIns="0" rIns="0" bIns="0" rtlCol="0" anchor="t"/>
          <a:lstStyle/>
          <a:p>
            <a:pPr algn="l" indent="0" marL="0">
              <a:lnSpc>
                <a:spcPct val="110000"/>
              </a:lnSpc>
              <a:buNone/>
            </a:pPr>
            <a:r>
              <a:rPr lang="en-US" sz="1550" b="1" dirty="0">
                <a:solidFill>
                  <a:srgbClr val="0F151B"/>
                </a:solidFill>
                <a:latin typeface="Arial" pitchFamily="34" charset="0"/>
                <a:ea typeface="Arial" pitchFamily="34" charset="-122"/>
                <a:cs typeface="Arial" pitchFamily="34" charset="-120"/>
              </a:rPr>
              <a:t>Motion</a:t>
            </a:r>
            <a:endParaRPr lang="en-US" sz="1550" dirty="0"/>
          </a:p>
        </p:txBody>
      </p:sp>
      <p:sp>
        <p:nvSpPr>
          <p:cNvPr id="14" name="role:row-body"/>
          <p:cNvSpPr txBox="1"/>
          <p:nvPr/>
        </p:nvSpPr>
        <p:spPr>
          <a:xfrm>
            <a:off x="4507992" y="4021582"/>
            <a:ext cx="6970471" cy="258064"/>
          </a:xfrm>
          <a:prstGeom prst="rect">
            <a:avLst/>
          </a:prstGeom>
          <a:noFill/>
          <a:ln/>
        </p:spPr>
        <p:txBody>
          <a:bodyPr wrap="square" lIns="0" tIns="0" rIns="0" bIns="0" rtlCol="0" anchor="t"/>
          <a:lstStyle/>
          <a:p>
            <a:pPr algn="l" indent="0" marL="0">
              <a:lnSpc>
                <a:spcPct val="128000"/>
              </a:lnSpc>
              <a:buNone/>
            </a:pPr>
            <a:r>
              <a:rPr lang="en-US" sz="1250" dirty="0">
                <a:solidFill>
                  <a:srgbClr val="5A6772"/>
                </a:solidFill>
                <a:latin typeface="Arial" pitchFamily="34" charset="0"/>
                <a:ea typeface="Arial" pitchFamily="34" charset="-122"/>
                <a:cs typeface="Arial" pitchFamily="34" charset="-120"/>
              </a:rPr>
              <a:t>Semantic roles determine entrance behavior automatically when the file is saved.</a:t>
            </a:r>
            <a:endParaRPr lang="en-US" sz="1250" dirty="0"/>
          </a:p>
        </p:txBody>
      </p:sp>
      <p:sp>
        <p:nvSpPr>
          <p:cNvPr id="15" name="role:foot"/>
          <p:cNvSpPr txBox="1"/>
          <p:nvPr/>
        </p:nvSpPr>
        <p:spPr>
          <a:xfrm>
            <a:off x="713232" y="6400800"/>
            <a:ext cx="9942271" cy="237744"/>
          </a:xfrm>
          <a:prstGeom prst="rect">
            <a:avLst/>
          </a:prstGeom>
          <a:noFill/>
          <a:ln/>
        </p:spPr>
        <p:txBody>
          <a:bodyPr wrap="square" lIns="0" tIns="0" rIns="0" bIns="0" rtlCol="0" anchor="t"/>
          <a:lstStyle/>
          <a:p>
            <a:pPr algn="l" indent="0" marL="0">
              <a:buNone/>
            </a:pPr>
            <a:r>
              <a:rPr lang="en-US" sz="950" i="1" dirty="0">
                <a:solidFill>
                  <a:srgbClr val="5A6772"/>
                </a:solidFill>
                <a:latin typeface="Arial" pitchFamily="34" charset="0"/>
                <a:ea typeface="Arial" pitchFamily="34" charset="-122"/>
                <a:cs typeface="Arial" pitchFamily="34" charset="-120"/>
              </a:rPr>
              <a:t>Internal system specimen | Momentum Digital / Need Momentum | 04 Sep 2026</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20" decel="700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80" decel="70000"/>
                                        <p:tgtEl>
                                          <p:spTgt spid="3"/>
                                        </p:tgtEl>
                                      </p:cBhvr>
                                    </p:animEffect>
                                    <p:anim calcmode="lin" valueType="num">
                                      <p:cBhvr additive="base">
                                        <p:cTn id="11" dur="280" decel="70000" fill="hold"/>
                                        <p:tgtEl>
                                          <p:spTgt spid="3"/>
                                        </p:tgtEl>
                                        <p:attrNameLst>
                                          <p:attrName>ppt_y</p:attrName>
                                        </p:attrNameLst>
                                      </p:cBhvr>
                                      <p:tavLst>
                                        <p:tav tm="0">
                                          <p:val>
                                            <p:strVal val="#ppt_y+0.02"/>
                                          </p:val>
                                        </p:tav>
                                        <p:tav tm="100000">
                                          <p:val>
                                            <p:strVal val="#ppt_y"/>
                                          </p:val>
                                        </p:tav>
                                      </p:tavLst>
                                    </p:anim>
                                  </p:childTnLst>
                                </p:cTn>
                              </p:par>
                              <p:par>
                                <p:cTn id="12" presetID="10" presetClass="entr" presetSubtype="0" fill="hold" grpId="0" nodeType="withEffect">
                                  <p:stCondLst>
                                    <p:cond delay="55"/>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420" decel="70000"/>
                                        <p:tgtEl>
                                          <p:spTgt spid="4"/>
                                        </p:tgtEl>
                                      </p:cBhvr>
                                    </p:animEffect>
                                    <p:anim calcmode="lin" valueType="num">
                                      <p:cBhvr additive="base">
                                        <p:cTn id="15" dur="420" decel="70000" fill="hold"/>
                                        <p:tgtEl>
                                          <p:spTgt spid="4"/>
                                        </p:tgtEl>
                                        <p:attrNameLst>
                                          <p:attrName>ppt_y</p:attrName>
                                        </p:attrNameLst>
                                      </p:cBhvr>
                                      <p:tavLst>
                                        <p:tav tm="0">
                                          <p:val>
                                            <p:strVal val="#ppt_y+0.032"/>
                                          </p:val>
                                        </p:tav>
                                        <p:tav tm="100000">
                                          <p:val>
                                            <p:strVal val="#ppt_y"/>
                                          </p:val>
                                        </p:tav>
                                      </p:tavLst>
                                    </p:anim>
                                  </p:childTnLst>
                                </p:cTn>
                              </p:par>
                              <p:par>
                                <p:cTn id="16" presetID="10" presetClass="entr" presetSubtype="0" fill="hold" grpId="0" nodeType="withEffect">
                                  <p:stCondLst>
                                    <p:cond delay="11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340" decel="70000"/>
                                        <p:tgtEl>
                                          <p:spTgt spid="5"/>
                                        </p:tgtEl>
                                      </p:cBhvr>
                                    </p:animEffect>
                                    <p:anim calcmode="lin" valueType="num">
                                      <p:cBhvr additive="base">
                                        <p:cTn id="19" dur="340" decel="70000" fill="hold"/>
                                        <p:tgtEl>
                                          <p:spTgt spid="5"/>
                                        </p:tgtEl>
                                        <p:attrNameLst>
                                          <p:attrName>ppt_y</p:attrName>
                                        </p:attrNameLst>
                                      </p:cBhvr>
                                      <p:tavLst>
                                        <p:tav tm="0">
                                          <p:val>
                                            <p:strVal val="#ppt_y+0.024"/>
                                          </p:val>
                                        </p:tav>
                                        <p:tav tm="100000">
                                          <p:val>
                                            <p:strVal val="#ppt_y"/>
                                          </p:val>
                                        </p:tav>
                                      </p:tavLst>
                                    </p:anim>
                                  </p:childTnLst>
                                </p:cTn>
                              </p:par>
                              <p:par>
                                <p:cTn id="20" presetID="10" presetClass="entr" presetSubtype="0" fill="hold" grpId="0" nodeType="withEffect">
                                  <p:stCondLst>
                                    <p:cond delay="165"/>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300" decel="70000"/>
                                        <p:tgtEl>
                                          <p:spTgt spid="7"/>
                                        </p:tgtEl>
                                      </p:cBhvr>
                                    </p:animEffect>
                                    <p:anim calcmode="lin" valueType="num">
                                      <p:cBhvr additive="base">
                                        <p:cTn id="23" dur="300" decel="70000" fill="hold"/>
                                        <p:tgtEl>
                                          <p:spTgt spid="7"/>
                                        </p:tgtEl>
                                        <p:attrNameLst>
                                          <p:attrName>ppt_y</p:attrName>
                                        </p:attrNameLst>
                                      </p:cBhvr>
                                      <p:tavLst>
                                        <p:tav tm="0">
                                          <p:val>
                                            <p:strVal val="#ppt_y+0.018"/>
                                          </p:val>
                                        </p:tav>
                                        <p:tav tm="100000">
                                          <p:val>
                                            <p:strVal val="#ppt_y"/>
                                          </p:val>
                                        </p:tav>
                                      </p:tavLst>
                                    </p:anim>
                                  </p:childTnLst>
                                </p:cTn>
                              </p:par>
                              <p:par>
                                <p:cTn id="24" presetID="10" presetClass="entr" presetSubtype="0" fill="hold" grpId="0" nodeType="withEffect">
                                  <p:stCondLst>
                                    <p:cond delay="22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280" decel="70000"/>
                                        <p:tgtEl>
                                          <p:spTgt spid="8"/>
                                        </p:tgtEl>
                                      </p:cBhvr>
                                    </p:animEffect>
                                  </p:childTnLst>
                                </p:cTn>
                              </p:par>
                              <p:par>
                                <p:cTn id="27" presetID="22" presetClass="entr" presetSubtype="1" fill="hold" grpId="0" nodeType="withEffect">
                                  <p:stCondLst>
                                    <p:cond delay="275"/>
                                  </p:stCondLst>
                                  <p:childTnLst>
                                    <p:set>
                                      <p:cBhvr>
                                        <p:cTn id="28" dur="1" fill="hold">
                                          <p:stCondLst>
                                            <p:cond delay="0"/>
                                          </p:stCondLst>
                                        </p:cTn>
                                        <p:tgtEl>
                                          <p:spTgt spid="9"/>
                                        </p:tgtEl>
                                        <p:attrNameLst>
                                          <p:attrName>style.visibility</p:attrName>
                                        </p:attrNameLst>
                                      </p:cBhvr>
                                      <p:to>
                                        <p:strVal val="visible"/>
                                      </p:to>
                                    </p:set>
                                    <p:animEffect transition="in" filter="wipe(right)">
                                      <p:cBhvr>
                                        <p:cTn id="29" dur="460"/>
                                        <p:tgtEl>
                                          <p:spTgt spid="9"/>
                                        </p:tgtEl>
                                      </p:cBhvr>
                                    </p:animEffect>
                                  </p:childTnLst>
                                </p:cTn>
                              </p:par>
                              <p:par>
                                <p:cTn id="30" presetID="10" presetClass="entr" presetSubtype="0" fill="hold" grpId="0" nodeType="withEffect">
                                  <p:stCondLst>
                                    <p:cond delay="33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300" decel="70000"/>
                                        <p:tgtEl>
                                          <p:spTgt spid="10"/>
                                        </p:tgtEl>
                                      </p:cBhvr>
                                    </p:animEffect>
                                    <p:anim calcmode="lin" valueType="num">
                                      <p:cBhvr additive="base">
                                        <p:cTn id="33" dur="300" decel="70000" fill="hold"/>
                                        <p:tgtEl>
                                          <p:spTgt spid="10"/>
                                        </p:tgtEl>
                                        <p:attrNameLst>
                                          <p:attrName>ppt_y</p:attrName>
                                        </p:attrNameLst>
                                      </p:cBhvr>
                                      <p:tavLst>
                                        <p:tav tm="0">
                                          <p:val>
                                            <p:strVal val="#ppt_y+0.018"/>
                                          </p:val>
                                        </p:tav>
                                        <p:tav tm="100000">
                                          <p:val>
                                            <p:strVal val="#ppt_y"/>
                                          </p:val>
                                        </p:tav>
                                      </p:tavLst>
                                    </p:anim>
                                  </p:childTnLst>
                                </p:cTn>
                              </p:par>
                              <p:par>
                                <p:cTn id="34" presetID="10" presetClass="entr" presetSubtype="0" fill="hold" grpId="0" nodeType="withEffect">
                                  <p:stCondLst>
                                    <p:cond delay="385"/>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280" decel="70000"/>
                                        <p:tgtEl>
                                          <p:spTgt spid="11"/>
                                        </p:tgtEl>
                                      </p:cBhvr>
                                    </p:animEffect>
                                  </p:childTnLst>
                                </p:cTn>
                              </p:par>
                              <p:par>
                                <p:cTn id="37" presetID="22" presetClass="entr" presetSubtype="1" fill="hold" grpId="0" nodeType="withEffect">
                                  <p:stCondLst>
                                    <p:cond delay="440"/>
                                  </p:stCondLst>
                                  <p:childTnLst>
                                    <p:set>
                                      <p:cBhvr>
                                        <p:cTn id="38" dur="1" fill="hold">
                                          <p:stCondLst>
                                            <p:cond delay="0"/>
                                          </p:stCondLst>
                                        </p:cTn>
                                        <p:tgtEl>
                                          <p:spTgt spid="12"/>
                                        </p:tgtEl>
                                        <p:attrNameLst>
                                          <p:attrName>style.visibility</p:attrName>
                                        </p:attrNameLst>
                                      </p:cBhvr>
                                      <p:to>
                                        <p:strVal val="visible"/>
                                      </p:to>
                                    </p:set>
                                    <p:animEffect transition="in" filter="wipe(right)">
                                      <p:cBhvr>
                                        <p:cTn id="39" dur="460"/>
                                        <p:tgtEl>
                                          <p:spTgt spid="12"/>
                                        </p:tgtEl>
                                      </p:cBhvr>
                                    </p:animEffect>
                                  </p:childTnLst>
                                </p:cTn>
                              </p:par>
                              <p:par>
                                <p:cTn id="40" presetID="10" presetClass="entr" presetSubtype="0" fill="hold" grpId="0" nodeType="withEffect">
                                  <p:stCondLst>
                                    <p:cond delay="495"/>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300" decel="70000"/>
                                        <p:tgtEl>
                                          <p:spTgt spid="13"/>
                                        </p:tgtEl>
                                      </p:cBhvr>
                                    </p:animEffect>
                                    <p:anim calcmode="lin" valueType="num">
                                      <p:cBhvr additive="base">
                                        <p:cTn id="43" dur="300" decel="70000" fill="hold"/>
                                        <p:tgtEl>
                                          <p:spTgt spid="13"/>
                                        </p:tgtEl>
                                        <p:attrNameLst>
                                          <p:attrName>ppt_y</p:attrName>
                                        </p:attrNameLst>
                                      </p:cBhvr>
                                      <p:tavLst>
                                        <p:tav tm="0">
                                          <p:val>
                                            <p:strVal val="#ppt_y+0.018"/>
                                          </p:val>
                                        </p:tav>
                                        <p:tav tm="100000">
                                          <p:val>
                                            <p:strVal val="#ppt_y"/>
                                          </p:val>
                                        </p:tav>
                                      </p:tavLst>
                                    </p:anim>
                                  </p:childTnLst>
                                </p:cTn>
                              </p:par>
                              <p:par>
                                <p:cTn id="44" presetID="10" presetClass="entr" presetSubtype="0" fill="hold" grpId="0" nodeType="withEffect">
                                  <p:stCondLst>
                                    <p:cond delay="55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280" decel="70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role:logo" descr="Momentum Digital logo">    </p:cNvPr>
          <p:cNvPicPr>
            <a:picLocks noChangeAspect="1"/>
          </p:cNvPicPr>
          <p:nvPr/>
        </p:nvPicPr>
        <p:blipFill>
          <a:blip r:embed="rId1"/>
          <a:stretch>
            <a:fillRect/>
          </a:stretch>
        </p:blipFill>
        <p:spPr>
          <a:xfrm>
            <a:off x="10106863" y="658368"/>
            <a:ext cx="1371600" cy="294904"/>
          </a:xfrm>
          <a:prstGeom prst="rect">
            <a:avLst/>
          </a:prstGeom>
        </p:spPr>
      </p:pic>
      <p:sp>
        <p:nvSpPr>
          <p:cNvPr id="3" name="role:kicker"/>
          <p:cNvSpPr txBox="1"/>
          <p:nvPr/>
        </p:nvSpPr>
        <p:spPr>
          <a:xfrm>
            <a:off x="713232" y="658368"/>
            <a:ext cx="8753551" cy="201168"/>
          </a:xfrm>
          <a:prstGeom prst="rect">
            <a:avLst/>
          </a:prstGeom>
          <a:noFill/>
          <a:ln/>
        </p:spPr>
        <p:txBody>
          <a:bodyPr wrap="square" lIns="0" tIns="0" rIns="0" bIns="0" rtlCol="0" anchor="t"/>
          <a:lstStyle/>
          <a:p>
            <a:pPr algn="l" indent="0" marL="0">
              <a:buNone/>
            </a:pPr>
            <a:r>
              <a:rPr lang="en-US" sz="1050" b="1" spc="240" kern="0" dirty="0">
                <a:solidFill>
                  <a:srgbClr val="17557F"/>
                </a:solidFill>
                <a:latin typeface="Arial" pitchFamily="34" charset="0"/>
                <a:ea typeface="Arial" pitchFamily="34" charset="-122"/>
                <a:cs typeface="Arial" pitchFamily="34" charset="-120"/>
              </a:rPr>
              <a:t>TYPE SPECIMEN</a:t>
            </a:r>
            <a:endParaRPr lang="en-US" sz="1050" dirty="0"/>
          </a:p>
        </p:txBody>
      </p:sp>
      <p:sp>
        <p:nvSpPr>
          <p:cNvPr id="4" name="role:title"/>
          <p:cNvSpPr txBox="1"/>
          <p:nvPr/>
        </p:nvSpPr>
        <p:spPr>
          <a:xfrm>
            <a:off x="713232" y="987552"/>
            <a:ext cx="8570671" cy="569214"/>
          </a:xfrm>
          <a:prstGeom prst="rect">
            <a:avLst/>
          </a:prstGeom>
          <a:noFill/>
          <a:ln/>
        </p:spPr>
        <p:txBody>
          <a:bodyPr wrap="square" lIns="0" tIns="0" rIns="0" bIns="0" rtlCol="0" anchor="t"/>
          <a:lstStyle/>
          <a:p>
            <a:pPr algn="l" indent="0" marL="0">
              <a:lnSpc>
                <a:spcPct val="102000"/>
              </a:lnSpc>
              <a:buNone/>
            </a:pPr>
            <a:r>
              <a:rPr lang="en-US" sz="3900" b="1" dirty="0">
                <a:solidFill>
                  <a:srgbClr val="0F151B"/>
                </a:solidFill>
                <a:latin typeface="Arial" pitchFamily="34" charset="0"/>
                <a:ea typeface="Arial" pitchFamily="34" charset="-122"/>
                <a:cs typeface="Arial" pitchFamily="34" charset="-120"/>
              </a:rPr>
              <a:t>Hierarchy does the work.</a:t>
            </a:r>
            <a:endParaRPr lang="en-US" sz="3900" dirty="0"/>
          </a:p>
        </p:txBody>
      </p:sp>
      <p:sp>
        <p:nvSpPr>
          <p:cNvPr id="5" name="role:sub"/>
          <p:cNvSpPr txBox="1"/>
          <p:nvPr/>
        </p:nvSpPr>
        <p:spPr>
          <a:xfrm>
            <a:off x="713232" y="1703070"/>
            <a:ext cx="8046720" cy="356616"/>
          </a:xfrm>
          <a:prstGeom prst="rect">
            <a:avLst/>
          </a:prstGeom>
          <a:noFill/>
          <a:ln/>
        </p:spPr>
        <p:txBody>
          <a:bodyPr wrap="square" lIns="0" tIns="0" rIns="0" bIns="0" rtlCol="0" anchor="t"/>
          <a:lstStyle/>
          <a:p>
            <a:pPr algn="l" indent="0" marL="0">
              <a:lnSpc>
                <a:spcPct val="128000"/>
              </a:lnSpc>
              <a:buNone/>
            </a:pPr>
            <a:r>
              <a:rPr lang="en-US" sz="1800" dirty="0">
                <a:solidFill>
                  <a:srgbClr val="5A6772"/>
                </a:solidFill>
                <a:latin typeface="Arial" pitchFamily="34" charset="0"/>
                <a:ea typeface="Arial" pitchFamily="34" charset="-122"/>
                <a:cs typeface="Arial" pitchFamily="34" charset="-120"/>
              </a:rPr>
              <a:t>Native text, shared baselines and open space.</a:t>
            </a:r>
            <a:endParaRPr lang="en-US" sz="1800" dirty="0"/>
          </a:p>
        </p:txBody>
      </p:sp>
      <p:sp>
        <p:nvSpPr>
          <p:cNvPr id="6" name="role:static"/>
          <p:cNvSpPr txBox="1"/>
          <p:nvPr/>
        </p:nvSpPr>
        <p:spPr>
          <a:xfrm>
            <a:off x="10929823" y="6437376"/>
            <a:ext cx="548640" cy="219456"/>
          </a:xfrm>
          <a:prstGeom prst="rect">
            <a:avLst/>
          </a:prstGeom>
          <a:noFill/>
          <a:ln/>
        </p:spPr>
        <p:txBody>
          <a:bodyPr wrap="square" lIns="0" tIns="0" rIns="0" bIns="0" rtlCol="0" anchor="t"/>
          <a:lstStyle/>
          <a:p>
            <a:pPr algn="r" indent="0" marL="0">
              <a:buNone/>
            </a:pPr>
            <a:r>
              <a:rPr lang="en-US" sz="1050" b="1" spc="100" kern="0" dirty="0">
                <a:solidFill>
                  <a:srgbClr val="5A6772"/>
                </a:solidFill>
                <a:latin typeface="Arial" pitchFamily="34" charset="0"/>
                <a:ea typeface="Arial" pitchFamily="34" charset="-122"/>
                <a:cs typeface="Arial" pitchFamily="34" charset="-120"/>
              </a:rPr>
              <a:t>02</a:t>
            </a:r>
            <a:endParaRPr lang="en-US" sz="1050" dirty="0"/>
          </a:p>
        </p:txBody>
      </p:sp>
      <p:sp>
        <p:nvSpPr>
          <p:cNvPr id="7" name="role:figure"/>
          <p:cNvSpPr txBox="1"/>
          <p:nvPr/>
        </p:nvSpPr>
        <p:spPr>
          <a:xfrm>
            <a:off x="713232" y="2827782"/>
            <a:ext cx="3076346" cy="823976"/>
          </a:xfrm>
          <a:prstGeom prst="rect">
            <a:avLst/>
          </a:prstGeom>
          <a:noFill/>
          <a:ln/>
        </p:spPr>
        <p:txBody>
          <a:bodyPr wrap="square" lIns="0" tIns="0" rIns="0" bIns="0" rtlCol="0" anchor="t"/>
          <a:lstStyle/>
          <a:p>
            <a:pPr algn="l" indent="0" marL="0">
              <a:lnSpc>
                <a:spcPct val="100000"/>
              </a:lnSpc>
              <a:buNone/>
            </a:pPr>
            <a:r>
              <a:rPr lang="en-US" sz="6200" b="1" dirty="0">
                <a:solidFill>
                  <a:srgbClr val="2A80C2"/>
                </a:solidFill>
                <a:latin typeface="Arial" pitchFamily="34" charset="0"/>
                <a:ea typeface="Arial" pitchFamily="34" charset="-122"/>
                <a:cs typeface="Arial" pitchFamily="34" charset="-120"/>
              </a:rPr>
              <a:t>54</a:t>
            </a:r>
            <a:endParaRPr lang="en-US" sz="6200" dirty="0"/>
          </a:p>
        </p:txBody>
      </p:sp>
      <p:sp>
        <p:nvSpPr>
          <p:cNvPr id="8" name="role:figure-label"/>
          <p:cNvSpPr txBox="1"/>
          <p:nvPr/>
        </p:nvSpPr>
        <p:spPr>
          <a:xfrm>
            <a:off x="713232" y="3706622"/>
            <a:ext cx="3076346" cy="237744"/>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Display / pt</a:t>
            </a:r>
            <a:endParaRPr lang="en-US" sz="1200" dirty="0"/>
          </a:p>
        </p:txBody>
      </p:sp>
      <p:sp>
        <p:nvSpPr>
          <p:cNvPr id="9" name="role:figure-label"/>
          <p:cNvSpPr txBox="1"/>
          <p:nvPr/>
        </p:nvSpPr>
        <p:spPr>
          <a:xfrm>
            <a:off x="713232" y="4008374"/>
            <a:ext cx="3076346" cy="374904"/>
          </a:xfrm>
          <a:prstGeom prst="rect">
            <a:avLst/>
          </a:prstGeom>
          <a:noFill/>
          <a:ln/>
        </p:spPr>
        <p:txBody>
          <a:bodyPr wrap="square" lIns="0" tIns="0" rIns="0" bIns="0" rtlCol="0" anchor="t"/>
          <a:lstStyle/>
          <a:p>
            <a:pPr algn="l" indent="0" marL="0">
              <a:lnSpc>
                <a:spcPct val="120000"/>
              </a:lnSpc>
              <a:buNone/>
            </a:pPr>
            <a:r>
              <a:rPr lang="en-US" sz="1050" dirty="0">
                <a:solidFill>
                  <a:srgbClr val="5A6772"/>
                </a:solidFill>
                <a:latin typeface="Arial" pitchFamily="34" charset="0"/>
                <a:ea typeface="Arial" pitchFamily="34" charset="-122"/>
                <a:cs typeface="Arial" pitchFamily="34" charset="-120"/>
              </a:rPr>
              <a:t>A short, confident opening statement.</a:t>
            </a:r>
            <a:endParaRPr lang="en-US" sz="1050" dirty="0"/>
          </a:p>
        </p:txBody>
      </p:sp>
      <p:sp>
        <p:nvSpPr>
          <p:cNvPr id="10" name="role:rule-v"/>
          <p:cNvSpPr/>
          <p:nvPr/>
        </p:nvSpPr>
        <p:spPr>
          <a:xfrm>
            <a:off x="4063898" y="2827782"/>
            <a:ext cx="0" cy="1920240"/>
          </a:xfrm>
          <a:prstGeom prst="line">
            <a:avLst/>
          </a:prstGeom>
          <a:noFill/>
          <a:ln w="9525">
            <a:solidFill>
              <a:srgbClr val="E2EAF1"/>
            </a:solidFill>
            <a:prstDash val="solid"/>
          </a:ln>
        </p:spPr>
      </p:sp>
      <p:sp>
        <p:nvSpPr>
          <p:cNvPr id="11" name="role:figure"/>
          <p:cNvSpPr txBox="1"/>
          <p:nvPr/>
        </p:nvSpPr>
        <p:spPr>
          <a:xfrm>
            <a:off x="4301642" y="2827782"/>
            <a:ext cx="3076346" cy="823976"/>
          </a:xfrm>
          <a:prstGeom prst="rect">
            <a:avLst/>
          </a:prstGeom>
          <a:noFill/>
          <a:ln/>
        </p:spPr>
        <p:txBody>
          <a:bodyPr wrap="square" lIns="0" tIns="0" rIns="0" bIns="0" rtlCol="0" anchor="t"/>
          <a:lstStyle/>
          <a:p>
            <a:pPr algn="l" indent="0" marL="0">
              <a:lnSpc>
                <a:spcPct val="100000"/>
              </a:lnSpc>
              <a:buNone/>
            </a:pPr>
            <a:r>
              <a:rPr lang="en-US" sz="6200" b="1" dirty="0">
                <a:solidFill>
                  <a:srgbClr val="2A80C2"/>
                </a:solidFill>
                <a:latin typeface="Arial" pitchFamily="34" charset="0"/>
                <a:ea typeface="Arial" pitchFamily="34" charset="-122"/>
                <a:cs typeface="Arial" pitchFamily="34" charset="-120"/>
              </a:rPr>
              <a:t>14</a:t>
            </a:r>
            <a:endParaRPr lang="en-US" sz="6200" dirty="0"/>
          </a:p>
        </p:txBody>
      </p:sp>
      <p:sp>
        <p:nvSpPr>
          <p:cNvPr id="12" name="role:figure-label"/>
          <p:cNvSpPr txBox="1"/>
          <p:nvPr/>
        </p:nvSpPr>
        <p:spPr>
          <a:xfrm>
            <a:off x="4301642" y="3706622"/>
            <a:ext cx="3076346" cy="237744"/>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Body / pt</a:t>
            </a:r>
            <a:endParaRPr lang="en-US" sz="1200" dirty="0"/>
          </a:p>
        </p:txBody>
      </p:sp>
      <p:sp>
        <p:nvSpPr>
          <p:cNvPr id="13" name="role:figure-label"/>
          <p:cNvSpPr txBox="1"/>
          <p:nvPr/>
        </p:nvSpPr>
        <p:spPr>
          <a:xfrm>
            <a:off x="4301642" y="4008374"/>
            <a:ext cx="3076346" cy="374904"/>
          </a:xfrm>
          <a:prstGeom prst="rect">
            <a:avLst/>
          </a:prstGeom>
          <a:noFill/>
          <a:ln/>
        </p:spPr>
        <p:txBody>
          <a:bodyPr wrap="square" lIns="0" tIns="0" rIns="0" bIns="0" rtlCol="0" anchor="t"/>
          <a:lstStyle/>
          <a:p>
            <a:pPr algn="l" indent="0" marL="0">
              <a:lnSpc>
                <a:spcPct val="120000"/>
              </a:lnSpc>
              <a:buNone/>
            </a:pPr>
            <a:r>
              <a:rPr lang="en-US" sz="1050" dirty="0">
                <a:solidFill>
                  <a:srgbClr val="5A6772"/>
                </a:solidFill>
                <a:latin typeface="Arial" pitchFamily="34" charset="0"/>
                <a:ea typeface="Arial" pitchFamily="34" charset="-122"/>
                <a:cs typeface="Arial" pitchFamily="34" charset="-120"/>
              </a:rPr>
              <a:t>Readable supporting copy with room to breathe.</a:t>
            </a:r>
            <a:endParaRPr lang="en-US" sz="1050" dirty="0"/>
          </a:p>
        </p:txBody>
      </p:sp>
      <p:sp>
        <p:nvSpPr>
          <p:cNvPr id="14" name="role:rule-v"/>
          <p:cNvSpPr/>
          <p:nvPr/>
        </p:nvSpPr>
        <p:spPr>
          <a:xfrm>
            <a:off x="7652309" y="2827782"/>
            <a:ext cx="0" cy="1920240"/>
          </a:xfrm>
          <a:prstGeom prst="line">
            <a:avLst/>
          </a:prstGeom>
          <a:noFill/>
          <a:ln w="9525">
            <a:solidFill>
              <a:srgbClr val="E2EAF1"/>
            </a:solidFill>
            <a:prstDash val="solid"/>
          </a:ln>
        </p:spPr>
      </p:sp>
      <p:sp>
        <p:nvSpPr>
          <p:cNvPr id="15" name="role:figure"/>
          <p:cNvSpPr txBox="1"/>
          <p:nvPr/>
        </p:nvSpPr>
        <p:spPr>
          <a:xfrm>
            <a:off x="7890053" y="2827782"/>
            <a:ext cx="3076346" cy="823976"/>
          </a:xfrm>
          <a:prstGeom prst="rect">
            <a:avLst/>
          </a:prstGeom>
          <a:noFill/>
          <a:ln/>
        </p:spPr>
        <p:txBody>
          <a:bodyPr wrap="square" lIns="0" tIns="0" rIns="0" bIns="0" rtlCol="0" anchor="t"/>
          <a:lstStyle/>
          <a:p>
            <a:pPr algn="l" indent="0" marL="0">
              <a:lnSpc>
                <a:spcPct val="100000"/>
              </a:lnSpc>
              <a:buNone/>
            </a:pPr>
            <a:r>
              <a:rPr lang="en-US" sz="6200" b="1" dirty="0">
                <a:solidFill>
                  <a:srgbClr val="2A80C2"/>
                </a:solidFill>
                <a:latin typeface="Arial" pitchFamily="34" charset="0"/>
                <a:ea typeface="Arial" pitchFamily="34" charset="-122"/>
                <a:cs typeface="Arial" pitchFamily="34" charset="-120"/>
              </a:rPr>
              <a:t>10.5</a:t>
            </a:r>
            <a:endParaRPr lang="en-US" sz="6200" dirty="0"/>
          </a:p>
        </p:txBody>
      </p:sp>
      <p:sp>
        <p:nvSpPr>
          <p:cNvPr id="16" name="role:figure-label"/>
          <p:cNvSpPr txBox="1"/>
          <p:nvPr/>
        </p:nvSpPr>
        <p:spPr>
          <a:xfrm>
            <a:off x="7890053" y="3706622"/>
            <a:ext cx="3076346" cy="237744"/>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Caption / pt</a:t>
            </a:r>
            <a:endParaRPr lang="en-US" sz="1200" dirty="0"/>
          </a:p>
        </p:txBody>
      </p:sp>
      <p:sp>
        <p:nvSpPr>
          <p:cNvPr id="17" name="role:figure-label"/>
          <p:cNvSpPr txBox="1"/>
          <p:nvPr/>
        </p:nvSpPr>
        <p:spPr>
          <a:xfrm>
            <a:off x="7890053" y="4008374"/>
            <a:ext cx="3076346" cy="374904"/>
          </a:xfrm>
          <a:prstGeom prst="rect">
            <a:avLst/>
          </a:prstGeom>
          <a:noFill/>
          <a:ln/>
        </p:spPr>
        <p:txBody>
          <a:bodyPr wrap="square" lIns="0" tIns="0" rIns="0" bIns="0" rtlCol="0" anchor="t"/>
          <a:lstStyle/>
          <a:p>
            <a:pPr algn="l" indent="0" marL="0">
              <a:lnSpc>
                <a:spcPct val="120000"/>
              </a:lnSpc>
              <a:buNone/>
            </a:pPr>
            <a:r>
              <a:rPr lang="en-US" sz="1050" dirty="0">
                <a:solidFill>
                  <a:srgbClr val="5A6772"/>
                </a:solidFill>
                <a:latin typeface="Arial" pitchFamily="34" charset="0"/>
                <a:ea typeface="Arial" pitchFamily="34" charset="-122"/>
                <a:cs typeface="Arial" pitchFamily="34" charset="-120"/>
              </a:rPr>
              <a:t>Quiet labels and source furniture.</a:t>
            </a:r>
            <a:endParaRPr lang="en-US" sz="1050" dirty="0"/>
          </a:p>
        </p:txBody>
      </p:sp>
      <p:sp>
        <p:nvSpPr>
          <p:cNvPr id="18" name="role:foot"/>
          <p:cNvSpPr txBox="1"/>
          <p:nvPr/>
        </p:nvSpPr>
        <p:spPr>
          <a:xfrm>
            <a:off x="713232" y="6400800"/>
            <a:ext cx="9942271" cy="237744"/>
          </a:xfrm>
          <a:prstGeom prst="rect">
            <a:avLst/>
          </a:prstGeom>
          <a:noFill/>
          <a:ln/>
        </p:spPr>
        <p:txBody>
          <a:bodyPr wrap="square" lIns="0" tIns="0" rIns="0" bIns="0" rtlCol="0" anchor="t"/>
          <a:lstStyle/>
          <a:p>
            <a:pPr algn="l" indent="0" marL="0">
              <a:buNone/>
            </a:pPr>
            <a:r>
              <a:rPr lang="en-US" sz="950" i="1" dirty="0">
                <a:solidFill>
                  <a:srgbClr val="5A6772"/>
                </a:solidFill>
                <a:latin typeface="Arial" pitchFamily="34" charset="0"/>
                <a:ea typeface="Arial" pitchFamily="34" charset="-122"/>
                <a:cs typeface="Arial" pitchFamily="34" charset="-120"/>
              </a:rPr>
              <a:t>Internal system specimen | Momentum Digital / Need Momentum | 04 Sep 2026</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20" decel="700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80" decel="70000"/>
                                        <p:tgtEl>
                                          <p:spTgt spid="3"/>
                                        </p:tgtEl>
                                      </p:cBhvr>
                                    </p:animEffect>
                                    <p:anim calcmode="lin" valueType="num">
                                      <p:cBhvr additive="base">
                                        <p:cTn id="11" dur="280" decel="70000" fill="hold"/>
                                        <p:tgtEl>
                                          <p:spTgt spid="3"/>
                                        </p:tgtEl>
                                        <p:attrNameLst>
                                          <p:attrName>ppt_y</p:attrName>
                                        </p:attrNameLst>
                                      </p:cBhvr>
                                      <p:tavLst>
                                        <p:tav tm="0">
                                          <p:val>
                                            <p:strVal val="#ppt_y+0.02"/>
                                          </p:val>
                                        </p:tav>
                                        <p:tav tm="100000">
                                          <p:val>
                                            <p:strVal val="#ppt_y"/>
                                          </p:val>
                                        </p:tav>
                                      </p:tavLst>
                                    </p:anim>
                                  </p:childTnLst>
                                </p:cTn>
                              </p:par>
                              <p:par>
                                <p:cTn id="12" presetID="10" presetClass="entr" presetSubtype="0" fill="hold" grpId="0" nodeType="withEffect">
                                  <p:stCondLst>
                                    <p:cond delay="55"/>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420" decel="70000"/>
                                        <p:tgtEl>
                                          <p:spTgt spid="4"/>
                                        </p:tgtEl>
                                      </p:cBhvr>
                                    </p:animEffect>
                                    <p:anim calcmode="lin" valueType="num">
                                      <p:cBhvr additive="base">
                                        <p:cTn id="15" dur="420" decel="70000" fill="hold"/>
                                        <p:tgtEl>
                                          <p:spTgt spid="4"/>
                                        </p:tgtEl>
                                        <p:attrNameLst>
                                          <p:attrName>ppt_y</p:attrName>
                                        </p:attrNameLst>
                                      </p:cBhvr>
                                      <p:tavLst>
                                        <p:tav tm="0">
                                          <p:val>
                                            <p:strVal val="#ppt_y+0.032"/>
                                          </p:val>
                                        </p:tav>
                                        <p:tav tm="100000">
                                          <p:val>
                                            <p:strVal val="#ppt_y"/>
                                          </p:val>
                                        </p:tav>
                                      </p:tavLst>
                                    </p:anim>
                                  </p:childTnLst>
                                </p:cTn>
                              </p:par>
                              <p:par>
                                <p:cTn id="16" presetID="10" presetClass="entr" presetSubtype="0" fill="hold" grpId="0" nodeType="withEffect">
                                  <p:stCondLst>
                                    <p:cond delay="11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340" decel="70000"/>
                                        <p:tgtEl>
                                          <p:spTgt spid="5"/>
                                        </p:tgtEl>
                                      </p:cBhvr>
                                    </p:animEffect>
                                    <p:anim calcmode="lin" valueType="num">
                                      <p:cBhvr additive="base">
                                        <p:cTn id="19" dur="340" decel="70000" fill="hold"/>
                                        <p:tgtEl>
                                          <p:spTgt spid="5"/>
                                        </p:tgtEl>
                                        <p:attrNameLst>
                                          <p:attrName>ppt_y</p:attrName>
                                        </p:attrNameLst>
                                      </p:cBhvr>
                                      <p:tavLst>
                                        <p:tav tm="0">
                                          <p:val>
                                            <p:strVal val="#ppt_y+0.024"/>
                                          </p:val>
                                        </p:tav>
                                        <p:tav tm="100000">
                                          <p:val>
                                            <p:strVal val="#ppt_y"/>
                                          </p:val>
                                        </p:tav>
                                      </p:tavLst>
                                    </p:anim>
                                  </p:childTnLst>
                                </p:cTn>
                              </p:par>
                              <p:par>
                                <p:cTn id="20" presetID="23" presetClass="entr" presetSubtype="0" fill="hold" grpId="0" nodeType="withEffect">
                                  <p:stCondLst>
                                    <p:cond delay="165"/>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20" decel="70000"/>
                                        <p:tgtEl>
                                          <p:spTgt spid="7"/>
                                        </p:tgtEl>
                                      </p:cBhvr>
                                    </p:animEffect>
                                    <p:animScale>
                                      <p:cBhvr>
                                        <p:cTn id="23" dur="420" decel="70000" fill="hold"/>
                                        <p:tgtEl>
                                          <p:spTgt spid="7"/>
                                        </p:tgtEl>
                                      </p:cBhvr>
                                      <p:from x="88000" y="88000"/>
                                      <p:to x="100000" y="100000"/>
                                    </p:animScale>
                                  </p:childTnLst>
                                </p:cTn>
                              </p:par>
                              <p:par>
                                <p:cTn id="24" presetID="22" presetClass="entr" presetSubtype="1" fill="hold" grpId="0" nodeType="withEffect">
                                  <p:stCondLst>
                                    <p:cond delay="220"/>
                                  </p:stCondLst>
                                  <p:childTnLst>
                                    <p:set>
                                      <p:cBhvr>
                                        <p:cTn id="25" dur="1" fill="hold">
                                          <p:stCondLst>
                                            <p:cond delay="0"/>
                                          </p:stCondLst>
                                        </p:cTn>
                                        <p:tgtEl>
                                          <p:spTgt spid="10"/>
                                        </p:tgtEl>
                                        <p:attrNameLst>
                                          <p:attrName>style.visibility</p:attrName>
                                        </p:attrNameLst>
                                      </p:cBhvr>
                                      <p:to>
                                        <p:strVal val="visible"/>
                                      </p:to>
                                    </p:set>
                                    <p:animEffect transition="in" filter="wipe(down)">
                                      <p:cBhvr>
                                        <p:cTn id="26" dur="340"/>
                                        <p:tgtEl>
                                          <p:spTgt spid="10"/>
                                        </p:tgtEl>
                                      </p:cBhvr>
                                    </p:animEffect>
                                  </p:childTnLst>
                                </p:cTn>
                              </p:par>
                              <p:par>
                                <p:cTn id="27" presetID="23" presetClass="entr" presetSubtype="0" fill="hold" grpId="0" nodeType="withEffect">
                                  <p:stCondLst>
                                    <p:cond delay="275"/>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20" decel="70000"/>
                                        <p:tgtEl>
                                          <p:spTgt spid="11"/>
                                        </p:tgtEl>
                                      </p:cBhvr>
                                    </p:animEffect>
                                    <p:animScale>
                                      <p:cBhvr>
                                        <p:cTn id="30" dur="420" decel="70000" fill="hold"/>
                                        <p:tgtEl>
                                          <p:spTgt spid="11"/>
                                        </p:tgtEl>
                                      </p:cBhvr>
                                      <p:from x="88000" y="88000"/>
                                      <p:to x="100000" y="100000"/>
                                    </p:animScale>
                                  </p:childTnLst>
                                </p:cTn>
                              </p:par>
                              <p:par>
                                <p:cTn id="31" presetID="22" presetClass="entr" presetSubtype="1" fill="hold" grpId="0" nodeType="withEffect">
                                  <p:stCondLst>
                                    <p:cond delay="330"/>
                                  </p:stCondLst>
                                  <p:childTnLst>
                                    <p:set>
                                      <p:cBhvr>
                                        <p:cTn id="32" dur="1" fill="hold">
                                          <p:stCondLst>
                                            <p:cond delay="0"/>
                                          </p:stCondLst>
                                        </p:cTn>
                                        <p:tgtEl>
                                          <p:spTgt spid="14"/>
                                        </p:tgtEl>
                                        <p:attrNameLst>
                                          <p:attrName>style.visibility</p:attrName>
                                        </p:attrNameLst>
                                      </p:cBhvr>
                                      <p:to>
                                        <p:strVal val="visible"/>
                                      </p:to>
                                    </p:set>
                                    <p:animEffect transition="in" filter="wipe(down)">
                                      <p:cBhvr>
                                        <p:cTn id="33" dur="340"/>
                                        <p:tgtEl>
                                          <p:spTgt spid="14"/>
                                        </p:tgtEl>
                                      </p:cBhvr>
                                    </p:animEffect>
                                  </p:childTnLst>
                                </p:cTn>
                              </p:par>
                              <p:par>
                                <p:cTn id="34" presetID="23" presetClass="entr" presetSubtype="0" fill="hold" grpId="0" nodeType="withEffect">
                                  <p:stCondLst>
                                    <p:cond delay="385"/>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20" decel="70000"/>
                                        <p:tgtEl>
                                          <p:spTgt spid="15"/>
                                        </p:tgtEl>
                                      </p:cBhvr>
                                    </p:animEffect>
                                    <p:animScale>
                                      <p:cBhvr>
                                        <p:cTn id="37" dur="420" decel="70000" fill="hold"/>
                                        <p:tgtEl>
                                          <p:spTgt spid="15"/>
                                        </p:tgtEl>
                                      </p:cBhvr>
                                      <p:from x="88000" y="88000"/>
                                      <p:to x="100000" y="100000"/>
                                    </p:animScale>
                                  </p:childTnLst>
                                </p:cTn>
                              </p:par>
                              <p:par>
                                <p:cTn id="38" presetID="10" presetClass="entr" presetSubtype="0" fill="hold" grpId="0" nodeType="withEffect">
                                  <p:stCondLst>
                                    <p:cond delay="44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260" decel="70000"/>
                                        <p:tgtEl>
                                          <p:spTgt spid="8"/>
                                        </p:tgtEl>
                                      </p:cBhvr>
                                    </p:animEffect>
                                  </p:childTnLst>
                                </p:cTn>
                              </p:par>
                              <p:par>
                                <p:cTn id="41" presetID="10" presetClass="entr" presetSubtype="0" fill="hold" grpId="0" nodeType="withEffect">
                                  <p:stCondLst>
                                    <p:cond delay="495"/>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260" decel="70000"/>
                                        <p:tgtEl>
                                          <p:spTgt spid="12"/>
                                        </p:tgtEl>
                                      </p:cBhvr>
                                    </p:animEffect>
                                  </p:childTnLst>
                                </p:cTn>
                              </p:par>
                              <p:par>
                                <p:cTn id="44" presetID="10" presetClass="entr" presetSubtype="0" fill="hold" grpId="0" nodeType="withEffect">
                                  <p:stCondLst>
                                    <p:cond delay="55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260" decel="70000"/>
                                        <p:tgtEl>
                                          <p:spTgt spid="16"/>
                                        </p:tgtEl>
                                      </p:cBhvr>
                                    </p:animEffect>
                                  </p:childTnLst>
                                </p:cTn>
                              </p:par>
                              <p:par>
                                <p:cTn id="47" presetID="10" presetClass="entr" presetSubtype="0" fill="hold" grpId="0" nodeType="withEffect">
                                  <p:stCondLst>
                                    <p:cond delay="605"/>
                                  </p:stCondLst>
                                  <p:childTnLst>
                                    <p:set>
                                      <p:cBhvr>
                                        <p:cTn id="48" dur="1" fill="hold">
                                          <p:stCondLst>
                                            <p:cond delay="0"/>
                                          </p:stCondLst>
                                        </p:cTn>
                                        <p:tgtEl>
                                          <p:spTgt spid="9"/>
                                        </p:tgtEl>
                                        <p:attrNameLst>
                                          <p:attrName>style.visibility</p:attrName>
                                        </p:attrNameLst>
                                      </p:cBhvr>
                                      <p:to>
                                        <p:strVal val="visible"/>
                                      </p:to>
                                    </p:set>
                                    <p:animEffect transition="in" filter="fade">
                                      <p:cBhvr>
                                        <p:cTn id="49" dur="260" decel="70000"/>
                                        <p:tgtEl>
                                          <p:spTgt spid="9"/>
                                        </p:tgtEl>
                                      </p:cBhvr>
                                    </p:animEffect>
                                  </p:childTnLst>
                                </p:cTn>
                              </p:par>
                              <p:par>
                                <p:cTn id="50" presetID="10" presetClass="entr" presetSubtype="0" fill="hold" grpId="0" nodeType="withEffect">
                                  <p:stCondLst>
                                    <p:cond delay="66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260" decel="70000"/>
                                        <p:tgtEl>
                                          <p:spTgt spid="13"/>
                                        </p:tgtEl>
                                      </p:cBhvr>
                                    </p:animEffect>
                                  </p:childTnLst>
                                </p:cTn>
                              </p:par>
                              <p:par>
                                <p:cTn id="53" presetID="10" presetClass="entr" presetSubtype="0" fill="hold" grpId="0" nodeType="withEffect">
                                  <p:stCondLst>
                                    <p:cond delay="715"/>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260" decel="70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825"/>
        </a:solidFill>
      </p:bgPr>
    </p:bg>
    <p:spTree>
      <p:nvGrpSpPr>
        <p:cNvPr id="1" name=""/>
        <p:cNvGrpSpPr/>
        <p:nvPr/>
      </p:nvGrpSpPr>
      <p:grpSpPr>
        <a:xfrm>
          <a:off x="0" y="0"/>
          <a:ext cx="0" cy="0"/>
          <a:chOff x="0" y="0"/>
          <a:chExt cx="0" cy="0"/>
        </a:xfrm>
      </p:grpSpPr>
      <p:sp>
        <p:nvSpPr>
          <p:cNvPr id="2" name="role:numeral"/>
          <p:cNvSpPr txBox="1"/>
          <p:nvPr/>
        </p:nvSpPr>
        <p:spPr>
          <a:xfrm>
            <a:off x="4480560" y="502920"/>
            <a:ext cx="8138160" cy="6949440"/>
          </a:xfrm>
          <a:prstGeom prst="rect">
            <a:avLst/>
          </a:prstGeom>
          <a:noFill/>
          <a:ln/>
        </p:spPr>
        <p:txBody>
          <a:bodyPr wrap="square" lIns="0" tIns="0" rIns="0" bIns="0" rtlCol="0" anchor="t"/>
          <a:lstStyle/>
          <a:p>
            <a:pPr algn="r" indent="0" marL="0">
              <a:lnSpc>
                <a:spcPct val="100000"/>
              </a:lnSpc>
              <a:buNone/>
            </a:pPr>
            <a:r>
              <a:rPr lang="en-US" sz="43000" b="1" dirty="0">
                <a:solidFill>
                  <a:srgbClr val="112B3F"/>
                </a:solidFill>
                <a:latin typeface="Arial" pitchFamily="34" charset="0"/>
                <a:ea typeface="Arial" pitchFamily="34" charset="-122"/>
                <a:cs typeface="Arial" pitchFamily="34" charset="-120"/>
              </a:rPr>
              <a:t>01</a:t>
            </a:r>
            <a:endParaRPr lang="en-US" sz="43000" dirty="0"/>
          </a:p>
        </p:txBody>
      </p:sp>
      <p:pic>
        <p:nvPicPr>
          <p:cNvPr id="3" name="role:logo" descr="Momentum Digital logo">    </p:cNvPr>
          <p:cNvPicPr>
            <a:picLocks noChangeAspect="1"/>
          </p:cNvPicPr>
          <p:nvPr/>
        </p:nvPicPr>
        <p:blipFill>
          <a:blip r:embed="rId1"/>
          <a:stretch>
            <a:fillRect/>
          </a:stretch>
        </p:blipFill>
        <p:spPr>
          <a:xfrm>
            <a:off x="10106863" y="658368"/>
            <a:ext cx="1371600" cy="294904"/>
          </a:xfrm>
          <a:prstGeom prst="rect">
            <a:avLst/>
          </a:prstGeom>
        </p:spPr>
      </p:pic>
      <p:sp>
        <p:nvSpPr>
          <p:cNvPr id="4" name="role:kicker"/>
          <p:cNvSpPr txBox="1"/>
          <p:nvPr/>
        </p:nvSpPr>
        <p:spPr>
          <a:xfrm>
            <a:off x="713232" y="3063240"/>
            <a:ext cx="6766560" cy="201168"/>
          </a:xfrm>
          <a:prstGeom prst="rect">
            <a:avLst/>
          </a:prstGeom>
          <a:noFill/>
          <a:ln/>
        </p:spPr>
        <p:txBody>
          <a:bodyPr wrap="square" lIns="0" tIns="0" rIns="0" bIns="0" rtlCol="0" anchor="t"/>
          <a:lstStyle/>
          <a:p>
            <a:pPr algn="l" indent="0" marL="0">
              <a:buNone/>
            </a:pPr>
            <a:r>
              <a:rPr lang="en-US" sz="1050" b="1" spc="240" kern="0" dirty="0">
                <a:solidFill>
                  <a:srgbClr val="5AA7E0"/>
                </a:solidFill>
                <a:latin typeface="Arial" pitchFamily="34" charset="0"/>
                <a:ea typeface="Arial" pitchFamily="34" charset="-122"/>
                <a:cs typeface="Arial" pitchFamily="34" charset="-120"/>
              </a:rPr>
              <a:t>PRESENTATION BEHAVIOR</a:t>
            </a:r>
            <a:endParaRPr lang="en-US" sz="1050" dirty="0"/>
          </a:p>
        </p:txBody>
      </p:sp>
      <p:sp>
        <p:nvSpPr>
          <p:cNvPr id="5" name="role:title"/>
          <p:cNvSpPr txBox="1"/>
          <p:nvPr/>
        </p:nvSpPr>
        <p:spPr>
          <a:xfrm>
            <a:off x="713232" y="3392424"/>
            <a:ext cx="7498080" cy="633984"/>
          </a:xfrm>
          <a:prstGeom prst="rect">
            <a:avLst/>
          </a:prstGeom>
          <a:noFill/>
          <a:ln/>
        </p:spPr>
        <p:txBody>
          <a:bodyPr wrap="square" lIns="0" tIns="0" rIns="0" bIns="0" rtlCol="0" anchor="t"/>
          <a:lstStyle/>
          <a:p>
            <a:pPr algn="l" indent="0" marL="0">
              <a:lnSpc>
                <a:spcPct val="102000"/>
              </a:lnSpc>
              <a:buNone/>
            </a:pPr>
            <a:r>
              <a:rPr lang="en-US" sz="4400" b="1" dirty="0">
                <a:solidFill>
                  <a:srgbClr val="FFFFFF"/>
                </a:solidFill>
                <a:latin typeface="Arial" pitchFamily="34" charset="0"/>
                <a:ea typeface="Arial" pitchFamily="34" charset="-122"/>
                <a:cs typeface="Arial" pitchFamily="34" charset="-120"/>
              </a:rPr>
              <a:t>Motion with purpose.</a:t>
            </a:r>
            <a:endParaRPr lang="en-US" sz="4400" dirty="0"/>
          </a:p>
        </p:txBody>
      </p:sp>
      <p:sp>
        <p:nvSpPr>
          <p:cNvPr id="6" name="role:sub"/>
          <p:cNvSpPr txBox="1"/>
          <p:nvPr/>
        </p:nvSpPr>
        <p:spPr>
          <a:xfrm>
            <a:off x="713232" y="4282440"/>
            <a:ext cx="6766560" cy="311658"/>
          </a:xfrm>
          <a:prstGeom prst="rect">
            <a:avLst/>
          </a:prstGeom>
          <a:noFill/>
          <a:ln/>
        </p:spPr>
        <p:txBody>
          <a:bodyPr wrap="square" lIns="0" tIns="0" rIns="0" bIns="0" rtlCol="0" anchor="t"/>
          <a:lstStyle/>
          <a:p>
            <a:pPr algn="l" indent="0" marL="0">
              <a:lnSpc>
                <a:spcPct val="130000"/>
              </a:lnSpc>
              <a:buNone/>
            </a:pPr>
            <a:r>
              <a:rPr lang="en-US" sz="1500" dirty="0">
                <a:solidFill>
                  <a:srgbClr val="9DB5C8"/>
                </a:solidFill>
                <a:latin typeface="Arial" pitchFamily="34" charset="0"/>
                <a:ea typeface="Arial" pitchFamily="34" charset="-122"/>
                <a:cs typeface="Arial" pitchFamily="34" charset="-120"/>
              </a:rPr>
              <a:t>Small moves guide attention. Native shapes stay editable.</a:t>
            </a:r>
            <a:endParaRPr lang="en-US" sz="1500" dirty="0"/>
          </a:p>
        </p:txBody>
      </p:sp>
      <p:sp>
        <p:nvSpPr>
          <p:cNvPr id="7" name="role:foot"/>
          <p:cNvSpPr txBox="1"/>
          <p:nvPr/>
        </p:nvSpPr>
        <p:spPr>
          <a:xfrm>
            <a:off x="713232" y="6400800"/>
            <a:ext cx="9942271" cy="237744"/>
          </a:xfrm>
          <a:prstGeom prst="rect">
            <a:avLst/>
          </a:prstGeom>
          <a:noFill/>
          <a:ln/>
        </p:spPr>
        <p:txBody>
          <a:bodyPr wrap="square" lIns="0" tIns="0" rIns="0" bIns="0" rtlCol="0" anchor="t"/>
          <a:lstStyle/>
          <a:p>
            <a:pPr algn="l" indent="0" marL="0">
              <a:buNone/>
            </a:pPr>
            <a:r>
              <a:rPr lang="en-US" sz="950" i="1" dirty="0">
                <a:solidFill>
                  <a:srgbClr val="9DB5C8"/>
                </a:solidFill>
                <a:latin typeface="Arial" pitchFamily="34" charset="0"/>
                <a:ea typeface="Arial" pitchFamily="34" charset="-122"/>
                <a:cs typeface="Arial" pitchFamily="34" charset="-120"/>
              </a:rPr>
              <a:t>Internal system specimen | Momentum Digital / Need Momentum | 04 Sep 2026</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320" decel="70000"/>
                                        <p:tgtEl>
                                          <p:spTgt spid="3"/>
                                        </p:tgtEl>
                                      </p:cBhvr>
                                    </p:animEffect>
                                  </p:childTnLst>
                                </p:cTn>
                              </p:par>
                              <p:par>
                                <p:cTn id="8" presetID="23"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900" decel="70000"/>
                                        <p:tgtEl>
                                          <p:spTgt spid="2"/>
                                        </p:tgtEl>
                                      </p:cBhvr>
                                    </p:animEffect>
                                    <p:animScale>
                                      <p:cBhvr>
                                        <p:cTn id="11" dur="900" decel="70000" fill="hold"/>
                                        <p:tgtEl>
                                          <p:spTgt spid="2"/>
                                        </p:tgtEl>
                                      </p:cBhvr>
                                      <p:from x="106000" y="106000"/>
                                      <p:to x="100000" y="100000"/>
                                    </p:animScale>
                                  </p:childTnLst>
                                </p:cTn>
                              </p:par>
                              <p:par>
                                <p:cTn id="12" presetID="10" presetClass="entr" presetSubtype="0" fill="hold" grpId="0" nodeType="withEffect">
                                  <p:stCondLst>
                                    <p:cond delay="55"/>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280" decel="70000"/>
                                        <p:tgtEl>
                                          <p:spTgt spid="4"/>
                                        </p:tgtEl>
                                      </p:cBhvr>
                                    </p:animEffect>
                                    <p:anim calcmode="lin" valueType="num">
                                      <p:cBhvr additive="base">
                                        <p:cTn id="15" dur="280" decel="70000" fill="hold"/>
                                        <p:tgtEl>
                                          <p:spTgt spid="4"/>
                                        </p:tgtEl>
                                        <p:attrNameLst>
                                          <p:attrName>ppt_y</p:attrName>
                                        </p:attrNameLst>
                                      </p:cBhvr>
                                      <p:tavLst>
                                        <p:tav tm="0">
                                          <p:val>
                                            <p:strVal val="#ppt_y+0.02"/>
                                          </p:val>
                                        </p:tav>
                                        <p:tav tm="100000">
                                          <p:val>
                                            <p:strVal val="#ppt_y"/>
                                          </p:val>
                                        </p:tav>
                                      </p:tavLst>
                                    </p:anim>
                                  </p:childTnLst>
                                </p:cTn>
                              </p:par>
                              <p:par>
                                <p:cTn id="16" presetID="10" presetClass="entr" presetSubtype="0" fill="hold" grpId="0" nodeType="withEffect">
                                  <p:stCondLst>
                                    <p:cond delay="11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420" decel="70000"/>
                                        <p:tgtEl>
                                          <p:spTgt spid="5"/>
                                        </p:tgtEl>
                                      </p:cBhvr>
                                    </p:animEffect>
                                    <p:anim calcmode="lin" valueType="num">
                                      <p:cBhvr additive="base">
                                        <p:cTn id="19" dur="420" decel="70000" fill="hold"/>
                                        <p:tgtEl>
                                          <p:spTgt spid="5"/>
                                        </p:tgtEl>
                                        <p:attrNameLst>
                                          <p:attrName>ppt_y</p:attrName>
                                        </p:attrNameLst>
                                      </p:cBhvr>
                                      <p:tavLst>
                                        <p:tav tm="0">
                                          <p:val>
                                            <p:strVal val="#ppt_y+0.032"/>
                                          </p:val>
                                        </p:tav>
                                        <p:tav tm="100000">
                                          <p:val>
                                            <p:strVal val="#ppt_y"/>
                                          </p:val>
                                        </p:tav>
                                      </p:tavLst>
                                    </p:anim>
                                  </p:childTnLst>
                                </p:cTn>
                              </p:par>
                              <p:par>
                                <p:cTn id="20" presetID="10" presetClass="entr" presetSubtype="0" fill="hold" grpId="0" nodeType="withEffect">
                                  <p:stCondLst>
                                    <p:cond delay="165"/>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340" decel="70000"/>
                                        <p:tgtEl>
                                          <p:spTgt spid="6"/>
                                        </p:tgtEl>
                                      </p:cBhvr>
                                    </p:animEffect>
                                    <p:anim calcmode="lin" valueType="num">
                                      <p:cBhvr additive="base">
                                        <p:cTn id="23" dur="340" decel="70000" fill="hold"/>
                                        <p:tgtEl>
                                          <p:spTgt spid="6"/>
                                        </p:tgtEl>
                                        <p:attrNameLst>
                                          <p:attrName>ppt_y</p:attrName>
                                        </p:attrNameLst>
                                      </p:cBhvr>
                                      <p:tavLst>
                                        <p:tav tm="0">
                                          <p:val>
                                            <p:strVal val="#ppt_y+0.02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825"/>
        </a:solidFill>
      </p:bgPr>
    </p:bg>
    <p:spTree>
      <p:nvGrpSpPr>
        <p:cNvPr id="1" name=""/>
        <p:cNvGrpSpPr/>
        <p:nvPr/>
      </p:nvGrpSpPr>
      <p:grpSpPr>
        <a:xfrm>
          <a:off x="0" y="0"/>
          <a:ext cx="0" cy="0"/>
          <a:chOff x="0" y="0"/>
          <a:chExt cx="0" cy="0"/>
        </a:xfrm>
      </p:grpSpPr>
      <p:pic>
        <p:nvPicPr>
          <p:cNvPr id="2" name="role:logo" descr="Momentum Digital logo">    </p:cNvPr>
          <p:cNvPicPr>
            <a:picLocks noChangeAspect="1"/>
          </p:cNvPicPr>
          <p:nvPr/>
        </p:nvPicPr>
        <p:blipFill>
          <a:blip r:embed="rId1"/>
          <a:stretch>
            <a:fillRect/>
          </a:stretch>
        </p:blipFill>
        <p:spPr>
          <a:xfrm>
            <a:off x="10106863" y="658368"/>
            <a:ext cx="1371600" cy="294904"/>
          </a:xfrm>
          <a:prstGeom prst="rect">
            <a:avLst/>
          </a:prstGeom>
        </p:spPr>
      </p:pic>
      <p:sp>
        <p:nvSpPr>
          <p:cNvPr id="3" name="role:kicker"/>
          <p:cNvSpPr txBox="1"/>
          <p:nvPr/>
        </p:nvSpPr>
        <p:spPr>
          <a:xfrm>
            <a:off x="713232" y="658368"/>
            <a:ext cx="8753551" cy="201168"/>
          </a:xfrm>
          <a:prstGeom prst="rect">
            <a:avLst/>
          </a:prstGeom>
          <a:noFill/>
          <a:ln/>
        </p:spPr>
        <p:txBody>
          <a:bodyPr wrap="square" lIns="0" tIns="0" rIns="0" bIns="0" rtlCol="0" anchor="t"/>
          <a:lstStyle/>
          <a:p>
            <a:pPr algn="l" indent="0" marL="0">
              <a:buNone/>
            </a:pPr>
            <a:r>
              <a:rPr lang="en-US" sz="1050" b="1" spc="240" kern="0" dirty="0">
                <a:solidFill>
                  <a:srgbClr val="5AA7E0"/>
                </a:solidFill>
                <a:latin typeface="Arial" pitchFamily="34" charset="0"/>
                <a:ea typeface="Arial" pitchFamily="34" charset="-122"/>
                <a:cs typeface="Arial" pitchFamily="34" charset="-120"/>
              </a:rPr>
              <a:t>ROLE VOCABULARY</a:t>
            </a:r>
            <a:endParaRPr lang="en-US" sz="1050" dirty="0"/>
          </a:p>
        </p:txBody>
      </p:sp>
      <p:sp>
        <p:nvSpPr>
          <p:cNvPr id="4" name="role:title"/>
          <p:cNvSpPr txBox="1"/>
          <p:nvPr/>
        </p:nvSpPr>
        <p:spPr>
          <a:xfrm>
            <a:off x="713232" y="987552"/>
            <a:ext cx="8570671" cy="569214"/>
          </a:xfrm>
          <a:prstGeom prst="rect">
            <a:avLst/>
          </a:prstGeom>
          <a:noFill/>
          <a:ln/>
        </p:spPr>
        <p:txBody>
          <a:bodyPr wrap="square" lIns="0" tIns="0" rIns="0" bIns="0" rtlCol="0" anchor="t"/>
          <a:lstStyle/>
          <a:p>
            <a:pPr algn="l" indent="0" marL="0">
              <a:lnSpc>
                <a:spcPct val="102000"/>
              </a:lnSpc>
              <a:buNone/>
            </a:pPr>
            <a:r>
              <a:rPr lang="en-US" sz="3900" b="1" dirty="0">
                <a:solidFill>
                  <a:srgbClr val="FFFFFF"/>
                </a:solidFill>
                <a:latin typeface="Arial" pitchFamily="34" charset="0"/>
                <a:ea typeface="Arial" pitchFamily="34" charset="-122"/>
                <a:cs typeface="Arial" pitchFamily="34" charset="-120"/>
              </a:rPr>
              <a:t>Every role has a move.</a:t>
            </a:r>
            <a:endParaRPr lang="en-US" sz="3900" dirty="0"/>
          </a:p>
        </p:txBody>
      </p:sp>
      <p:sp>
        <p:nvSpPr>
          <p:cNvPr id="5" name="role:static"/>
          <p:cNvSpPr txBox="1"/>
          <p:nvPr/>
        </p:nvSpPr>
        <p:spPr>
          <a:xfrm>
            <a:off x="10929823" y="6437376"/>
            <a:ext cx="548640" cy="219456"/>
          </a:xfrm>
          <a:prstGeom prst="rect">
            <a:avLst/>
          </a:prstGeom>
          <a:noFill/>
          <a:ln/>
        </p:spPr>
        <p:txBody>
          <a:bodyPr wrap="square" lIns="0" tIns="0" rIns="0" bIns="0" rtlCol="0" anchor="t"/>
          <a:lstStyle/>
          <a:p>
            <a:pPr algn="r" indent="0" marL="0">
              <a:buNone/>
            </a:pPr>
            <a:r>
              <a:rPr lang="en-US" sz="1050" b="1" spc="100" kern="0" dirty="0">
                <a:solidFill>
                  <a:srgbClr val="9DB5C8"/>
                </a:solidFill>
                <a:latin typeface="Arial" pitchFamily="34" charset="0"/>
                <a:ea typeface="Arial" pitchFamily="34" charset="-122"/>
                <a:cs typeface="Arial" pitchFamily="34" charset="-120"/>
              </a:rPr>
              <a:t>03</a:t>
            </a:r>
            <a:endParaRPr lang="en-US" sz="1050" dirty="0"/>
          </a:p>
        </p:txBody>
      </p:sp>
      <p:sp>
        <p:nvSpPr>
          <p:cNvPr id="6" name="role:row-head"/>
          <p:cNvSpPr txBox="1"/>
          <p:nvPr/>
        </p:nvSpPr>
        <p:spPr>
          <a:xfrm>
            <a:off x="713232" y="2105406"/>
            <a:ext cx="3383280" cy="275336"/>
          </a:xfrm>
          <a:prstGeom prst="rect">
            <a:avLst/>
          </a:prstGeom>
          <a:noFill/>
          <a:ln/>
        </p:spPr>
        <p:txBody>
          <a:bodyPr wrap="square" lIns="0" tIns="0" rIns="0" bIns="0" rtlCol="0" anchor="t"/>
          <a:lstStyle/>
          <a:p>
            <a:pPr algn="l" indent="0" marL="0">
              <a:lnSpc>
                <a:spcPct val="110000"/>
              </a:lnSpc>
              <a:buNone/>
            </a:pPr>
            <a:r>
              <a:rPr lang="en-US" sz="1550" b="1" dirty="0">
                <a:solidFill>
                  <a:srgbClr val="FFFFFF"/>
                </a:solidFill>
                <a:latin typeface="Arial" pitchFamily="34" charset="0"/>
                <a:ea typeface="Arial" pitchFamily="34" charset="-122"/>
                <a:cs typeface="Arial" pitchFamily="34" charset="-120"/>
              </a:rPr>
              <a:t>Titles rise</a:t>
            </a:r>
            <a:endParaRPr lang="en-US" sz="1550" dirty="0"/>
          </a:p>
        </p:txBody>
      </p:sp>
      <p:sp>
        <p:nvSpPr>
          <p:cNvPr id="7" name="role:row-body"/>
          <p:cNvSpPr txBox="1"/>
          <p:nvPr/>
        </p:nvSpPr>
        <p:spPr>
          <a:xfrm>
            <a:off x="4507992" y="2105406"/>
            <a:ext cx="6970471" cy="258064"/>
          </a:xfrm>
          <a:prstGeom prst="rect">
            <a:avLst/>
          </a:prstGeom>
          <a:noFill/>
          <a:ln/>
        </p:spPr>
        <p:txBody>
          <a:bodyPr wrap="square" lIns="0" tIns="0" rIns="0" bIns="0" rtlCol="0" anchor="t"/>
          <a:lstStyle/>
          <a:p>
            <a:pPr algn="l" indent="0" marL="0">
              <a:lnSpc>
                <a:spcPct val="128000"/>
              </a:lnSpc>
              <a:buNone/>
            </a:pPr>
            <a:r>
              <a:rPr lang="en-US" sz="1250" dirty="0">
                <a:solidFill>
                  <a:srgbClr val="9DB5C8"/>
                </a:solidFill>
                <a:latin typeface="Arial" pitchFamily="34" charset="0"/>
                <a:ea typeface="Arial" pitchFamily="34" charset="-122"/>
                <a:cs typeface="Arial" pitchFamily="34" charset="-120"/>
              </a:rPr>
              <a:t>A short fade and upward motion introduces the hierarchy.</a:t>
            </a:r>
            <a:endParaRPr lang="en-US" sz="1250" dirty="0"/>
          </a:p>
        </p:txBody>
      </p:sp>
      <p:sp>
        <p:nvSpPr>
          <p:cNvPr id="8" name="role:rule-h"/>
          <p:cNvSpPr/>
          <p:nvPr/>
        </p:nvSpPr>
        <p:spPr>
          <a:xfrm>
            <a:off x="713232" y="2495042"/>
            <a:ext cx="10765231" cy="0"/>
          </a:xfrm>
          <a:prstGeom prst="line">
            <a:avLst/>
          </a:prstGeom>
          <a:noFill/>
          <a:ln w="9525">
            <a:solidFill>
              <a:srgbClr val="1E4460"/>
            </a:solidFill>
            <a:prstDash val="solid"/>
          </a:ln>
        </p:spPr>
      </p:sp>
      <p:sp>
        <p:nvSpPr>
          <p:cNvPr id="9" name="role:row-head"/>
          <p:cNvSpPr txBox="1"/>
          <p:nvPr/>
        </p:nvSpPr>
        <p:spPr>
          <a:xfrm>
            <a:off x="713232" y="2609342"/>
            <a:ext cx="3383280" cy="275336"/>
          </a:xfrm>
          <a:prstGeom prst="rect">
            <a:avLst/>
          </a:prstGeom>
          <a:noFill/>
          <a:ln/>
        </p:spPr>
        <p:txBody>
          <a:bodyPr wrap="square" lIns="0" tIns="0" rIns="0" bIns="0" rtlCol="0" anchor="t"/>
          <a:lstStyle/>
          <a:p>
            <a:pPr algn="l" indent="0" marL="0">
              <a:lnSpc>
                <a:spcPct val="110000"/>
              </a:lnSpc>
              <a:buNone/>
            </a:pPr>
            <a:r>
              <a:rPr lang="en-US" sz="1550" b="1" dirty="0">
                <a:solidFill>
                  <a:srgbClr val="FFFFFF"/>
                </a:solidFill>
                <a:latin typeface="Arial" pitchFamily="34" charset="0"/>
                <a:ea typeface="Arial" pitchFamily="34" charset="-122"/>
                <a:cs typeface="Arial" pitchFamily="34" charset="-120"/>
              </a:rPr>
              <a:t>Figures scale</a:t>
            </a:r>
            <a:endParaRPr lang="en-US" sz="1550" dirty="0"/>
          </a:p>
        </p:txBody>
      </p:sp>
      <p:sp>
        <p:nvSpPr>
          <p:cNvPr id="10" name="role:row-body"/>
          <p:cNvSpPr txBox="1"/>
          <p:nvPr/>
        </p:nvSpPr>
        <p:spPr>
          <a:xfrm>
            <a:off x="4507992" y="2609342"/>
            <a:ext cx="6970471" cy="258064"/>
          </a:xfrm>
          <a:prstGeom prst="rect">
            <a:avLst/>
          </a:prstGeom>
          <a:noFill/>
          <a:ln/>
        </p:spPr>
        <p:txBody>
          <a:bodyPr wrap="square" lIns="0" tIns="0" rIns="0" bIns="0" rtlCol="0" anchor="t"/>
          <a:lstStyle/>
          <a:p>
            <a:pPr algn="l" indent="0" marL="0">
              <a:lnSpc>
                <a:spcPct val="128000"/>
              </a:lnSpc>
              <a:buNone/>
            </a:pPr>
            <a:r>
              <a:rPr lang="en-US" sz="1250" dirty="0">
                <a:solidFill>
                  <a:srgbClr val="9DB5C8"/>
                </a:solidFill>
                <a:latin typeface="Arial" pitchFamily="34" charset="0"/>
                <a:ea typeface="Arial" pitchFamily="34" charset="-122"/>
                <a:cs typeface="Arial" pitchFamily="34" charset="-120"/>
              </a:rPr>
              <a:t>A restrained scale change gives large typography emphasis.</a:t>
            </a:r>
            <a:endParaRPr lang="en-US" sz="1250" dirty="0"/>
          </a:p>
        </p:txBody>
      </p:sp>
      <p:sp>
        <p:nvSpPr>
          <p:cNvPr id="11" name="role:rule-h"/>
          <p:cNvSpPr/>
          <p:nvPr/>
        </p:nvSpPr>
        <p:spPr>
          <a:xfrm>
            <a:off x="713232" y="2998978"/>
            <a:ext cx="10765231" cy="0"/>
          </a:xfrm>
          <a:prstGeom prst="line">
            <a:avLst/>
          </a:prstGeom>
          <a:noFill/>
          <a:ln w="9525">
            <a:solidFill>
              <a:srgbClr val="1E4460"/>
            </a:solidFill>
            <a:prstDash val="solid"/>
          </a:ln>
        </p:spPr>
      </p:sp>
      <p:sp>
        <p:nvSpPr>
          <p:cNvPr id="12" name="role:row-head"/>
          <p:cNvSpPr txBox="1"/>
          <p:nvPr/>
        </p:nvSpPr>
        <p:spPr>
          <a:xfrm>
            <a:off x="713232" y="3113278"/>
            <a:ext cx="3383280" cy="275336"/>
          </a:xfrm>
          <a:prstGeom prst="rect">
            <a:avLst/>
          </a:prstGeom>
          <a:noFill/>
          <a:ln/>
        </p:spPr>
        <p:txBody>
          <a:bodyPr wrap="square" lIns="0" tIns="0" rIns="0" bIns="0" rtlCol="0" anchor="t"/>
          <a:lstStyle/>
          <a:p>
            <a:pPr algn="l" indent="0" marL="0">
              <a:lnSpc>
                <a:spcPct val="110000"/>
              </a:lnSpc>
              <a:buNone/>
            </a:pPr>
            <a:r>
              <a:rPr lang="en-US" sz="1550" b="1" dirty="0">
                <a:solidFill>
                  <a:srgbClr val="FFFFFF"/>
                </a:solidFill>
                <a:latin typeface="Arial" pitchFamily="34" charset="0"/>
                <a:ea typeface="Arial" pitchFamily="34" charset="-122"/>
                <a:cs typeface="Arial" pitchFamily="34" charset="-120"/>
              </a:rPr>
              <a:t>Rules draw</a:t>
            </a:r>
            <a:endParaRPr lang="en-US" sz="1550" dirty="0"/>
          </a:p>
        </p:txBody>
      </p:sp>
      <p:sp>
        <p:nvSpPr>
          <p:cNvPr id="13" name="role:row-body"/>
          <p:cNvSpPr txBox="1"/>
          <p:nvPr/>
        </p:nvSpPr>
        <p:spPr>
          <a:xfrm>
            <a:off x="4507992" y="3113278"/>
            <a:ext cx="6970471" cy="258064"/>
          </a:xfrm>
          <a:prstGeom prst="rect">
            <a:avLst/>
          </a:prstGeom>
          <a:noFill/>
          <a:ln/>
        </p:spPr>
        <p:txBody>
          <a:bodyPr wrap="square" lIns="0" tIns="0" rIns="0" bIns="0" rtlCol="0" anchor="t"/>
          <a:lstStyle/>
          <a:p>
            <a:pPr algn="l" indent="0" marL="0">
              <a:lnSpc>
                <a:spcPct val="128000"/>
              </a:lnSpc>
              <a:buNone/>
            </a:pPr>
            <a:r>
              <a:rPr lang="en-US" sz="1250" dirty="0">
                <a:solidFill>
                  <a:srgbClr val="9DB5C8"/>
                </a:solidFill>
                <a:latin typeface="Arial" pitchFamily="34" charset="0"/>
                <a:ea typeface="Arial" pitchFamily="34" charset="-122"/>
                <a:cs typeface="Arial" pitchFamily="34" charset="-120"/>
              </a:rPr>
              <a:t>Directional wipes reveal structure between content groups.</a:t>
            </a:r>
            <a:endParaRPr lang="en-US" sz="1250" dirty="0"/>
          </a:p>
        </p:txBody>
      </p:sp>
      <p:sp>
        <p:nvSpPr>
          <p:cNvPr id="14" name="role:rule-h"/>
          <p:cNvSpPr/>
          <p:nvPr/>
        </p:nvSpPr>
        <p:spPr>
          <a:xfrm>
            <a:off x="713232" y="3502914"/>
            <a:ext cx="10765231" cy="0"/>
          </a:xfrm>
          <a:prstGeom prst="line">
            <a:avLst/>
          </a:prstGeom>
          <a:noFill/>
          <a:ln w="9525">
            <a:solidFill>
              <a:srgbClr val="1E4460"/>
            </a:solidFill>
            <a:prstDash val="solid"/>
          </a:ln>
        </p:spPr>
      </p:sp>
      <p:sp>
        <p:nvSpPr>
          <p:cNvPr id="15" name="role:row-head"/>
          <p:cNvSpPr txBox="1"/>
          <p:nvPr/>
        </p:nvSpPr>
        <p:spPr>
          <a:xfrm>
            <a:off x="713232" y="3617214"/>
            <a:ext cx="3383280" cy="275336"/>
          </a:xfrm>
          <a:prstGeom prst="rect">
            <a:avLst/>
          </a:prstGeom>
          <a:noFill/>
          <a:ln/>
        </p:spPr>
        <p:txBody>
          <a:bodyPr wrap="square" lIns="0" tIns="0" rIns="0" bIns="0" rtlCol="0" anchor="t"/>
          <a:lstStyle/>
          <a:p>
            <a:pPr algn="l" indent="0" marL="0">
              <a:lnSpc>
                <a:spcPct val="110000"/>
              </a:lnSpc>
              <a:buNone/>
            </a:pPr>
            <a:r>
              <a:rPr lang="en-US" sz="1550" b="1" dirty="0">
                <a:solidFill>
                  <a:srgbClr val="FFFFFF"/>
                </a:solidFill>
                <a:latin typeface="Arial" pitchFamily="34" charset="0"/>
                <a:ea typeface="Arial" pitchFamily="34" charset="-122"/>
                <a:cs typeface="Arial" pitchFamily="34" charset="-120"/>
              </a:rPr>
              <a:t>Footers stay</a:t>
            </a:r>
            <a:endParaRPr lang="en-US" sz="1550" dirty="0"/>
          </a:p>
        </p:txBody>
      </p:sp>
      <p:sp>
        <p:nvSpPr>
          <p:cNvPr id="16" name="role:row-body"/>
          <p:cNvSpPr txBox="1"/>
          <p:nvPr/>
        </p:nvSpPr>
        <p:spPr>
          <a:xfrm>
            <a:off x="4507992" y="3617214"/>
            <a:ext cx="6970471" cy="258064"/>
          </a:xfrm>
          <a:prstGeom prst="rect">
            <a:avLst/>
          </a:prstGeom>
          <a:noFill/>
          <a:ln/>
        </p:spPr>
        <p:txBody>
          <a:bodyPr wrap="square" lIns="0" tIns="0" rIns="0" bIns="0" rtlCol="0" anchor="t"/>
          <a:lstStyle/>
          <a:p>
            <a:pPr algn="l" indent="0" marL="0">
              <a:lnSpc>
                <a:spcPct val="128000"/>
              </a:lnSpc>
              <a:buNone/>
            </a:pPr>
            <a:r>
              <a:rPr lang="en-US" sz="1250" dirty="0">
                <a:solidFill>
                  <a:srgbClr val="9DB5C8"/>
                </a:solidFill>
                <a:latin typeface="Arial" pitchFamily="34" charset="0"/>
                <a:ea typeface="Arial" pitchFamily="34" charset="-122"/>
                <a:cs typeface="Arial" pitchFamily="34" charset="-120"/>
              </a:rPr>
              <a:t>Footnotes and page numbers remain static throughout the sequence.</a:t>
            </a:r>
            <a:endParaRPr lang="en-US" sz="1250" dirty="0"/>
          </a:p>
        </p:txBody>
      </p:sp>
      <p:sp>
        <p:nvSpPr>
          <p:cNvPr id="17" name="role:foot"/>
          <p:cNvSpPr txBox="1"/>
          <p:nvPr/>
        </p:nvSpPr>
        <p:spPr>
          <a:xfrm>
            <a:off x="713232" y="6400800"/>
            <a:ext cx="9942271" cy="237744"/>
          </a:xfrm>
          <a:prstGeom prst="rect">
            <a:avLst/>
          </a:prstGeom>
          <a:noFill/>
          <a:ln/>
        </p:spPr>
        <p:txBody>
          <a:bodyPr wrap="square" lIns="0" tIns="0" rIns="0" bIns="0" rtlCol="0" anchor="t"/>
          <a:lstStyle/>
          <a:p>
            <a:pPr algn="l" indent="0" marL="0">
              <a:buNone/>
            </a:pPr>
            <a:r>
              <a:rPr lang="en-US" sz="950" i="1" dirty="0">
                <a:solidFill>
                  <a:srgbClr val="9DB5C8"/>
                </a:solidFill>
                <a:latin typeface="Arial" pitchFamily="34" charset="0"/>
                <a:ea typeface="Arial" pitchFamily="34" charset="-122"/>
                <a:cs typeface="Arial" pitchFamily="34" charset="-120"/>
              </a:rPr>
              <a:t>Internal system specimen | Momentum Digital / Need Momentum | 04 Sep 2026</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20" decel="700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80" decel="70000"/>
                                        <p:tgtEl>
                                          <p:spTgt spid="3"/>
                                        </p:tgtEl>
                                      </p:cBhvr>
                                    </p:animEffect>
                                    <p:anim calcmode="lin" valueType="num">
                                      <p:cBhvr additive="base">
                                        <p:cTn id="11" dur="280" decel="70000" fill="hold"/>
                                        <p:tgtEl>
                                          <p:spTgt spid="3"/>
                                        </p:tgtEl>
                                        <p:attrNameLst>
                                          <p:attrName>ppt_y</p:attrName>
                                        </p:attrNameLst>
                                      </p:cBhvr>
                                      <p:tavLst>
                                        <p:tav tm="0">
                                          <p:val>
                                            <p:strVal val="#ppt_y+0.02"/>
                                          </p:val>
                                        </p:tav>
                                        <p:tav tm="100000">
                                          <p:val>
                                            <p:strVal val="#ppt_y"/>
                                          </p:val>
                                        </p:tav>
                                      </p:tavLst>
                                    </p:anim>
                                  </p:childTnLst>
                                </p:cTn>
                              </p:par>
                              <p:par>
                                <p:cTn id="12" presetID="10" presetClass="entr" presetSubtype="0" fill="hold" grpId="0" nodeType="withEffect">
                                  <p:stCondLst>
                                    <p:cond delay="55"/>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420" decel="70000"/>
                                        <p:tgtEl>
                                          <p:spTgt spid="4"/>
                                        </p:tgtEl>
                                      </p:cBhvr>
                                    </p:animEffect>
                                    <p:anim calcmode="lin" valueType="num">
                                      <p:cBhvr additive="base">
                                        <p:cTn id="15" dur="420" decel="70000" fill="hold"/>
                                        <p:tgtEl>
                                          <p:spTgt spid="4"/>
                                        </p:tgtEl>
                                        <p:attrNameLst>
                                          <p:attrName>ppt_y</p:attrName>
                                        </p:attrNameLst>
                                      </p:cBhvr>
                                      <p:tavLst>
                                        <p:tav tm="0">
                                          <p:val>
                                            <p:strVal val="#ppt_y+0.032"/>
                                          </p:val>
                                        </p:tav>
                                        <p:tav tm="100000">
                                          <p:val>
                                            <p:strVal val="#ppt_y"/>
                                          </p:val>
                                        </p:tav>
                                      </p:tavLst>
                                    </p:anim>
                                  </p:childTnLst>
                                </p:cTn>
                              </p:par>
                              <p:par>
                                <p:cTn id="16" presetID="10" presetClass="entr" presetSubtype="0" fill="hold" grpId="0" nodeType="withEffect">
                                  <p:stCondLst>
                                    <p:cond delay="11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300" decel="70000"/>
                                        <p:tgtEl>
                                          <p:spTgt spid="6"/>
                                        </p:tgtEl>
                                      </p:cBhvr>
                                    </p:animEffect>
                                    <p:anim calcmode="lin" valueType="num">
                                      <p:cBhvr additive="base">
                                        <p:cTn id="19" dur="300" decel="70000" fill="hold"/>
                                        <p:tgtEl>
                                          <p:spTgt spid="6"/>
                                        </p:tgtEl>
                                        <p:attrNameLst>
                                          <p:attrName>ppt_y</p:attrName>
                                        </p:attrNameLst>
                                      </p:cBhvr>
                                      <p:tavLst>
                                        <p:tav tm="0">
                                          <p:val>
                                            <p:strVal val="#ppt_y+0.018"/>
                                          </p:val>
                                        </p:tav>
                                        <p:tav tm="100000">
                                          <p:val>
                                            <p:strVal val="#ppt_y"/>
                                          </p:val>
                                        </p:tav>
                                      </p:tavLst>
                                    </p:anim>
                                  </p:childTnLst>
                                </p:cTn>
                              </p:par>
                              <p:par>
                                <p:cTn id="20" presetID="10" presetClass="entr" presetSubtype="0" fill="hold" grpId="0" nodeType="withEffect">
                                  <p:stCondLst>
                                    <p:cond delay="165"/>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280" decel="70000"/>
                                        <p:tgtEl>
                                          <p:spTgt spid="7"/>
                                        </p:tgtEl>
                                      </p:cBhvr>
                                    </p:animEffect>
                                  </p:childTnLst>
                                </p:cTn>
                              </p:par>
                              <p:par>
                                <p:cTn id="23" presetID="22" presetClass="entr" presetSubtype="1" fill="hold" grpId="0" nodeType="withEffect">
                                  <p:stCondLst>
                                    <p:cond delay="220"/>
                                  </p:stCondLst>
                                  <p:childTnLst>
                                    <p:set>
                                      <p:cBhvr>
                                        <p:cTn id="24" dur="1" fill="hold">
                                          <p:stCondLst>
                                            <p:cond delay="0"/>
                                          </p:stCondLst>
                                        </p:cTn>
                                        <p:tgtEl>
                                          <p:spTgt spid="8"/>
                                        </p:tgtEl>
                                        <p:attrNameLst>
                                          <p:attrName>style.visibility</p:attrName>
                                        </p:attrNameLst>
                                      </p:cBhvr>
                                      <p:to>
                                        <p:strVal val="visible"/>
                                      </p:to>
                                    </p:set>
                                    <p:animEffect transition="in" filter="wipe(right)">
                                      <p:cBhvr>
                                        <p:cTn id="25" dur="460"/>
                                        <p:tgtEl>
                                          <p:spTgt spid="8"/>
                                        </p:tgtEl>
                                      </p:cBhvr>
                                    </p:animEffect>
                                  </p:childTnLst>
                                </p:cTn>
                              </p:par>
                              <p:par>
                                <p:cTn id="26" presetID="10" presetClass="entr" presetSubtype="0" fill="hold" grpId="0" nodeType="withEffect">
                                  <p:stCondLst>
                                    <p:cond delay="275"/>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300" decel="70000"/>
                                        <p:tgtEl>
                                          <p:spTgt spid="9"/>
                                        </p:tgtEl>
                                      </p:cBhvr>
                                    </p:animEffect>
                                    <p:anim calcmode="lin" valueType="num">
                                      <p:cBhvr additive="base">
                                        <p:cTn id="29" dur="300" decel="70000" fill="hold"/>
                                        <p:tgtEl>
                                          <p:spTgt spid="9"/>
                                        </p:tgtEl>
                                        <p:attrNameLst>
                                          <p:attrName>ppt_y</p:attrName>
                                        </p:attrNameLst>
                                      </p:cBhvr>
                                      <p:tavLst>
                                        <p:tav tm="0">
                                          <p:val>
                                            <p:strVal val="#ppt_y+0.018"/>
                                          </p:val>
                                        </p:tav>
                                        <p:tav tm="100000">
                                          <p:val>
                                            <p:strVal val="#ppt_y"/>
                                          </p:val>
                                        </p:tav>
                                      </p:tavLst>
                                    </p:anim>
                                  </p:childTnLst>
                                </p:cTn>
                              </p:par>
                              <p:par>
                                <p:cTn id="30" presetID="10" presetClass="entr" presetSubtype="0" fill="hold" grpId="0" nodeType="withEffect">
                                  <p:stCondLst>
                                    <p:cond delay="33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280" decel="70000"/>
                                        <p:tgtEl>
                                          <p:spTgt spid="10"/>
                                        </p:tgtEl>
                                      </p:cBhvr>
                                    </p:animEffect>
                                  </p:childTnLst>
                                </p:cTn>
                              </p:par>
                              <p:par>
                                <p:cTn id="33" presetID="22" presetClass="entr" presetSubtype="1" fill="hold" grpId="0" nodeType="withEffect">
                                  <p:stCondLst>
                                    <p:cond delay="385"/>
                                  </p:stCondLst>
                                  <p:childTnLst>
                                    <p:set>
                                      <p:cBhvr>
                                        <p:cTn id="34" dur="1" fill="hold">
                                          <p:stCondLst>
                                            <p:cond delay="0"/>
                                          </p:stCondLst>
                                        </p:cTn>
                                        <p:tgtEl>
                                          <p:spTgt spid="11"/>
                                        </p:tgtEl>
                                        <p:attrNameLst>
                                          <p:attrName>style.visibility</p:attrName>
                                        </p:attrNameLst>
                                      </p:cBhvr>
                                      <p:to>
                                        <p:strVal val="visible"/>
                                      </p:to>
                                    </p:set>
                                    <p:animEffect transition="in" filter="wipe(right)">
                                      <p:cBhvr>
                                        <p:cTn id="35" dur="460"/>
                                        <p:tgtEl>
                                          <p:spTgt spid="11"/>
                                        </p:tgtEl>
                                      </p:cBhvr>
                                    </p:animEffect>
                                  </p:childTnLst>
                                </p:cTn>
                              </p:par>
                              <p:par>
                                <p:cTn id="36" presetID="10" presetClass="entr" presetSubtype="0" fill="hold" grpId="0" nodeType="withEffect">
                                  <p:stCondLst>
                                    <p:cond delay="44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300" decel="70000"/>
                                        <p:tgtEl>
                                          <p:spTgt spid="12"/>
                                        </p:tgtEl>
                                      </p:cBhvr>
                                    </p:animEffect>
                                    <p:anim calcmode="lin" valueType="num">
                                      <p:cBhvr additive="base">
                                        <p:cTn id="39" dur="300" decel="70000" fill="hold"/>
                                        <p:tgtEl>
                                          <p:spTgt spid="12"/>
                                        </p:tgtEl>
                                        <p:attrNameLst>
                                          <p:attrName>ppt_y</p:attrName>
                                        </p:attrNameLst>
                                      </p:cBhvr>
                                      <p:tavLst>
                                        <p:tav tm="0">
                                          <p:val>
                                            <p:strVal val="#ppt_y+0.018"/>
                                          </p:val>
                                        </p:tav>
                                        <p:tav tm="100000">
                                          <p:val>
                                            <p:strVal val="#ppt_y"/>
                                          </p:val>
                                        </p:tav>
                                      </p:tavLst>
                                    </p:anim>
                                  </p:childTnLst>
                                </p:cTn>
                              </p:par>
                              <p:par>
                                <p:cTn id="40" presetID="10" presetClass="entr" presetSubtype="0" fill="hold" grpId="0" nodeType="withEffect">
                                  <p:stCondLst>
                                    <p:cond delay="495"/>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280" decel="70000"/>
                                        <p:tgtEl>
                                          <p:spTgt spid="13"/>
                                        </p:tgtEl>
                                      </p:cBhvr>
                                    </p:animEffect>
                                  </p:childTnLst>
                                </p:cTn>
                              </p:par>
                              <p:par>
                                <p:cTn id="43" presetID="22" presetClass="entr" presetSubtype="1" fill="hold" grpId="0" nodeType="withEffect">
                                  <p:stCondLst>
                                    <p:cond delay="550"/>
                                  </p:stCondLst>
                                  <p:childTnLst>
                                    <p:set>
                                      <p:cBhvr>
                                        <p:cTn id="44" dur="1" fill="hold">
                                          <p:stCondLst>
                                            <p:cond delay="0"/>
                                          </p:stCondLst>
                                        </p:cTn>
                                        <p:tgtEl>
                                          <p:spTgt spid="14"/>
                                        </p:tgtEl>
                                        <p:attrNameLst>
                                          <p:attrName>style.visibility</p:attrName>
                                        </p:attrNameLst>
                                      </p:cBhvr>
                                      <p:to>
                                        <p:strVal val="visible"/>
                                      </p:to>
                                    </p:set>
                                    <p:animEffect transition="in" filter="wipe(right)">
                                      <p:cBhvr>
                                        <p:cTn id="45" dur="460"/>
                                        <p:tgtEl>
                                          <p:spTgt spid="14"/>
                                        </p:tgtEl>
                                      </p:cBhvr>
                                    </p:animEffect>
                                  </p:childTnLst>
                                </p:cTn>
                              </p:par>
                              <p:par>
                                <p:cTn id="46" presetID="10" presetClass="entr" presetSubtype="0" fill="hold" grpId="0" nodeType="withEffect">
                                  <p:stCondLst>
                                    <p:cond delay="605"/>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300" decel="70000"/>
                                        <p:tgtEl>
                                          <p:spTgt spid="15"/>
                                        </p:tgtEl>
                                      </p:cBhvr>
                                    </p:animEffect>
                                    <p:anim calcmode="lin" valueType="num">
                                      <p:cBhvr additive="base">
                                        <p:cTn id="49" dur="300" decel="70000" fill="hold"/>
                                        <p:tgtEl>
                                          <p:spTgt spid="15"/>
                                        </p:tgtEl>
                                        <p:attrNameLst>
                                          <p:attrName>ppt_y</p:attrName>
                                        </p:attrNameLst>
                                      </p:cBhvr>
                                      <p:tavLst>
                                        <p:tav tm="0">
                                          <p:val>
                                            <p:strVal val="#ppt_y+0.018"/>
                                          </p:val>
                                        </p:tav>
                                        <p:tav tm="100000">
                                          <p:val>
                                            <p:strVal val="#ppt_y"/>
                                          </p:val>
                                        </p:tav>
                                      </p:tavLst>
                                    </p:anim>
                                  </p:childTnLst>
                                </p:cTn>
                              </p:par>
                              <p:par>
                                <p:cTn id="50" presetID="10" presetClass="entr" presetSubtype="0" fill="hold" grpId="0" nodeType="withEffect">
                                  <p:stCondLst>
                                    <p:cond delay="66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280" decel="70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role:logo" descr="Momentum Digital logo">    </p:cNvPr>
          <p:cNvPicPr>
            <a:picLocks noChangeAspect="1"/>
          </p:cNvPicPr>
          <p:nvPr/>
        </p:nvPicPr>
        <p:blipFill>
          <a:blip r:embed="rId1"/>
          <a:stretch>
            <a:fillRect/>
          </a:stretch>
        </p:blipFill>
        <p:spPr>
          <a:xfrm>
            <a:off x="10106863" y="658368"/>
            <a:ext cx="1371600" cy="294904"/>
          </a:xfrm>
          <a:prstGeom prst="rect">
            <a:avLst/>
          </a:prstGeom>
        </p:spPr>
      </p:pic>
      <p:sp>
        <p:nvSpPr>
          <p:cNvPr id="3" name="role:kicker"/>
          <p:cNvSpPr txBox="1"/>
          <p:nvPr/>
        </p:nvSpPr>
        <p:spPr>
          <a:xfrm>
            <a:off x="713232" y="658368"/>
            <a:ext cx="8753551" cy="201168"/>
          </a:xfrm>
          <a:prstGeom prst="rect">
            <a:avLst/>
          </a:prstGeom>
          <a:noFill/>
          <a:ln/>
        </p:spPr>
        <p:txBody>
          <a:bodyPr wrap="square" lIns="0" tIns="0" rIns="0" bIns="0" rtlCol="0" anchor="t"/>
          <a:lstStyle/>
          <a:p>
            <a:pPr algn="l" indent="0" marL="0">
              <a:buNone/>
            </a:pPr>
            <a:r>
              <a:rPr lang="en-US" sz="1050" b="1" spc="240" kern="0" dirty="0">
                <a:solidFill>
                  <a:srgbClr val="17557F"/>
                </a:solidFill>
                <a:latin typeface="Arial" pitchFamily="34" charset="0"/>
                <a:ea typeface="Arial" pitchFamily="34" charset="-122"/>
                <a:cs typeface="Arial" pitchFamily="34" charset="-120"/>
              </a:rPr>
              <a:t>AUTOMATIC WORKFLOW</a:t>
            </a:r>
            <a:endParaRPr lang="en-US" sz="1050" dirty="0"/>
          </a:p>
        </p:txBody>
      </p:sp>
      <p:sp>
        <p:nvSpPr>
          <p:cNvPr id="4" name="role:title"/>
          <p:cNvSpPr txBox="1"/>
          <p:nvPr/>
        </p:nvSpPr>
        <p:spPr>
          <a:xfrm>
            <a:off x="713232" y="987552"/>
            <a:ext cx="8570671" cy="569214"/>
          </a:xfrm>
          <a:prstGeom prst="rect">
            <a:avLst/>
          </a:prstGeom>
          <a:noFill/>
          <a:ln/>
        </p:spPr>
        <p:txBody>
          <a:bodyPr wrap="square" lIns="0" tIns="0" rIns="0" bIns="0" rtlCol="0" anchor="t"/>
          <a:lstStyle/>
          <a:p>
            <a:pPr algn="l" indent="0" marL="0">
              <a:lnSpc>
                <a:spcPct val="102000"/>
              </a:lnSpc>
              <a:buNone/>
            </a:pPr>
            <a:r>
              <a:rPr lang="en-US" sz="3900" b="1" dirty="0">
                <a:solidFill>
                  <a:srgbClr val="0F151B"/>
                </a:solidFill>
                <a:latin typeface="Arial" pitchFamily="34" charset="0"/>
                <a:ea typeface="Arial" pitchFamily="34" charset="-122"/>
                <a:cs typeface="Arial" pitchFamily="34" charset="-120"/>
              </a:rPr>
              <a:t>From content to presentation.</a:t>
            </a:r>
            <a:endParaRPr lang="en-US" sz="3900" dirty="0"/>
          </a:p>
        </p:txBody>
      </p:sp>
      <p:sp>
        <p:nvSpPr>
          <p:cNvPr id="5" name="role:sub"/>
          <p:cNvSpPr txBox="1"/>
          <p:nvPr/>
        </p:nvSpPr>
        <p:spPr>
          <a:xfrm>
            <a:off x="713232" y="1703070"/>
            <a:ext cx="8046720" cy="356616"/>
          </a:xfrm>
          <a:prstGeom prst="rect">
            <a:avLst/>
          </a:prstGeom>
          <a:noFill/>
          <a:ln/>
        </p:spPr>
        <p:txBody>
          <a:bodyPr wrap="square" lIns="0" tIns="0" rIns="0" bIns="0" rtlCol="0" anchor="t"/>
          <a:lstStyle/>
          <a:p>
            <a:pPr algn="l" indent="0" marL="0">
              <a:lnSpc>
                <a:spcPct val="128000"/>
              </a:lnSpc>
              <a:buNone/>
            </a:pPr>
            <a:r>
              <a:rPr lang="en-US" sz="1800" dirty="0">
                <a:solidFill>
                  <a:srgbClr val="5A6772"/>
                </a:solidFill>
                <a:latin typeface="Arial" pitchFamily="34" charset="0"/>
                <a:ea typeface="Arial" pitchFamily="34" charset="-122"/>
                <a:cs typeface="Arial" pitchFamily="34" charset="-120"/>
              </a:rPr>
              <a:t>One save operation applies the selected motion style.</a:t>
            </a:r>
            <a:endParaRPr lang="en-US" sz="1800" dirty="0"/>
          </a:p>
        </p:txBody>
      </p:sp>
      <p:sp>
        <p:nvSpPr>
          <p:cNvPr id="6" name="role:static"/>
          <p:cNvSpPr txBox="1"/>
          <p:nvPr/>
        </p:nvSpPr>
        <p:spPr>
          <a:xfrm>
            <a:off x="10929823" y="6437376"/>
            <a:ext cx="548640" cy="219456"/>
          </a:xfrm>
          <a:prstGeom prst="rect">
            <a:avLst/>
          </a:prstGeom>
          <a:noFill/>
          <a:ln/>
        </p:spPr>
        <p:txBody>
          <a:bodyPr wrap="square" lIns="0" tIns="0" rIns="0" bIns="0" rtlCol="0" anchor="t"/>
          <a:lstStyle/>
          <a:p>
            <a:pPr algn="r" indent="0" marL="0">
              <a:buNone/>
            </a:pPr>
            <a:r>
              <a:rPr lang="en-US" sz="1050" b="1" spc="100" kern="0" dirty="0">
                <a:solidFill>
                  <a:srgbClr val="5A6772"/>
                </a:solidFill>
                <a:latin typeface="Arial" pitchFamily="34" charset="0"/>
                <a:ea typeface="Arial" pitchFamily="34" charset="-122"/>
                <a:cs typeface="Arial" pitchFamily="34" charset="-120"/>
              </a:rPr>
              <a:t>04</a:t>
            </a:r>
            <a:endParaRPr lang="en-US" sz="1050" dirty="0"/>
          </a:p>
        </p:txBody>
      </p:sp>
      <p:sp>
        <p:nvSpPr>
          <p:cNvPr id="7" name="role:step-num"/>
          <p:cNvSpPr txBox="1"/>
          <p:nvPr/>
        </p:nvSpPr>
        <p:spPr>
          <a:xfrm>
            <a:off x="713232" y="2718054"/>
            <a:ext cx="2142668" cy="292608"/>
          </a:xfrm>
          <a:prstGeom prst="rect">
            <a:avLst/>
          </a:prstGeom>
          <a:noFill/>
          <a:ln/>
        </p:spPr>
        <p:txBody>
          <a:bodyPr wrap="square" lIns="0" tIns="0" rIns="0" bIns="0" rtlCol="0" anchor="t"/>
          <a:lstStyle/>
          <a:p>
            <a:pPr algn="l" indent="0" marL="0">
              <a:buNone/>
            </a:pPr>
            <a:r>
              <a:rPr lang="en-US" sz="1500" b="1" spc="100" kern="0" dirty="0">
                <a:solidFill>
                  <a:srgbClr val="17557F"/>
                </a:solidFill>
                <a:latin typeface="Arial" pitchFamily="34" charset="0"/>
                <a:ea typeface="Arial" pitchFamily="34" charset="-122"/>
                <a:cs typeface="Arial" pitchFamily="34" charset="-120"/>
              </a:rPr>
              <a:t>01</a:t>
            </a:r>
            <a:endParaRPr lang="en-US" sz="1500" dirty="0"/>
          </a:p>
        </p:txBody>
      </p:sp>
      <p:sp>
        <p:nvSpPr>
          <p:cNvPr id="8" name="role:step-head"/>
          <p:cNvSpPr txBox="1"/>
          <p:nvPr/>
        </p:nvSpPr>
        <p:spPr>
          <a:xfrm>
            <a:off x="713232" y="3138678"/>
            <a:ext cx="2142668" cy="273558"/>
          </a:xfrm>
          <a:prstGeom prst="rect">
            <a:avLst/>
          </a:prstGeom>
          <a:noFill/>
          <a:ln/>
        </p:spPr>
        <p:txBody>
          <a:bodyPr wrap="square" lIns="0" tIns="0" rIns="0" bIns="0" rtlCol="0" anchor="t"/>
          <a:lstStyle/>
          <a:p>
            <a:pPr algn="l" indent="0" marL="0">
              <a:lnSpc>
                <a:spcPct val="110000"/>
              </a:lnSpc>
              <a:buNone/>
            </a:pPr>
            <a:r>
              <a:rPr lang="en-US" sz="1500" b="1" dirty="0">
                <a:solidFill>
                  <a:srgbClr val="0F151B"/>
                </a:solidFill>
                <a:latin typeface="Arial" pitchFamily="34" charset="0"/>
                <a:ea typeface="Arial" pitchFamily="34" charset="-122"/>
                <a:cs typeface="Arial" pitchFamily="34" charset="-120"/>
              </a:rPr>
              <a:t>Load brand</a:t>
            </a:r>
            <a:endParaRPr lang="en-US" sz="1500" dirty="0"/>
          </a:p>
        </p:txBody>
      </p:sp>
      <p:sp>
        <p:nvSpPr>
          <p:cNvPr id="9" name="role:body"/>
          <p:cNvSpPr txBox="1"/>
          <p:nvPr/>
        </p:nvSpPr>
        <p:spPr>
          <a:xfrm>
            <a:off x="713232" y="3521964"/>
            <a:ext cx="2142668" cy="400050"/>
          </a:xfrm>
          <a:prstGeom prst="rect">
            <a:avLst/>
          </a:prstGeom>
          <a:noFill/>
          <a:ln/>
        </p:spPr>
        <p:txBody>
          <a:bodyPr wrap="square" lIns="0" tIns="0" rIns="0" bIns="0" rtlCol="0" anchor="t"/>
          <a:lstStyle/>
          <a:p>
            <a:pPr algn="l" indent="0" marL="0">
              <a:lnSpc>
                <a:spcPct val="126000"/>
              </a:lnSpc>
              <a:buNone/>
            </a:pPr>
            <a:r>
              <a:rPr lang="en-US" sz="1050" dirty="0">
                <a:solidFill>
                  <a:srgbClr val="5A6772"/>
                </a:solidFill>
                <a:latin typeface="Arial" pitchFamily="34" charset="0"/>
                <a:ea typeface="Arial" pitchFamily="34" charset="-122"/>
                <a:cs typeface="Arial" pitchFamily="34" charset="-120"/>
              </a:rPr>
              <a:t>Resolve the exact client profile and approved assets.</a:t>
            </a:r>
            <a:endParaRPr lang="en-US" sz="1050" dirty="0"/>
          </a:p>
        </p:txBody>
      </p:sp>
      <p:sp>
        <p:nvSpPr>
          <p:cNvPr id="10" name="role:rule-v"/>
          <p:cNvSpPr/>
          <p:nvPr/>
        </p:nvSpPr>
        <p:spPr>
          <a:xfrm>
            <a:off x="3148508" y="2718054"/>
            <a:ext cx="0" cy="2103120"/>
          </a:xfrm>
          <a:prstGeom prst="line">
            <a:avLst/>
          </a:prstGeom>
          <a:noFill/>
          <a:ln w="9525">
            <a:solidFill>
              <a:srgbClr val="E2EAF1"/>
            </a:solidFill>
            <a:prstDash val="solid"/>
          </a:ln>
        </p:spPr>
      </p:sp>
      <p:sp>
        <p:nvSpPr>
          <p:cNvPr id="11" name="role:step-num"/>
          <p:cNvSpPr txBox="1"/>
          <p:nvPr/>
        </p:nvSpPr>
        <p:spPr>
          <a:xfrm>
            <a:off x="3404540" y="2718054"/>
            <a:ext cx="2142668" cy="292608"/>
          </a:xfrm>
          <a:prstGeom prst="rect">
            <a:avLst/>
          </a:prstGeom>
          <a:noFill/>
          <a:ln/>
        </p:spPr>
        <p:txBody>
          <a:bodyPr wrap="square" lIns="0" tIns="0" rIns="0" bIns="0" rtlCol="0" anchor="t"/>
          <a:lstStyle/>
          <a:p>
            <a:pPr algn="l" indent="0" marL="0">
              <a:buNone/>
            </a:pPr>
            <a:r>
              <a:rPr lang="en-US" sz="1500" b="1" spc="100" kern="0" dirty="0">
                <a:solidFill>
                  <a:srgbClr val="17557F"/>
                </a:solidFill>
                <a:latin typeface="Arial" pitchFamily="34" charset="0"/>
                <a:ea typeface="Arial" pitchFamily="34" charset="-122"/>
                <a:cs typeface="Arial" pitchFamily="34" charset="-120"/>
              </a:rPr>
              <a:t>02</a:t>
            </a:r>
            <a:endParaRPr lang="en-US" sz="1500" dirty="0"/>
          </a:p>
        </p:txBody>
      </p:sp>
      <p:sp>
        <p:nvSpPr>
          <p:cNvPr id="12" name="role:step-head"/>
          <p:cNvSpPr txBox="1"/>
          <p:nvPr/>
        </p:nvSpPr>
        <p:spPr>
          <a:xfrm>
            <a:off x="3404540" y="3138678"/>
            <a:ext cx="2142668" cy="273558"/>
          </a:xfrm>
          <a:prstGeom prst="rect">
            <a:avLst/>
          </a:prstGeom>
          <a:noFill/>
          <a:ln/>
        </p:spPr>
        <p:txBody>
          <a:bodyPr wrap="square" lIns="0" tIns="0" rIns="0" bIns="0" rtlCol="0" anchor="t"/>
          <a:lstStyle/>
          <a:p>
            <a:pPr algn="l" indent="0" marL="0">
              <a:lnSpc>
                <a:spcPct val="110000"/>
              </a:lnSpc>
              <a:buNone/>
            </a:pPr>
            <a:r>
              <a:rPr lang="en-US" sz="1500" b="1" dirty="0">
                <a:solidFill>
                  <a:srgbClr val="0F151B"/>
                </a:solidFill>
                <a:latin typeface="Arial" pitchFamily="34" charset="0"/>
                <a:ea typeface="Arial" pitchFamily="34" charset="-122"/>
                <a:cs typeface="Arial" pitchFamily="34" charset="-120"/>
              </a:rPr>
              <a:t>Add content</a:t>
            </a:r>
            <a:endParaRPr lang="en-US" sz="1500" dirty="0"/>
          </a:p>
        </p:txBody>
      </p:sp>
      <p:sp>
        <p:nvSpPr>
          <p:cNvPr id="13" name="role:body"/>
          <p:cNvSpPr txBox="1"/>
          <p:nvPr/>
        </p:nvSpPr>
        <p:spPr>
          <a:xfrm>
            <a:off x="3404540" y="3521964"/>
            <a:ext cx="2142668" cy="400050"/>
          </a:xfrm>
          <a:prstGeom prst="rect">
            <a:avLst/>
          </a:prstGeom>
          <a:noFill/>
          <a:ln/>
        </p:spPr>
        <p:txBody>
          <a:bodyPr wrap="square" lIns="0" tIns="0" rIns="0" bIns="0" rtlCol="0" anchor="t"/>
          <a:lstStyle/>
          <a:p>
            <a:pPr algn="l" indent="0" marL="0">
              <a:lnSpc>
                <a:spcPct val="126000"/>
              </a:lnSpc>
              <a:buNone/>
            </a:pPr>
            <a:r>
              <a:rPr lang="en-US" sz="1050" dirty="0">
                <a:solidFill>
                  <a:srgbClr val="5A6772"/>
                </a:solidFill>
                <a:latin typeface="Arial" pitchFamily="34" charset="0"/>
                <a:ea typeface="Arial" pitchFamily="34" charset="-122"/>
                <a:cs typeface="Arial" pitchFamily="34" charset="-120"/>
              </a:rPr>
              <a:t>Choose layouts, keep claims sourced and add speaker notes.</a:t>
            </a:r>
            <a:endParaRPr lang="en-US" sz="1050" dirty="0"/>
          </a:p>
        </p:txBody>
      </p:sp>
      <p:sp>
        <p:nvSpPr>
          <p:cNvPr id="14" name="role:rule-v"/>
          <p:cNvSpPr/>
          <p:nvPr/>
        </p:nvSpPr>
        <p:spPr>
          <a:xfrm>
            <a:off x="5839816" y="2718054"/>
            <a:ext cx="0" cy="2103120"/>
          </a:xfrm>
          <a:prstGeom prst="line">
            <a:avLst/>
          </a:prstGeom>
          <a:noFill/>
          <a:ln w="9525">
            <a:solidFill>
              <a:srgbClr val="E2EAF1"/>
            </a:solidFill>
            <a:prstDash val="solid"/>
          </a:ln>
        </p:spPr>
      </p:sp>
      <p:sp>
        <p:nvSpPr>
          <p:cNvPr id="15" name="role:step-num"/>
          <p:cNvSpPr txBox="1"/>
          <p:nvPr/>
        </p:nvSpPr>
        <p:spPr>
          <a:xfrm>
            <a:off x="6095848" y="2718054"/>
            <a:ext cx="2142668" cy="292608"/>
          </a:xfrm>
          <a:prstGeom prst="rect">
            <a:avLst/>
          </a:prstGeom>
          <a:noFill/>
          <a:ln/>
        </p:spPr>
        <p:txBody>
          <a:bodyPr wrap="square" lIns="0" tIns="0" rIns="0" bIns="0" rtlCol="0" anchor="t"/>
          <a:lstStyle/>
          <a:p>
            <a:pPr algn="l" indent="0" marL="0">
              <a:buNone/>
            </a:pPr>
            <a:r>
              <a:rPr lang="en-US" sz="1500" b="1" spc="100" kern="0" dirty="0">
                <a:solidFill>
                  <a:srgbClr val="17557F"/>
                </a:solidFill>
                <a:latin typeface="Arial" pitchFamily="34" charset="0"/>
                <a:ea typeface="Arial" pitchFamily="34" charset="-122"/>
                <a:cs typeface="Arial" pitchFamily="34" charset="-120"/>
              </a:rPr>
              <a:t>03</a:t>
            </a:r>
            <a:endParaRPr lang="en-US" sz="1500" dirty="0"/>
          </a:p>
        </p:txBody>
      </p:sp>
      <p:sp>
        <p:nvSpPr>
          <p:cNvPr id="16" name="role:step-head"/>
          <p:cNvSpPr txBox="1"/>
          <p:nvPr/>
        </p:nvSpPr>
        <p:spPr>
          <a:xfrm>
            <a:off x="6095848" y="3138678"/>
            <a:ext cx="2142668" cy="273558"/>
          </a:xfrm>
          <a:prstGeom prst="rect">
            <a:avLst/>
          </a:prstGeom>
          <a:noFill/>
          <a:ln/>
        </p:spPr>
        <p:txBody>
          <a:bodyPr wrap="square" lIns="0" tIns="0" rIns="0" bIns="0" rtlCol="0" anchor="t"/>
          <a:lstStyle/>
          <a:p>
            <a:pPr algn="l" indent="0" marL="0">
              <a:lnSpc>
                <a:spcPct val="110000"/>
              </a:lnSpc>
              <a:buNone/>
            </a:pPr>
            <a:r>
              <a:rPr lang="en-US" sz="1500" b="1" dirty="0">
                <a:solidFill>
                  <a:srgbClr val="0F151B"/>
                </a:solidFill>
                <a:latin typeface="Arial" pitchFamily="34" charset="0"/>
                <a:ea typeface="Arial" pitchFamily="34" charset="-122"/>
                <a:cs typeface="Arial" pitchFamily="34" charset="-120"/>
              </a:rPr>
              <a:t>Save deck</a:t>
            </a:r>
            <a:endParaRPr lang="en-US" sz="1500" dirty="0"/>
          </a:p>
        </p:txBody>
      </p:sp>
      <p:sp>
        <p:nvSpPr>
          <p:cNvPr id="17" name="role:body"/>
          <p:cNvSpPr txBox="1"/>
          <p:nvPr/>
        </p:nvSpPr>
        <p:spPr>
          <a:xfrm>
            <a:off x="6095848" y="3521964"/>
            <a:ext cx="2142668" cy="568071"/>
          </a:xfrm>
          <a:prstGeom prst="rect">
            <a:avLst/>
          </a:prstGeom>
          <a:noFill/>
          <a:ln/>
        </p:spPr>
        <p:txBody>
          <a:bodyPr wrap="square" lIns="0" tIns="0" rIns="0" bIns="0" rtlCol="0" anchor="t"/>
          <a:lstStyle/>
          <a:p>
            <a:pPr algn="l" indent="0" marL="0">
              <a:lnSpc>
                <a:spcPct val="126000"/>
              </a:lnSpc>
              <a:buNone/>
            </a:pPr>
            <a:r>
              <a:rPr lang="en-US" sz="1050" dirty="0">
                <a:solidFill>
                  <a:srgbClr val="5A6772"/>
                </a:solidFill>
                <a:latin typeface="Arial" pitchFamily="34" charset="0"/>
                <a:ea typeface="Arial" pitchFamily="34" charset="-122"/>
                <a:cs typeface="Arial" pitchFamily="34" charset="-120"/>
              </a:rPr>
              <a:t>Write editable slides and apply role-aware native timing.</a:t>
            </a:r>
            <a:endParaRPr lang="en-US" sz="1050" dirty="0"/>
          </a:p>
        </p:txBody>
      </p:sp>
      <p:sp>
        <p:nvSpPr>
          <p:cNvPr id="18" name="role:rule-v"/>
          <p:cNvSpPr/>
          <p:nvPr/>
        </p:nvSpPr>
        <p:spPr>
          <a:xfrm>
            <a:off x="8531123" y="2718054"/>
            <a:ext cx="0" cy="2103120"/>
          </a:xfrm>
          <a:prstGeom prst="line">
            <a:avLst/>
          </a:prstGeom>
          <a:noFill/>
          <a:ln w="9525">
            <a:solidFill>
              <a:srgbClr val="E2EAF1"/>
            </a:solidFill>
            <a:prstDash val="solid"/>
          </a:ln>
        </p:spPr>
      </p:sp>
      <p:sp>
        <p:nvSpPr>
          <p:cNvPr id="19" name="role:step-num"/>
          <p:cNvSpPr txBox="1"/>
          <p:nvPr/>
        </p:nvSpPr>
        <p:spPr>
          <a:xfrm>
            <a:off x="8787155" y="2718054"/>
            <a:ext cx="2142668" cy="292608"/>
          </a:xfrm>
          <a:prstGeom prst="rect">
            <a:avLst/>
          </a:prstGeom>
          <a:noFill/>
          <a:ln/>
        </p:spPr>
        <p:txBody>
          <a:bodyPr wrap="square" lIns="0" tIns="0" rIns="0" bIns="0" rtlCol="0" anchor="t"/>
          <a:lstStyle/>
          <a:p>
            <a:pPr algn="l" indent="0" marL="0">
              <a:buNone/>
            </a:pPr>
            <a:r>
              <a:rPr lang="en-US" sz="1500" b="1" spc="100" kern="0" dirty="0">
                <a:solidFill>
                  <a:srgbClr val="17557F"/>
                </a:solidFill>
                <a:latin typeface="Arial" pitchFamily="34" charset="0"/>
                <a:ea typeface="Arial" pitchFamily="34" charset="-122"/>
                <a:cs typeface="Arial" pitchFamily="34" charset="-120"/>
              </a:rPr>
              <a:t>04</a:t>
            </a:r>
            <a:endParaRPr lang="en-US" sz="1500" dirty="0"/>
          </a:p>
        </p:txBody>
      </p:sp>
      <p:sp>
        <p:nvSpPr>
          <p:cNvPr id="20" name="role:step-head"/>
          <p:cNvSpPr txBox="1"/>
          <p:nvPr/>
        </p:nvSpPr>
        <p:spPr>
          <a:xfrm>
            <a:off x="8787155" y="3138678"/>
            <a:ext cx="2142668" cy="273558"/>
          </a:xfrm>
          <a:prstGeom prst="rect">
            <a:avLst/>
          </a:prstGeom>
          <a:noFill/>
          <a:ln/>
        </p:spPr>
        <p:txBody>
          <a:bodyPr wrap="square" lIns="0" tIns="0" rIns="0" bIns="0" rtlCol="0" anchor="t"/>
          <a:lstStyle/>
          <a:p>
            <a:pPr algn="l" indent="0" marL="0">
              <a:lnSpc>
                <a:spcPct val="110000"/>
              </a:lnSpc>
              <a:buNone/>
            </a:pPr>
            <a:r>
              <a:rPr lang="en-US" sz="1500" b="1" dirty="0">
                <a:solidFill>
                  <a:srgbClr val="0F151B"/>
                </a:solidFill>
                <a:latin typeface="Arial" pitchFamily="34" charset="0"/>
                <a:ea typeface="Arial" pitchFamily="34" charset="-122"/>
                <a:cs typeface="Arial" pitchFamily="34" charset="-120"/>
              </a:rPr>
              <a:t>Verify</a:t>
            </a:r>
            <a:endParaRPr lang="en-US" sz="1500" dirty="0"/>
          </a:p>
        </p:txBody>
      </p:sp>
      <p:sp>
        <p:nvSpPr>
          <p:cNvPr id="21" name="role:body"/>
          <p:cNvSpPr txBox="1"/>
          <p:nvPr/>
        </p:nvSpPr>
        <p:spPr>
          <a:xfrm>
            <a:off x="8787155" y="3521964"/>
            <a:ext cx="2142668" cy="568071"/>
          </a:xfrm>
          <a:prstGeom prst="rect">
            <a:avLst/>
          </a:prstGeom>
          <a:noFill/>
          <a:ln/>
        </p:spPr>
        <p:txBody>
          <a:bodyPr wrap="square" lIns="0" tIns="0" rIns="0" bIns="0" rtlCol="0" anchor="t"/>
          <a:lstStyle/>
          <a:p>
            <a:pPr algn="l" indent="0" marL="0">
              <a:lnSpc>
                <a:spcPct val="126000"/>
              </a:lnSpc>
              <a:buNone/>
            </a:pPr>
            <a:r>
              <a:rPr lang="en-US" sz="1050" dirty="0">
                <a:solidFill>
                  <a:srgbClr val="5A6772"/>
                </a:solidFill>
                <a:latin typeface="Arial" pitchFamily="34" charset="0"/>
                <a:ea typeface="Arial" pitchFamily="34" charset="-122"/>
                <a:cs typeface="Arial" pitchFamily="34" charset="-120"/>
              </a:rPr>
              <a:t>Open in PowerPoint, check effects and inspect every slide.</a:t>
            </a:r>
            <a:endParaRPr lang="en-US" sz="1050" dirty="0"/>
          </a:p>
        </p:txBody>
      </p:sp>
      <p:sp>
        <p:nvSpPr>
          <p:cNvPr id="22" name="role:foot"/>
          <p:cNvSpPr txBox="1"/>
          <p:nvPr/>
        </p:nvSpPr>
        <p:spPr>
          <a:xfrm>
            <a:off x="713232" y="6400800"/>
            <a:ext cx="9942271" cy="237744"/>
          </a:xfrm>
          <a:prstGeom prst="rect">
            <a:avLst/>
          </a:prstGeom>
          <a:noFill/>
          <a:ln/>
        </p:spPr>
        <p:txBody>
          <a:bodyPr wrap="square" lIns="0" tIns="0" rIns="0" bIns="0" rtlCol="0" anchor="t"/>
          <a:lstStyle/>
          <a:p>
            <a:pPr algn="l" indent="0" marL="0">
              <a:buNone/>
            </a:pPr>
            <a:r>
              <a:rPr lang="en-US" sz="950" i="1" dirty="0">
                <a:solidFill>
                  <a:srgbClr val="5A6772"/>
                </a:solidFill>
                <a:latin typeface="Arial" pitchFamily="34" charset="0"/>
                <a:ea typeface="Arial" pitchFamily="34" charset="-122"/>
                <a:cs typeface="Arial" pitchFamily="34" charset="-120"/>
              </a:rPr>
              <a:t>Internal system specimen | Momentum Digital / Need Momentum | 04 Sep 2026</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20" decel="700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80" decel="70000"/>
                                        <p:tgtEl>
                                          <p:spTgt spid="3"/>
                                        </p:tgtEl>
                                      </p:cBhvr>
                                    </p:animEffect>
                                    <p:anim calcmode="lin" valueType="num">
                                      <p:cBhvr additive="base">
                                        <p:cTn id="11" dur="280" decel="70000" fill="hold"/>
                                        <p:tgtEl>
                                          <p:spTgt spid="3"/>
                                        </p:tgtEl>
                                        <p:attrNameLst>
                                          <p:attrName>ppt_y</p:attrName>
                                        </p:attrNameLst>
                                      </p:cBhvr>
                                      <p:tavLst>
                                        <p:tav tm="0">
                                          <p:val>
                                            <p:strVal val="#ppt_y+0.02"/>
                                          </p:val>
                                        </p:tav>
                                        <p:tav tm="100000">
                                          <p:val>
                                            <p:strVal val="#ppt_y"/>
                                          </p:val>
                                        </p:tav>
                                      </p:tavLst>
                                    </p:anim>
                                  </p:childTnLst>
                                </p:cTn>
                              </p:par>
                              <p:par>
                                <p:cTn id="12" presetID="10" presetClass="entr" presetSubtype="0" fill="hold" grpId="0" nodeType="withEffect">
                                  <p:stCondLst>
                                    <p:cond delay="55"/>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420" decel="70000"/>
                                        <p:tgtEl>
                                          <p:spTgt spid="4"/>
                                        </p:tgtEl>
                                      </p:cBhvr>
                                    </p:animEffect>
                                    <p:anim calcmode="lin" valueType="num">
                                      <p:cBhvr additive="base">
                                        <p:cTn id="15" dur="420" decel="70000" fill="hold"/>
                                        <p:tgtEl>
                                          <p:spTgt spid="4"/>
                                        </p:tgtEl>
                                        <p:attrNameLst>
                                          <p:attrName>ppt_y</p:attrName>
                                        </p:attrNameLst>
                                      </p:cBhvr>
                                      <p:tavLst>
                                        <p:tav tm="0">
                                          <p:val>
                                            <p:strVal val="#ppt_y+0.032"/>
                                          </p:val>
                                        </p:tav>
                                        <p:tav tm="100000">
                                          <p:val>
                                            <p:strVal val="#ppt_y"/>
                                          </p:val>
                                        </p:tav>
                                      </p:tavLst>
                                    </p:anim>
                                  </p:childTnLst>
                                </p:cTn>
                              </p:par>
                              <p:par>
                                <p:cTn id="16" presetID="10" presetClass="entr" presetSubtype="0" fill="hold" grpId="0" nodeType="withEffect">
                                  <p:stCondLst>
                                    <p:cond delay="11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340" decel="70000"/>
                                        <p:tgtEl>
                                          <p:spTgt spid="5"/>
                                        </p:tgtEl>
                                      </p:cBhvr>
                                    </p:animEffect>
                                    <p:anim calcmode="lin" valueType="num">
                                      <p:cBhvr additive="base">
                                        <p:cTn id="19" dur="340" decel="70000" fill="hold"/>
                                        <p:tgtEl>
                                          <p:spTgt spid="5"/>
                                        </p:tgtEl>
                                        <p:attrNameLst>
                                          <p:attrName>ppt_y</p:attrName>
                                        </p:attrNameLst>
                                      </p:cBhvr>
                                      <p:tavLst>
                                        <p:tav tm="0">
                                          <p:val>
                                            <p:strVal val="#ppt_y+0.024"/>
                                          </p:val>
                                        </p:tav>
                                        <p:tav tm="100000">
                                          <p:val>
                                            <p:strVal val="#ppt_y"/>
                                          </p:val>
                                        </p:tav>
                                      </p:tavLst>
                                    </p:anim>
                                  </p:childTnLst>
                                </p:cTn>
                              </p:par>
                              <p:par>
                                <p:cTn id="20" presetID="23" presetClass="entr" presetSubtype="0" fill="hold" grpId="0" nodeType="withEffect">
                                  <p:stCondLst>
                                    <p:cond delay="165"/>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320" decel="70000"/>
                                        <p:tgtEl>
                                          <p:spTgt spid="7"/>
                                        </p:tgtEl>
                                      </p:cBhvr>
                                    </p:animEffect>
                                    <p:animScale>
                                      <p:cBhvr>
                                        <p:cTn id="23" dur="320" decel="70000" fill="hold"/>
                                        <p:tgtEl>
                                          <p:spTgt spid="7"/>
                                        </p:tgtEl>
                                      </p:cBhvr>
                                      <p:from x="88000" y="88000"/>
                                      <p:to x="100000" y="100000"/>
                                    </p:animScale>
                                  </p:childTnLst>
                                </p:cTn>
                              </p:par>
                              <p:par>
                                <p:cTn id="24" presetID="22" presetClass="entr" presetSubtype="1" fill="hold" grpId="0" nodeType="withEffect">
                                  <p:stCondLst>
                                    <p:cond delay="220"/>
                                  </p:stCondLst>
                                  <p:childTnLst>
                                    <p:set>
                                      <p:cBhvr>
                                        <p:cTn id="25" dur="1" fill="hold">
                                          <p:stCondLst>
                                            <p:cond delay="0"/>
                                          </p:stCondLst>
                                        </p:cTn>
                                        <p:tgtEl>
                                          <p:spTgt spid="10"/>
                                        </p:tgtEl>
                                        <p:attrNameLst>
                                          <p:attrName>style.visibility</p:attrName>
                                        </p:attrNameLst>
                                      </p:cBhvr>
                                      <p:to>
                                        <p:strVal val="visible"/>
                                      </p:to>
                                    </p:set>
                                    <p:animEffect transition="in" filter="wipe(down)">
                                      <p:cBhvr>
                                        <p:cTn id="26" dur="340"/>
                                        <p:tgtEl>
                                          <p:spTgt spid="10"/>
                                        </p:tgtEl>
                                      </p:cBhvr>
                                    </p:animEffect>
                                  </p:childTnLst>
                                </p:cTn>
                              </p:par>
                              <p:par>
                                <p:cTn id="27" presetID="23" presetClass="entr" presetSubtype="0" fill="hold" grpId="0" nodeType="withEffect">
                                  <p:stCondLst>
                                    <p:cond delay="275"/>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320" decel="70000"/>
                                        <p:tgtEl>
                                          <p:spTgt spid="11"/>
                                        </p:tgtEl>
                                      </p:cBhvr>
                                    </p:animEffect>
                                    <p:animScale>
                                      <p:cBhvr>
                                        <p:cTn id="30" dur="320" decel="70000" fill="hold"/>
                                        <p:tgtEl>
                                          <p:spTgt spid="11"/>
                                        </p:tgtEl>
                                      </p:cBhvr>
                                      <p:from x="88000" y="88000"/>
                                      <p:to x="100000" y="100000"/>
                                    </p:animScale>
                                  </p:childTnLst>
                                </p:cTn>
                              </p:par>
                              <p:par>
                                <p:cTn id="31" presetID="22" presetClass="entr" presetSubtype="1" fill="hold" grpId="0" nodeType="withEffect">
                                  <p:stCondLst>
                                    <p:cond delay="330"/>
                                  </p:stCondLst>
                                  <p:childTnLst>
                                    <p:set>
                                      <p:cBhvr>
                                        <p:cTn id="32" dur="1" fill="hold">
                                          <p:stCondLst>
                                            <p:cond delay="0"/>
                                          </p:stCondLst>
                                        </p:cTn>
                                        <p:tgtEl>
                                          <p:spTgt spid="14"/>
                                        </p:tgtEl>
                                        <p:attrNameLst>
                                          <p:attrName>style.visibility</p:attrName>
                                        </p:attrNameLst>
                                      </p:cBhvr>
                                      <p:to>
                                        <p:strVal val="visible"/>
                                      </p:to>
                                    </p:set>
                                    <p:animEffect transition="in" filter="wipe(down)">
                                      <p:cBhvr>
                                        <p:cTn id="33" dur="340"/>
                                        <p:tgtEl>
                                          <p:spTgt spid="14"/>
                                        </p:tgtEl>
                                      </p:cBhvr>
                                    </p:animEffect>
                                  </p:childTnLst>
                                </p:cTn>
                              </p:par>
                              <p:par>
                                <p:cTn id="34" presetID="23" presetClass="entr" presetSubtype="0" fill="hold" grpId="0" nodeType="withEffect">
                                  <p:stCondLst>
                                    <p:cond delay="385"/>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320" decel="70000"/>
                                        <p:tgtEl>
                                          <p:spTgt spid="15"/>
                                        </p:tgtEl>
                                      </p:cBhvr>
                                    </p:animEffect>
                                    <p:animScale>
                                      <p:cBhvr>
                                        <p:cTn id="37" dur="320" decel="70000" fill="hold"/>
                                        <p:tgtEl>
                                          <p:spTgt spid="15"/>
                                        </p:tgtEl>
                                      </p:cBhvr>
                                      <p:from x="88000" y="88000"/>
                                      <p:to x="100000" y="100000"/>
                                    </p:animScale>
                                  </p:childTnLst>
                                </p:cTn>
                              </p:par>
                              <p:par>
                                <p:cTn id="38" presetID="22" presetClass="entr" presetSubtype="1" fill="hold" grpId="0" nodeType="withEffect">
                                  <p:stCondLst>
                                    <p:cond delay="440"/>
                                  </p:stCondLst>
                                  <p:childTnLst>
                                    <p:set>
                                      <p:cBhvr>
                                        <p:cTn id="39" dur="1" fill="hold">
                                          <p:stCondLst>
                                            <p:cond delay="0"/>
                                          </p:stCondLst>
                                        </p:cTn>
                                        <p:tgtEl>
                                          <p:spTgt spid="18"/>
                                        </p:tgtEl>
                                        <p:attrNameLst>
                                          <p:attrName>style.visibility</p:attrName>
                                        </p:attrNameLst>
                                      </p:cBhvr>
                                      <p:to>
                                        <p:strVal val="visible"/>
                                      </p:to>
                                    </p:set>
                                    <p:animEffect transition="in" filter="wipe(down)">
                                      <p:cBhvr>
                                        <p:cTn id="40" dur="340"/>
                                        <p:tgtEl>
                                          <p:spTgt spid="18"/>
                                        </p:tgtEl>
                                      </p:cBhvr>
                                    </p:animEffect>
                                  </p:childTnLst>
                                </p:cTn>
                              </p:par>
                              <p:par>
                                <p:cTn id="41" presetID="23" presetClass="entr" presetSubtype="0" fill="hold" grpId="0" nodeType="withEffect">
                                  <p:stCondLst>
                                    <p:cond delay="495"/>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320" decel="70000"/>
                                        <p:tgtEl>
                                          <p:spTgt spid="19"/>
                                        </p:tgtEl>
                                      </p:cBhvr>
                                    </p:animEffect>
                                    <p:animScale>
                                      <p:cBhvr>
                                        <p:cTn id="44" dur="320" decel="70000" fill="hold"/>
                                        <p:tgtEl>
                                          <p:spTgt spid="19"/>
                                        </p:tgtEl>
                                      </p:cBhvr>
                                      <p:from x="88000" y="88000"/>
                                      <p:to x="100000" y="100000"/>
                                    </p:animScale>
                                  </p:childTnLst>
                                </p:cTn>
                              </p:par>
                              <p:par>
                                <p:cTn id="45" presetID="10" presetClass="entr" presetSubtype="0" fill="hold" grpId="0" nodeType="withEffect">
                                  <p:stCondLst>
                                    <p:cond delay="550"/>
                                  </p:stCondLst>
                                  <p:childTnLst>
                                    <p:set>
                                      <p:cBhvr>
                                        <p:cTn id="46" dur="1" fill="hold">
                                          <p:stCondLst>
                                            <p:cond delay="0"/>
                                          </p:stCondLst>
                                        </p:cTn>
                                        <p:tgtEl>
                                          <p:spTgt spid="8"/>
                                        </p:tgtEl>
                                        <p:attrNameLst>
                                          <p:attrName>style.visibility</p:attrName>
                                        </p:attrNameLst>
                                      </p:cBhvr>
                                      <p:to>
                                        <p:strVal val="visible"/>
                                      </p:to>
                                    </p:set>
                                    <p:animEffect transition="in" filter="fade">
                                      <p:cBhvr>
                                        <p:cTn id="47" dur="280" decel="70000"/>
                                        <p:tgtEl>
                                          <p:spTgt spid="8"/>
                                        </p:tgtEl>
                                      </p:cBhvr>
                                    </p:animEffect>
                                    <p:anim calcmode="lin" valueType="num">
                                      <p:cBhvr additive="base">
                                        <p:cTn id="48" dur="280" decel="70000" fill="hold"/>
                                        <p:tgtEl>
                                          <p:spTgt spid="8"/>
                                        </p:tgtEl>
                                        <p:attrNameLst>
                                          <p:attrName>ppt_y</p:attrName>
                                        </p:attrNameLst>
                                      </p:cBhvr>
                                      <p:tavLst>
                                        <p:tav tm="0">
                                          <p:val>
                                            <p:strVal val="#ppt_y+0.018"/>
                                          </p:val>
                                        </p:tav>
                                        <p:tav tm="100000">
                                          <p:val>
                                            <p:strVal val="#ppt_y"/>
                                          </p:val>
                                        </p:tav>
                                      </p:tavLst>
                                    </p:anim>
                                  </p:childTnLst>
                                </p:cTn>
                              </p:par>
                              <p:par>
                                <p:cTn id="49" presetID="10" presetClass="entr" presetSubtype="0" fill="hold" grpId="0" nodeType="withEffect">
                                  <p:stCondLst>
                                    <p:cond delay="605"/>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280" decel="70000"/>
                                        <p:tgtEl>
                                          <p:spTgt spid="12"/>
                                        </p:tgtEl>
                                      </p:cBhvr>
                                    </p:animEffect>
                                    <p:anim calcmode="lin" valueType="num">
                                      <p:cBhvr additive="base">
                                        <p:cTn id="52" dur="280" decel="70000" fill="hold"/>
                                        <p:tgtEl>
                                          <p:spTgt spid="12"/>
                                        </p:tgtEl>
                                        <p:attrNameLst>
                                          <p:attrName>ppt_y</p:attrName>
                                        </p:attrNameLst>
                                      </p:cBhvr>
                                      <p:tavLst>
                                        <p:tav tm="0">
                                          <p:val>
                                            <p:strVal val="#ppt_y+0.018"/>
                                          </p:val>
                                        </p:tav>
                                        <p:tav tm="100000">
                                          <p:val>
                                            <p:strVal val="#ppt_y"/>
                                          </p:val>
                                        </p:tav>
                                      </p:tavLst>
                                    </p:anim>
                                  </p:childTnLst>
                                </p:cTn>
                              </p:par>
                              <p:par>
                                <p:cTn id="53" presetID="10" presetClass="entr" presetSubtype="0" fill="hold" grpId="0" nodeType="withEffect">
                                  <p:stCondLst>
                                    <p:cond delay="66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280" decel="70000"/>
                                        <p:tgtEl>
                                          <p:spTgt spid="16"/>
                                        </p:tgtEl>
                                      </p:cBhvr>
                                    </p:animEffect>
                                    <p:anim calcmode="lin" valueType="num">
                                      <p:cBhvr additive="base">
                                        <p:cTn id="56" dur="280" decel="70000" fill="hold"/>
                                        <p:tgtEl>
                                          <p:spTgt spid="16"/>
                                        </p:tgtEl>
                                        <p:attrNameLst>
                                          <p:attrName>ppt_y</p:attrName>
                                        </p:attrNameLst>
                                      </p:cBhvr>
                                      <p:tavLst>
                                        <p:tav tm="0">
                                          <p:val>
                                            <p:strVal val="#ppt_y+0.018"/>
                                          </p:val>
                                        </p:tav>
                                        <p:tav tm="100000">
                                          <p:val>
                                            <p:strVal val="#ppt_y"/>
                                          </p:val>
                                        </p:tav>
                                      </p:tavLst>
                                    </p:anim>
                                  </p:childTnLst>
                                </p:cTn>
                              </p:par>
                              <p:par>
                                <p:cTn id="57" presetID="10" presetClass="entr" presetSubtype="0" fill="hold" grpId="0" nodeType="withEffect">
                                  <p:stCondLst>
                                    <p:cond delay="715"/>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280" decel="70000"/>
                                        <p:tgtEl>
                                          <p:spTgt spid="20"/>
                                        </p:tgtEl>
                                      </p:cBhvr>
                                    </p:animEffect>
                                    <p:anim calcmode="lin" valueType="num">
                                      <p:cBhvr additive="base">
                                        <p:cTn id="60" dur="280" decel="70000" fill="hold"/>
                                        <p:tgtEl>
                                          <p:spTgt spid="20"/>
                                        </p:tgtEl>
                                        <p:attrNameLst>
                                          <p:attrName>ppt_y</p:attrName>
                                        </p:attrNameLst>
                                      </p:cBhvr>
                                      <p:tavLst>
                                        <p:tav tm="0">
                                          <p:val>
                                            <p:strVal val="#ppt_y+0.018"/>
                                          </p:val>
                                        </p:tav>
                                        <p:tav tm="100000">
                                          <p:val>
                                            <p:strVal val="#ppt_y"/>
                                          </p:val>
                                        </p:tav>
                                      </p:tavLst>
                                    </p:anim>
                                  </p:childTnLst>
                                </p:cTn>
                              </p:par>
                              <p:par>
                                <p:cTn id="61" presetID="10" presetClass="entr" presetSubtype="0" fill="hold" grpId="0" nodeType="withEffect">
                                  <p:stCondLst>
                                    <p:cond delay="770"/>
                                  </p:stCondLst>
                                  <p:childTnLst>
                                    <p:set>
                                      <p:cBhvr>
                                        <p:cTn id="62" dur="1" fill="hold">
                                          <p:stCondLst>
                                            <p:cond delay="0"/>
                                          </p:stCondLst>
                                        </p:cTn>
                                        <p:tgtEl>
                                          <p:spTgt spid="9"/>
                                        </p:tgtEl>
                                        <p:attrNameLst>
                                          <p:attrName>style.visibility</p:attrName>
                                        </p:attrNameLst>
                                      </p:cBhvr>
                                      <p:to>
                                        <p:strVal val="visible"/>
                                      </p:to>
                                    </p:set>
                                    <p:animEffect transition="in" filter="fade">
                                      <p:cBhvr>
                                        <p:cTn id="63" dur="280" decel="70000"/>
                                        <p:tgtEl>
                                          <p:spTgt spid="9"/>
                                        </p:tgtEl>
                                      </p:cBhvr>
                                    </p:animEffect>
                                  </p:childTnLst>
                                </p:cTn>
                              </p:par>
                              <p:par>
                                <p:cTn id="64" presetID="10" presetClass="entr" presetSubtype="0" fill="hold" grpId="0" nodeType="withEffect">
                                  <p:stCondLst>
                                    <p:cond delay="825"/>
                                  </p:stCondLst>
                                  <p:childTnLst>
                                    <p:set>
                                      <p:cBhvr>
                                        <p:cTn id="65" dur="1" fill="hold">
                                          <p:stCondLst>
                                            <p:cond delay="0"/>
                                          </p:stCondLst>
                                        </p:cTn>
                                        <p:tgtEl>
                                          <p:spTgt spid="13"/>
                                        </p:tgtEl>
                                        <p:attrNameLst>
                                          <p:attrName>style.visibility</p:attrName>
                                        </p:attrNameLst>
                                      </p:cBhvr>
                                      <p:to>
                                        <p:strVal val="visible"/>
                                      </p:to>
                                    </p:set>
                                    <p:animEffect transition="in" filter="fade">
                                      <p:cBhvr>
                                        <p:cTn id="66" dur="280" decel="70000"/>
                                        <p:tgtEl>
                                          <p:spTgt spid="13"/>
                                        </p:tgtEl>
                                      </p:cBhvr>
                                    </p:animEffect>
                                  </p:childTnLst>
                                </p:cTn>
                              </p:par>
                              <p:par>
                                <p:cTn id="67" presetID="10" presetClass="entr" presetSubtype="0" fill="hold" grpId="0" nodeType="withEffect">
                                  <p:stCondLst>
                                    <p:cond delay="880"/>
                                  </p:stCondLst>
                                  <p:childTnLst>
                                    <p:set>
                                      <p:cBhvr>
                                        <p:cTn id="68" dur="1" fill="hold">
                                          <p:stCondLst>
                                            <p:cond delay="0"/>
                                          </p:stCondLst>
                                        </p:cTn>
                                        <p:tgtEl>
                                          <p:spTgt spid="17"/>
                                        </p:tgtEl>
                                        <p:attrNameLst>
                                          <p:attrName>style.visibility</p:attrName>
                                        </p:attrNameLst>
                                      </p:cBhvr>
                                      <p:to>
                                        <p:strVal val="visible"/>
                                      </p:to>
                                    </p:set>
                                    <p:animEffect transition="in" filter="fade">
                                      <p:cBhvr>
                                        <p:cTn id="69" dur="280" decel="70000"/>
                                        <p:tgtEl>
                                          <p:spTgt spid="17"/>
                                        </p:tgtEl>
                                      </p:cBhvr>
                                    </p:animEffect>
                                  </p:childTnLst>
                                </p:cTn>
                              </p:par>
                              <p:par>
                                <p:cTn id="70" presetID="10" presetClass="entr" presetSubtype="0" fill="hold" grpId="0" nodeType="withEffect">
                                  <p:stCondLst>
                                    <p:cond delay="935"/>
                                  </p:stCondLst>
                                  <p:childTnLst>
                                    <p:set>
                                      <p:cBhvr>
                                        <p:cTn id="71" dur="1" fill="hold">
                                          <p:stCondLst>
                                            <p:cond delay="0"/>
                                          </p:stCondLst>
                                        </p:cTn>
                                        <p:tgtEl>
                                          <p:spTgt spid="21"/>
                                        </p:tgtEl>
                                        <p:attrNameLst>
                                          <p:attrName>style.visibility</p:attrName>
                                        </p:attrNameLst>
                                      </p:cBhvr>
                                      <p:to>
                                        <p:strVal val="visible"/>
                                      </p:to>
                                    </p:set>
                                    <p:animEffect transition="in" filter="fade">
                                      <p:cBhvr>
                                        <p:cTn id="72" dur="280" decel="70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role:logo" descr="Momentum Digital logo">    </p:cNvPr>
          <p:cNvPicPr>
            <a:picLocks noChangeAspect="1"/>
          </p:cNvPicPr>
          <p:nvPr/>
        </p:nvPicPr>
        <p:blipFill>
          <a:blip r:embed="rId1"/>
          <a:stretch>
            <a:fillRect/>
          </a:stretch>
        </p:blipFill>
        <p:spPr>
          <a:xfrm>
            <a:off x="10106863" y="658368"/>
            <a:ext cx="1371600" cy="294904"/>
          </a:xfrm>
          <a:prstGeom prst="rect">
            <a:avLst/>
          </a:prstGeom>
        </p:spPr>
      </p:pic>
      <p:sp>
        <p:nvSpPr>
          <p:cNvPr id="3" name="role:kicker"/>
          <p:cNvSpPr txBox="1"/>
          <p:nvPr/>
        </p:nvSpPr>
        <p:spPr>
          <a:xfrm>
            <a:off x="713232" y="658368"/>
            <a:ext cx="8753551" cy="201168"/>
          </a:xfrm>
          <a:prstGeom prst="rect">
            <a:avLst/>
          </a:prstGeom>
          <a:noFill/>
          <a:ln/>
        </p:spPr>
        <p:txBody>
          <a:bodyPr wrap="square" lIns="0" tIns="0" rIns="0" bIns="0" rtlCol="0" anchor="t"/>
          <a:lstStyle/>
          <a:p>
            <a:pPr algn="l" indent="0" marL="0">
              <a:buNone/>
            </a:pPr>
            <a:r>
              <a:rPr lang="en-US" sz="1050" b="1" spc="240" kern="0" dirty="0">
                <a:solidFill>
                  <a:srgbClr val="17557F"/>
                </a:solidFill>
                <a:latin typeface="Arial" pitchFamily="34" charset="0"/>
                <a:ea typeface="Arial" pitchFamily="34" charset="-122"/>
                <a:cs typeface="Arial" pitchFamily="34" charset="-120"/>
              </a:rPr>
              <a:t>EDITABLE HANDOFF</a:t>
            </a:r>
            <a:endParaRPr lang="en-US" sz="1050" dirty="0"/>
          </a:p>
        </p:txBody>
      </p:sp>
      <p:sp>
        <p:nvSpPr>
          <p:cNvPr id="4" name="role:title"/>
          <p:cNvSpPr txBox="1"/>
          <p:nvPr/>
        </p:nvSpPr>
        <p:spPr>
          <a:xfrm>
            <a:off x="713232" y="987552"/>
            <a:ext cx="8570671" cy="569214"/>
          </a:xfrm>
          <a:prstGeom prst="rect">
            <a:avLst/>
          </a:prstGeom>
          <a:noFill/>
          <a:ln/>
        </p:spPr>
        <p:txBody>
          <a:bodyPr wrap="square" lIns="0" tIns="0" rIns="0" bIns="0" rtlCol="0" anchor="t"/>
          <a:lstStyle/>
          <a:p>
            <a:pPr algn="l" indent="0" marL="0">
              <a:lnSpc>
                <a:spcPct val="102000"/>
              </a:lnSpc>
              <a:buNone/>
            </a:pPr>
            <a:r>
              <a:rPr lang="en-US" sz="3900" b="1" dirty="0">
                <a:solidFill>
                  <a:srgbClr val="0F151B"/>
                </a:solidFill>
                <a:latin typeface="Arial" pitchFamily="34" charset="0"/>
                <a:ea typeface="Arial" pitchFamily="34" charset="-122"/>
                <a:cs typeface="Arial" pitchFamily="34" charset="-120"/>
              </a:rPr>
              <a:t>A file you can keep editing.</a:t>
            </a:r>
            <a:endParaRPr lang="en-US" sz="3900" dirty="0"/>
          </a:p>
        </p:txBody>
      </p:sp>
      <p:sp>
        <p:nvSpPr>
          <p:cNvPr id="5" name="role:sub"/>
          <p:cNvSpPr txBox="1"/>
          <p:nvPr/>
        </p:nvSpPr>
        <p:spPr>
          <a:xfrm>
            <a:off x="713232" y="1703070"/>
            <a:ext cx="8046720" cy="356616"/>
          </a:xfrm>
          <a:prstGeom prst="rect">
            <a:avLst/>
          </a:prstGeom>
          <a:noFill/>
          <a:ln/>
        </p:spPr>
        <p:txBody>
          <a:bodyPr wrap="square" lIns="0" tIns="0" rIns="0" bIns="0" rtlCol="0" anchor="t"/>
          <a:lstStyle/>
          <a:p>
            <a:pPr algn="l" indent="0" marL="0">
              <a:lnSpc>
                <a:spcPct val="128000"/>
              </a:lnSpc>
              <a:buNone/>
            </a:pPr>
            <a:r>
              <a:rPr lang="en-US" sz="1800" dirty="0">
                <a:solidFill>
                  <a:srgbClr val="5A6772"/>
                </a:solidFill>
                <a:latin typeface="Arial" pitchFamily="34" charset="0"/>
                <a:ea typeface="Arial" pitchFamily="34" charset="-122"/>
                <a:cs typeface="Arial" pitchFamily="34" charset="-120"/>
              </a:rPr>
              <a:t>The presentation remains a PowerPoint document.</a:t>
            </a:r>
            <a:endParaRPr lang="en-US" sz="1800" dirty="0"/>
          </a:p>
        </p:txBody>
      </p:sp>
      <p:sp>
        <p:nvSpPr>
          <p:cNvPr id="6" name="role:static"/>
          <p:cNvSpPr txBox="1"/>
          <p:nvPr/>
        </p:nvSpPr>
        <p:spPr>
          <a:xfrm>
            <a:off x="10929823" y="6437376"/>
            <a:ext cx="548640" cy="219456"/>
          </a:xfrm>
          <a:prstGeom prst="rect">
            <a:avLst/>
          </a:prstGeom>
          <a:noFill/>
          <a:ln/>
        </p:spPr>
        <p:txBody>
          <a:bodyPr wrap="square" lIns="0" tIns="0" rIns="0" bIns="0" rtlCol="0" anchor="t"/>
          <a:lstStyle/>
          <a:p>
            <a:pPr algn="r" indent="0" marL="0">
              <a:buNone/>
            </a:pPr>
            <a:r>
              <a:rPr lang="en-US" sz="1050" b="1" spc="100" kern="0" dirty="0">
                <a:solidFill>
                  <a:srgbClr val="5A6772"/>
                </a:solidFill>
                <a:latin typeface="Arial" pitchFamily="34" charset="0"/>
                <a:ea typeface="Arial" pitchFamily="34" charset="-122"/>
                <a:cs typeface="Arial" pitchFamily="34" charset="-120"/>
              </a:rPr>
              <a:t>05</a:t>
            </a:r>
            <a:endParaRPr lang="en-US" sz="1050" dirty="0"/>
          </a:p>
        </p:txBody>
      </p:sp>
      <p:sp>
        <p:nvSpPr>
          <p:cNvPr id="7" name="role:foot"/>
          <p:cNvSpPr txBox="1"/>
          <p:nvPr/>
        </p:nvSpPr>
        <p:spPr>
          <a:xfrm>
            <a:off x="713232" y="6400800"/>
            <a:ext cx="9942271" cy="237744"/>
          </a:xfrm>
          <a:prstGeom prst="rect">
            <a:avLst/>
          </a:prstGeom>
          <a:noFill/>
          <a:ln/>
        </p:spPr>
        <p:txBody>
          <a:bodyPr wrap="square" lIns="0" tIns="0" rIns="0" bIns="0" rtlCol="0" anchor="t"/>
          <a:lstStyle/>
          <a:p>
            <a:pPr algn="l" indent="0" marL="0">
              <a:buNone/>
            </a:pPr>
            <a:r>
              <a:rPr lang="en-US" sz="950" i="1" dirty="0">
                <a:solidFill>
                  <a:srgbClr val="5A6772"/>
                </a:solidFill>
                <a:latin typeface="Arial" pitchFamily="34" charset="0"/>
                <a:ea typeface="Arial" pitchFamily="34" charset="-122"/>
                <a:cs typeface="Arial" pitchFamily="34" charset="-120"/>
              </a:rPr>
              <a:t>Internal system specimen | Momentum Digital / Need Momentum | 04 Sep 2026</a:t>
            </a:r>
            <a:endParaRPr lang="en-US" sz="9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13232" y="2571750"/>
          <a:ext cx="10765231" cy="914400"/>
        </p:xfrm>
        <a:graphic>
          <a:graphicData uri="http://schemas.openxmlformats.org/drawingml/2006/table">
            <a:tbl>
              <a:tblPr/>
              <a:tblGrid>
                <a:gridCol w="2834640"/>
                <a:gridCol w="3474720"/>
                <a:gridCol w="4455871"/>
              </a:tblGrid>
              <a:tr h="484632">
                <a:tc>
                  <a:txBody>
                    <a:bodyPr/>
                    <a:lstStyle/>
                    <a:p>
                      <a:pPr algn="l" indent="0" marL="0">
                        <a:buNone/>
                      </a:pPr>
                      <a:r>
                        <a:rPr lang="en-US" sz="1250" b="1" dirty="0">
                          <a:solidFill>
                            <a:srgbClr val="FFFFFF"/>
                          </a:solidFill>
                          <a:latin typeface="Arial" pitchFamily="34" charset="0"/>
                          <a:ea typeface="Arial" pitchFamily="34" charset="-122"/>
                          <a:cs typeface="Arial" pitchFamily="34" charset="-120"/>
                        </a:rPr>
                        <a:t>Element</a:t>
                      </a:r>
                      <a:endParaRPr lang="en-US" sz="12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0A1825"/>
                    </a:solidFill>
                  </a:tcPr>
                </a:tc>
                <a:tc>
                  <a:txBody>
                    <a:bodyPr/>
                    <a:lstStyle/>
                    <a:p>
                      <a:pPr algn="l" indent="0" marL="0">
                        <a:buNone/>
                      </a:pPr>
                      <a:r>
                        <a:rPr lang="en-US" sz="1250" b="1" dirty="0">
                          <a:solidFill>
                            <a:srgbClr val="FFFFFF"/>
                          </a:solidFill>
                          <a:latin typeface="Arial" pitchFamily="34" charset="0"/>
                          <a:ea typeface="Arial" pitchFamily="34" charset="-122"/>
                          <a:cs typeface="Arial" pitchFamily="34" charset="-120"/>
                        </a:rPr>
                        <a:t>Stored as</a:t>
                      </a:r>
                      <a:endParaRPr lang="en-US" sz="12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0A1825"/>
                    </a:solidFill>
                  </a:tcPr>
                </a:tc>
                <a:tc>
                  <a:txBody>
                    <a:bodyPr/>
                    <a:lstStyle/>
                    <a:p>
                      <a:pPr algn="l" indent="0" marL="0">
                        <a:buNone/>
                      </a:pPr>
                      <a:r>
                        <a:rPr lang="en-US" sz="1250" b="1" dirty="0">
                          <a:solidFill>
                            <a:srgbClr val="FFFFFF"/>
                          </a:solidFill>
                          <a:latin typeface="Arial" pitchFamily="34" charset="0"/>
                          <a:ea typeface="Arial" pitchFamily="34" charset="-122"/>
                          <a:cs typeface="Arial" pitchFamily="34" charset="-120"/>
                        </a:rPr>
                        <a:t>Presenter can edit</a:t>
                      </a:r>
                      <a:endParaRPr lang="en-US" sz="12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0A1825"/>
                    </a:solidFill>
                  </a:tcPr>
                </a:tc>
              </a:tr>
              <a:tr h="484632">
                <a:tc>
                  <a:txBody>
                    <a:bodyPr/>
                    <a:lstStyle/>
                    <a:p>
                      <a:pPr algn="l" indent="0" marL="0">
                        <a:buNone/>
                      </a:pPr>
                      <a:r>
                        <a:rPr lang="en-US" sz="1250" dirty="0">
                          <a:solidFill>
                            <a:srgbClr val="0F151B"/>
                          </a:solidFill>
                          <a:latin typeface="Arial" pitchFamily="34" charset="0"/>
                          <a:ea typeface="Arial" pitchFamily="34" charset="-122"/>
                          <a:cs typeface="Arial" pitchFamily="34" charset="-120"/>
                        </a:rPr>
                        <a:t>Headlines and copy</a:t>
                      </a:r>
                      <a:endParaRPr lang="en-US" sz="12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51B"/>
                          </a:solidFill>
                          <a:latin typeface="Arial" pitchFamily="34" charset="0"/>
                          <a:ea typeface="Arial" pitchFamily="34" charset="-122"/>
                          <a:cs typeface="Arial" pitchFamily="34" charset="-120"/>
                        </a:rPr>
                        <a:t>Native text shapes</a:t>
                      </a:r>
                      <a:endParaRPr lang="en-US" sz="12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51B"/>
                          </a:solidFill>
                          <a:latin typeface="Arial" pitchFamily="34" charset="0"/>
                          <a:ea typeface="Arial" pitchFamily="34" charset="-122"/>
                          <a:cs typeface="Arial" pitchFamily="34" charset="-120"/>
                        </a:rPr>
                        <a:t>Wording, weight and placement</a:t>
                      </a:r>
                      <a:endParaRPr lang="en-US" sz="12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r>
              <a:tr h="484632">
                <a:tc>
                  <a:txBody>
                    <a:bodyPr/>
                    <a:lstStyle/>
                    <a:p>
                      <a:pPr algn="l" indent="0" marL="0">
                        <a:buNone/>
                      </a:pPr>
                      <a:r>
                        <a:rPr lang="en-US" sz="1250" dirty="0">
                          <a:solidFill>
                            <a:srgbClr val="0F151B"/>
                          </a:solidFill>
                          <a:latin typeface="Arial" pitchFamily="34" charset="0"/>
                          <a:ea typeface="Arial" pitchFamily="34" charset="-122"/>
                          <a:cs typeface="Arial" pitchFamily="34" charset="-120"/>
                        </a:rPr>
                        <a:t>Process and figures</a:t>
                      </a:r>
                      <a:endParaRPr lang="en-US" sz="12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1F6FA"/>
                    </a:solidFill>
                  </a:tcPr>
                </a:tc>
                <a:tc>
                  <a:txBody>
                    <a:bodyPr/>
                    <a:lstStyle/>
                    <a:p>
                      <a:pPr algn="l" indent="0" marL="0">
                        <a:buNone/>
                      </a:pPr>
                      <a:r>
                        <a:rPr lang="en-US" sz="1250" dirty="0">
                          <a:solidFill>
                            <a:srgbClr val="0F151B"/>
                          </a:solidFill>
                          <a:latin typeface="Arial" pitchFamily="34" charset="0"/>
                          <a:ea typeface="Arial" pitchFamily="34" charset="-122"/>
                          <a:cs typeface="Arial" pitchFamily="34" charset="-120"/>
                        </a:rPr>
                        <a:t>Native shapes and text</a:t>
                      </a:r>
                      <a:endParaRPr lang="en-US" sz="12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1F6FA"/>
                    </a:solidFill>
                  </a:tcPr>
                </a:tc>
                <a:tc>
                  <a:txBody>
                    <a:bodyPr/>
                    <a:lstStyle/>
                    <a:p>
                      <a:pPr algn="l" indent="0" marL="0">
                        <a:buNone/>
                      </a:pPr>
                      <a:r>
                        <a:rPr lang="en-US" sz="1250" dirty="0">
                          <a:solidFill>
                            <a:srgbClr val="0F151B"/>
                          </a:solidFill>
                          <a:latin typeface="Arial" pitchFamily="34" charset="0"/>
                          <a:ea typeface="Arial" pitchFamily="34" charset="-122"/>
                          <a:cs typeface="Arial" pitchFamily="34" charset="-120"/>
                        </a:rPr>
                        <a:t>Order, labels and values</a:t>
                      </a:r>
                      <a:endParaRPr lang="en-US" sz="12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1F6FA"/>
                    </a:solidFill>
                  </a:tcPr>
                </a:tc>
              </a:tr>
              <a:tr h="484632">
                <a:tc>
                  <a:txBody>
                    <a:bodyPr/>
                    <a:lstStyle/>
                    <a:p>
                      <a:pPr algn="l" indent="0" marL="0">
                        <a:buNone/>
                      </a:pPr>
                      <a:r>
                        <a:rPr lang="en-US" sz="1250" dirty="0">
                          <a:solidFill>
                            <a:srgbClr val="0F151B"/>
                          </a:solidFill>
                          <a:latin typeface="Arial" pitchFamily="34" charset="0"/>
                          <a:ea typeface="Arial" pitchFamily="34" charset="-122"/>
                          <a:cs typeface="Arial" pitchFamily="34" charset="-120"/>
                        </a:rPr>
                        <a:t>This comparison</a:t>
                      </a:r>
                      <a:endParaRPr lang="en-US" sz="12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51B"/>
                          </a:solidFill>
                          <a:latin typeface="Arial" pitchFamily="34" charset="0"/>
                          <a:ea typeface="Arial" pitchFamily="34" charset="-122"/>
                          <a:cs typeface="Arial" pitchFamily="34" charset="-120"/>
                        </a:rPr>
                        <a:t>Native PowerPoint table</a:t>
                      </a:r>
                      <a:endParaRPr lang="en-US" sz="12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51B"/>
                          </a:solidFill>
                          <a:latin typeface="Arial" pitchFamily="34" charset="0"/>
                          <a:ea typeface="Arial" pitchFamily="34" charset="-122"/>
                          <a:cs typeface="Arial" pitchFamily="34" charset="-120"/>
                        </a:rPr>
                        <a:t>Rows, columns and cell copy</a:t>
                      </a:r>
                      <a:endParaRPr lang="en-US" sz="12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r>
              <a:tr h="484632">
                <a:tc>
                  <a:txBody>
                    <a:bodyPr/>
                    <a:lstStyle/>
                    <a:p>
                      <a:pPr algn="l" indent="0" marL="0">
                        <a:buNone/>
                      </a:pPr>
                      <a:r>
                        <a:rPr lang="en-US" sz="1250" dirty="0">
                          <a:solidFill>
                            <a:srgbClr val="0F151B"/>
                          </a:solidFill>
                          <a:latin typeface="Arial" pitchFamily="34" charset="0"/>
                          <a:ea typeface="Arial" pitchFamily="34" charset="-122"/>
                          <a:cs typeface="Arial" pitchFamily="34" charset="-120"/>
                        </a:rPr>
                        <a:t>Motion</a:t>
                      </a:r>
                      <a:endParaRPr lang="en-US" sz="12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1F6FA"/>
                    </a:solidFill>
                  </a:tcPr>
                </a:tc>
                <a:tc>
                  <a:txBody>
                    <a:bodyPr/>
                    <a:lstStyle/>
                    <a:p>
                      <a:pPr algn="l" indent="0" marL="0">
                        <a:buNone/>
                      </a:pPr>
                      <a:r>
                        <a:rPr lang="en-US" sz="1250" dirty="0">
                          <a:solidFill>
                            <a:srgbClr val="0F151B"/>
                          </a:solidFill>
                          <a:latin typeface="Arial" pitchFamily="34" charset="0"/>
                          <a:ea typeface="Arial" pitchFamily="34" charset="-122"/>
                          <a:cs typeface="Arial" pitchFamily="34" charset="-120"/>
                        </a:rPr>
                        <a:t>Native slide timing</a:t>
                      </a:r>
                      <a:endParaRPr lang="en-US" sz="12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1F6FA"/>
                    </a:solidFill>
                  </a:tcPr>
                </a:tc>
                <a:tc>
                  <a:txBody>
                    <a:bodyPr/>
                    <a:lstStyle/>
                    <a:p>
                      <a:pPr algn="l" indent="0" marL="0">
                        <a:buNone/>
                      </a:pPr>
                      <a:r>
                        <a:rPr lang="en-US" sz="1250" dirty="0">
                          <a:solidFill>
                            <a:srgbClr val="0F151B"/>
                          </a:solidFill>
                          <a:latin typeface="Arial" pitchFamily="34" charset="0"/>
                          <a:ea typeface="Arial" pitchFamily="34" charset="-122"/>
                          <a:cs typeface="Arial" pitchFamily="34" charset="-120"/>
                        </a:rPr>
                        <a:t>Effects in the Animation Pane</a:t>
                      </a:r>
                      <a:endParaRPr lang="en-US" sz="12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1F6FA"/>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20" decel="700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80" decel="70000"/>
                                        <p:tgtEl>
                                          <p:spTgt spid="3"/>
                                        </p:tgtEl>
                                      </p:cBhvr>
                                    </p:animEffect>
                                    <p:anim calcmode="lin" valueType="num">
                                      <p:cBhvr additive="base">
                                        <p:cTn id="11" dur="280" decel="70000" fill="hold"/>
                                        <p:tgtEl>
                                          <p:spTgt spid="3"/>
                                        </p:tgtEl>
                                        <p:attrNameLst>
                                          <p:attrName>ppt_y</p:attrName>
                                        </p:attrNameLst>
                                      </p:cBhvr>
                                      <p:tavLst>
                                        <p:tav tm="0">
                                          <p:val>
                                            <p:strVal val="#ppt_y+0.02"/>
                                          </p:val>
                                        </p:tav>
                                        <p:tav tm="100000">
                                          <p:val>
                                            <p:strVal val="#ppt_y"/>
                                          </p:val>
                                        </p:tav>
                                      </p:tavLst>
                                    </p:anim>
                                  </p:childTnLst>
                                </p:cTn>
                              </p:par>
                              <p:par>
                                <p:cTn id="12" presetID="10" presetClass="entr" presetSubtype="0" fill="hold" grpId="0" nodeType="withEffect">
                                  <p:stCondLst>
                                    <p:cond delay="55"/>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420" decel="70000"/>
                                        <p:tgtEl>
                                          <p:spTgt spid="4"/>
                                        </p:tgtEl>
                                      </p:cBhvr>
                                    </p:animEffect>
                                    <p:anim calcmode="lin" valueType="num">
                                      <p:cBhvr additive="base">
                                        <p:cTn id="15" dur="420" decel="70000" fill="hold"/>
                                        <p:tgtEl>
                                          <p:spTgt spid="4"/>
                                        </p:tgtEl>
                                        <p:attrNameLst>
                                          <p:attrName>ppt_y</p:attrName>
                                        </p:attrNameLst>
                                      </p:cBhvr>
                                      <p:tavLst>
                                        <p:tav tm="0">
                                          <p:val>
                                            <p:strVal val="#ppt_y+0.032"/>
                                          </p:val>
                                        </p:tav>
                                        <p:tav tm="100000">
                                          <p:val>
                                            <p:strVal val="#ppt_y"/>
                                          </p:val>
                                        </p:tav>
                                      </p:tavLst>
                                    </p:anim>
                                  </p:childTnLst>
                                </p:cTn>
                              </p:par>
                              <p:par>
                                <p:cTn id="16" presetID="10" presetClass="entr" presetSubtype="0" fill="hold" grpId="0" nodeType="withEffect">
                                  <p:stCondLst>
                                    <p:cond delay="11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340" decel="70000"/>
                                        <p:tgtEl>
                                          <p:spTgt spid="5"/>
                                        </p:tgtEl>
                                      </p:cBhvr>
                                    </p:animEffect>
                                    <p:anim calcmode="lin" valueType="num">
                                      <p:cBhvr additive="base">
                                        <p:cTn id="19" dur="340" decel="70000" fill="hold"/>
                                        <p:tgtEl>
                                          <p:spTgt spid="5"/>
                                        </p:tgtEl>
                                        <p:attrNameLst>
                                          <p:attrName>ppt_y</p:attrName>
                                        </p:attrNameLst>
                                      </p:cBhvr>
                                      <p:tavLst>
                                        <p:tav tm="0">
                                          <p:val>
                                            <p:strVal val="#ppt_y+0.024"/>
                                          </p:val>
                                        </p:tav>
                                        <p:tav tm="100000">
                                          <p:val>
                                            <p:strVal val="#ppt_y"/>
                                          </p:val>
                                        </p:tav>
                                      </p:tavLst>
                                    </p:anim>
                                  </p:childTnLst>
                                </p:cTn>
                              </p:par>
                              <p:par>
                                <p:cTn id="20" presetID="10" presetClass="entr" presetSubtype="0" fill="hold" grpId="0" nodeType="withEffect">
                                  <p:stCondLst>
                                    <p:cond delay="165"/>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320" decel="70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825"/>
        </a:solidFill>
      </p:bgPr>
    </p:bg>
    <p:spTree>
      <p:nvGrpSpPr>
        <p:cNvPr id="1" name=""/>
        <p:cNvGrpSpPr/>
        <p:nvPr/>
      </p:nvGrpSpPr>
      <p:grpSpPr>
        <a:xfrm>
          <a:off x="0" y="0"/>
          <a:ext cx="0" cy="0"/>
          <a:chOff x="0" y="0"/>
          <a:chExt cx="0" cy="0"/>
        </a:xfrm>
      </p:grpSpPr>
      <p:sp>
        <p:nvSpPr>
          <p:cNvPr id="2" name="role:panel-right"/>
          <p:cNvSpPr/>
          <p:nvPr/>
        </p:nvSpPr>
        <p:spPr>
          <a:xfrm>
            <a:off x="7086600" y="0"/>
            <a:ext cx="5105095" cy="6858000"/>
          </a:xfrm>
          <a:prstGeom prst="rect">
            <a:avLst/>
          </a:prstGeom>
          <a:solidFill>
            <a:srgbClr val="112B3F"/>
          </a:solidFill>
          <a:ln w="12700">
            <a:solidFill>
              <a:srgbClr val="333333"/>
            </a:solidFill>
            <a:prstDash val="solid"/>
          </a:ln>
        </p:spPr>
      </p:sp>
      <p:pic>
        <p:nvPicPr>
          <p:cNvPr id="3" name="role:motif" descr="C:\Users\dillo\.claude\skills\client-deck\assets\momentum-digital\momentum-mark-white.png">    </p:cNvPr>
          <p:cNvPicPr>
            <a:picLocks noChangeAspect="1"/>
          </p:cNvPicPr>
          <p:nvPr/>
        </p:nvPicPr>
        <p:blipFill>
          <a:blip r:embed="rId1">
            <a:alphaModFix amt="10000"/>
          </a:blip>
          <a:stretch>
            <a:fillRect/>
          </a:stretch>
        </p:blipFill>
        <p:spPr>
          <a:xfrm>
            <a:off x="8686800" y="1051560"/>
            <a:ext cx="5852160" cy="6942064"/>
          </a:xfrm>
          <a:prstGeom prst="rect">
            <a:avLst/>
          </a:prstGeom>
        </p:spPr>
      </p:pic>
      <p:pic>
        <p:nvPicPr>
          <p:cNvPr id="4" name="role:logo" descr="Momentum Digital logo">    </p:cNvPr>
          <p:cNvPicPr>
            <a:picLocks noChangeAspect="1"/>
          </p:cNvPicPr>
          <p:nvPr/>
        </p:nvPicPr>
        <p:blipFill>
          <a:blip r:embed="rId2"/>
          <a:stretch>
            <a:fillRect/>
          </a:stretch>
        </p:blipFill>
        <p:spPr>
          <a:xfrm>
            <a:off x="713232" y="658368"/>
            <a:ext cx="2880360" cy="619299"/>
          </a:xfrm>
          <a:prstGeom prst="rect">
            <a:avLst/>
          </a:prstGeom>
        </p:spPr>
      </p:pic>
      <p:sp>
        <p:nvSpPr>
          <p:cNvPr id="5" name="role:kicker"/>
          <p:cNvSpPr txBox="1"/>
          <p:nvPr/>
        </p:nvSpPr>
        <p:spPr>
          <a:xfrm>
            <a:off x="713232" y="1810512"/>
            <a:ext cx="6035040" cy="201168"/>
          </a:xfrm>
          <a:prstGeom prst="rect">
            <a:avLst/>
          </a:prstGeom>
          <a:noFill/>
          <a:ln/>
        </p:spPr>
        <p:txBody>
          <a:bodyPr wrap="square" lIns="0" tIns="0" rIns="0" bIns="0" rtlCol="0" anchor="t"/>
          <a:lstStyle/>
          <a:p>
            <a:pPr algn="l" indent="0" marL="0">
              <a:buNone/>
            </a:pPr>
            <a:r>
              <a:rPr lang="en-US" sz="1050" b="1" spc="240" kern="0" dirty="0">
                <a:solidFill>
                  <a:srgbClr val="5AA7E0"/>
                </a:solidFill>
                <a:latin typeface="Arial" pitchFamily="34" charset="0"/>
                <a:ea typeface="Arial" pitchFamily="34" charset="-122"/>
                <a:cs typeface="Arial" pitchFamily="34" charset="-120"/>
              </a:rPr>
              <a:t>REUSABLE BY DESIGN</a:t>
            </a:r>
            <a:endParaRPr lang="en-US" sz="1050" dirty="0"/>
          </a:p>
        </p:txBody>
      </p:sp>
      <p:sp>
        <p:nvSpPr>
          <p:cNvPr id="6" name="role:display"/>
          <p:cNvSpPr txBox="1"/>
          <p:nvPr/>
        </p:nvSpPr>
        <p:spPr>
          <a:xfrm>
            <a:off x="713232" y="2139696"/>
            <a:ext cx="6309360" cy="1435608"/>
          </a:xfrm>
          <a:prstGeom prst="rect">
            <a:avLst/>
          </a:prstGeom>
          <a:noFill/>
          <a:ln/>
        </p:spPr>
        <p:txBody>
          <a:bodyPr wrap="square" lIns="0" tIns="0" rIns="0" bIns="0" rtlCol="0" anchor="t"/>
          <a:lstStyle/>
          <a:p>
            <a:pPr algn="l" indent="0" marL="0">
              <a:lnSpc>
                <a:spcPct val="100000"/>
              </a:lnSpc>
              <a:buNone/>
            </a:pPr>
            <a:r>
              <a:rPr lang="en-US" sz="5400" b="1" dirty="0">
                <a:solidFill>
                  <a:srgbClr val="FFFFFF"/>
                </a:solidFill>
                <a:latin typeface="Arial" pitchFamily="34" charset="0"/>
                <a:ea typeface="Arial" pitchFamily="34" charset="-122"/>
                <a:cs typeface="Arial" pitchFamily="34" charset="-120"/>
              </a:rPr>
              <a:t>Build once.</a:t>
            </a:r>
            <a:endParaRPr lang="en-US" sz="5400" dirty="0"/>
          </a:p>
          <a:p>
            <a:pPr algn="l" indent="0" marL="0">
              <a:lnSpc>
                <a:spcPct val="100000"/>
              </a:lnSpc>
              <a:buNone/>
            </a:pPr>
            <a:r>
              <a:rPr lang="en-US" sz="5400" b="1" dirty="0">
                <a:solidFill>
                  <a:srgbClr val="FFFFFF"/>
                </a:solidFill>
                <a:latin typeface="Arial" pitchFamily="34" charset="0"/>
                <a:ea typeface="Arial" pitchFamily="34" charset="-122"/>
                <a:cs typeface="Arial" pitchFamily="34" charset="-120"/>
              </a:rPr>
              <a:t>Present clearly.</a:t>
            </a:r>
            <a:endParaRPr lang="en-US" sz="5400" dirty="0"/>
          </a:p>
        </p:txBody>
      </p:sp>
      <p:sp>
        <p:nvSpPr>
          <p:cNvPr id="7" name="role:sub"/>
          <p:cNvSpPr txBox="1"/>
          <p:nvPr/>
        </p:nvSpPr>
        <p:spPr>
          <a:xfrm>
            <a:off x="713232" y="3995928"/>
            <a:ext cx="5852160" cy="701040"/>
          </a:xfrm>
          <a:prstGeom prst="rect">
            <a:avLst/>
          </a:prstGeom>
          <a:noFill/>
          <a:ln/>
        </p:spPr>
        <p:txBody>
          <a:bodyPr wrap="square" lIns="0" tIns="0" rIns="0" bIns="0" rtlCol="0" anchor="t"/>
          <a:lstStyle/>
          <a:p>
            <a:pPr algn="l" indent="0" marL="0">
              <a:lnSpc>
                <a:spcPct val="132000"/>
              </a:lnSpc>
              <a:buNone/>
            </a:pPr>
            <a:r>
              <a:rPr lang="en-US" sz="1900" dirty="0">
                <a:solidFill>
                  <a:srgbClr val="9DB5C8"/>
                </a:solidFill>
                <a:latin typeface="Arial" pitchFamily="34" charset="0"/>
                <a:ea typeface="Arial" pitchFamily="34" charset="-122"/>
                <a:cs typeface="Arial" pitchFamily="34" charset="-120"/>
              </a:rPr>
              <a:t>The next deck begins with this system: branded layouts, sourced content and native motion.</a:t>
            </a:r>
            <a:endParaRPr lang="en-US" sz="1900" dirty="0"/>
          </a:p>
        </p:txBody>
      </p:sp>
      <p:sp>
        <p:nvSpPr>
          <p:cNvPr id="8" name="role:foot"/>
          <p:cNvSpPr txBox="1"/>
          <p:nvPr/>
        </p:nvSpPr>
        <p:spPr>
          <a:xfrm>
            <a:off x="713232" y="6016752"/>
            <a:ext cx="6400800" cy="237744"/>
          </a:xfrm>
          <a:prstGeom prst="rect">
            <a:avLst/>
          </a:prstGeom>
          <a:noFill/>
          <a:ln/>
        </p:spPr>
        <p:txBody>
          <a:bodyPr wrap="square" lIns="0" tIns="0" rIns="0" bIns="0" rtlCol="0" anchor="t"/>
          <a:lstStyle/>
          <a:p>
            <a:pPr algn="l" indent="0" marL="0">
              <a:buNone/>
            </a:pPr>
            <a:r>
              <a:rPr lang="en-US" sz="1100" b="1" spc="120" kern="0" dirty="0">
                <a:solidFill>
                  <a:srgbClr val="9DB5C8"/>
                </a:solidFill>
                <a:latin typeface="Arial" pitchFamily="34" charset="0"/>
                <a:ea typeface="Arial" pitchFamily="34" charset="-122"/>
                <a:cs typeface="Arial" pitchFamily="34" charset="-120"/>
              </a:rPr>
              <a:t>EDITABLE PPTX  /  SUBTLE MOTION  /  INTERNAL REVIEW</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42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900" decel="700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320" decel="70000"/>
                                        <p:tgtEl>
                                          <p:spTgt spid="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280" decel="70000"/>
                                        <p:tgtEl>
                                          <p:spTgt spid="5"/>
                                        </p:tgtEl>
                                      </p:cBhvr>
                                    </p:animEffect>
                                    <p:anim calcmode="lin" valueType="num">
                                      <p:cBhvr additive="base">
                                        <p:cTn id="17" dur="280" decel="70000" fill="hold"/>
                                        <p:tgtEl>
                                          <p:spTgt spid="5"/>
                                        </p:tgtEl>
                                        <p:attrNameLst>
                                          <p:attrName>ppt_y</p:attrName>
                                        </p:attrNameLst>
                                      </p:cBhvr>
                                      <p:tavLst>
                                        <p:tav tm="0">
                                          <p:val>
                                            <p:strVal val="#ppt_y+0.02"/>
                                          </p:val>
                                        </p:tav>
                                        <p:tav tm="100000">
                                          <p:val>
                                            <p:strVal val="#ppt_y"/>
                                          </p:val>
                                        </p:tav>
                                      </p:tavLst>
                                    </p:anim>
                                  </p:childTnLst>
                                </p:cTn>
                              </p:par>
                              <p:par>
                                <p:cTn id="18" presetID="10" presetClass="entr" presetSubtype="0" fill="hold" grpId="0" nodeType="withEffect">
                                  <p:stCondLst>
                                    <p:cond delay="55"/>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480" decel="70000"/>
                                        <p:tgtEl>
                                          <p:spTgt spid="6"/>
                                        </p:tgtEl>
                                      </p:cBhvr>
                                    </p:animEffect>
                                    <p:anim calcmode="lin" valueType="num">
                                      <p:cBhvr additive="base">
                                        <p:cTn id="21" dur="480" decel="70000" fill="hold"/>
                                        <p:tgtEl>
                                          <p:spTgt spid="6"/>
                                        </p:tgtEl>
                                        <p:attrNameLst>
                                          <p:attrName>ppt_y</p:attrName>
                                        </p:attrNameLst>
                                      </p:cBhvr>
                                      <p:tavLst>
                                        <p:tav tm="0">
                                          <p:val>
                                            <p:strVal val="#ppt_y+0.038"/>
                                          </p:val>
                                        </p:tav>
                                        <p:tav tm="100000">
                                          <p:val>
                                            <p:strVal val="#ppt_y"/>
                                          </p:val>
                                        </p:tav>
                                      </p:tavLst>
                                    </p:anim>
                                  </p:childTnLst>
                                </p:cTn>
                              </p:par>
                              <p:par>
                                <p:cTn id="22" presetID="10" presetClass="entr" presetSubtype="0" fill="hold" grpId="0" nodeType="withEffect">
                                  <p:stCondLst>
                                    <p:cond delay="11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340" decel="70000"/>
                                        <p:tgtEl>
                                          <p:spTgt spid="7"/>
                                        </p:tgtEl>
                                      </p:cBhvr>
                                    </p:animEffect>
                                    <p:anim calcmode="lin" valueType="num">
                                      <p:cBhvr additive="base">
                                        <p:cTn id="25" dur="340" decel="70000" fill="hold"/>
                                        <p:tgtEl>
                                          <p:spTgt spid="7"/>
                                        </p:tgtEl>
                                        <p:attrNameLst>
                                          <p:attrName>ppt_y</p:attrName>
                                        </p:attrNameLst>
                                      </p:cBhvr>
                                      <p:tavLst>
                                        <p:tav tm="0">
                                          <p:val>
                                            <p:strVal val="#ppt_y+0.02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Momentum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Momentum Digital | Design and motion proof</dc:title>
  <dc:subject>Internal editable presentation specimen; subtle native animation</dc:subject>
  <dc:creator>Dillon Mohr</dc:creator>
  <cp:lastModifiedBy>Dillon Mohr</cp:lastModifiedBy>
  <cp:revision>1</cp:revision>
  <dcterms:created xsi:type="dcterms:W3CDTF">2026-09-05T00:37:32Z</dcterms:created>
  <dcterms:modified xsi:type="dcterms:W3CDTF">2026-09-05T00:37:32Z</dcterms:modified>
</cp:coreProperties>
</file>