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Panel"/>
          <p:cNvSpPr/>
          <p:nvPr/>
        </p:nvSpPr>
        <p:spPr>
          <a:xfrm>
            <a:off x="8138160" y="0"/>
            <a:ext cx="4053809" cy="68580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nelDivider"/>
          <p:cNvSpPr/>
          <p:nvPr/>
        </p:nvSpPr>
        <p:spPr>
          <a:xfrm>
            <a:off x="8110727" y="0"/>
            <a:ext cx="32004" cy="6858000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lignHCM_Logo" descr="align-hc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13232"/>
            <a:ext cx="2514600" cy="11659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76148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180">
                <a:solidFill>
                  <a:srgbClr val="E97722"/>
                </a:solidFill>
                <a:latin typeface="Calibri"/>
              </a:rPr>
              <a:t>IMPLEMENTATION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6949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mbria"/>
              </a:rPr>
              <a:t>Bosley HairClub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4164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AEB9C8"/>
                </a:solidFill>
                <a:latin typeface="Calibri"/>
              </a:rPr>
              <a:t>UKG Pro Merger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8172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56048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792A3"/>
                </a:solidFill>
                <a:latin typeface="Calibri"/>
              </a:rPr>
              <a:t>August 2026</a:t>
            </a:r>
          </a:p>
        </p:txBody>
      </p:sp>
      <p:sp>
        <p:nvSpPr>
          <p:cNvPr id="11" name="ClientLogoPlate"/>
          <p:cNvSpPr/>
          <p:nvPr/>
        </p:nvSpPr>
        <p:spPr>
          <a:xfrm>
            <a:off x="8613648" y="2395728"/>
            <a:ext cx="3127248" cy="210312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LIENT_LOGO_BOSLEY"/>
          <p:cNvSpPr txBox="1"/>
          <p:nvPr/>
        </p:nvSpPr>
        <p:spPr>
          <a:xfrm>
            <a:off x="8613648" y="2798064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 i="0" spc="220">
                <a:solidFill>
                  <a:srgbClr val="232E3E"/>
                </a:solidFill>
                <a:latin typeface="Cambria"/>
              </a:rPr>
              <a:t>BOSLEY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76688" y="3383280"/>
            <a:ext cx="201168" cy="32004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LIENT_LOGO_HAIRCLUB"/>
          <p:cNvSpPr txBox="1"/>
          <p:nvPr/>
        </p:nvSpPr>
        <p:spPr>
          <a:xfrm>
            <a:off x="8613648" y="3584448"/>
            <a:ext cx="312724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232E3E"/>
                </a:solidFill>
                <a:latin typeface="Cambria"/>
              </a:rPr>
              <a:t>HairClub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4681728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 spc="100">
                <a:solidFill>
                  <a:srgbClr val="8792A3"/>
                </a:solidFill>
                <a:latin typeface="Calibri"/>
              </a:rPr>
              <a:t>PREPARED FOR BOSLEY HAIRCLUB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51052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792A3"/>
                </a:solidFill>
                <a:latin typeface="Calibri"/>
              </a:rPr>
              <a:t>© 2026 AlignHCM  ·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969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792A3"/>
                </a:solidFill>
                <a:latin typeface="Calibri"/>
              </a:rPr>
              <a:t>Align HCM   ·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E97722"/>
                </a:solidFill>
                <a:latin typeface="Calibri"/>
              </a:rPr>
              <a:t>BOSLEY HAIRCLUB  ·  UKG PRO MERGER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2E3E"/>
                </a:solidFill>
                <a:latin typeface="Cambria"/>
              </a:rPr>
              <a:t>Executive Summary</a:t>
            </a: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606E"/>
                </a:solidFill>
                <a:latin typeface="Calibri"/>
              </a:rPr>
              <a:t>Bosley HairClub is bringing approximately 400 employees onto HairClub's existing UKG Pro environment, migrating them off ADP.</a:t>
            </a:r>
          </a:p>
        </p:txBody>
      </p:sp>
      <p:sp>
        <p:nvSpPr>
          <p:cNvPr id="7" name="ExecCard1"/>
          <p:cNvSpPr/>
          <p:nvPr/>
        </p:nvSpPr>
        <p:spPr>
          <a:xfrm>
            <a:off x="685800" y="2139696"/>
            <a:ext cx="5254736" cy="1773936"/>
          </a:xfrm>
          <a:prstGeom prst="roundRect">
            <a:avLst>
              <a:gd name="adj" fmla="val 6185"/>
            </a:avLst>
          </a:prstGeom>
          <a:solidFill>
            <a:srgbClr val="F6F8FA"/>
          </a:solidFill>
          <a:ln w="952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3" y="2450591"/>
            <a:ext cx="512064" cy="512064"/>
          </a:xfrm>
          <a:prstGeom prst="ellipse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" y="2583179"/>
            <a:ext cx="246888" cy="246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91640" y="2505456"/>
            <a:ext cx="39197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32E3E"/>
                </a:solidFill>
                <a:latin typeface="Calibri"/>
              </a:rPr>
              <a:t>400 employees, ADP to UKG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072384"/>
            <a:ext cx="45963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55606E"/>
                </a:solidFill>
                <a:latin typeface="Calibri"/>
              </a:rPr>
              <a:t>Bosley HairClub's ~400 employees move from ADP onto HairClub's existing UKG Pro environment.</a:t>
            </a:r>
          </a:p>
        </p:txBody>
      </p:sp>
      <p:sp>
        <p:nvSpPr>
          <p:cNvPr id="12" name="ExecCard2"/>
          <p:cNvSpPr/>
          <p:nvPr/>
        </p:nvSpPr>
        <p:spPr>
          <a:xfrm>
            <a:off x="6251432" y="2139696"/>
            <a:ext cx="5254736" cy="1773936"/>
          </a:xfrm>
          <a:prstGeom prst="roundRect">
            <a:avLst>
              <a:gd name="adj" fmla="val 6185"/>
            </a:avLst>
          </a:prstGeom>
          <a:solidFill>
            <a:srgbClr val="F6F8FA"/>
          </a:solidFill>
          <a:ln w="952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0616" y="2450591"/>
            <a:ext cx="512064" cy="512064"/>
          </a:xfrm>
          <a:prstGeom prst="ellipse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204" y="2583179"/>
            <a:ext cx="246888" cy="2468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57272" y="2505456"/>
            <a:ext cx="39197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32E3E"/>
                </a:solidFill>
                <a:latin typeface="Calibri"/>
              </a:rPr>
              <a:t>Existing business rules apply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0616" y="3072384"/>
            <a:ext cx="45963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55606E"/>
                </a:solidFill>
                <a:latin typeface="Calibri"/>
              </a:rPr>
              <a:t>Bosley employees will be set up under HairClub's existing business rules, pay rules, and accrual rules already in production.</a:t>
            </a:r>
          </a:p>
        </p:txBody>
      </p:sp>
      <p:sp>
        <p:nvSpPr>
          <p:cNvPr id="17" name="ExecCard3"/>
          <p:cNvSpPr/>
          <p:nvPr/>
        </p:nvSpPr>
        <p:spPr>
          <a:xfrm>
            <a:off x="685800" y="4224527"/>
            <a:ext cx="5254736" cy="1773936"/>
          </a:xfrm>
          <a:prstGeom prst="roundRect">
            <a:avLst>
              <a:gd name="adj" fmla="val 6185"/>
            </a:avLst>
          </a:prstGeom>
          <a:solidFill>
            <a:srgbClr val="F6F8FA"/>
          </a:solidFill>
          <a:ln w="952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4983" y="4535423"/>
            <a:ext cx="512064" cy="512064"/>
          </a:xfrm>
          <a:prstGeom prst="ellipse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onf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" y="4668011"/>
            <a:ext cx="246888" cy="2468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91640" y="4590288"/>
            <a:ext cx="39197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32E3E"/>
                </a:solidFill>
                <a:latin typeface="Calibri"/>
              </a:rPr>
              <a:t>Scope: Pro, WFM, data &amp; onboarding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5157215"/>
            <a:ext cx="45963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55606E"/>
                </a:solidFill>
                <a:latin typeface="Calibri"/>
              </a:rPr>
              <a:t>Project management, UKG Pro / WFM system configuration, and data conversion.</a:t>
            </a:r>
          </a:p>
        </p:txBody>
      </p:sp>
      <p:sp>
        <p:nvSpPr>
          <p:cNvPr id="22" name="ExecCard4"/>
          <p:cNvSpPr/>
          <p:nvPr/>
        </p:nvSpPr>
        <p:spPr>
          <a:xfrm>
            <a:off x="6251432" y="4224527"/>
            <a:ext cx="5254736" cy="1773936"/>
          </a:xfrm>
          <a:prstGeom prst="roundRect">
            <a:avLst>
              <a:gd name="adj" fmla="val 6185"/>
            </a:avLst>
          </a:prstGeom>
          <a:solidFill>
            <a:srgbClr val="F6F8FA"/>
          </a:solidFill>
          <a:ln w="952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0616" y="4535423"/>
            <a:ext cx="512064" cy="512064"/>
          </a:xfrm>
          <a:prstGeom prst="ellipse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-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204" y="4668011"/>
            <a:ext cx="246888" cy="2468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57272" y="4590288"/>
            <a:ext cx="39197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32E3E"/>
                </a:solidFill>
                <a:latin typeface="Calibri"/>
              </a:rPr>
              <a:t>16-week 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0616" y="5157215"/>
            <a:ext cx="45963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55606E"/>
                </a:solidFill>
                <a:latin typeface="Calibri"/>
              </a:rPr>
              <a:t>12 weeks of implementation plus 4 weeks of post go-live support, targeting a January 1, 2027 go-live (actual go-live is the first pay in January and first punch on the first day of that pay period).</a:t>
            </a:r>
          </a:p>
        </p:txBody>
      </p:sp>
      <p:sp>
        <p:nvSpPr>
          <p:cNvPr id="27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792A3"/>
                </a:solidFill>
                <a:latin typeface="Calibri"/>
              </a:rPr>
              <a:t>alignhcm.com</a:t>
            </a:r>
          </a:p>
        </p:txBody>
      </p:sp>
      <p:sp>
        <p:nvSpPr>
          <p:cNvPr id="28" name="FooterMid"/>
          <p:cNvSpPr txBox="1"/>
          <p:nvPr/>
        </p:nvSpPr>
        <p:spPr>
          <a:xfrm>
            <a:off x="4724384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792A3"/>
                </a:solidFill>
                <a:latin typeface="Calibri"/>
              </a:rPr>
              <a:t>© 2026 AlignHCM  ·  Confidential</a:t>
            </a:r>
          </a:p>
        </p:txBody>
      </p:sp>
      <p:sp>
        <p:nvSpPr>
          <p:cNvPr id="29" name="FooterRight"/>
          <p:cNvSpPr txBox="1"/>
          <p:nvPr/>
        </p:nvSpPr>
        <p:spPr>
          <a:xfrm>
            <a:off x="8762969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792A3"/>
                </a:solidFill>
                <a:latin typeface="Calibri"/>
              </a:rPr>
              <a:t>Align HCM   ·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E97722"/>
                </a:solidFill>
                <a:latin typeface="Calibri"/>
              </a:rPr>
              <a:t>16 WEEKS TO GO-LIVE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2E3E"/>
                </a:solidFill>
                <a:latin typeface="Cambria"/>
              </a:rPr>
              <a:t>Proposed Timeline</a:t>
            </a: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606E"/>
                </a:solidFill>
                <a:latin typeface="Calibri"/>
              </a:rPr>
              <a:t>16 weeks total: 12-week implementation + 4 weeks of post go-live support.</a:t>
            </a:r>
          </a:p>
        </p:txBody>
      </p:sp>
      <p:sp>
        <p:nvSpPr>
          <p:cNvPr id="7" name="Phase1"/>
          <p:cNvSpPr/>
          <p:nvPr/>
        </p:nvSpPr>
        <p:spPr>
          <a:xfrm>
            <a:off x="685800" y="2743200"/>
            <a:ext cx="954575" cy="1097280"/>
          </a:xfrm>
          <a:prstGeom prst="roundRect">
            <a:avLst>
              <a:gd name="adj" fmla="val 8621"/>
            </a:avLst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944368"/>
            <a:ext cx="80827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Kickoff &amp;</a:t>
            </a:r>
          </a:p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511296"/>
            <a:ext cx="8082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EB9C8"/>
                </a:solidFill>
                <a:latin typeface="Calibri"/>
              </a:rPr>
              <a:t>Wk 1-2</a:t>
            </a:r>
          </a:p>
        </p:txBody>
      </p:sp>
      <p:sp>
        <p:nvSpPr>
          <p:cNvPr id="10" name="Phase2"/>
          <p:cNvSpPr/>
          <p:nvPr/>
        </p:nvSpPr>
        <p:spPr>
          <a:xfrm>
            <a:off x="1704383" y="2743200"/>
            <a:ext cx="1909150" cy="1097280"/>
          </a:xfrm>
          <a:prstGeom prst="roundRect">
            <a:avLst>
              <a:gd name="adj" fmla="val 7500"/>
            </a:avLst>
          </a:prstGeom>
          <a:solidFill>
            <a:srgbClr val="26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77535" y="2944368"/>
            <a:ext cx="176284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Analysis &amp;</a:t>
            </a:r>
          </a:p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7535" y="3511296"/>
            <a:ext cx="176284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EB9C8"/>
                </a:solidFill>
                <a:latin typeface="Calibri"/>
              </a:rPr>
              <a:t>Wk 2-5</a:t>
            </a:r>
          </a:p>
        </p:txBody>
      </p:sp>
      <p:sp>
        <p:nvSpPr>
          <p:cNvPr id="13" name="Phase3"/>
          <p:cNvSpPr/>
          <p:nvPr/>
        </p:nvSpPr>
        <p:spPr>
          <a:xfrm>
            <a:off x="3677542" y="2743200"/>
            <a:ext cx="2386438" cy="1097280"/>
          </a:xfrm>
          <a:prstGeom prst="roundRect">
            <a:avLst>
              <a:gd name="adj" fmla="val 7500"/>
            </a:avLst>
          </a:prstGeom>
          <a:solidFill>
            <a:srgbClr val="2F4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0694" y="2944368"/>
            <a:ext cx="224013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Configuration</a:t>
            </a:r>
          </a:p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&amp;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0694" y="3511296"/>
            <a:ext cx="224013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EB9C8"/>
                </a:solidFill>
                <a:latin typeface="Calibri"/>
              </a:rPr>
              <a:t>Wk 4-8</a:t>
            </a:r>
          </a:p>
        </p:txBody>
      </p:sp>
      <p:sp>
        <p:nvSpPr>
          <p:cNvPr id="16" name="Phase4"/>
          <p:cNvSpPr/>
          <p:nvPr/>
        </p:nvSpPr>
        <p:spPr>
          <a:xfrm>
            <a:off x="6127988" y="2743200"/>
            <a:ext cx="1909150" cy="1097280"/>
          </a:xfrm>
          <a:prstGeom prst="roundRect">
            <a:avLst>
              <a:gd name="adj" fmla="val 7500"/>
            </a:avLst>
          </a:prstGeom>
          <a:solidFill>
            <a:srgbClr val="3A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1140" y="2944368"/>
            <a:ext cx="176284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1140" y="3511296"/>
            <a:ext cx="176284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EB9C8"/>
                </a:solidFill>
                <a:latin typeface="Calibri"/>
              </a:rPr>
              <a:t>Wk 7-10</a:t>
            </a:r>
          </a:p>
        </p:txBody>
      </p:sp>
      <p:sp>
        <p:nvSpPr>
          <p:cNvPr id="19" name="Phase5"/>
          <p:cNvSpPr/>
          <p:nvPr/>
        </p:nvSpPr>
        <p:spPr>
          <a:xfrm>
            <a:off x="8101147" y="2743200"/>
            <a:ext cx="1431863" cy="1097280"/>
          </a:xfrm>
          <a:prstGeom prst="roundRect">
            <a:avLst>
              <a:gd name="adj" fmla="val 7500"/>
            </a:avLst>
          </a:prstGeom>
          <a:solidFill>
            <a:srgbClr val="465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299" y="2944368"/>
            <a:ext cx="12855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Testing &amp;</a:t>
            </a:r>
          </a:p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UAT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299" y="3511296"/>
            <a:ext cx="12855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EB9C8"/>
                </a:solidFill>
                <a:latin typeface="Calibri"/>
              </a:rPr>
              <a:t>Wk 9-11</a:t>
            </a:r>
          </a:p>
        </p:txBody>
      </p:sp>
      <p:sp>
        <p:nvSpPr>
          <p:cNvPr id="22" name="Phase6"/>
          <p:cNvSpPr/>
          <p:nvPr/>
        </p:nvSpPr>
        <p:spPr>
          <a:xfrm>
            <a:off x="9597018" y="2743200"/>
            <a:ext cx="1909150" cy="1097280"/>
          </a:xfrm>
          <a:prstGeom prst="roundRect">
            <a:avLst>
              <a:gd name="adj" fmla="val 7500"/>
            </a:avLst>
          </a:prstGeom>
          <a:solidFill>
            <a:srgbClr val="55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70170" y="2944368"/>
            <a:ext cx="176284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Post Go-Live</a:t>
            </a:r>
          </a:p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0170" y="3511296"/>
            <a:ext cx="176284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EB9C8"/>
                </a:solidFill>
                <a:latin typeface="Calibri"/>
              </a:rPr>
              <a:t>Wk 13-16</a:t>
            </a:r>
          </a:p>
        </p:txBody>
      </p:sp>
      <p:sp>
        <p:nvSpPr>
          <p:cNvPr id="25" name="GoLiveMarker"/>
          <p:cNvSpPr/>
          <p:nvPr/>
        </p:nvSpPr>
        <p:spPr>
          <a:xfrm>
            <a:off x="9554956" y="2432304"/>
            <a:ext cx="20116" cy="1499616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9174" y="1956816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E97722"/>
                </a:solidFill>
                <a:latin typeface="Calibri"/>
              </a:rPr>
              <a:t>GO-LIVE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E97722"/>
                </a:solidFill>
                <a:latin typeface="Calibri"/>
              </a:rPr>
              <a:t>Week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151376"/>
            <a:ext cx="843573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Weeks 1-12  ·  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6122" y="4151376"/>
            <a:ext cx="222004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Weeks 13-16  ·  Post Go-Live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882896"/>
            <a:ext cx="10820369" cy="877824"/>
          </a:xfrm>
          <a:prstGeom prst="roundRect">
            <a:avLst>
              <a:gd name="adj" fmla="val 10416"/>
            </a:avLst>
          </a:prstGeom>
          <a:solidFill>
            <a:srgbClr val="F6F8FA"/>
          </a:solidFill>
          <a:ln w="952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8408" y="5084064"/>
            <a:ext cx="475488" cy="475488"/>
          </a:xfrm>
          <a:prstGeom prst="ellipse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" y="5207507"/>
            <a:ext cx="228600" cy="22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36776" y="5120640"/>
            <a:ext cx="955849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06E"/>
                </a:solidFill>
                <a:latin typeface="Calibri"/>
              </a:rPr>
              <a:t>Target go-live: January 1, 2027, with true go-live defined as the start of the first supported pay period.</a:t>
            </a:r>
          </a:p>
        </p:txBody>
      </p:sp>
      <p:sp>
        <p:nvSpPr>
          <p:cNvPr id="33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792A3"/>
                </a:solidFill>
                <a:latin typeface="Calibri"/>
              </a:rPr>
              <a:t>alignhcm.com</a:t>
            </a:r>
          </a:p>
        </p:txBody>
      </p:sp>
      <p:sp>
        <p:nvSpPr>
          <p:cNvPr id="34" name="FooterMid"/>
          <p:cNvSpPr txBox="1"/>
          <p:nvPr/>
        </p:nvSpPr>
        <p:spPr>
          <a:xfrm>
            <a:off x="4724384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792A3"/>
                </a:solidFill>
                <a:latin typeface="Calibri"/>
              </a:rPr>
              <a:t>© 2026 AlignHCM  ·  Confidential</a:t>
            </a:r>
          </a:p>
        </p:txBody>
      </p:sp>
      <p:sp>
        <p:nvSpPr>
          <p:cNvPr id="35" name="FooterRight"/>
          <p:cNvSpPr txBox="1"/>
          <p:nvPr/>
        </p:nvSpPr>
        <p:spPr>
          <a:xfrm>
            <a:off x="8762969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792A3"/>
                </a:solidFill>
                <a:latin typeface="Calibri"/>
              </a:rPr>
              <a:t>Align HCM   ·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E97722"/>
                </a:solidFill>
                <a:latin typeface="Calibri"/>
              </a:rPr>
              <a:t>PHASE BY PHASE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2E3E"/>
                </a:solidFill>
                <a:latin typeface="Cambria"/>
              </a:rPr>
              <a:t>Milestones by Phase</a:t>
            </a: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606E"/>
                </a:solidFill>
                <a:latin typeface="Calibri"/>
              </a:rPr>
              <a:t>What gets delivered, and when, across the 16-week engagement.</a:t>
            </a:r>
          </a:p>
        </p:txBody>
      </p:sp>
      <p:graphicFrame>
        <p:nvGraphicFramePr>
          <p:cNvPr id="7" name="MilestonesTable"/>
          <p:cNvGraphicFramePr>
            <a:graphicFrameLocks noGrp="1"/>
          </p:cNvGraphicFramePr>
          <p:nvPr/>
        </p:nvGraphicFramePr>
        <p:xfrm>
          <a:off x="685800" y="2212848"/>
          <a:ext cx="10820369" cy="3890772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1143000"/>
                <a:gridCol w="6934169"/>
              </a:tblGrid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82296" marR="82296" marT="50292" marB="50292" anchor="ctr">
                    <a:lnB w="9525" cap="flat" cmpd="sng" algn="ctr">
                      <a:solidFill>
                        <a:srgbClr val="232E3E"/>
                      </a:solidFill>
                    </a:lnB>
                    <a:lnT w="9525" cap="flat" cmpd="sng" algn="ctr">
                      <a:solidFill>
                        <a:srgbClr val="232E3E"/>
                      </a:solidFill>
                    </a:lnT>
                    <a:lnR w="9525" cap="flat" cmpd="sng" algn="ctr">
                      <a:solidFill>
                        <a:srgbClr val="232E3E"/>
                      </a:solidFill>
                    </a:lnR>
                    <a:lnL w="9525" cap="flat" cmpd="sng" algn="ctr">
                      <a:solidFill>
                        <a:srgbClr val="232E3E"/>
                      </a:solidFill>
                    </a:lnL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Weeks</a:t>
                      </a:r>
                    </a:p>
                  </a:txBody>
                  <a:tcPr marL="82296" marR="82296" marT="50292" marB="50292" anchor="ctr">
                    <a:lnB w="9525" cap="flat" cmpd="sng" algn="ctr">
                      <a:solidFill>
                        <a:srgbClr val="232E3E"/>
                      </a:solidFill>
                    </a:lnB>
                    <a:lnT w="9525" cap="flat" cmpd="sng" algn="ctr">
                      <a:solidFill>
                        <a:srgbClr val="232E3E"/>
                      </a:solidFill>
                    </a:lnT>
                    <a:lnR w="9525" cap="flat" cmpd="sng" algn="ctr">
                      <a:solidFill>
                        <a:srgbClr val="232E3E"/>
                      </a:solidFill>
                    </a:lnR>
                    <a:lnL w="9525" cap="flat" cmpd="sng" algn="ctr">
                      <a:solidFill>
                        <a:srgbClr val="232E3E"/>
                      </a:solidFill>
                    </a:lnL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Key Milestones</a:t>
                      </a:r>
                    </a:p>
                  </a:txBody>
                  <a:tcPr marL="82296" marR="82296" marT="50292" marB="50292" anchor="ctr">
                    <a:lnB w="9525" cap="flat" cmpd="sng" algn="ctr">
                      <a:solidFill>
                        <a:srgbClr val="232E3E"/>
                      </a:solidFill>
                    </a:lnB>
                    <a:lnT w="9525" cap="flat" cmpd="sng" algn="ctr">
                      <a:solidFill>
                        <a:srgbClr val="232E3E"/>
                      </a:solidFill>
                    </a:lnT>
                    <a:lnR w="9525" cap="flat" cmpd="sng" algn="ctr">
                      <a:solidFill>
                        <a:srgbClr val="232E3E"/>
                      </a:solidFill>
                    </a:lnR>
                    <a:lnL w="9525" cap="flat" cmpd="sng" algn="ctr">
                      <a:solidFill>
                        <a:srgbClr val="232E3E"/>
                      </a:solidFill>
                    </a:lnL>
                    <a:solidFill>
                      <a:srgbClr val="232E3E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Kickoff &amp; Planning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97722"/>
                          </a:solidFill>
                          <a:latin typeface="Calibri"/>
                        </a:rPr>
                        <a:t>Wk 1-2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55606E"/>
                          </a:solidFill>
                          <a:latin typeface="Calibri"/>
                        </a:rPr>
                        <a:t>Project kickoff, team alignment, environment access, project plan finalized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Analysis &amp; Validation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97722"/>
                          </a:solidFill>
                          <a:latin typeface="Calibri"/>
                        </a:rPr>
                        <a:t>Wk 2-5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55606E"/>
                          </a:solidFill>
                          <a:latin typeface="Calibri"/>
                        </a:rPr>
                        <a:t>Validate Bosley population against HairClub's existing business, pay, and accrual rules; confirm component company structure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Configuration &amp; Build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97722"/>
                          </a:solidFill>
                          <a:latin typeface="Calibri"/>
                        </a:rPr>
                        <a:t>Wk 4-8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55606E"/>
                          </a:solidFill>
                          <a:latin typeface="Calibri"/>
                        </a:rPr>
                        <a:t>Component company setup in UKG Pro, WFM configuration walkthroughs, integration updates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Data Conversion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97722"/>
                          </a:solidFill>
                          <a:latin typeface="Calibri"/>
                        </a:rPr>
                        <a:t>Wk 7-10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55606E"/>
                          </a:solidFill>
                          <a:latin typeface="Calibri"/>
                        </a:rPr>
                        <a:t>Convert and load Bosley employee data from ADP; validate demographic, pay, and accrual data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Testing &amp; UAT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97722"/>
                          </a:solidFill>
                          <a:latin typeface="Calibri"/>
                        </a:rPr>
                        <a:t>Wk 9-11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55606E"/>
                          </a:solidFill>
                          <a:latin typeface="Calibri"/>
                        </a:rPr>
                        <a:t>Parallel payroll testing, user acceptance testing, sign-off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Go-Live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97722"/>
                          </a:solidFill>
                          <a:latin typeface="Calibri"/>
                        </a:rPr>
                        <a:t>Wk 12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55606E"/>
                          </a:solidFill>
                          <a:latin typeface="Calibri"/>
                        </a:rPr>
                        <a:t>Bosley employees live on UKG Pro; first supported payroll processed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Post Go-Live Support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97722"/>
                          </a:solidFill>
                          <a:latin typeface="Calibri"/>
                        </a:rPr>
                        <a:t>Wk 13-16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55606E"/>
                          </a:solidFill>
                          <a:latin typeface="Calibri"/>
                        </a:rPr>
                        <a:t>Hypercare support, issue resolution, transition to steady state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792A3"/>
                </a:solidFill>
                <a:latin typeface="Calibri"/>
              </a:rPr>
              <a:t>alignhcm.com</a:t>
            </a:r>
          </a:p>
        </p:txBody>
      </p:sp>
      <p:sp>
        <p:nvSpPr>
          <p:cNvPr id="9" name="FooterMid"/>
          <p:cNvSpPr txBox="1"/>
          <p:nvPr/>
        </p:nvSpPr>
        <p:spPr>
          <a:xfrm>
            <a:off x="4724384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792A3"/>
                </a:solidFill>
                <a:latin typeface="Calibri"/>
              </a:rPr>
              <a:t>© 2026 AlignHCM  ·  Confidential</a:t>
            </a:r>
          </a:p>
        </p:txBody>
      </p:sp>
      <p:sp>
        <p:nvSpPr>
          <p:cNvPr id="10" name="FooterRight"/>
          <p:cNvSpPr txBox="1"/>
          <p:nvPr/>
        </p:nvSpPr>
        <p:spPr>
          <a:xfrm>
            <a:off x="8762969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792A3"/>
                </a:solidFill>
                <a:latin typeface="Calibri"/>
              </a:rPr>
              <a:t>Align HCM   ·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E97722"/>
                </a:solidFill>
                <a:latin typeface="Calibri"/>
              </a:rPr>
              <a:t>PHASE 1 INVESTMENT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AlignHCM — Planned Investment</a:t>
            </a: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EB9C8"/>
                </a:solidFill>
                <a:latin typeface="Calibri"/>
              </a:rPr>
              <a:t>Total project cost for a January 1, 2027 go-live.</a:t>
            </a:r>
          </a:p>
        </p:txBody>
      </p:sp>
      <p:sp>
        <p:nvSpPr>
          <p:cNvPr id="7" name="PriceCard"/>
          <p:cNvSpPr/>
          <p:nvPr/>
        </p:nvSpPr>
        <p:spPr>
          <a:xfrm>
            <a:off x="685800" y="2249424"/>
            <a:ext cx="4754880" cy="2157984"/>
          </a:xfrm>
          <a:prstGeom prst="roundRect">
            <a:avLst>
              <a:gd name="adj" fmla="val 5932"/>
            </a:avLst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mbria"/>
              </a:rPr>
              <a:t>$93,955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6616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97722"/>
                </a:solidFill>
                <a:latin typeface="Calibri"/>
              </a:rPr>
              <a:t>Total project investment  ·  1/1/2027 go-live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95344"/>
            <a:ext cx="374903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 i="0">
                <a:solidFill>
                  <a:srgbClr val="AEB9C8"/>
                </a:solidFill>
                <a:latin typeface="Calibri"/>
              </a:rPr>
              <a:t>Includes project management, UKG Pro &amp; WFM system configuration, and employee data conversion.</a:t>
            </a:r>
          </a:p>
        </p:txBody>
      </p:sp>
      <p:sp>
        <p:nvSpPr>
          <p:cNvPr id="11" name="EarlyGoLiveCard"/>
          <p:cNvSpPr/>
          <p:nvPr/>
        </p:nvSpPr>
        <p:spPr>
          <a:xfrm>
            <a:off x="5751576" y="2249424"/>
            <a:ext cx="5754593" cy="2157984"/>
          </a:xfrm>
          <a:prstGeom prst="roundRect">
            <a:avLst>
              <a:gd name="adj" fmla="val 5932"/>
            </a:avLst>
          </a:prstGeom>
          <a:solidFill>
            <a:srgbClr val="2B3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62472" y="2560320"/>
            <a:ext cx="512064" cy="512064"/>
          </a:xfrm>
          <a:prstGeom prst="ellipse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arrow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59" y="2692908"/>
            <a:ext cx="246888" cy="246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20840" y="2633472"/>
            <a:ext cx="447443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+$12,900 for an earlier go-live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3218688"/>
            <a:ext cx="5132801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 i="0">
                <a:solidFill>
                  <a:srgbClr val="AEB9C8"/>
                </a:solidFill>
                <a:latin typeface="Calibri"/>
              </a:rPr>
              <a:t>If Bosley HairClub goes live sooner than 1/1/2027, an additional $12,900 applies for the extra data conversion work required to bring over opening balances.</a:t>
            </a:r>
          </a:p>
        </p:txBody>
      </p:sp>
      <p:sp>
        <p:nvSpPr>
          <p:cNvPr id="16" name="ScopeCard"/>
          <p:cNvSpPr/>
          <p:nvPr/>
        </p:nvSpPr>
        <p:spPr>
          <a:xfrm>
            <a:off x="685800" y="4718304"/>
            <a:ext cx="10820369" cy="1188720"/>
          </a:xfrm>
          <a:prstGeom prst="roundRect">
            <a:avLst>
              <a:gd name="adj" fmla="val 10769"/>
            </a:avLst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6696" y="5047488"/>
            <a:ext cx="512064" cy="512064"/>
          </a:xfrm>
          <a:prstGeom prst="ellipse">
            <a:avLst/>
          </a:prstGeom>
          <a:solidFill>
            <a:srgbClr val="2B3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" y="5180076"/>
            <a:ext cx="246888" cy="2468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55064" y="4937760"/>
            <a:ext cx="954020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12 weeks of implementation + 4 weeks of post go-live support = 16 weeks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5303520"/>
            <a:ext cx="954020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AEB9C8"/>
                </a:solidFill>
                <a:latin typeface="Calibri"/>
              </a:rPr>
              <a:t>Pricing reflects Phase 1 only: bringing Bosley HairClub's 400 employees onto HairClub's existing UKG Pro environment. Phase 2 (Benefits Hub) will be scoped and priced separately.</a:t>
            </a:r>
          </a:p>
        </p:txBody>
      </p:sp>
      <p:sp>
        <p:nvSpPr>
          <p:cNvPr id="21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792A3"/>
                </a:solidFill>
                <a:latin typeface="Calibri"/>
              </a:rPr>
              <a:t>alignhcm.com</a:t>
            </a:r>
          </a:p>
        </p:txBody>
      </p:sp>
      <p:sp>
        <p:nvSpPr>
          <p:cNvPr id="22" name="FooterMid"/>
          <p:cNvSpPr txBox="1"/>
          <p:nvPr/>
        </p:nvSpPr>
        <p:spPr>
          <a:xfrm>
            <a:off x="4724384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792A3"/>
                </a:solidFill>
                <a:latin typeface="Calibri"/>
              </a:rPr>
              <a:t>© 2026 AlignHCM  ·  Confidential</a:t>
            </a:r>
          </a:p>
        </p:txBody>
      </p:sp>
      <p:sp>
        <p:nvSpPr>
          <p:cNvPr id="23" name="FooterRight"/>
          <p:cNvSpPr txBox="1"/>
          <p:nvPr/>
        </p:nvSpPr>
        <p:spPr>
          <a:xfrm>
            <a:off x="8762969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792A3"/>
                </a:solidFill>
                <a:latin typeface="Calibri"/>
              </a:rPr>
              <a:t>Align HCM   ·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E97722"/>
                </a:solidFill>
                <a:latin typeface="Calibri"/>
              </a:rPr>
              <a:t>YOUR TEAM'S ROLE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2E3E"/>
                </a:solidFill>
                <a:latin typeface="Cambria"/>
              </a:rPr>
              <a:t>What We'll Need From Your Team</a:t>
            </a: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606E"/>
                </a:solidFill>
                <a:latin typeface="Calibri"/>
              </a:rPr>
              <a:t>Estimated level of engagement by project phase.</a:t>
            </a:r>
          </a:p>
        </p:txBody>
      </p:sp>
      <p:graphicFrame>
        <p:nvGraphicFramePr>
          <p:cNvPr id="7" name="EngagementTable"/>
          <p:cNvGraphicFramePr>
            <a:graphicFrameLocks noGrp="1"/>
          </p:cNvGraphicFramePr>
          <p:nvPr/>
        </p:nvGraphicFramePr>
        <p:xfrm>
          <a:off x="685800" y="2212848"/>
          <a:ext cx="10820550" cy="2322576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1578894"/>
                <a:gridCol w="1578894"/>
                <a:gridCol w="1578894"/>
                <a:gridCol w="1578894"/>
                <a:gridCol w="1578894"/>
              </a:tblGrid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82296" marR="82296" marT="50292" marB="50292" anchor="ctr">
                    <a:lnB w="9525" cap="flat" cmpd="sng" algn="ctr">
                      <a:solidFill>
                        <a:srgbClr val="232E3E"/>
                      </a:solidFill>
                    </a:lnB>
                    <a:lnT w="9525" cap="flat" cmpd="sng" algn="ctr">
                      <a:solidFill>
                        <a:srgbClr val="232E3E"/>
                      </a:solidFill>
                    </a:lnT>
                    <a:lnR w="9525" cap="flat" cmpd="sng" algn="ctr">
                      <a:solidFill>
                        <a:srgbClr val="232E3E"/>
                      </a:solidFill>
                    </a:lnR>
                    <a:lnL w="9525" cap="flat" cmpd="sng" algn="ctr">
                      <a:solidFill>
                        <a:srgbClr val="232E3E"/>
                      </a:solidFill>
                    </a:lnL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Kickoff</a:t>
                      </a:r>
                    </a:p>
                  </a:txBody>
                  <a:tcPr marL="82296" marR="82296" marT="50292" marB="50292" anchor="ctr">
                    <a:lnB w="9525" cap="flat" cmpd="sng" algn="ctr">
                      <a:solidFill>
                        <a:srgbClr val="232E3E"/>
                      </a:solidFill>
                    </a:lnB>
                    <a:lnT w="9525" cap="flat" cmpd="sng" algn="ctr">
                      <a:solidFill>
                        <a:srgbClr val="232E3E"/>
                      </a:solidFill>
                    </a:lnT>
                    <a:lnR w="9525" cap="flat" cmpd="sng" algn="ctr">
                      <a:solidFill>
                        <a:srgbClr val="232E3E"/>
                      </a:solidFill>
                    </a:lnR>
                    <a:lnL w="9525" cap="flat" cmpd="sng" algn="ctr">
                      <a:solidFill>
                        <a:srgbClr val="232E3E"/>
                      </a:solidFill>
                    </a:lnL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Analysis</a:t>
                      </a:r>
                    </a:p>
                  </a:txBody>
                  <a:tcPr marL="82296" marR="82296" marT="50292" marB="50292" anchor="ctr">
                    <a:lnB w="9525" cap="flat" cmpd="sng" algn="ctr">
                      <a:solidFill>
                        <a:srgbClr val="232E3E"/>
                      </a:solidFill>
                    </a:lnB>
                    <a:lnT w="9525" cap="flat" cmpd="sng" algn="ctr">
                      <a:solidFill>
                        <a:srgbClr val="232E3E"/>
                      </a:solidFill>
                    </a:lnT>
                    <a:lnR w="9525" cap="flat" cmpd="sng" algn="ctr">
                      <a:solidFill>
                        <a:srgbClr val="232E3E"/>
                      </a:solidFill>
                    </a:lnR>
                    <a:lnL w="9525" cap="flat" cmpd="sng" algn="ctr">
                      <a:solidFill>
                        <a:srgbClr val="232E3E"/>
                      </a:solidFill>
                    </a:lnL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Build &amp; Convert</a:t>
                      </a:r>
                    </a:p>
                  </a:txBody>
                  <a:tcPr marL="82296" marR="82296" marT="50292" marB="50292" anchor="ctr">
                    <a:lnB w="9525" cap="flat" cmpd="sng" algn="ctr">
                      <a:solidFill>
                        <a:srgbClr val="232E3E"/>
                      </a:solidFill>
                    </a:lnB>
                    <a:lnT w="9525" cap="flat" cmpd="sng" algn="ctr">
                      <a:solidFill>
                        <a:srgbClr val="232E3E"/>
                      </a:solidFill>
                    </a:lnT>
                    <a:lnR w="9525" cap="flat" cmpd="sng" algn="ctr">
                      <a:solidFill>
                        <a:srgbClr val="232E3E"/>
                      </a:solidFill>
                    </a:lnR>
                    <a:lnL w="9525" cap="flat" cmpd="sng" algn="ctr">
                      <a:solidFill>
                        <a:srgbClr val="232E3E"/>
                      </a:solidFill>
                    </a:lnL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82296" marR="82296" marT="50292" marB="50292" anchor="ctr">
                    <a:lnB w="9525" cap="flat" cmpd="sng" algn="ctr">
                      <a:solidFill>
                        <a:srgbClr val="232E3E"/>
                      </a:solidFill>
                    </a:lnB>
                    <a:lnT w="9525" cap="flat" cmpd="sng" algn="ctr">
                      <a:solidFill>
                        <a:srgbClr val="232E3E"/>
                      </a:solidFill>
                    </a:lnT>
                    <a:lnR w="9525" cap="flat" cmpd="sng" algn="ctr">
                      <a:solidFill>
                        <a:srgbClr val="232E3E"/>
                      </a:solidFill>
                    </a:lnR>
                    <a:lnL w="9525" cap="flat" cmpd="sng" algn="ctr">
                      <a:solidFill>
                        <a:srgbClr val="232E3E"/>
                      </a:solidFill>
                    </a:lnL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Go-Live</a:t>
                      </a:r>
                    </a:p>
                  </a:txBody>
                  <a:tcPr marL="82296" marR="82296" marT="50292" marB="50292" anchor="ctr">
                    <a:lnB w="9525" cap="flat" cmpd="sng" algn="ctr">
                      <a:solidFill>
                        <a:srgbClr val="232E3E"/>
                      </a:solidFill>
                    </a:lnB>
                    <a:lnT w="9525" cap="flat" cmpd="sng" algn="ctr">
                      <a:solidFill>
                        <a:srgbClr val="232E3E"/>
                      </a:solidFill>
                    </a:lnT>
                    <a:lnR w="9525" cap="flat" cmpd="sng" algn="ctr">
                      <a:solidFill>
                        <a:srgbClr val="232E3E"/>
                      </a:solidFill>
                    </a:lnR>
                    <a:lnL w="9525" cap="flat" cmpd="sng" algn="ctr">
                      <a:solidFill>
                        <a:srgbClr val="232E3E"/>
                      </a:solidFill>
                    </a:lnL>
                    <a:solidFill>
                      <a:srgbClr val="232E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232E3E"/>
                          </a:solidFill>
                          <a:latin typeface="Calibri"/>
                        </a:rPr>
                        <a:t>Project Lead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E977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E977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E977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E977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5560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232E3E"/>
                          </a:solidFill>
                          <a:latin typeface="Calibri"/>
                        </a:rPr>
                        <a:t>HR / Payroll SME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5560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C052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E977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C052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E977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232E3E"/>
                          </a:solidFill>
                          <a:latin typeface="Calibri"/>
                        </a:rPr>
                        <a:t>System Administrator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5560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E977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C052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E977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E977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FFFFF"/>
                      </a:solidFill>
                    </a:lnR>
                    <a:lnL w="9525" cap="flat" cmpd="sng" algn="ctr">
                      <a:solidFill>
                        <a:srgbClr val="FFFFFF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232E3E"/>
                          </a:solidFill>
                          <a:latin typeface="Calibri"/>
                        </a:rPr>
                        <a:t>IT / Data Contact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5560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5560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C052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5560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5560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R w="9525" cap="flat" cmpd="sng" algn="ctr">
                      <a:solidFill>
                        <a:srgbClr val="F6F8FA"/>
                      </a:solidFill>
                    </a:lnR>
                    <a:lnL w="9525" cap="flat" cmpd="sng" algn="ctr">
                      <a:solidFill>
                        <a:srgbClr val="F6F8FA"/>
                      </a:solidFill>
                    </a:lnL>
                    <a:lnB w="9525" cap="flat" cmpd="sng" algn="ctr">
                      <a:solidFill>
                        <a:srgbClr val="DCE2E9"/>
                      </a:solidFill>
                    </a:lnB>
                    <a:lnT w="9525" cap="flat" cmpd="sng" algn="ctr">
                      <a:solidFill>
                        <a:srgbClr val="DCE2E9"/>
                      </a:solidFill>
                    </a:lnT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8" name="EngagementCallout"/>
          <p:cNvSpPr/>
          <p:nvPr/>
        </p:nvSpPr>
        <p:spPr>
          <a:xfrm>
            <a:off x="685800" y="4901184"/>
            <a:ext cx="10820369" cy="1316736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952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5285232"/>
            <a:ext cx="530352" cy="530352"/>
          </a:xfrm>
          <a:prstGeom prst="ellipse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" y="5426964"/>
            <a:ext cx="246888" cy="246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73352" y="5157216"/>
            <a:ext cx="952192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32E3E"/>
                </a:solidFill>
                <a:latin typeface="Calibri"/>
              </a:rPr>
              <a:t>Your team stays focused on decisions and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5522976"/>
            <a:ext cx="952192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55606E"/>
                </a:solidFill>
                <a:latin typeface="Calibri"/>
              </a:rPr>
              <a:t>HairClub's team confirms that Bosley employees fit existing business rules, validates converted data, and supports UAT sign-off. AlignHCM leads configuration, data conversion, and testing coordination.</a:t>
            </a:r>
          </a:p>
        </p:txBody>
      </p:sp>
      <p:sp>
        <p:nvSpPr>
          <p:cNvPr id="13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792A3"/>
                </a:solidFill>
                <a:latin typeface="Calibri"/>
              </a:rPr>
              <a:t>alignhcm.com</a:t>
            </a:r>
          </a:p>
        </p:txBody>
      </p:sp>
      <p:sp>
        <p:nvSpPr>
          <p:cNvPr id="14" name="FooterMid"/>
          <p:cNvSpPr txBox="1"/>
          <p:nvPr/>
        </p:nvSpPr>
        <p:spPr>
          <a:xfrm>
            <a:off x="4724384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792A3"/>
                </a:solidFill>
                <a:latin typeface="Calibri"/>
              </a:rPr>
              <a:t>© 2026 AlignHCM  ·  Confidential</a:t>
            </a:r>
          </a:p>
        </p:txBody>
      </p:sp>
      <p:sp>
        <p:nvSpPr>
          <p:cNvPr id="15" name="FooterRight"/>
          <p:cNvSpPr txBox="1"/>
          <p:nvPr/>
        </p:nvSpPr>
        <p:spPr>
          <a:xfrm>
            <a:off x="8762969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792A3"/>
                </a:solidFill>
                <a:latin typeface="Calibri"/>
              </a:rPr>
              <a:t>Align HCM   ·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Panel"/>
          <p:cNvSpPr/>
          <p:nvPr/>
        </p:nvSpPr>
        <p:spPr>
          <a:xfrm>
            <a:off x="4206240" y="0"/>
            <a:ext cx="7985729" cy="6858000"/>
          </a:xfrm>
          <a:prstGeom prst="rect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nelDivider"/>
          <p:cNvSpPr/>
          <p:nvPr/>
        </p:nvSpPr>
        <p:spPr>
          <a:xfrm>
            <a:off x="4178808" y="0"/>
            <a:ext cx="32004" cy="6858000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lignHCM_Logo" descr="align-hc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0"/>
            <a:ext cx="2651760" cy="1229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92040" y="192024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180">
                <a:solidFill>
                  <a:srgbClr val="E97722"/>
                </a:solidFill>
                <a:latin typeface="Calibri"/>
              </a:rPr>
              <a:t>NEXT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2249424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Let's stay connected!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32186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3584448"/>
            <a:ext cx="493776" cy="493776"/>
          </a:xfrm>
          <a:prstGeom prst="ellipse">
            <a:avLst/>
          </a:prstGeom>
          <a:solidFill>
            <a:srgbClr val="2B3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5" y="3712463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14416" y="3593591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Allison Cox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4416" y="3858768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792A3"/>
                </a:solidFill>
                <a:latin typeface="Calibri"/>
              </a:rPr>
              <a:t>Client Executive</a:t>
            </a:r>
          </a:p>
        </p:txBody>
      </p:sp>
      <p:sp>
        <p:nvSpPr>
          <p:cNvPr id="13" name="Oval 12"/>
          <p:cNvSpPr/>
          <p:nvPr/>
        </p:nvSpPr>
        <p:spPr>
          <a:xfrm>
            <a:off x="4892040" y="4334256"/>
            <a:ext cx="493776" cy="493776"/>
          </a:xfrm>
          <a:prstGeom prst="ellipse">
            <a:avLst/>
          </a:prstGeom>
          <a:solidFill>
            <a:srgbClr val="2B3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envel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5" y="4462272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14416" y="4443984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allison.cox@alignhcm.com</a:t>
            </a:r>
          </a:p>
        </p:txBody>
      </p:sp>
      <p:sp>
        <p:nvSpPr>
          <p:cNvPr id="16" name="Oval 15"/>
          <p:cNvSpPr/>
          <p:nvPr/>
        </p:nvSpPr>
        <p:spPr>
          <a:xfrm>
            <a:off x="4892040" y="5084064"/>
            <a:ext cx="493776" cy="493776"/>
          </a:xfrm>
          <a:prstGeom prst="ellipse">
            <a:avLst/>
          </a:prstGeom>
          <a:solidFill>
            <a:srgbClr val="2B3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055" y="5212080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14416" y="519379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317-690-7960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792A3"/>
                </a:solidFill>
                <a:latin typeface="Calibri"/>
              </a:rPr>
              <a:t>alignhcm.com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569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792A3"/>
                </a:solidFill>
                <a:latin typeface="Calibri"/>
              </a:rPr>
              <a:t>© 2026 AlignHCM  ·  Confidential   ·  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