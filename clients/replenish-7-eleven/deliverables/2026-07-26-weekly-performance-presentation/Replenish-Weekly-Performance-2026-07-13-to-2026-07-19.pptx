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f37434f62f412d" /><Relationship Type="http://schemas.openxmlformats.org/officeDocument/2006/relationships/extended-properties" Target="/docProps/app.xml" Id="Rca0f151a9b734c98" /><Relationship Type="http://schemas.openxmlformats.org/officeDocument/2006/relationships/officeDocument" Target="/ppt/presentation.xml" Id="Rbb845fe8ce634f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137572711f42c9"/>
  </p:sldMasterIdLst>
  <p:notesMasterIdLst>
    <p:notesMasterId xmlns:r="http://schemas.openxmlformats.org/officeDocument/2006/relationships" r:id="R22871095302548c8"/>
  </p:notesMasterIdLst>
  <p:sldIdLst>
    <p:sldId xmlns:r="http://schemas.openxmlformats.org/officeDocument/2006/relationships" id="256" r:id="Rc01acd8b808e493f"/>
    <p:sldId xmlns:r="http://schemas.openxmlformats.org/officeDocument/2006/relationships" id="257" r:id="Red3634b023404b51"/>
    <p:sldId xmlns:r="http://schemas.openxmlformats.org/officeDocument/2006/relationships" id="258" r:id="R568b32816b084224"/>
    <p:sldId xmlns:r="http://schemas.openxmlformats.org/officeDocument/2006/relationships" id="259" r:id="Racedf19959274d3f"/>
    <p:sldId xmlns:r="http://schemas.openxmlformats.org/officeDocument/2006/relationships" id="260" r:id="Ra3a68224207a483b"/>
    <p:sldId xmlns:r="http://schemas.openxmlformats.org/officeDocument/2006/relationships" id="261" r:id="R831d518f7bf84365"/>
    <p:sldId xmlns:r="http://schemas.openxmlformats.org/officeDocument/2006/relationships" id="262" r:id="Rc70dc1bab58843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2ebb2d47504d6e" /><Relationship Type="http://schemas.openxmlformats.org/officeDocument/2006/relationships/slideMaster" Target="/ppt/slideMasters/slideMaster1.xml" Id="R7a137572711f42c9" /><Relationship Type="http://schemas.openxmlformats.org/officeDocument/2006/relationships/notesMaster" Target="/ppt/notesMasters/notesMaster1.xml" Id="R22871095302548c8" /><Relationship Type="http://schemas.openxmlformats.org/officeDocument/2006/relationships/presProps" Target="/ppt/presProps.xml" Id="Ree2aa796de4a4094" /><Relationship Type="http://schemas.openxmlformats.org/officeDocument/2006/relationships/tableStyles" Target="/ppt/tableStyles.xml" Id="R334ab68274d947bb" /><Relationship Type="http://schemas.openxmlformats.org/officeDocument/2006/relationships/slide" Target="/ppt/slides/slide1.xml" Id="Rc01acd8b808e493f" /><Relationship Type="http://schemas.openxmlformats.org/officeDocument/2006/relationships/slide" Target="/ppt/slides/slide2.xml" Id="Red3634b023404b51" /><Relationship Type="http://schemas.openxmlformats.org/officeDocument/2006/relationships/slide" Target="/ppt/slides/slide3.xml" Id="R568b32816b084224" /><Relationship Type="http://schemas.openxmlformats.org/officeDocument/2006/relationships/slide" Target="/ppt/slides/slide4.xml" Id="Racedf19959274d3f" /><Relationship Type="http://schemas.openxmlformats.org/officeDocument/2006/relationships/slide" Target="/ppt/slides/slide5.xml" Id="Ra3a68224207a483b" /><Relationship Type="http://schemas.openxmlformats.org/officeDocument/2006/relationships/slide" Target="/ppt/slides/slide6.xml" Id="R831d518f7bf84365" /><Relationship Type="http://schemas.openxmlformats.org/officeDocument/2006/relationships/slide" Target="/ppt/slides/slide7.xml" Id="Rc70dc1bab588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165fd5ec443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7ea2c56c84011" /><Relationship Type="http://schemas.openxmlformats.org/officeDocument/2006/relationships/notesMaster" Target="/ppt/notesMasters/notesMaster1.xml" Id="R74392e336f1a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8501bd3c144e08" /><Relationship Type="http://schemas.openxmlformats.org/officeDocument/2006/relationships/notesMaster" Target="/ppt/notesMasters/notesMaster1.xml" Id="R4b0cce7651c14b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fd92663fad4697" /><Relationship Type="http://schemas.openxmlformats.org/officeDocument/2006/relationships/notesMaster" Target="/ppt/notesMasters/notesMaster1.xml" Id="R60773551fd93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918705700a4551" /><Relationship Type="http://schemas.openxmlformats.org/officeDocument/2006/relationships/notesMaster" Target="/ppt/notesMasters/notesMaster1.xml" Id="Ra2c41f67f25c4c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ee8811fc334ad8" /><Relationship Type="http://schemas.openxmlformats.org/officeDocument/2006/relationships/notesMaster" Target="/ppt/notesMasters/notesMaster1.xml" Id="R95ee0ae5bf234b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93dc8c84ce4c1e" /><Relationship Type="http://schemas.openxmlformats.org/officeDocument/2006/relationships/notesMaster" Target="/ppt/notesMasters/notesMaster1.xml" Id="Re1761575d1704c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ff1ac0d8be4356" /><Relationship Type="http://schemas.openxmlformats.org/officeDocument/2006/relationships/notesMaster" Target="/ppt/notesMasters/notesMaster1.xml" Id="R66a6d9532d204b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slide. Frame the review around traffic efficiency and market-level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https://replenish-2026-06-06.netlify.app/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detailed campaign rows as the controlling total: $775.03 spend, 36,432 impressions, 1,534 clicks, 4.21% CTR, and $0.51 average CPC.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https://replenish-2026-06-06.netlify.app/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Campaign-level spend by market. Boca Raton was paused but retained $4.04 of in-period spend.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https://replenish-2026-06-06.netlify.app/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Efficiency leaders are based on the reported CTR and average CPC. Torrey Del Mar also produced the most clicks.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https://replenish-2026-06-06.netlify.app/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Coral Springs recorded a 1.55% CTR and $2.55 average CPC. The deck recommends diagnostic review only; no spend or campaign change was made.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https://replenish-2026-06-06.netlify.app/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platform event totals as verified business outcomes until definitions, attribution, latency, tracking health, and downstream reconciliation are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https://replenish-2026-06-06.netlify.app/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four actions. All actions are recommendations for review; no ad, budget, targeting, creative, billing, or account changes were made.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https://replenish-2026-06-06.netlify.app/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bc8be758f43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f18515e49543f3" /><Relationship Type="http://schemas.openxmlformats.org/officeDocument/2006/relationships/slideLayout" Target="/ppt/slideLayouts/slideLayout1.xml" Id="Rcdda5260ca1a4f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a5260ca1a4f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834cc19e845ad" /><Relationship Type="http://schemas.openxmlformats.org/officeDocument/2006/relationships/image" Target="/ppt/media/image.png" Id="R6902a2f28c53416b" /><Relationship Type="http://schemas.openxmlformats.org/officeDocument/2006/relationships/image" Target="/ppt/media/image2.png" Id="R6d0d8fe183814e0b" /><Relationship Type="http://schemas.openxmlformats.org/officeDocument/2006/relationships/image" Target="/ppt/media/image.svg" Id="Rdeedb5fea35f4038" /><Relationship Type="http://schemas.openxmlformats.org/officeDocument/2006/relationships/notesSlide" Target="/ppt/notesSlides/notesSlide1.xml" Id="R98bb5a49c1f34f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6151f81c84951" /><Relationship Type="http://schemas.openxmlformats.org/officeDocument/2006/relationships/notesSlide" Target="/ppt/notesSlides/notesSlide2.xml" Id="R11588467d7e64a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a535195f1476e" /><Relationship Type="http://schemas.openxmlformats.org/officeDocument/2006/relationships/chart" Target="/ppt/slides/charts/chart1.xml" Id="R3577ba6411b247d0" /><Relationship Type="http://schemas.openxmlformats.org/officeDocument/2006/relationships/notesSlide" Target="/ppt/notesSlides/notesSlide3.xml" Id="R7f021efe0f8746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b2c3f9c1e46f2" /><Relationship Type="http://schemas.openxmlformats.org/officeDocument/2006/relationships/notesSlide" Target="/ppt/notesSlides/notesSlide4.xml" Id="R77c0c593b1d4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69e7ce2924324" /><Relationship Type="http://schemas.openxmlformats.org/officeDocument/2006/relationships/notesSlide" Target="/ppt/notesSlides/notesSlide5.xml" Id="R9d809b0526d242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ab1035b3c415f" /><Relationship Type="http://schemas.openxmlformats.org/officeDocument/2006/relationships/notesSlide" Target="/ppt/notesSlides/notesSlide6.xml" Id="R7ac5d8f08bb940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abfb0a2f04447" /><Relationship Type="http://schemas.openxmlformats.org/officeDocument/2006/relationships/notesSlide" Target="/ppt/notesSlides/notesSlide7.xml" Id="R04d0e8924460439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Spend</c:v>
          </c:tx>
          <c:spPr>
            <a:solidFill xmlns:a="http://schemas.openxmlformats.org/drawingml/2006/main">
              <a:srgbClr val="3080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BB7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BB7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BB7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080F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080F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3080F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3080FF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9AAAC0"/>
              </a:solidFill>
            </c:spPr>
          </c:dPt>
          <c:cat>
            <c:strLit>
              <c:ptCount val="8"/>
              <c:pt idx="0">
                <c:v>Torrey Del Mar</c:v>
              </c:pt>
              <c:pt idx="1">
                <c:v>Pompano</c:v>
              </c:pt>
              <c:pt idx="2">
                <c:v>Miramar</c:v>
              </c:pt>
              <c:pt idx="3">
                <c:v>Miami</c:v>
              </c:pt>
              <c:pt idx="4">
                <c:v>Carmel Mtn.</c:v>
              </c:pt>
              <c:pt idx="5">
                <c:v>Coral Springs</c:v>
              </c:pt>
              <c:pt idx="6">
                <c:v>Solana Beach</c:v>
              </c:pt>
              <c:pt idx="7">
                <c:v>Boca Raton</c:v>
              </c:pt>
            </c:strLit>
          </c:cat>
          <c:val>
            <c:numLit>
              <c:formatCode>$0.00</c:formatCode>
              <c:ptCount val="8"/>
              <c:pt idx="0">
                <c:v>141.5</c:v>
              </c:pt>
              <c:pt idx="1">
                <c:v>133.88</c:v>
              </c:pt>
              <c:pt idx="2">
                <c:v>129.79</c:v>
              </c:pt>
              <c:pt idx="3">
                <c:v>119.39</c:v>
              </c:pt>
              <c:pt idx="4">
                <c:v>117.61</c:v>
              </c:pt>
              <c:pt idx="5">
                <c:v>78.97</c:v>
              </c:pt>
              <c:pt idx="6">
                <c:v>49.85</c:v>
              </c:pt>
              <c:pt idx="7">
                <c:v>4.04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18315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8FAFC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329"/>
        </a:solidFill>
        <a:ln xmlns:a="http://schemas.openxmlformats.org/drawingml/2006/main" w="0">
          <a:solidFill>
            <a:srgbClr val="071329"/>
          </a:solidFill>
          <a:prstDash val="solid"/>
        </a:ln>
      </c:spPr>
    </c:plotArea>
    <c:plotVisOnly val="1"/>
  </c:chart>
  <c:spPr>
    <a:solidFill xmlns:a="http://schemas.openxmlformats.org/drawingml/2006/main">
      <a:srgbClr val="071329"/>
    </a:solidFill>
    <a:ln xmlns:a="http://schemas.openxmlformats.org/drawingml/2006/main" w="0">
      <a:solidFill>
        <a:srgbClr val="071329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blue-glow">
            <a:extLst xmlns:a="http://schemas.openxmlformats.org/drawingml/2006/main">
              <a:ext uri="{FF2B5EF4-FFF2-40B4-BE49-F238E27FC236}">
                <a16:creationId xmlns:a16="http://schemas.microsoft.com/office/drawing/2014/main" id="{63754E0E-CD7B-4722-AEA3-90B7BD99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381500" cy="4381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B6CE31D2-DFC8-48BA-A715-DE5CB52B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15290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90812D9-EA6D-401F-A352-5630B677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66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WEEKLY PERFORMANCE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2FDE557-FCE6-4953-9945-F8B33E2A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40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Traffic efficiency,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40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market by market.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458CC15-FF68-4C33-93E2-BCD3A9D3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Replenish Google Ads • July 13–19, 2026</a:t>
            </a:r>
          </a:p>
        </p:txBody>
      </p:sp>
      <p:sp>
        <p:nvSpPr>
          <p:cNvPr id="6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9AB3DC13-F5D2-4C9D-8BED-0CE4AAB7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9950"/>
            <a:ext cx="21336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1831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7" name="cover-period-label">
            <a:extLst xmlns:a="http://schemas.openxmlformats.org/drawingml/2006/main">
              <a:ext uri="{FF2B5EF4-FFF2-40B4-BE49-F238E27FC236}">
                <a16:creationId xmlns:a16="http://schemas.microsoft.com/office/drawing/2014/main" id="{6073EA09-6F8C-4F34-8305-361370D1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rPr>
              <a:t>REPORTING WINDOW</a:t>
            </a:r>
          </a:p>
        </p:txBody>
      </p:sp>
      <p:sp>
        <p:nvSpPr>
          <p:cNvPr id="8" name="cover-period-value">
            <a:extLst xmlns:a="http://schemas.openxmlformats.org/drawingml/2006/main">
              <a:ext uri="{FF2B5EF4-FFF2-40B4-BE49-F238E27FC236}">
                <a16:creationId xmlns:a16="http://schemas.microsoft.com/office/drawing/2014/main" id="{B68AED7E-9DC2-45ED-97F4-C4443DCE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243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JUL 13—19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2a2f28c53416b"/>
          <a:stretch xmlns:a="http://schemas.openxmlformats.org/drawingml/2006/main"/>
        </p:blipFill>
        <p:spPr>
          <a:xfrm xmlns:a="http://schemas.openxmlformats.org/drawingml/2006/main">
            <a:off x="671623" y="5829300"/>
            <a:ext cx="409353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brand-divider-612">
            <a:extLst xmlns:a="http://schemas.openxmlformats.org/drawingml/2006/main">
              <a:ext uri="{FF2B5EF4-FFF2-40B4-BE49-F238E27FC236}">
                <a16:creationId xmlns:a16="http://schemas.microsoft.com/office/drawing/2014/main" id="{EEFD5878-9F76-45EB-AC2E-695616A1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7692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d8fe183814e0b">
            <a:extLst>
              <a:ext uri="{96DAC541-7B7A-43D3-8B79-37D633B846F1}">
                <asvg:svgBlip xmlns:asvg="http://schemas.microsoft.com/office/drawing/2016/SVG/main" r:embed="Rdeedb5fea35f40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04950" y="5848350"/>
            <a:ext cx="13144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39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2">
            <a:extLst xmlns:a="http://schemas.openxmlformats.org/drawingml/2006/main">
              <a:ext uri="{FF2B5EF4-FFF2-40B4-BE49-F238E27FC236}">
                <a16:creationId xmlns:a16="http://schemas.microsoft.com/office/drawing/2014/main" id="{3F8AEDCE-1E9D-46DF-8131-45CA98B0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EXECUTIVE PULSE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FC57D531-1262-4C92-B893-76D09446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3" name="header-line-2">
            <a:extLst xmlns:a="http://schemas.openxmlformats.org/drawingml/2006/main">
              <a:ext uri="{FF2B5EF4-FFF2-40B4-BE49-F238E27FC236}">
                <a16:creationId xmlns:a16="http://schemas.microsoft.com/office/drawing/2014/main" id="{04821DBE-7AE9-4B25-8D9E-993B8D4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ulse-title">
            <a:extLst xmlns:a="http://schemas.openxmlformats.org/drawingml/2006/main">
              <a:ext uri="{FF2B5EF4-FFF2-40B4-BE49-F238E27FC236}">
                <a16:creationId xmlns:a16="http://schemas.microsoft.com/office/drawing/2014/main" id="{0C2F9497-7C6B-464F-8F8B-8A4593F4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The week delivered efficient traffic at scale.</a:t>
            </a:r>
          </a:p>
        </p:txBody>
      </p:sp>
      <p:sp>
        <p:nvSpPr>
          <p:cNvPr id="5" name="pulse-subtitle">
            <a:extLst xmlns:a="http://schemas.openxmlformats.org/drawingml/2006/main">
              <a:ext uri="{FF2B5EF4-FFF2-40B4-BE49-F238E27FC236}">
                <a16:creationId xmlns:a16="http://schemas.microsoft.com/office/drawing/2014/main" id="{F2C82400-1F1C-441B-9998-74687F0A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Campaign-row totals are used after a source reconciliation check.</a:t>
            </a:r>
          </a:p>
        </p:txBody>
      </p:sp>
      <p:sp>
        <p:nvSpPr>
          <p:cNvPr id="6" name="spend-card">
            <a:extLst xmlns:a="http://schemas.openxmlformats.org/drawingml/2006/main">
              <a:ext uri="{FF2B5EF4-FFF2-40B4-BE49-F238E27FC236}">
                <a16:creationId xmlns:a16="http://schemas.microsoft.com/office/drawing/2014/main" id="{C403DB71-5077-47A9-8CD3-F11F1371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000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7" name="spend-accent">
            <a:extLst xmlns:a="http://schemas.openxmlformats.org/drawingml/2006/main">
              <a:ext uri="{FF2B5EF4-FFF2-40B4-BE49-F238E27FC236}">
                <a16:creationId xmlns:a16="http://schemas.microsoft.com/office/drawing/2014/main" id="{15C49CD8-EFE7-42C5-A984-93D250CA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7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9C00"/>
          </a:solidFill>
          <a:ln xmlns:a="http://schemas.openxmlformats.org/drawingml/2006/main" w="9525">
            <a:solidFill>
              <a:srgbClr val="F99C00"/>
            </a:solidFill>
            <a:prstDash val="solid"/>
          </a:ln>
        </p:spPr>
      </p:sp>
      <p:sp>
        <p:nvSpPr>
          <p:cNvPr id="8" name="spend-value">
            <a:extLst xmlns:a="http://schemas.openxmlformats.org/drawingml/2006/main">
              <a:ext uri="{FF2B5EF4-FFF2-40B4-BE49-F238E27FC236}">
                <a16:creationId xmlns:a16="http://schemas.microsoft.com/office/drawing/2014/main" id="{2DF2E334-2EEB-44E4-B1F8-3A1A222E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$775.03</a:t>
            </a:r>
          </a:p>
        </p:txBody>
      </p:sp>
      <p:sp>
        <p:nvSpPr>
          <p:cNvPr id="9" name="spend-label">
            <a:extLst xmlns:a="http://schemas.openxmlformats.org/drawingml/2006/main">
              <a:ext uri="{FF2B5EF4-FFF2-40B4-BE49-F238E27FC236}">
                <a16:creationId xmlns:a16="http://schemas.microsoft.com/office/drawing/2014/main" id="{F82F1027-2C7D-473D-B925-937073BD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MANAGED SPEND</a:t>
            </a:r>
          </a:p>
        </p:txBody>
      </p:sp>
      <p:sp>
        <p:nvSpPr>
          <p:cNvPr id="10" name="impressions-card">
            <a:extLst xmlns:a="http://schemas.openxmlformats.org/drawingml/2006/main">
              <a:ext uri="{FF2B5EF4-FFF2-40B4-BE49-F238E27FC236}">
                <a16:creationId xmlns:a16="http://schemas.microsoft.com/office/drawing/2014/main" id="{396E9CAD-18D5-4663-949A-0C3EA2D2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71700"/>
            <a:ext cx="2000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1" name="impressions-accent">
            <a:extLst xmlns:a="http://schemas.openxmlformats.org/drawingml/2006/main">
              <a:ext uri="{FF2B5EF4-FFF2-40B4-BE49-F238E27FC236}">
                <a16:creationId xmlns:a16="http://schemas.microsoft.com/office/drawing/2014/main" id="{323CA01B-AFF1-4878-A497-4EC7B1C9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71700"/>
            <a:ext cx="57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80FF"/>
          </a:solidFill>
          <a:ln xmlns:a="http://schemas.openxmlformats.org/drawingml/2006/main" w="9525">
            <a:solidFill>
              <a:srgbClr val="3080FF"/>
            </a:solidFill>
            <a:prstDash val="solid"/>
          </a:ln>
        </p:spPr>
      </p:sp>
      <p:sp>
        <p:nvSpPr>
          <p:cNvPr id="12" name="impressions-value">
            <a:extLst xmlns:a="http://schemas.openxmlformats.org/drawingml/2006/main">
              <a:ext uri="{FF2B5EF4-FFF2-40B4-BE49-F238E27FC236}">
                <a16:creationId xmlns:a16="http://schemas.microsoft.com/office/drawing/2014/main" id="{F1843E0D-2138-4F8F-8CD5-0CA338DD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36,432</a:t>
            </a:r>
          </a:p>
        </p:txBody>
      </p:sp>
      <p:sp>
        <p:nvSpPr>
          <p:cNvPr id="13" name="impressions-label">
            <a:extLst xmlns:a="http://schemas.openxmlformats.org/drawingml/2006/main">
              <a:ext uri="{FF2B5EF4-FFF2-40B4-BE49-F238E27FC236}">
                <a16:creationId xmlns:a16="http://schemas.microsoft.com/office/drawing/2014/main" id="{E7527C74-65E1-45AD-8481-99B82062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718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IMPRESSIONS</a:t>
            </a:r>
          </a:p>
        </p:txBody>
      </p:sp>
      <p:sp>
        <p:nvSpPr>
          <p:cNvPr id="14" name="clicks-card">
            <a:extLst xmlns:a="http://schemas.openxmlformats.org/drawingml/2006/main">
              <a:ext uri="{FF2B5EF4-FFF2-40B4-BE49-F238E27FC236}">
                <a16:creationId xmlns:a16="http://schemas.microsoft.com/office/drawing/2014/main" id="{1F8F0157-0484-48A5-9CC8-5FD6BBC3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71700"/>
            <a:ext cx="2000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5" name="clicks-accent">
            <a:extLst xmlns:a="http://schemas.openxmlformats.org/drawingml/2006/main">
              <a:ext uri="{FF2B5EF4-FFF2-40B4-BE49-F238E27FC236}">
                <a16:creationId xmlns:a16="http://schemas.microsoft.com/office/drawing/2014/main" id="{D656BB4A-1111-404D-A0AD-79610143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71700"/>
            <a:ext cx="57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B7F"/>
          </a:solidFill>
          <a:ln xmlns:a="http://schemas.openxmlformats.org/drawingml/2006/main" w="9525">
            <a:solidFill>
              <a:srgbClr val="00BB7F"/>
            </a:solidFill>
            <a:prstDash val="solid"/>
          </a:ln>
        </p:spPr>
      </p:sp>
      <p:sp>
        <p:nvSpPr>
          <p:cNvPr id="16" name="clicks-value">
            <a:extLst xmlns:a="http://schemas.openxmlformats.org/drawingml/2006/main">
              <a:ext uri="{FF2B5EF4-FFF2-40B4-BE49-F238E27FC236}">
                <a16:creationId xmlns:a16="http://schemas.microsoft.com/office/drawing/2014/main" id="{23200A26-282B-40D0-84B0-85D85C33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1,534</a:t>
            </a:r>
          </a:p>
        </p:txBody>
      </p:sp>
      <p:sp>
        <p:nvSpPr>
          <p:cNvPr id="17" name="clicks-label">
            <a:extLst xmlns:a="http://schemas.openxmlformats.org/drawingml/2006/main">
              <a:ext uri="{FF2B5EF4-FFF2-40B4-BE49-F238E27FC236}">
                <a16:creationId xmlns:a16="http://schemas.microsoft.com/office/drawing/2014/main" id="{8D0BA177-746A-4693-ACE2-BA486BD9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CLICKS</a:t>
            </a:r>
          </a:p>
        </p:txBody>
      </p:sp>
      <p:sp>
        <p:nvSpPr>
          <p:cNvPr id="18" name="ctr-card">
            <a:extLst xmlns:a="http://schemas.openxmlformats.org/drawingml/2006/main">
              <a:ext uri="{FF2B5EF4-FFF2-40B4-BE49-F238E27FC236}">
                <a16:creationId xmlns:a16="http://schemas.microsoft.com/office/drawing/2014/main" id="{C2468C87-DC8D-4FB0-933D-A9B4DB85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2000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9" name="ctr-accent">
            <a:extLst xmlns:a="http://schemas.openxmlformats.org/drawingml/2006/main">
              <a:ext uri="{FF2B5EF4-FFF2-40B4-BE49-F238E27FC236}">
                <a16:creationId xmlns:a16="http://schemas.microsoft.com/office/drawing/2014/main" id="{28BC6643-9C54-469A-8AE3-A0192DAE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57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80FF"/>
          </a:solidFill>
          <a:ln xmlns:a="http://schemas.openxmlformats.org/drawingml/2006/main" w="9525">
            <a:solidFill>
              <a:srgbClr val="3080FF"/>
            </a:solidFill>
            <a:prstDash val="solid"/>
          </a:ln>
        </p:spPr>
      </p:sp>
      <p:sp>
        <p:nvSpPr>
          <p:cNvPr id="20" name="ctr-value">
            <a:extLst xmlns:a="http://schemas.openxmlformats.org/drawingml/2006/main">
              <a:ext uri="{FF2B5EF4-FFF2-40B4-BE49-F238E27FC236}">
                <a16:creationId xmlns:a16="http://schemas.microsoft.com/office/drawing/2014/main" id="{F5B1557D-9F65-4D9C-8C8A-FCA3D3E9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812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4.21%</a:t>
            </a:r>
          </a:p>
        </p:txBody>
      </p:sp>
      <p:sp>
        <p:nvSpPr>
          <p:cNvPr id="21" name="ctr-label">
            <a:extLst xmlns:a="http://schemas.openxmlformats.org/drawingml/2006/main">
              <a:ext uri="{FF2B5EF4-FFF2-40B4-BE49-F238E27FC236}">
                <a16:creationId xmlns:a16="http://schemas.microsoft.com/office/drawing/2014/main" id="{06949B42-4E77-45BA-A065-F56D695F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718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CLICK-THROUGH RATE</a:t>
            </a:r>
          </a:p>
        </p:txBody>
      </p:sp>
      <p:sp>
        <p:nvSpPr>
          <p:cNvPr id="22" name="cpc-card">
            <a:extLst xmlns:a="http://schemas.openxmlformats.org/drawingml/2006/main">
              <a:ext uri="{FF2B5EF4-FFF2-40B4-BE49-F238E27FC236}">
                <a16:creationId xmlns:a16="http://schemas.microsoft.com/office/drawing/2014/main" id="{5C327A91-4578-447F-90FB-3EED8BE1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71700"/>
            <a:ext cx="2000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23" name="cpc-accent">
            <a:extLst xmlns:a="http://schemas.openxmlformats.org/drawingml/2006/main">
              <a:ext uri="{FF2B5EF4-FFF2-40B4-BE49-F238E27FC236}">
                <a16:creationId xmlns:a16="http://schemas.microsoft.com/office/drawing/2014/main" id="{97A49E96-8205-4CFC-A5D9-C7C5D165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71700"/>
            <a:ext cx="57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9C00"/>
          </a:solidFill>
          <a:ln xmlns:a="http://schemas.openxmlformats.org/drawingml/2006/main" w="9525">
            <a:solidFill>
              <a:srgbClr val="F99C00"/>
            </a:solidFill>
            <a:prstDash val="solid"/>
          </a:ln>
        </p:spPr>
      </p:sp>
      <p:sp>
        <p:nvSpPr>
          <p:cNvPr id="24" name="cpc-value">
            <a:extLst xmlns:a="http://schemas.openxmlformats.org/drawingml/2006/main">
              <a:ext uri="{FF2B5EF4-FFF2-40B4-BE49-F238E27FC236}">
                <a16:creationId xmlns:a16="http://schemas.microsoft.com/office/drawing/2014/main" id="{91F927F9-F744-4282-8EEB-888900C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6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$0.51</a:t>
            </a:r>
          </a:p>
        </p:txBody>
      </p:sp>
      <p:sp>
        <p:nvSpPr>
          <p:cNvPr id="25" name="cpc-label">
            <a:extLst xmlns:a="http://schemas.openxmlformats.org/drawingml/2006/main">
              <a:ext uri="{FF2B5EF4-FFF2-40B4-BE49-F238E27FC236}">
                <a16:creationId xmlns:a16="http://schemas.microsoft.com/office/drawing/2014/main" id="{17B705DB-93E0-4640-8C95-87635AE6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718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AVERAGE CPC</a:t>
            </a:r>
          </a:p>
        </p:txBody>
      </p:sp>
      <p:sp>
        <p:nvSpPr>
          <p:cNvPr id="26" name="pulse-takeaway">
            <a:extLst xmlns:a="http://schemas.openxmlformats.org/drawingml/2006/main">
              <a:ext uri="{FF2B5EF4-FFF2-40B4-BE49-F238E27FC236}">
                <a16:creationId xmlns:a16="http://schemas.microsoft.com/office/drawing/2014/main" id="{DBBAAD99-B399-4F5F-ACC6-0E6C90A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6489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B1831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27" name="pulse-takeaway-label">
            <a:extLst xmlns:a="http://schemas.openxmlformats.org/drawingml/2006/main">
              <a:ext uri="{FF2B5EF4-FFF2-40B4-BE49-F238E27FC236}">
                <a16:creationId xmlns:a16="http://schemas.microsoft.com/office/drawing/2014/main" id="{FA6E6022-C9FB-4C26-B2F0-AF9664A1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BB7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00BB7F"/>
                </a:solidFill>
                <a:latin typeface="JetBrains Mono"/>
                <a:ea typeface="JetBrains Mono"/>
                <a:cs typeface="JetBrains Mono"/>
              </a:rPr>
              <a:t>WHAT MATTERS</a:t>
            </a:r>
          </a:p>
        </p:txBody>
      </p:sp>
      <p:sp>
        <p:nvSpPr>
          <p:cNvPr id="28" name="pulse-takeaway-text">
            <a:extLst xmlns:a="http://schemas.openxmlformats.org/drawingml/2006/main">
              <a:ext uri="{FF2B5EF4-FFF2-40B4-BE49-F238E27FC236}">
                <a16:creationId xmlns:a16="http://schemas.microsoft.com/office/drawing/2014/main" id="{5DDEA294-C600-4D99-AF6E-C59BB3AA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960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Most markets generated affordable traffic. The next gains come from protecting the strongest market patterns and tightening the few expensive pockets.</a:t>
            </a:r>
          </a:p>
        </p:txBody>
      </p:sp>
      <p:sp>
        <p:nvSpPr>
          <p:cNvPr id="29" name="footer-2">
            <a:extLst xmlns:a="http://schemas.openxmlformats.org/drawingml/2006/main">
              <a:ext uri="{FF2B5EF4-FFF2-40B4-BE49-F238E27FC236}">
                <a16:creationId xmlns:a16="http://schemas.microsoft.com/office/drawing/2014/main" id="{BC46EA11-FD3A-4110-88D0-4F33CFDE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REPLENISH • JUL 13–19, 2026 • GOOGLE ADS</a:t>
            </a:r>
          </a:p>
        </p:txBody>
      </p:sp>
    </p:spTree>
    <p:extLst>
      <p:ext uri="{BB962C8B-B14F-4D97-AF65-F5344CB8AC3E}">
        <p14:creationId xmlns:p14="http://schemas.microsoft.com/office/powerpoint/2010/main" val="895712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-3">
            <a:extLst xmlns:a="http://schemas.openxmlformats.org/drawingml/2006/main">
              <a:ext uri="{FF2B5EF4-FFF2-40B4-BE49-F238E27FC236}">
                <a16:creationId xmlns:a16="http://schemas.microsoft.com/office/drawing/2014/main" id="{777EEA13-8FF2-4039-B78C-6A9D9B1B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MARKET ALLOCATION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C363F46A-0DF4-4A50-A7AB-F5C31B72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3" name="header-line-3">
            <a:extLst xmlns:a="http://schemas.openxmlformats.org/drawingml/2006/main">
              <a:ext uri="{FF2B5EF4-FFF2-40B4-BE49-F238E27FC236}">
                <a16:creationId xmlns:a16="http://schemas.microsoft.com/office/drawing/2014/main" id="{02827857-B76D-4F79-9890-16382A24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llocation-title">
            <a:extLst xmlns:a="http://schemas.openxmlformats.org/drawingml/2006/main">
              <a:ext uri="{FF2B5EF4-FFF2-40B4-BE49-F238E27FC236}">
                <a16:creationId xmlns:a16="http://schemas.microsoft.com/office/drawing/2014/main" id="{919EF200-CF9E-4024-982C-29525F7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Spend followed the markets generating the most traffic.</a:t>
            </a:r>
          </a:p>
        </p:txBody>
      </p:sp>
      <p:sp>
        <p:nvSpPr>
          <p:cNvPr id="5" name="allocation-subtitle">
            <a:extLst xmlns:a="http://schemas.openxmlformats.org/drawingml/2006/main">
              <a:ext uri="{FF2B5EF4-FFF2-40B4-BE49-F238E27FC236}">
                <a16:creationId xmlns:a16="http://schemas.microsoft.com/office/drawing/2014/main" id="{15899EE5-0F36-40A1-8ED1-1639ED5C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Seven active markets plus a small paused-period residual in Boca Raton.</a:t>
            </a:r>
          </a:p>
        </p:txBody>
      </p:sp>
      <p:sp>
        <p:nvSpPr>
          <p:cNvPr id="6" name="allocation-chart-panel">
            <a:extLst xmlns:a="http://schemas.openxmlformats.org/drawingml/2006/main">
              <a:ext uri="{FF2B5EF4-FFF2-40B4-BE49-F238E27FC236}">
                <a16:creationId xmlns:a16="http://schemas.microsoft.com/office/drawing/2014/main" id="{5A6DB372-0D9D-4020-A8BF-B6D56907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648950" cy="3638550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90600" y="2400300"/>
          <a:ext xmlns:a="http://schemas.openxmlformats.org/drawingml/2006/main" cx="988695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77ba6411b247d0"/>
          </a:graphicData>
        </a:graphic>
      </p:graphicFrame>
      <p:sp>
        <p:nvSpPr>
          <p:cNvPr id="8" name="footer-3">
            <a:extLst xmlns:a="http://schemas.openxmlformats.org/drawingml/2006/main">
              <a:ext uri="{FF2B5EF4-FFF2-40B4-BE49-F238E27FC236}">
                <a16:creationId xmlns:a16="http://schemas.microsoft.com/office/drawing/2014/main" id="{2EB4F7F0-CF7D-4AB2-86E1-0B382EE2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REPLENISH • JUL 13–19, 2026 • GOOGLE ADS</a:t>
            </a:r>
          </a:p>
        </p:txBody>
      </p:sp>
    </p:spTree>
    <p:extLst>
      <p:ext uri="{BB962C8B-B14F-4D97-AF65-F5344CB8AC3E}">
        <p14:creationId xmlns:p14="http://schemas.microsoft.com/office/powerpoint/2010/main" val="2133880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4">
            <a:extLst xmlns:a="http://schemas.openxmlformats.org/drawingml/2006/main">
              <a:ext uri="{FF2B5EF4-FFF2-40B4-BE49-F238E27FC236}">
                <a16:creationId xmlns:a16="http://schemas.microsoft.com/office/drawing/2014/main" id="{7C198318-C525-413D-A2C6-130FFE7A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EFFICIENCY LEADERS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6EC7B7F4-BBC9-4517-9570-6D1C69A8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3" name="header-line-4">
            <a:extLst xmlns:a="http://schemas.openxmlformats.org/drawingml/2006/main">
              <a:ext uri="{FF2B5EF4-FFF2-40B4-BE49-F238E27FC236}">
                <a16:creationId xmlns:a16="http://schemas.microsoft.com/office/drawing/2014/main" id="{939F9655-4129-4F5D-9BE4-DCD9B0BC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aders-title">
            <a:extLst xmlns:a="http://schemas.openxmlformats.org/drawingml/2006/main">
              <a:ext uri="{FF2B5EF4-FFF2-40B4-BE49-F238E27FC236}">
                <a16:creationId xmlns:a16="http://schemas.microsoft.com/office/drawing/2014/main" id="{A81C6156-96A1-4232-A38D-BADB5AA4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Three markets set the efficiency bar.</a:t>
            </a:r>
          </a:p>
        </p:txBody>
      </p:sp>
      <p:sp>
        <p:nvSpPr>
          <p:cNvPr id="5" name="leaders-subtitle">
            <a:extLst xmlns:a="http://schemas.openxmlformats.org/drawingml/2006/main">
              <a:ext uri="{FF2B5EF4-FFF2-40B4-BE49-F238E27FC236}">
                <a16:creationId xmlns:a16="http://schemas.microsoft.com/office/drawing/2014/main" id="{5A91BB80-84EC-4678-8EEA-0AB9DC89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Strong click-through rates paired with low average CPC.</a:t>
            </a:r>
          </a:p>
        </p:txBody>
      </p:sp>
      <p:sp>
        <p:nvSpPr>
          <p:cNvPr id="6" name="leader-card-0">
            <a:extLst xmlns:a="http://schemas.openxmlformats.org/drawingml/2006/main">
              <a:ext uri="{FF2B5EF4-FFF2-40B4-BE49-F238E27FC236}">
                <a16:creationId xmlns:a16="http://schemas.microsoft.com/office/drawing/2014/main" id="{44C42C89-2A94-487C-A428-28BBA1C7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3718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7" name="leader-rank-0">
            <a:extLst xmlns:a="http://schemas.openxmlformats.org/drawingml/2006/main">
              <a:ext uri="{FF2B5EF4-FFF2-40B4-BE49-F238E27FC236}">
                <a16:creationId xmlns:a16="http://schemas.microsoft.com/office/drawing/2014/main" id="{AEB11E50-1449-4322-ADAE-378E4204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0BB7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00BB7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leader-market-0">
            <a:extLst xmlns:a="http://schemas.openxmlformats.org/drawingml/2006/main">
              <a:ext uri="{FF2B5EF4-FFF2-40B4-BE49-F238E27FC236}">
                <a16:creationId xmlns:a16="http://schemas.microsoft.com/office/drawing/2014/main" id="{79C204C7-18E0-40D2-82C0-8774E49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Torrey Del Mar</a:t>
            </a:r>
          </a:p>
        </p:txBody>
      </p:sp>
      <p:sp>
        <p:nvSpPr>
          <p:cNvPr id="9" name="leader-ctr-0">
            <a:extLst xmlns:a="http://schemas.openxmlformats.org/drawingml/2006/main">
              <a:ext uri="{FF2B5EF4-FFF2-40B4-BE49-F238E27FC236}">
                <a16:creationId xmlns:a16="http://schemas.microsoft.com/office/drawing/2014/main" id="{AA44AB35-2809-4313-BE21-A57B9508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00BB7F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00BB7F"/>
                </a:solidFill>
                <a:latin typeface="Space Grotesk"/>
                <a:ea typeface="Space Grotesk"/>
                <a:cs typeface="Space Grotesk"/>
              </a:rPr>
              <a:t>5.51%</a:t>
            </a:r>
          </a:p>
        </p:txBody>
      </p:sp>
      <p:sp>
        <p:nvSpPr>
          <p:cNvPr id="10" name="leader-ctr-label-0">
            <a:extLst xmlns:a="http://schemas.openxmlformats.org/drawingml/2006/main">
              <a:ext uri="{FF2B5EF4-FFF2-40B4-BE49-F238E27FC236}">
                <a16:creationId xmlns:a16="http://schemas.microsoft.com/office/drawing/2014/main" id="{7BE1538F-E517-44F2-9DE5-67BB2798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CTR</a:t>
            </a:r>
          </a:p>
        </p:txBody>
      </p:sp>
      <p:sp>
        <p:nvSpPr>
          <p:cNvPr id="11" name="leader-cpc-0">
            <a:extLst xmlns:a="http://schemas.openxmlformats.org/drawingml/2006/main">
              <a:ext uri="{FF2B5EF4-FFF2-40B4-BE49-F238E27FC236}">
                <a16:creationId xmlns:a16="http://schemas.microsoft.com/office/drawing/2014/main" id="{A8F25A9B-3F4A-4756-B02B-A5251EFE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9095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$0.35</a:t>
            </a:r>
          </a:p>
        </p:txBody>
      </p:sp>
      <p:sp>
        <p:nvSpPr>
          <p:cNvPr id="12" name="leader-cpc-label-0">
            <a:extLst xmlns:a="http://schemas.openxmlformats.org/drawingml/2006/main">
              <a:ext uri="{FF2B5EF4-FFF2-40B4-BE49-F238E27FC236}">
                <a16:creationId xmlns:a16="http://schemas.microsoft.com/office/drawing/2014/main" id="{60B41F3C-C12B-4836-8349-5F599480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AVG CPC</a:t>
            </a:r>
          </a:p>
        </p:txBody>
      </p:sp>
      <p:sp>
        <p:nvSpPr>
          <p:cNvPr id="13" name="leader-divider-0">
            <a:extLst xmlns:a="http://schemas.openxmlformats.org/drawingml/2006/main">
              <a:ext uri="{FF2B5EF4-FFF2-40B4-BE49-F238E27FC236}">
                <a16:creationId xmlns:a16="http://schemas.microsoft.com/office/drawing/2014/main" id="{5B93EB84-714E-461B-9806-4D29094C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ader-clicks-0">
            <a:extLst xmlns:a="http://schemas.openxmlformats.org/drawingml/2006/main">
              <a:ext uri="{FF2B5EF4-FFF2-40B4-BE49-F238E27FC236}">
                <a16:creationId xmlns:a16="http://schemas.microsoft.com/office/drawing/2014/main" id="{9B56C487-D6CA-41BA-A795-36BC009A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9AAAC0"/>
                </a:solidFill>
                <a:latin typeface="Inter"/>
                <a:ea typeface="Inter"/>
                <a:cs typeface="Inter"/>
              </a:rPr>
              <a:t>405 clicks</a:t>
            </a:r>
          </a:p>
        </p:txBody>
      </p:sp>
      <p:sp>
        <p:nvSpPr>
          <p:cNvPr id="15" name="leader-card-1">
            <a:extLst xmlns:a="http://schemas.openxmlformats.org/drawingml/2006/main">
              <a:ext uri="{FF2B5EF4-FFF2-40B4-BE49-F238E27FC236}">
                <a16:creationId xmlns:a16="http://schemas.microsoft.com/office/drawing/2014/main" id="{71942442-B9A4-46E3-9FA5-D1AD6920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09800"/>
            <a:ext cx="33718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6" name="leader-rank-1">
            <a:extLst xmlns:a="http://schemas.openxmlformats.org/drawingml/2006/main">
              <a:ext uri="{FF2B5EF4-FFF2-40B4-BE49-F238E27FC236}">
                <a16:creationId xmlns:a16="http://schemas.microsoft.com/office/drawing/2014/main" id="{560CB282-F837-4927-9F4C-768A8FF5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7" name="leader-market-1">
            <a:extLst xmlns:a="http://schemas.openxmlformats.org/drawingml/2006/main">
              <a:ext uri="{FF2B5EF4-FFF2-40B4-BE49-F238E27FC236}">
                <a16:creationId xmlns:a16="http://schemas.microsoft.com/office/drawing/2014/main" id="{1DF85048-A1D3-4077-8F31-2643DA79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Carmel Mountain</a:t>
            </a:r>
          </a:p>
        </p:txBody>
      </p:sp>
      <p:sp>
        <p:nvSpPr>
          <p:cNvPr id="18" name="leader-ctr-1">
            <a:extLst xmlns:a="http://schemas.openxmlformats.org/drawingml/2006/main">
              <a:ext uri="{FF2B5EF4-FFF2-40B4-BE49-F238E27FC236}">
                <a16:creationId xmlns:a16="http://schemas.microsoft.com/office/drawing/2014/main" id="{FFAC0AF6-2C6D-4834-B56C-FD3ECD1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3080FF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3080FF"/>
                </a:solidFill>
                <a:latin typeface="Space Grotesk"/>
                <a:ea typeface="Space Grotesk"/>
                <a:cs typeface="Space Grotesk"/>
              </a:rPr>
              <a:t>4.90%</a:t>
            </a:r>
          </a:p>
        </p:txBody>
      </p:sp>
      <p:sp>
        <p:nvSpPr>
          <p:cNvPr id="19" name="leader-ctr-label-1">
            <a:extLst xmlns:a="http://schemas.openxmlformats.org/drawingml/2006/main">
              <a:ext uri="{FF2B5EF4-FFF2-40B4-BE49-F238E27FC236}">
                <a16:creationId xmlns:a16="http://schemas.microsoft.com/office/drawing/2014/main" id="{EDB93487-F76D-4E41-AEA5-71AE1E5F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7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CTR</a:t>
            </a:r>
          </a:p>
        </p:txBody>
      </p:sp>
      <p:sp>
        <p:nvSpPr>
          <p:cNvPr id="20" name="leader-cpc-1">
            <a:extLst xmlns:a="http://schemas.openxmlformats.org/drawingml/2006/main">
              <a:ext uri="{FF2B5EF4-FFF2-40B4-BE49-F238E27FC236}">
                <a16:creationId xmlns:a16="http://schemas.microsoft.com/office/drawing/2014/main" id="{59387EBF-B3B6-43B8-B3FD-1ADF9140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$0.41</a:t>
            </a:r>
          </a:p>
        </p:txBody>
      </p:sp>
      <p:sp>
        <p:nvSpPr>
          <p:cNvPr id="21" name="leader-cpc-label-1">
            <a:extLst xmlns:a="http://schemas.openxmlformats.org/drawingml/2006/main">
              <a:ext uri="{FF2B5EF4-FFF2-40B4-BE49-F238E27FC236}">
                <a16:creationId xmlns:a16="http://schemas.microsoft.com/office/drawing/2014/main" id="{5BD58F2E-E2AF-4843-B17D-A9A98BE4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767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AVG CPC</a:t>
            </a:r>
          </a:p>
        </p:txBody>
      </p:sp>
      <p:sp>
        <p:nvSpPr>
          <p:cNvPr id="22" name="leader-divider-1">
            <a:extLst xmlns:a="http://schemas.openxmlformats.org/drawingml/2006/main">
              <a:ext uri="{FF2B5EF4-FFF2-40B4-BE49-F238E27FC236}">
                <a16:creationId xmlns:a16="http://schemas.microsoft.com/office/drawing/2014/main" id="{A4AF9316-0CF7-4FF6-8AAA-809BB54F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eader-clicks-1">
            <a:extLst xmlns:a="http://schemas.openxmlformats.org/drawingml/2006/main">
              <a:ext uri="{FF2B5EF4-FFF2-40B4-BE49-F238E27FC236}">
                <a16:creationId xmlns:a16="http://schemas.microsoft.com/office/drawing/2014/main" id="{11B71C80-A603-4F98-A2C1-22DD6FB3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9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9AAAC0"/>
                </a:solidFill>
                <a:latin typeface="Inter"/>
                <a:ea typeface="Inter"/>
                <a:cs typeface="Inter"/>
              </a:rPr>
              <a:t>289 clicks</a:t>
            </a:r>
          </a:p>
        </p:txBody>
      </p:sp>
      <p:sp>
        <p:nvSpPr>
          <p:cNvPr id="24" name="leader-card-2">
            <a:extLst xmlns:a="http://schemas.openxmlformats.org/drawingml/2006/main">
              <a:ext uri="{FF2B5EF4-FFF2-40B4-BE49-F238E27FC236}">
                <a16:creationId xmlns:a16="http://schemas.microsoft.com/office/drawing/2014/main" id="{8F7D4EFE-2DFA-4EB6-AD31-6CB211A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33718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25" name="leader-rank-2">
            <a:extLst xmlns:a="http://schemas.openxmlformats.org/drawingml/2006/main">
              <a:ext uri="{FF2B5EF4-FFF2-40B4-BE49-F238E27FC236}">
                <a16:creationId xmlns:a16="http://schemas.microsoft.com/office/drawing/2014/main" id="{764F3684-68FF-4CF3-B13E-6051E2E6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6" name="leader-market-2">
            <a:extLst xmlns:a="http://schemas.openxmlformats.org/drawingml/2006/main">
              <a:ext uri="{FF2B5EF4-FFF2-40B4-BE49-F238E27FC236}">
                <a16:creationId xmlns:a16="http://schemas.microsoft.com/office/drawing/2014/main" id="{9BD16EAC-9A1A-4697-9C46-345389DD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Miramar</a:t>
            </a:r>
          </a:p>
        </p:txBody>
      </p:sp>
      <p:sp>
        <p:nvSpPr>
          <p:cNvPr id="27" name="leader-ctr-2">
            <a:extLst xmlns:a="http://schemas.openxmlformats.org/drawingml/2006/main">
              <a:ext uri="{FF2B5EF4-FFF2-40B4-BE49-F238E27FC236}">
                <a16:creationId xmlns:a16="http://schemas.microsoft.com/office/drawing/2014/main" id="{083BFB7E-90FD-4C4C-9CC0-C6D68B4B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99C00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F99C00"/>
                </a:solidFill>
                <a:latin typeface="Space Grotesk"/>
                <a:ea typeface="Space Grotesk"/>
                <a:cs typeface="Space Grotesk"/>
              </a:rPr>
              <a:t>4.29%</a:t>
            </a:r>
          </a:p>
        </p:txBody>
      </p:sp>
      <p:sp>
        <p:nvSpPr>
          <p:cNvPr id="28" name="leader-ctr-label-2">
            <a:extLst xmlns:a="http://schemas.openxmlformats.org/drawingml/2006/main">
              <a:ext uri="{FF2B5EF4-FFF2-40B4-BE49-F238E27FC236}">
                <a16:creationId xmlns:a16="http://schemas.microsoft.com/office/drawing/2014/main" id="{D4876850-991A-4DBE-9833-D53561FC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7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CTR</a:t>
            </a:r>
          </a:p>
        </p:txBody>
      </p:sp>
      <p:sp>
        <p:nvSpPr>
          <p:cNvPr id="29" name="leader-cpc-2">
            <a:extLst xmlns:a="http://schemas.openxmlformats.org/drawingml/2006/main">
              <a:ext uri="{FF2B5EF4-FFF2-40B4-BE49-F238E27FC236}">
                <a16:creationId xmlns:a16="http://schemas.microsoft.com/office/drawing/2014/main" id="{DBB56CE6-9719-43B2-80B5-BEBF4116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9095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$0.36</a:t>
            </a:r>
          </a:p>
        </p:txBody>
      </p:sp>
      <p:sp>
        <p:nvSpPr>
          <p:cNvPr id="30" name="leader-cpc-label-2">
            <a:extLst xmlns:a="http://schemas.openxmlformats.org/drawingml/2006/main">
              <a:ext uri="{FF2B5EF4-FFF2-40B4-BE49-F238E27FC236}">
                <a16:creationId xmlns:a16="http://schemas.microsoft.com/office/drawing/2014/main" id="{60BE243E-1F5F-4288-BA75-9D9B27E2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767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AVG CPC</a:t>
            </a:r>
          </a:p>
        </p:txBody>
      </p:sp>
      <p:sp>
        <p:nvSpPr>
          <p:cNvPr id="31" name="leader-divider-2">
            <a:extLst xmlns:a="http://schemas.openxmlformats.org/drawingml/2006/main">
              <a:ext uri="{FF2B5EF4-FFF2-40B4-BE49-F238E27FC236}">
                <a16:creationId xmlns:a16="http://schemas.microsoft.com/office/drawing/2014/main" id="{6022236D-0E39-4062-B09B-FF9A6D16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leader-clicks-2">
            <a:extLst xmlns:a="http://schemas.openxmlformats.org/drawingml/2006/main">
              <a:ext uri="{FF2B5EF4-FFF2-40B4-BE49-F238E27FC236}">
                <a16:creationId xmlns:a16="http://schemas.microsoft.com/office/drawing/2014/main" id="{FBAE9590-637B-4489-A01B-CDE8412B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9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9AAAC0"/>
                </a:solidFill>
                <a:latin typeface="Inter"/>
                <a:ea typeface="Inter"/>
                <a:cs typeface="Inter"/>
              </a:rPr>
              <a:t>361 clicks</a:t>
            </a:r>
          </a:p>
        </p:txBody>
      </p:sp>
      <p:sp>
        <p:nvSpPr>
          <p:cNvPr id="33" name="footer-4">
            <a:extLst xmlns:a="http://schemas.openxmlformats.org/drawingml/2006/main">
              <a:ext uri="{FF2B5EF4-FFF2-40B4-BE49-F238E27FC236}">
                <a16:creationId xmlns:a16="http://schemas.microsoft.com/office/drawing/2014/main" id="{D8B8F7D7-3788-4A61-9166-02F2429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REPLENISH • JUL 13–19, 2026 • GOOGLE ADS</a:t>
            </a:r>
          </a:p>
        </p:txBody>
      </p:sp>
    </p:spTree>
    <p:extLst>
      <p:ext uri="{BB962C8B-B14F-4D97-AF65-F5344CB8AC3E}">
        <p14:creationId xmlns:p14="http://schemas.microsoft.com/office/powerpoint/2010/main" val="1129142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5">
            <a:extLst xmlns:a="http://schemas.openxmlformats.org/drawingml/2006/main">
              <a:ext uri="{FF2B5EF4-FFF2-40B4-BE49-F238E27FC236}">
                <a16:creationId xmlns:a16="http://schemas.microsoft.com/office/drawing/2014/main" id="{AB8E8F08-7B0F-4761-AA70-A042B2C8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WATCH LIST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FDBAC288-EB82-495A-B526-4757FB7E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3" name="header-line-5">
            <a:extLst xmlns:a="http://schemas.openxmlformats.org/drawingml/2006/main">
              <a:ext uri="{FF2B5EF4-FFF2-40B4-BE49-F238E27FC236}">
                <a16:creationId xmlns:a16="http://schemas.microsoft.com/office/drawing/2014/main" id="{DA6DE265-6666-40BD-81C3-8BCC4115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atch-title">
            <a:extLst xmlns:a="http://schemas.openxmlformats.org/drawingml/2006/main">
              <a:ext uri="{FF2B5EF4-FFF2-40B4-BE49-F238E27FC236}">
                <a16:creationId xmlns:a16="http://schemas.microsoft.com/office/drawing/2014/main" id="{7244691D-DAC9-49E2-82F7-B5DB34C7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Coral Springs is the clearest efficiency opportunity.</a:t>
            </a:r>
          </a:p>
        </p:txBody>
      </p:sp>
      <p:sp>
        <p:nvSpPr>
          <p:cNvPr id="5" name="watch-subtitle">
            <a:extLst xmlns:a="http://schemas.openxmlformats.org/drawingml/2006/main">
              <a:ext uri="{FF2B5EF4-FFF2-40B4-BE49-F238E27FC236}">
                <a16:creationId xmlns:a16="http://schemas.microsoft.com/office/drawing/2014/main" id="{DF7D1CBB-06D7-4562-8D11-22CDF1CC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Its click costs materially exceed the rest of the active portfolio.</a:t>
            </a:r>
          </a:p>
        </p:txBody>
      </p:sp>
      <p:sp>
        <p:nvSpPr>
          <p:cNvPr id="6" name="watch-main">
            <a:extLst xmlns:a="http://schemas.openxmlformats.org/drawingml/2006/main">
              <a:ext uri="{FF2B5EF4-FFF2-40B4-BE49-F238E27FC236}">
                <a16:creationId xmlns:a16="http://schemas.microsoft.com/office/drawing/2014/main" id="{0E89814B-19BC-4993-93D3-CE896123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1035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FF2357"/>
            </a:solidFill>
            <a:prstDash val="solid"/>
          </a:ln>
        </p:spPr>
      </p:sp>
      <p:sp>
        <p:nvSpPr>
          <p:cNvPr id="7" name="watch-main-label">
            <a:extLst xmlns:a="http://schemas.openxmlformats.org/drawingml/2006/main">
              <a:ext uri="{FF2B5EF4-FFF2-40B4-BE49-F238E27FC236}">
                <a16:creationId xmlns:a16="http://schemas.microsoft.com/office/drawing/2014/main" id="{72C90F9C-82E3-4AB6-BEC0-A403C289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F23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FF2357"/>
                </a:solidFill>
                <a:latin typeface="JetBrains Mono"/>
                <a:ea typeface="JetBrains Mono"/>
                <a:cs typeface="JetBrains Mono"/>
              </a:rPr>
              <a:t>CORAL SPRINGS</a:t>
            </a:r>
          </a:p>
        </p:txBody>
      </p:sp>
      <p:sp>
        <p:nvSpPr>
          <p:cNvPr id="8" name="watch-cpc">
            <a:extLst xmlns:a="http://schemas.openxmlformats.org/drawingml/2006/main">
              <a:ext uri="{FF2B5EF4-FFF2-40B4-BE49-F238E27FC236}">
                <a16:creationId xmlns:a16="http://schemas.microsoft.com/office/drawing/2014/main" id="{39C07480-3117-4B02-AD2A-B1135077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4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$2.55</a:t>
            </a:r>
          </a:p>
        </p:txBody>
      </p:sp>
      <p:sp>
        <p:nvSpPr>
          <p:cNvPr id="9" name="watch-cpc-label">
            <a:extLst xmlns:a="http://schemas.openxmlformats.org/drawingml/2006/main">
              <a:ext uri="{FF2B5EF4-FFF2-40B4-BE49-F238E27FC236}">
                <a16:creationId xmlns:a16="http://schemas.microsoft.com/office/drawing/2014/main" id="{F7AAF26C-DB53-45EB-BB12-E664922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AVERAGE CPC</a:t>
            </a:r>
          </a:p>
        </p:txBody>
      </p:sp>
      <p:sp>
        <p:nvSpPr>
          <p:cNvPr id="10" name="watch-detail">
            <a:extLst xmlns:a="http://schemas.openxmlformats.org/drawingml/2006/main">
              <a:ext uri="{FF2B5EF4-FFF2-40B4-BE49-F238E27FC236}">
                <a16:creationId xmlns:a16="http://schemas.microsoft.com/office/drawing/2014/main" id="{4476B77F-6BA9-4942-B6F2-BB1A4AA9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31 clicks from 2,000 impressions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on $78.97 of spend</a:t>
            </a:r>
          </a:p>
        </p:txBody>
      </p:sp>
      <p:sp>
        <p:nvSpPr>
          <p:cNvPr id="11" name="watch-actions">
            <a:extLst xmlns:a="http://schemas.openxmlformats.org/drawingml/2006/main">
              <a:ext uri="{FF2B5EF4-FFF2-40B4-BE49-F238E27FC236}">
                <a16:creationId xmlns:a16="http://schemas.microsoft.com/office/drawing/2014/main" id="{C00E9B49-83CB-4591-BC36-D7F98B7B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371475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B1831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2" name="watch-actions-label">
            <a:extLst xmlns:a="http://schemas.openxmlformats.org/drawingml/2006/main">
              <a:ext uri="{FF2B5EF4-FFF2-40B4-BE49-F238E27FC236}">
                <a16:creationId xmlns:a16="http://schemas.microsoft.com/office/drawing/2014/main" id="{698FFA43-D210-4B83-90EB-8242C4B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rPr>
              <a:t>NEXT REVIEW</a:t>
            </a:r>
          </a:p>
        </p:txBody>
      </p:sp>
      <p:sp>
        <p:nvSpPr>
          <p:cNvPr id="13" name="watch-actions-text">
            <a:extLst xmlns:a="http://schemas.openxmlformats.org/drawingml/2006/main">
              <a:ext uri="{FF2B5EF4-FFF2-40B4-BE49-F238E27FC236}">
                <a16:creationId xmlns:a16="http://schemas.microsoft.com/office/drawing/2014/main" id="{6982750E-91FC-4F41-A4A2-F9437198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8FAF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8FAFC"/>
                </a:solidFill>
                <a:latin typeface="Inter"/>
                <a:ea typeface="Inter"/>
                <a:cs typeface="Inter"/>
              </a:rPr>
              <a:t>1  Inspect traffic quality and location relevance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8FAF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8FAFC"/>
                </a:solidFill>
                <a:latin typeface="Inter"/>
                <a:ea typeface="Inter"/>
                <a:cs typeface="Inter"/>
              </a:rPr>
              <a:t>2  Compare asset and audience signals with the efficient markets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8FAF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8FAFC"/>
                </a:solidFill>
                <a:latin typeface="Inter"/>
                <a:ea typeface="Inter"/>
                <a:cs typeface="Inter"/>
              </a:rPr>
              <a:t>3  Check the landing path for friction before recommending spend changes</a:t>
            </a:r>
          </a:p>
        </p:txBody>
      </p:sp>
      <p:sp>
        <p:nvSpPr>
          <p:cNvPr id="14" name="footer-5">
            <a:extLst xmlns:a="http://schemas.openxmlformats.org/drawingml/2006/main">
              <a:ext uri="{FF2B5EF4-FFF2-40B4-BE49-F238E27FC236}">
                <a16:creationId xmlns:a16="http://schemas.microsoft.com/office/drawing/2014/main" id="{53F12A80-A857-4033-B94A-59B3BA26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REPLENISH • JUL 13–19, 2026 • GOOGLE ADS</a:t>
            </a:r>
          </a:p>
        </p:txBody>
      </p:sp>
    </p:spTree>
    <p:extLst>
      <p:ext uri="{BB962C8B-B14F-4D97-AF65-F5344CB8AC3E}">
        <p14:creationId xmlns:p14="http://schemas.microsoft.com/office/powerpoint/2010/main" val="311685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6">
            <a:extLst xmlns:a="http://schemas.openxmlformats.org/drawingml/2006/main">
              <a:ext uri="{FF2B5EF4-FFF2-40B4-BE49-F238E27FC236}">
                <a16:creationId xmlns:a16="http://schemas.microsoft.com/office/drawing/2014/main" id="{C7C9B871-32CC-4391-8533-EA61C36C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MEASUREMENT STATUS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D5283204-F4AF-4FFC-9090-462A1796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3" name="header-line-6">
            <a:extLst xmlns:a="http://schemas.openxmlformats.org/drawingml/2006/main">
              <a:ext uri="{FF2B5EF4-FFF2-40B4-BE49-F238E27FC236}">
                <a16:creationId xmlns:a16="http://schemas.microsoft.com/office/drawing/2014/main" id="{2E63077A-EE61-4800-BD55-5723AF09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asure-title">
            <a:extLst xmlns:a="http://schemas.openxmlformats.org/drawingml/2006/main">
              <a:ext uri="{FF2B5EF4-FFF2-40B4-BE49-F238E27FC236}">
                <a16:creationId xmlns:a16="http://schemas.microsoft.com/office/drawing/2014/main" id="{F2FACE70-BC16-4F18-9C2D-9CC8022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775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Traffic is clear. Outcome measurement needs validation.</a:t>
            </a:r>
          </a:p>
        </p:txBody>
      </p:sp>
      <p:sp>
        <p:nvSpPr>
          <p:cNvPr id="5" name="measure-subtitle">
            <a:extLst xmlns:a="http://schemas.openxmlformats.org/drawingml/2006/main">
              <a:ext uri="{FF2B5EF4-FFF2-40B4-BE49-F238E27FC236}">
                <a16:creationId xmlns:a16="http://schemas.microsoft.com/office/drawing/2014/main" id="{94D917E1-FFA3-4049-9F35-6E80C0CF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A clean measurement layer is required before outcome claims or budget decisions.</a:t>
            </a:r>
          </a:p>
        </p:txBody>
      </p:sp>
      <p:sp>
        <p:nvSpPr>
          <p:cNvPr id="6" name="measure-status">
            <a:extLst xmlns:a="http://schemas.openxmlformats.org/drawingml/2006/main">
              <a:ext uri="{FF2B5EF4-FFF2-40B4-BE49-F238E27FC236}">
                <a16:creationId xmlns:a16="http://schemas.microsoft.com/office/drawing/2014/main" id="{9E8C091E-E068-4D4A-80CD-D3C4B366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6489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F99C00"/>
            </a:solidFill>
            <a:prstDash val="solid"/>
          </a:ln>
        </p:spPr>
      </p:sp>
      <p:sp>
        <p:nvSpPr>
          <p:cNvPr id="7" name="measure-status-label">
            <a:extLst xmlns:a="http://schemas.openxmlformats.org/drawingml/2006/main">
              <a:ext uri="{FF2B5EF4-FFF2-40B4-BE49-F238E27FC236}">
                <a16:creationId xmlns:a16="http://schemas.microsoft.com/office/drawing/2014/main" id="{55C58242-177B-46CA-982D-99ACE72B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rPr>
              <a:t>CURRENT STATUS</a:t>
            </a:r>
          </a:p>
        </p:txBody>
      </p:sp>
      <p:sp>
        <p:nvSpPr>
          <p:cNvPr id="8" name="measure-status-text">
            <a:extLst xmlns:a="http://schemas.openxmlformats.org/drawingml/2006/main">
              <a:ext uri="{FF2B5EF4-FFF2-40B4-BE49-F238E27FC236}">
                <a16:creationId xmlns:a16="http://schemas.microsoft.com/office/drawing/2014/main" id="{3D1A8BA0-2858-4A01-986A-DC7AC9E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Conversion reporting is pending validation.</a:t>
            </a:r>
          </a:p>
        </p:txBody>
      </p:sp>
      <p:sp>
        <p:nvSpPr>
          <p:cNvPr id="9" name="measure-step-0">
            <a:extLst xmlns:a="http://schemas.openxmlformats.org/drawingml/2006/main">
              <a:ext uri="{FF2B5EF4-FFF2-40B4-BE49-F238E27FC236}">
                <a16:creationId xmlns:a16="http://schemas.microsoft.com/office/drawing/2014/main" id="{F8EDC10D-ACB8-4280-8947-7B03E9E3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3718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831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0" name="measure-num-0">
            <a:extLst xmlns:a="http://schemas.openxmlformats.org/drawingml/2006/main">
              <a:ext uri="{FF2B5EF4-FFF2-40B4-BE49-F238E27FC236}">
                <a16:creationId xmlns:a16="http://schemas.microsoft.com/office/drawing/2014/main" id="{1D5A7D36-83C5-4C94-B034-1D93FA86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11" name="measure-title-0">
            <a:extLst xmlns:a="http://schemas.openxmlformats.org/drawingml/2006/main">
              <a:ext uri="{FF2B5EF4-FFF2-40B4-BE49-F238E27FC236}">
                <a16:creationId xmlns:a16="http://schemas.microsoft.com/office/drawing/2014/main" id="{C3761D20-7939-4E0A-B0FA-FF5D300A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Define</a:t>
            </a:r>
          </a:p>
        </p:txBody>
      </p:sp>
      <p:sp>
        <p:nvSpPr>
          <p:cNvPr id="12" name="measure-text-0">
            <a:extLst xmlns:a="http://schemas.openxmlformats.org/drawingml/2006/main">
              <a:ext uri="{FF2B5EF4-FFF2-40B4-BE49-F238E27FC236}">
                <a16:creationId xmlns:a16="http://schemas.microsoft.com/office/drawing/2014/main" id="{3AFE665F-8998-4845-9AF3-0F81308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Confirm the named primary actions and attribution settings.</a:t>
            </a:r>
          </a:p>
        </p:txBody>
      </p:sp>
      <p:sp>
        <p:nvSpPr>
          <p:cNvPr id="13" name="measure-step-1">
            <a:extLst xmlns:a="http://schemas.openxmlformats.org/drawingml/2006/main">
              <a:ext uri="{FF2B5EF4-FFF2-40B4-BE49-F238E27FC236}">
                <a16:creationId xmlns:a16="http://schemas.microsoft.com/office/drawing/2014/main" id="{F0595E3A-795B-4EE3-96FD-460FD426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48100"/>
            <a:ext cx="33718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831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4" name="measure-num-1">
            <a:extLst xmlns:a="http://schemas.openxmlformats.org/drawingml/2006/main">
              <a:ext uri="{FF2B5EF4-FFF2-40B4-BE49-F238E27FC236}">
                <a16:creationId xmlns:a16="http://schemas.microsoft.com/office/drawing/2014/main" id="{AF0F6434-0781-40DF-A965-6CE0F4A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5" name="measure-title-1">
            <a:extLst xmlns:a="http://schemas.openxmlformats.org/drawingml/2006/main">
              <a:ext uri="{FF2B5EF4-FFF2-40B4-BE49-F238E27FC236}">
                <a16:creationId xmlns:a16="http://schemas.microsoft.com/office/drawing/2014/main" id="{8187057B-2EC5-4081-9381-7A1D3DEF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Validate</a:t>
            </a:r>
          </a:p>
        </p:txBody>
      </p:sp>
      <p:sp>
        <p:nvSpPr>
          <p:cNvPr id="16" name="measure-text-1">
            <a:extLst xmlns:a="http://schemas.openxmlformats.org/drawingml/2006/main">
              <a:ext uri="{FF2B5EF4-FFF2-40B4-BE49-F238E27FC236}">
                <a16:creationId xmlns:a16="http://schemas.microsoft.com/office/drawing/2014/main" id="{3F4552A7-06C8-4BFF-A5D1-F3411BE6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768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Check tag health, latency, and duplicate or secondary events.</a:t>
            </a:r>
          </a:p>
        </p:txBody>
      </p:sp>
      <p:sp>
        <p:nvSpPr>
          <p:cNvPr id="17" name="measure-step-2">
            <a:extLst xmlns:a="http://schemas.openxmlformats.org/drawingml/2006/main">
              <a:ext uri="{FF2B5EF4-FFF2-40B4-BE49-F238E27FC236}">
                <a16:creationId xmlns:a16="http://schemas.microsoft.com/office/drawing/2014/main" id="{D311063E-7D81-450A-9600-D5B45A3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33718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1831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8" name="measure-num-2">
            <a:extLst xmlns:a="http://schemas.openxmlformats.org/drawingml/2006/main">
              <a:ext uri="{FF2B5EF4-FFF2-40B4-BE49-F238E27FC236}">
                <a16:creationId xmlns:a16="http://schemas.microsoft.com/office/drawing/2014/main" id="{6FF17186-A5FC-4FE2-BC49-DA7946E9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9" name="measure-title-2">
            <a:extLst xmlns:a="http://schemas.openxmlformats.org/drawingml/2006/main">
              <a:ext uri="{FF2B5EF4-FFF2-40B4-BE49-F238E27FC236}">
                <a16:creationId xmlns:a16="http://schemas.microsoft.com/office/drawing/2014/main" id="{1E5DC8EA-CC98-4FAB-AE5C-80DBEB8D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57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Reconcile</a:t>
            </a:r>
          </a:p>
        </p:txBody>
      </p:sp>
      <p:sp>
        <p:nvSpPr>
          <p:cNvPr id="20" name="measure-text-2">
            <a:extLst xmlns:a="http://schemas.openxmlformats.org/drawingml/2006/main">
              <a:ext uri="{FF2B5EF4-FFF2-40B4-BE49-F238E27FC236}">
                <a16:creationId xmlns:a16="http://schemas.microsoft.com/office/drawing/2014/main" id="{80409234-66E4-4D5D-A766-5E4AF6B4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7680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Match platform events to qualified downstream outcomes.</a:t>
            </a:r>
          </a:p>
        </p:txBody>
      </p:sp>
      <p:sp>
        <p:nvSpPr>
          <p:cNvPr id="21" name="footer-6">
            <a:extLst xmlns:a="http://schemas.openxmlformats.org/drawingml/2006/main">
              <a:ext uri="{FF2B5EF4-FFF2-40B4-BE49-F238E27FC236}">
                <a16:creationId xmlns:a16="http://schemas.microsoft.com/office/drawing/2014/main" id="{26B7B452-AF90-492D-96DF-B2E322EE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REPLENISH • JUL 13–19, 2026 • GOOGLE ADS</a:t>
            </a:r>
          </a:p>
        </p:txBody>
      </p:sp>
    </p:spTree>
    <p:extLst>
      <p:ext uri="{BB962C8B-B14F-4D97-AF65-F5344CB8AC3E}">
        <p14:creationId xmlns:p14="http://schemas.microsoft.com/office/powerpoint/2010/main" val="622773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7">
            <a:extLst xmlns:a="http://schemas.openxmlformats.org/drawingml/2006/main">
              <a:ext uri="{FF2B5EF4-FFF2-40B4-BE49-F238E27FC236}">
                <a16:creationId xmlns:a16="http://schemas.microsoft.com/office/drawing/2014/main" id="{A6F7D153-BCCC-4A61-B33B-84BDAFD6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NEXT MOVES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2E0FE370-E330-4955-B0A3-93889248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3" name="header-line-7">
            <a:extLst xmlns:a="http://schemas.openxmlformats.org/drawingml/2006/main">
              <a:ext uri="{FF2B5EF4-FFF2-40B4-BE49-F238E27FC236}">
                <a16:creationId xmlns:a16="http://schemas.microsoft.com/office/drawing/2014/main" id="{1187D3D9-95B0-4DC8-BFAA-ECF375EE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ext-title">
            <a:extLst xmlns:a="http://schemas.openxmlformats.org/drawingml/2006/main">
              <a:ext uri="{FF2B5EF4-FFF2-40B4-BE49-F238E27FC236}">
                <a16:creationId xmlns:a16="http://schemas.microsoft.com/office/drawing/2014/main" id="{B4CA87DD-9F87-4DEA-AF2A-310F096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Protect the winners. Diagnose the outlier. Fix measurement.</a:t>
            </a:r>
          </a:p>
        </p:txBody>
      </p:sp>
      <p:sp>
        <p:nvSpPr>
          <p:cNvPr id="5" name="move-0">
            <a:extLst xmlns:a="http://schemas.openxmlformats.org/drawingml/2006/main">
              <a:ext uri="{FF2B5EF4-FFF2-40B4-BE49-F238E27FC236}">
                <a16:creationId xmlns:a16="http://schemas.microsoft.com/office/drawing/2014/main" id="{8192D09D-0E8C-4BEB-AA84-71C0F1A7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6489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6" name="move-accent-0">
            <a:extLst xmlns:a="http://schemas.openxmlformats.org/drawingml/2006/main">
              <a:ext uri="{FF2B5EF4-FFF2-40B4-BE49-F238E27FC236}">
                <a16:creationId xmlns:a16="http://schemas.microsoft.com/office/drawing/2014/main" id="{DE245BAC-A4DB-4736-8475-5B241F1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B7F"/>
          </a:solidFill>
          <a:ln xmlns:a="http://schemas.openxmlformats.org/drawingml/2006/main" w="9525">
            <a:solidFill>
              <a:srgbClr val="00BB7F"/>
            </a:solidFill>
            <a:prstDash val="solid"/>
          </a:ln>
        </p:spPr>
      </p:sp>
      <p:sp>
        <p:nvSpPr>
          <p:cNvPr id="7" name="move-tag-0">
            <a:extLst xmlns:a="http://schemas.openxmlformats.org/drawingml/2006/main">
              <a:ext uri="{FF2B5EF4-FFF2-40B4-BE49-F238E27FC236}">
                <a16:creationId xmlns:a16="http://schemas.microsoft.com/office/drawing/2014/main" id="{A1BD7432-247F-4460-8289-BD214A9D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00BB7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00BB7F"/>
                </a:solidFill>
                <a:latin typeface="JetBrains Mono"/>
                <a:ea typeface="JetBrains Mono"/>
                <a:cs typeface="JetBrains Mono"/>
              </a:rPr>
              <a:t>PROTECT</a:t>
            </a:r>
          </a:p>
        </p:txBody>
      </p:sp>
      <p:sp>
        <p:nvSpPr>
          <p:cNvPr id="8" name="move-title-0">
            <a:extLst xmlns:a="http://schemas.openxmlformats.org/drawingml/2006/main">
              <a:ext uri="{FF2B5EF4-FFF2-40B4-BE49-F238E27FC236}">
                <a16:creationId xmlns:a16="http://schemas.microsoft.com/office/drawing/2014/main" id="{C53692BB-565E-481B-AE83-C6DAAA2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19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Keep efficient markets stable</a:t>
            </a:r>
          </a:p>
        </p:txBody>
      </p:sp>
      <p:sp>
        <p:nvSpPr>
          <p:cNvPr id="9" name="move-text-0">
            <a:extLst xmlns:a="http://schemas.openxmlformats.org/drawingml/2006/main">
              <a:ext uri="{FF2B5EF4-FFF2-40B4-BE49-F238E27FC236}">
                <a16:creationId xmlns:a16="http://schemas.microsoft.com/office/drawing/2014/main" id="{CFF0D7B4-A85A-45A4-89C8-53C40D0F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98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Preserve the market patterns producing strong CTR and low CPC while monitoring delivery.</a:t>
            </a:r>
          </a:p>
        </p:txBody>
      </p:sp>
      <p:sp>
        <p:nvSpPr>
          <p:cNvPr id="10" name="move-1">
            <a:extLst xmlns:a="http://schemas.openxmlformats.org/drawingml/2006/main">
              <a:ext uri="{FF2B5EF4-FFF2-40B4-BE49-F238E27FC236}">
                <a16:creationId xmlns:a16="http://schemas.microsoft.com/office/drawing/2014/main" id="{C78C0E02-1174-4200-B984-C35664BE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6489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1" name="move-accent-1">
            <a:extLst xmlns:a="http://schemas.openxmlformats.org/drawingml/2006/main">
              <a:ext uri="{FF2B5EF4-FFF2-40B4-BE49-F238E27FC236}">
                <a16:creationId xmlns:a16="http://schemas.microsoft.com/office/drawing/2014/main" id="{0E36620D-539F-4703-A6BA-37E6D039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2357"/>
          </a:solidFill>
          <a:ln xmlns:a="http://schemas.openxmlformats.org/drawingml/2006/main" w="9525">
            <a:solidFill>
              <a:srgbClr val="FF2357"/>
            </a:solidFill>
            <a:prstDash val="solid"/>
          </a:ln>
        </p:spPr>
      </p:sp>
      <p:sp>
        <p:nvSpPr>
          <p:cNvPr id="12" name="move-tag-1">
            <a:extLst xmlns:a="http://schemas.openxmlformats.org/drawingml/2006/main">
              <a:ext uri="{FF2B5EF4-FFF2-40B4-BE49-F238E27FC236}">
                <a16:creationId xmlns:a16="http://schemas.microsoft.com/office/drawing/2014/main" id="{F0925C9B-9B50-4FB1-8D73-BC2F9EE2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23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FF2357"/>
                </a:solidFill>
                <a:latin typeface="JetBrains Mono"/>
                <a:ea typeface="JetBrains Mono"/>
                <a:cs typeface="JetBrains Mono"/>
              </a:rPr>
              <a:t>DIAGNOSE</a:t>
            </a:r>
          </a:p>
        </p:txBody>
      </p:sp>
      <p:sp>
        <p:nvSpPr>
          <p:cNvPr id="13" name="move-title-1">
            <a:extLst xmlns:a="http://schemas.openxmlformats.org/drawingml/2006/main">
              <a:ext uri="{FF2B5EF4-FFF2-40B4-BE49-F238E27FC236}">
                <a16:creationId xmlns:a16="http://schemas.microsoft.com/office/drawing/2014/main" id="{B54F7EAD-2211-4F7D-BD79-99EFD018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Review Coral Springs</a:t>
            </a:r>
          </a:p>
        </p:txBody>
      </p:sp>
      <p:sp>
        <p:nvSpPr>
          <p:cNvPr id="14" name="move-text-1">
            <a:extLst xmlns:a="http://schemas.openxmlformats.org/drawingml/2006/main">
              <a:ext uri="{FF2B5EF4-FFF2-40B4-BE49-F238E27FC236}">
                <a16:creationId xmlns:a16="http://schemas.microsoft.com/office/drawing/2014/main" id="{A43D6C5A-9768-409E-9AF5-E3A2F5FA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242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Inspect traffic quality, assets, audience signals, and landing-path friction before changes.</a:t>
            </a:r>
          </a:p>
        </p:txBody>
      </p:sp>
      <p:sp>
        <p:nvSpPr>
          <p:cNvPr id="15" name="move-2">
            <a:extLst xmlns:a="http://schemas.openxmlformats.org/drawingml/2006/main">
              <a:ext uri="{FF2B5EF4-FFF2-40B4-BE49-F238E27FC236}">
                <a16:creationId xmlns:a16="http://schemas.microsoft.com/office/drawing/2014/main" id="{2AFB956E-C817-4FE6-B19E-8307FB15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6489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16" name="move-accent-2">
            <a:extLst xmlns:a="http://schemas.openxmlformats.org/drawingml/2006/main">
              <a:ext uri="{FF2B5EF4-FFF2-40B4-BE49-F238E27FC236}">
                <a16:creationId xmlns:a16="http://schemas.microsoft.com/office/drawing/2014/main" id="{BE2C75B2-AD86-4154-85F4-9E8984D5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9C00"/>
          </a:solidFill>
          <a:ln xmlns:a="http://schemas.openxmlformats.org/drawingml/2006/main" w="9525">
            <a:solidFill>
              <a:srgbClr val="F99C00"/>
            </a:solidFill>
            <a:prstDash val="solid"/>
          </a:ln>
        </p:spPr>
      </p:sp>
      <p:sp>
        <p:nvSpPr>
          <p:cNvPr id="17" name="move-tag-2">
            <a:extLst xmlns:a="http://schemas.openxmlformats.org/drawingml/2006/main">
              <a:ext uri="{FF2B5EF4-FFF2-40B4-BE49-F238E27FC236}">
                <a16:creationId xmlns:a16="http://schemas.microsoft.com/office/drawing/2014/main" id="{1143DB8C-8DF5-424D-A294-D0CFFFAF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F99C00"/>
                </a:solidFill>
                <a:latin typeface="JetBrains Mono"/>
                <a:ea typeface="JetBrains Mono"/>
                <a:cs typeface="JetBrains Mono"/>
              </a:rPr>
              <a:t>MEASURE</a:t>
            </a:r>
          </a:p>
        </p:txBody>
      </p:sp>
      <p:sp>
        <p:nvSpPr>
          <p:cNvPr id="18" name="move-title-2">
            <a:extLst xmlns:a="http://schemas.openxmlformats.org/drawingml/2006/main">
              <a:ext uri="{FF2B5EF4-FFF2-40B4-BE49-F238E27FC236}">
                <a16:creationId xmlns:a16="http://schemas.microsoft.com/office/drawing/2014/main" id="{2C183870-C59C-487A-89C8-C26E8D85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4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Complete outcome validation</a:t>
            </a:r>
          </a:p>
        </p:txBody>
      </p:sp>
      <p:sp>
        <p:nvSpPr>
          <p:cNvPr id="19" name="move-text-2">
            <a:extLst xmlns:a="http://schemas.openxmlformats.org/drawingml/2006/main">
              <a:ext uri="{FF2B5EF4-FFF2-40B4-BE49-F238E27FC236}">
                <a16:creationId xmlns:a16="http://schemas.microsoft.com/office/drawing/2014/main" id="{C00A26CE-ADE6-4CE8-A698-07722B9D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Confirm named actions and reconcile platform events with downstream business outcomes.</a:t>
            </a:r>
          </a:p>
        </p:txBody>
      </p:sp>
      <p:sp>
        <p:nvSpPr>
          <p:cNvPr id="20" name="move-3">
            <a:extLst xmlns:a="http://schemas.openxmlformats.org/drawingml/2006/main">
              <a:ext uri="{FF2B5EF4-FFF2-40B4-BE49-F238E27FC236}">
                <a16:creationId xmlns:a16="http://schemas.microsoft.com/office/drawing/2014/main" id="{FE1B6688-8E39-40B3-B8C9-1039B06A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6489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9525">
            <a:solidFill>
              <a:srgbClr val="183154"/>
            </a:solidFill>
            <a:prstDash val="solid"/>
          </a:ln>
        </p:spPr>
      </p:sp>
      <p:sp>
        <p:nvSpPr>
          <p:cNvPr id="21" name="move-accent-3">
            <a:extLst xmlns:a="http://schemas.openxmlformats.org/drawingml/2006/main">
              <a:ext uri="{FF2B5EF4-FFF2-40B4-BE49-F238E27FC236}">
                <a16:creationId xmlns:a16="http://schemas.microsoft.com/office/drawing/2014/main" id="{664FBDDB-9A1D-47AC-BF8B-09DBAFB5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66675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80FF"/>
          </a:solidFill>
          <a:ln xmlns:a="http://schemas.openxmlformats.org/drawingml/2006/main" w="9525">
            <a:solidFill>
              <a:srgbClr val="3080FF"/>
            </a:solidFill>
            <a:prstDash val="solid"/>
          </a:ln>
        </p:spPr>
      </p:sp>
      <p:sp>
        <p:nvSpPr>
          <p:cNvPr id="22" name="move-tag-3">
            <a:extLst xmlns:a="http://schemas.openxmlformats.org/drawingml/2006/main">
              <a:ext uri="{FF2B5EF4-FFF2-40B4-BE49-F238E27FC236}">
                <a16:creationId xmlns:a16="http://schemas.microsoft.com/office/drawing/2014/main" id="{D713E28B-6A6B-4C89-8E2C-D65E4D1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3080FF"/>
                </a:solidFill>
                <a:latin typeface="JetBrains Mono"/>
                <a:ea typeface="JetBrains Mono"/>
                <a:cs typeface="JetBrains Mono"/>
              </a:rPr>
              <a:t>SEPARATE</a:t>
            </a:r>
          </a:p>
        </p:txBody>
      </p:sp>
      <p:sp>
        <p:nvSpPr>
          <p:cNvPr id="23" name="move-title-3">
            <a:extLst xmlns:a="http://schemas.openxmlformats.org/drawingml/2006/main">
              <a:ext uri="{FF2B5EF4-FFF2-40B4-BE49-F238E27FC236}">
                <a16:creationId xmlns:a16="http://schemas.microsoft.com/office/drawing/2014/main" id="{0626C946-77DD-41C8-823A-F656F52F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625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Keep client evidence clean</a:t>
            </a:r>
          </a:p>
        </p:txBody>
      </p:sp>
      <p:sp>
        <p:nvSpPr>
          <p:cNvPr id="24" name="move-text-3">
            <a:extLst xmlns:a="http://schemas.openxmlformats.org/drawingml/2006/main">
              <a:ext uri="{FF2B5EF4-FFF2-40B4-BE49-F238E27FC236}">
                <a16:creationId xmlns:a16="http://schemas.microsoft.com/office/drawing/2014/main" id="{EC7A912F-D040-4DF5-A8FD-83DDEBC6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530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AAAC0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9AAAC0"/>
                </a:solidFill>
                <a:latin typeface="Inter"/>
                <a:ea typeface="Inter"/>
                <a:cs typeface="Inter"/>
              </a:rPr>
              <a:t>Maintain a Replenish-only reporting layer and a clean client evidence boundary.</a:t>
            </a:r>
          </a:p>
        </p:txBody>
      </p:sp>
      <p:sp>
        <p:nvSpPr>
          <p:cNvPr id="25" name="footer-7">
            <a:extLst xmlns:a="http://schemas.openxmlformats.org/drawingml/2006/main">
              <a:ext uri="{FF2B5EF4-FFF2-40B4-BE49-F238E27FC236}">
                <a16:creationId xmlns:a16="http://schemas.microsoft.com/office/drawing/2014/main" id="{9F3EF7F5-8949-4FD7-A47E-0647D8B2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0">
                <a:solidFill>
                  <a:srgbClr val="9AAAC0"/>
                </a:solidFill>
                <a:latin typeface="JetBrains Mono"/>
                <a:ea typeface="JetBrains Mono"/>
                <a:cs typeface="JetBrains Mono"/>
              </a:rPr>
              <a:t>REPLENISH • JUL 13–19, 2026 • GOOGLE ADS</a:t>
            </a:r>
          </a:p>
        </p:txBody>
      </p:sp>
    </p:spTree>
    <p:extLst>
      <p:ext uri="{BB962C8B-B14F-4D97-AF65-F5344CB8AC3E}">
        <p14:creationId xmlns:p14="http://schemas.microsoft.com/office/powerpoint/2010/main" val="70445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2026-07-26T20:43:23.5300000Z</dcterms:created>
  <dcterms:modified xsi:type="dcterms:W3CDTF">2026-07-26T20:43:23.5300000Z</dcterms:modified>
</coreProperties>
</file>