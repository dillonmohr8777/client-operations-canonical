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Google Ads authenticated UI: Replenish account 627-501-4654, Jul 20–26, 2026, observed Jul 26, 2026.</a:t>
            </a:r>
          </a:p>
          <a:p>
            <a:r>
              <a:t>- C:/Users/dillo/Documents/Codex/projects/client-operations/clients/replenish-7-eleven/deliverables/2026-07-26-weekly-performance-presentation/source-data.json</a:t>
            </a:r>
          </a:p>
          <a:p>
            <a:r>
              <a:t>- Gmail sent Replenish attachment, used only as the exact 7-Eleven design and logo template.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1979-2E94-4E91-8F73-DA50AA212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74EFB-02A5-49D8-933D-066E098BA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951-7942-452A-81EE-D30DC049C2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9C03-35D6-4151-BD5C-E0EE97674C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E544C-9668-48B8-A909-F427B96457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02EA-CC1A-4E7B-BF07-3AB94FAE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6D3A-EC6B-4FAF-92D0-5DB3260F3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2E3BE-BDB3-44B8-B7FF-599759F6CF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93C99-6357-4CBE-878A-4A0B551E98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700A-BC54-47BB-8E0D-35691886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CDFA-A04D-49F4-90CE-440C7206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42428-3564-44F3-BFED-3CE05EBB8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A6ADB-38D4-4CC9-859D-5BBD221A16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3FD84-B670-4CF7-8533-0ABFC1ACC5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A151B-20DB-4BD4-8B01-99C85931E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A008-9F6F-4D19-A9ED-3972E032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EEA2-24F8-47CF-904E-F29C6BE0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8007E-EB86-4F37-B278-14F0FEFDE7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AFA26-F456-4FEA-ACF3-98A0CFB89E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E6E3A-D60B-4619-84F5-8853532627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5140A-85B8-4960-A39C-2C839E041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2360-9ACD-43DB-A7DE-0B8C76FA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8EC5F-FD48-49C7-B04F-5855D976B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10E8E-B0AC-4986-B1D9-7C14B486637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A5A84-CBCF-4823-9973-E534E801403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6EDEE-B7F4-4996-B373-8620B3995FD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0A846-E08C-4888-B04C-DB3E8507D7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2013D-724A-4B4D-AB81-2E9CD99585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71B83-7B72-4026-8B7B-75DD8D6BC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18F4-1380-4669-83F1-90A2827D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102F7-47D5-4093-BB90-929926B355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25A7B-9A90-48F5-B4A0-AB1318E791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65A66-EA61-4AA6-8E3A-94B5B00B68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F9784-4F1C-48C8-855A-0C8633BE2A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6D4BF-75C0-4132-B17F-1A688983DF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8A1E-B137-4B47-BF74-FE9F6EB3B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75D2-966E-43D3-89B3-9C74AD00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E1E3-EF9C-4EA1-BDFC-DC125328E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E64A-B16C-46AE-814B-2B7C0199D63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DBBCF-0792-43B3-8E45-5FF8E23F10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091D9-15AF-45BA-97AA-74CB174396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59DC3-3F37-4096-BB24-EE2FBBCF87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7D1D-CB86-41E7-84AD-096E019D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53D0C-B336-47AE-B7DF-1FF6EEF22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60B1D-8692-4B77-A73D-D027380360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6D284-4BAF-4409-B7B1-5D8C436966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972E7-6130-4C28-BF3A-7D5E0DC36B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F34-3150-4DA6-AB95-9015C6046A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1026-E5CD-4E8D-B1D6-97FD36C2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2B0B2-6ED4-4A49-A6E3-0965C369C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C459F-1F0F-4BB5-B752-BE234D23D0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3D89-2DAC-4095-B0B4-7D99775FAC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43037-3B36-409C-899E-D049174694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2241E-914E-4F62-9745-5D432587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888E4-B6A7-42B9-B60B-32E54FDB1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04769-D8B1-4817-A51C-8B56294723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50033-ECE5-48D2-8EAF-20EFE3EE16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CA4-2C72-4826-A490-D273DD703C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6BE08-CCA7-40FF-AEFB-6A9711156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0CDA2-CB6F-4A8C-AA0E-C71C284C5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D5ECD-1903-442D-A104-B0F6D74949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1D5AE-1392-4E82-A632-FED986775B1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AE33-271B-4896-A488-D790275511C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0BD6EA-8B67-4A5C-B636-6AD6F62FC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E9A4AD-122A-45C4-8CC1-16484ACA97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FC3A05-149B-4907-93A0-05ABB02622B3}"/>
              </a:ext>
            </a:extLst>
          </p:cNvPr>
          <p:cNvSpPr>
            <a:spLocks noGrp="1"/>
          </p:cNvSpPr>
          <p:nvPr/>
        </p:nvSpPr>
        <p:spPr>
          <a:xfrm>
            <a:off x="310896" y="384048"/>
            <a:ext cx="11569903" cy="6163056"/>
          </a:xfrm>
          <a:prstGeom prst="roundRect">
            <a:avLst>
              <a:gd name="adj" fmla="val 1500"/>
            </a:avLst>
          </a:prstGeom>
          <a:noFill/>
          <a:ln w="22225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319" y="868680"/>
            <a:ext cx="1577970" cy="2103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3497D-3322-4352-A099-4A0E3BB492C0}"/>
              </a:ext>
            </a:extLst>
          </p:cNvPr>
          <p:cNvSpPr>
            <a:spLocks noGrp="1"/>
          </p:cNvSpPr>
          <p:nvPr/>
        </p:nvSpPr>
        <p:spPr>
          <a:xfrm>
            <a:off x="914400" y="32918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WEEKLY PERFORMANCE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0F79D-FFAD-4D11-8ECA-1FD0BDBDD4D0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Replenish × 7-Eleven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35B3A-EA71-4210-9681-3AFA614FEB08}"/>
              </a:ext>
            </a:extLst>
          </p:cNvPr>
          <p:cNvSpPr>
            <a:spLocks noGrp="1"/>
          </p:cNvSpPr>
          <p:nvPr/>
        </p:nvSpPr>
        <p:spPr>
          <a:xfrm>
            <a:off x="914400" y="450799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5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Week of July 20 to 26, 2026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AB2D62-8C15-476D-AC2B-469B74552EA7}"/>
              </a:ext>
            </a:extLst>
          </p:cNvPr>
          <p:cNvSpPr>
            <a:spLocks noGrp="1"/>
          </p:cNvSpPr>
          <p:nvPr/>
        </p:nvSpPr>
        <p:spPr>
          <a:xfrm>
            <a:off x="4701844" y="5029200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8062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AA177-0068-4A9D-8D81-D61260C33791}"/>
              </a:ext>
            </a:extLst>
          </p:cNvPr>
          <p:cNvSpPr>
            <a:spLocks noGrp="1"/>
          </p:cNvSpPr>
          <p:nvPr/>
        </p:nvSpPr>
        <p:spPr>
          <a:xfrm>
            <a:off x="4701844" y="5029200"/>
            <a:ext cx="27889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A00E9-3339-4F6F-A562-0ADBD42556E5}"/>
              </a:ext>
            </a:extLst>
          </p:cNvPr>
          <p:cNvSpPr>
            <a:spLocks noGrp="1"/>
          </p:cNvSpPr>
          <p:nvPr/>
        </p:nvSpPr>
        <p:spPr>
          <a:xfrm>
            <a:off x="3490264" y="5870448"/>
            <a:ext cx="1737360" cy="73152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B800FF-AF24-498D-B4DD-BC6753E03D1C}"/>
              </a:ext>
            </a:extLst>
          </p:cNvPr>
          <p:cNvSpPr>
            <a:spLocks noGrp="1"/>
          </p:cNvSpPr>
          <p:nvPr/>
        </p:nvSpPr>
        <p:spPr>
          <a:xfrm>
            <a:off x="5227624" y="5870448"/>
            <a:ext cx="1737360" cy="73152"/>
          </a:xfrm>
          <a:prstGeom prst="rect">
            <a:avLst/>
          </a:prstGeom>
          <a:solidFill>
            <a:srgbClr val="ED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23DADD-FD6E-42D6-91DC-F8F062483D97}"/>
              </a:ext>
            </a:extLst>
          </p:cNvPr>
          <p:cNvSpPr>
            <a:spLocks noGrp="1"/>
          </p:cNvSpPr>
          <p:nvPr/>
        </p:nvSpPr>
        <p:spPr>
          <a:xfrm>
            <a:off x="6964984" y="5870448"/>
            <a:ext cx="1737360" cy="73152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80D29-57A3-4947-8E91-43FC1BBA8C1A}"/>
              </a:ext>
            </a:extLst>
          </p:cNvPr>
          <p:cNvSpPr>
            <a:spLocks noGrp="1"/>
          </p:cNvSpPr>
          <p:nvPr/>
        </p:nvSpPr>
        <p:spPr>
          <a:xfrm>
            <a:off x="914400" y="6089904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Prepared by Dillon Mohr, Account Manager  •  Momentum 360  •  dillon@needmomentum.com</a:t>
            </a:r>
          </a:p>
        </p:txBody>
      </p:sp>
    </p:spTree>
    <p:extLst>
      <p:ext uri="{BB962C8B-B14F-4D97-AF65-F5344CB8AC3E}">
        <p14:creationId xmlns:p14="http://schemas.microsoft.com/office/powerpoint/2010/main" val="165775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B822DA-DE21-4079-866E-6A92ED081F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54C1D-E486-447D-ABA2-1E4787C720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06F3C-B55D-410E-B964-DDE1EFEACFCF}"/>
              </a:ext>
            </a:extLst>
          </p:cNvPr>
          <p:cNvSpPr>
            <a:spLocks noGrp="1"/>
          </p:cNvSpPr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38538-3C92-48C1-8A30-4362F5649658}"/>
              </a:ext>
            </a:extLst>
          </p:cNvPr>
          <p:cNvSpPr>
            <a:spLocks noGrp="1"/>
          </p:cNvSpPr>
          <p:nvPr/>
        </p:nvSpPr>
        <p:spPr>
          <a:xfrm>
            <a:off x="640080" y="146304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EXECUTIVE SUMMARY</a:t>
            </a:r>
          </a:p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Google Ads performance | July 20 to 26</a:t>
            </a:r>
          </a:p>
        </p:txBody>
      </p:sp>
      <p:pic>
        <p:nvPicPr>
          <p:cNvPr id="3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505" y="256032"/>
            <a:ext cx="425366" cy="56692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E7FB1B-7E44-4DA4-ADF5-8376EBAB6C54}"/>
              </a:ext>
            </a:extLst>
          </p:cNvPr>
          <p:cNvSpPr>
            <a:spLocks noGrp="1"/>
          </p:cNvSpPr>
          <p:nvPr/>
        </p:nvSpPr>
        <p:spPr>
          <a:xfrm>
            <a:off x="640080" y="1371600"/>
            <a:ext cx="5806440" cy="24688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w="3175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9A805-27B9-4AD3-9279-5606A29152C1}"/>
              </a:ext>
            </a:extLst>
          </p:cNvPr>
          <p:cNvSpPr>
            <a:spLocks noGrp="1"/>
          </p:cNvSpPr>
          <p:nvPr/>
        </p:nvSpPr>
        <p:spPr>
          <a:xfrm>
            <a:off x="1024127" y="1664208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AVERAGE COST PER CLICK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C1A4D-1635-4E5B-AD4C-572FE6288F16}"/>
              </a:ext>
            </a:extLst>
          </p:cNvPr>
          <p:cNvSpPr>
            <a:spLocks noGrp="1"/>
          </p:cNvSpPr>
          <p:nvPr/>
        </p:nvSpPr>
        <p:spPr>
          <a:xfrm>
            <a:off x="950976" y="1975104"/>
            <a:ext cx="5294375" cy="1402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2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$0.53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4DF4-C586-40E5-BB68-2217EAB8ECA8}"/>
              </a:ext>
            </a:extLst>
          </p:cNvPr>
          <p:cNvSpPr>
            <a:spLocks noGrp="1"/>
          </p:cNvSpPr>
          <p:nvPr/>
        </p:nvSpPr>
        <p:spPr>
          <a:xfrm>
            <a:off x="1024127" y="3328416"/>
            <a:ext cx="51663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Across all Replenish campaign rows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0CC9C1C-30E7-49C8-8ECC-435FFFF66F43}"/>
              </a:ext>
            </a:extLst>
          </p:cNvPr>
          <p:cNvSpPr>
            <a:spLocks noGrp="1"/>
          </p:cNvSpPr>
          <p:nvPr/>
        </p:nvSpPr>
        <p:spPr>
          <a:xfrm>
            <a:off x="6656832" y="1371600"/>
            <a:ext cx="4892040" cy="24688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w="3175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D2753-BE14-47F3-B99A-BC5948FE7BFF}"/>
              </a:ext>
            </a:extLst>
          </p:cNvPr>
          <p:cNvSpPr>
            <a:spLocks noGrp="1"/>
          </p:cNvSpPr>
          <p:nvPr/>
        </p:nvSpPr>
        <p:spPr>
          <a:xfrm>
            <a:off x="7040880" y="1664208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CLICK-THROUGH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0819D5-7804-4572-A18E-1CD197D87CC9}"/>
              </a:ext>
            </a:extLst>
          </p:cNvPr>
          <p:cNvSpPr>
            <a:spLocks noGrp="1"/>
          </p:cNvSpPr>
          <p:nvPr/>
        </p:nvSpPr>
        <p:spPr>
          <a:xfrm>
            <a:off x="6967728" y="1975104"/>
            <a:ext cx="4379975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66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5.70%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04BB5-13D1-4ED0-8CB1-1F39A65A57A6}"/>
              </a:ext>
            </a:extLst>
          </p:cNvPr>
          <p:cNvSpPr>
            <a:spLocks noGrp="1"/>
          </p:cNvSpPr>
          <p:nvPr/>
        </p:nvSpPr>
        <p:spPr>
          <a:xfrm>
            <a:off x="7040880" y="3328416"/>
            <a:ext cx="4251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288 clicks from 5,049 impressions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AF766C-DBE4-4736-9839-8022101AF772}"/>
              </a:ext>
            </a:extLst>
          </p:cNvPr>
          <p:cNvSpPr>
            <a:spLocks noGrp="1"/>
          </p:cNvSpPr>
          <p:nvPr/>
        </p:nvSpPr>
        <p:spPr>
          <a:xfrm>
            <a:off x="640080" y="3977639"/>
            <a:ext cx="10908792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879E70-579B-4E28-BA48-BC6EA1C76D91}"/>
              </a:ext>
            </a:extLst>
          </p:cNvPr>
          <p:cNvSpPr>
            <a:spLocks noGrp="1"/>
          </p:cNvSpPr>
          <p:nvPr/>
        </p:nvSpPr>
        <p:spPr>
          <a:xfrm>
            <a:off x="960120" y="422452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08062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B9104-3230-4A01-8B9D-F532E86F7908}"/>
              </a:ext>
            </a:extLst>
          </p:cNvPr>
          <p:cNvSpPr>
            <a:spLocks noGrp="1"/>
          </p:cNvSpPr>
          <p:nvPr/>
        </p:nvSpPr>
        <p:spPr>
          <a:xfrm>
            <a:off x="960120" y="421538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7 CAMPAIGN ROWS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01204E-12B3-403B-AC30-745326E87A67}"/>
              </a:ext>
            </a:extLst>
          </p:cNvPr>
          <p:cNvSpPr>
            <a:spLocks noGrp="1"/>
          </p:cNvSpPr>
          <p:nvPr/>
        </p:nvSpPr>
        <p:spPr>
          <a:xfrm>
            <a:off x="3520440" y="417880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Where things stand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DA7D6-CC95-47E8-821F-2AAE119BD615}"/>
              </a:ext>
            </a:extLst>
          </p:cNvPr>
          <p:cNvSpPr>
            <a:spLocks noGrp="1"/>
          </p:cNvSpPr>
          <p:nvPr/>
        </p:nvSpPr>
        <p:spPr>
          <a:xfrm>
            <a:off x="960120" y="461772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Replenish Google Ads generated 288 clicks from 5,049 impressions on $153.72 in spend. Average CPC was $0.53 and CTR was 5.70%. Torrey Del Mar led click volume, while Carmel Mountain posted the strongest CTR. Coral Springs and Miami carried the highest CPCs. Conversion reporting is pending validation.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0E4697-9D3D-444B-A66A-F6702DFFCF24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84A03F-3A84-4510-BEB7-9B2D5CCC0057}"/>
              </a:ext>
            </a:extLst>
          </p:cNvPr>
          <p:cNvSpPr>
            <a:spLocks noGrp="1"/>
          </p:cNvSpPr>
          <p:nvPr/>
        </p:nvSpPr>
        <p:spPr>
          <a:xfrm>
            <a:off x="640080" y="647395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46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606" y="6254496"/>
            <a:ext cx="233265" cy="3108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EAFCB74-764C-4548-8D25-AA6440CDD61C}"/>
              </a:ext>
            </a:extLst>
          </p:cNvPr>
          <p:cNvSpPr>
            <a:spLocks noGrp="1"/>
          </p:cNvSpPr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709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2297E-3EA7-4817-9DD9-C0F6567882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915BE-730C-4A58-BF41-DE918A0076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EDC5D5-9A8B-4751-B1EF-6D753C969410}"/>
              </a:ext>
            </a:extLst>
          </p:cNvPr>
          <p:cNvSpPr>
            <a:spLocks noGrp="1"/>
          </p:cNvSpPr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FACAA-9F50-41BF-BECC-0749FFE71285}"/>
              </a:ext>
            </a:extLst>
          </p:cNvPr>
          <p:cNvSpPr>
            <a:spLocks noGrp="1"/>
          </p:cNvSpPr>
          <p:nvPr/>
        </p:nvSpPr>
        <p:spPr>
          <a:xfrm>
            <a:off x="640080" y="146304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HEADLINE METRICS</a:t>
            </a:r>
          </a:p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week in numbers</a:t>
            </a:r>
          </a:p>
        </p:txBody>
      </p:sp>
      <p:pic>
        <p:nvPicPr>
          <p:cNvPr id="6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505" y="256032"/>
            <a:ext cx="425366" cy="566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CE0EF-9BF5-4A09-BC44-8D1F56158BA2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THIS WEEK  •  JULY 20 TO 26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B1014C-032F-41E4-B9EE-39406B911F4B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C306DD-F68A-43D9-B5D9-6102820F0AF1}"/>
              </a:ext>
            </a:extLst>
          </p:cNvPr>
          <p:cNvSpPr>
            <a:spLocks noGrp="1"/>
          </p:cNvSpPr>
          <p:nvPr/>
        </p:nvSpPr>
        <p:spPr>
          <a:xfrm>
            <a:off x="877824" y="192938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8848F-4B2E-46F9-912C-C2432EF599AE}"/>
              </a:ext>
            </a:extLst>
          </p:cNvPr>
          <p:cNvSpPr>
            <a:spLocks noGrp="1"/>
          </p:cNvSpPr>
          <p:nvPr/>
        </p:nvSpPr>
        <p:spPr>
          <a:xfrm>
            <a:off x="896112" y="211226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TOTAL SPEND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300FC-4FD5-4047-AA12-FCEAEAF16925}"/>
              </a:ext>
            </a:extLst>
          </p:cNvPr>
          <p:cNvSpPr>
            <a:spLocks noGrp="1"/>
          </p:cNvSpPr>
          <p:nvPr/>
        </p:nvSpPr>
        <p:spPr>
          <a:xfrm>
            <a:off x="877824" y="233172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$153.72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BF195-8762-4B73-B6A9-4FE1315864B4}"/>
              </a:ext>
            </a:extLst>
          </p:cNvPr>
          <p:cNvSpPr>
            <a:spLocks noGrp="1"/>
          </p:cNvSpPr>
          <p:nvPr/>
        </p:nvSpPr>
        <p:spPr>
          <a:xfrm>
            <a:off x="896112" y="281635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across 7 campaign rows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5AA1C12-68C0-4B47-99C9-638D16F0DEC3}"/>
              </a:ext>
            </a:extLst>
          </p:cNvPr>
          <p:cNvSpPr>
            <a:spLocks noGrp="1"/>
          </p:cNvSpPr>
          <p:nvPr/>
        </p:nvSpPr>
        <p:spPr>
          <a:xfrm>
            <a:off x="3410711" y="169164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F4CA89-9C11-418A-840B-690BB1619CE1}"/>
              </a:ext>
            </a:extLst>
          </p:cNvPr>
          <p:cNvSpPr>
            <a:spLocks noGrp="1"/>
          </p:cNvSpPr>
          <p:nvPr/>
        </p:nvSpPr>
        <p:spPr>
          <a:xfrm>
            <a:off x="3648455" y="192938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1B3054-3AA7-4D51-A21C-0EDC8F155A03}"/>
              </a:ext>
            </a:extLst>
          </p:cNvPr>
          <p:cNvSpPr>
            <a:spLocks noGrp="1"/>
          </p:cNvSpPr>
          <p:nvPr/>
        </p:nvSpPr>
        <p:spPr>
          <a:xfrm>
            <a:off x="3666744" y="211226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IMPRESSIONS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617DAC-BA16-4BE1-A784-0E31F3C7B2FC}"/>
              </a:ext>
            </a:extLst>
          </p:cNvPr>
          <p:cNvSpPr>
            <a:spLocks noGrp="1"/>
          </p:cNvSpPr>
          <p:nvPr/>
        </p:nvSpPr>
        <p:spPr>
          <a:xfrm>
            <a:off x="3648455" y="233172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5,049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A4776-1E4F-4248-8339-4B6159E0ADE9}"/>
              </a:ext>
            </a:extLst>
          </p:cNvPr>
          <p:cNvSpPr>
            <a:spLocks noGrp="1"/>
          </p:cNvSpPr>
          <p:nvPr/>
        </p:nvSpPr>
        <p:spPr>
          <a:xfrm>
            <a:off x="3666744" y="281635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served this week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B762F90-DDD0-4524-9457-051E202A03AC}"/>
              </a:ext>
            </a:extLst>
          </p:cNvPr>
          <p:cNvSpPr>
            <a:spLocks noGrp="1"/>
          </p:cNvSpPr>
          <p:nvPr/>
        </p:nvSpPr>
        <p:spPr>
          <a:xfrm>
            <a:off x="6181344" y="169164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4072F7E-E858-4077-B5AC-47F7602971EB}"/>
              </a:ext>
            </a:extLst>
          </p:cNvPr>
          <p:cNvSpPr>
            <a:spLocks noGrp="1"/>
          </p:cNvSpPr>
          <p:nvPr/>
        </p:nvSpPr>
        <p:spPr>
          <a:xfrm>
            <a:off x="6419088" y="192938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14E43-C814-4B17-A0FF-764CCA77EDC3}"/>
              </a:ext>
            </a:extLst>
          </p:cNvPr>
          <p:cNvSpPr>
            <a:spLocks noGrp="1"/>
          </p:cNvSpPr>
          <p:nvPr/>
        </p:nvSpPr>
        <p:spPr>
          <a:xfrm>
            <a:off x="6437376" y="211226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AD CLICKS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D9A80A-4CA1-4E26-8A9E-ACADA9217031}"/>
              </a:ext>
            </a:extLst>
          </p:cNvPr>
          <p:cNvSpPr>
            <a:spLocks noGrp="1"/>
          </p:cNvSpPr>
          <p:nvPr/>
        </p:nvSpPr>
        <p:spPr>
          <a:xfrm>
            <a:off x="6419088" y="233172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288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592EBF-9FF4-44B7-873A-AA13DE656381}"/>
              </a:ext>
            </a:extLst>
          </p:cNvPr>
          <p:cNvSpPr>
            <a:spLocks noGrp="1"/>
          </p:cNvSpPr>
          <p:nvPr/>
        </p:nvSpPr>
        <p:spPr>
          <a:xfrm>
            <a:off x="6437376" y="281635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paid clicks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A39E35-FC89-47BA-AFB1-0AF0B8536932}"/>
              </a:ext>
            </a:extLst>
          </p:cNvPr>
          <p:cNvSpPr>
            <a:spLocks noGrp="1"/>
          </p:cNvSpPr>
          <p:nvPr/>
        </p:nvSpPr>
        <p:spPr>
          <a:xfrm>
            <a:off x="8951976" y="1691640"/>
            <a:ext cx="2615184" cy="15087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w="3175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5FA9D54-C807-441E-AB69-C39B3F50388E}"/>
              </a:ext>
            </a:extLst>
          </p:cNvPr>
          <p:cNvSpPr>
            <a:spLocks noGrp="1"/>
          </p:cNvSpPr>
          <p:nvPr/>
        </p:nvSpPr>
        <p:spPr>
          <a:xfrm>
            <a:off x="9189719" y="192938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86AF23-EA00-4EAE-B20D-AFB2AFE2BE62}"/>
              </a:ext>
            </a:extLst>
          </p:cNvPr>
          <p:cNvSpPr>
            <a:spLocks noGrp="1"/>
          </p:cNvSpPr>
          <p:nvPr/>
        </p:nvSpPr>
        <p:spPr>
          <a:xfrm>
            <a:off x="9208007" y="211226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AVERAGE CPC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5CE2C-A538-4333-A196-6DE68F1ED47A}"/>
              </a:ext>
            </a:extLst>
          </p:cNvPr>
          <p:cNvSpPr>
            <a:spLocks noGrp="1"/>
          </p:cNvSpPr>
          <p:nvPr/>
        </p:nvSpPr>
        <p:spPr>
          <a:xfrm>
            <a:off x="9189719" y="233172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$0.53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6CA5C5-E277-4537-A206-E2B3B0F348CF}"/>
              </a:ext>
            </a:extLst>
          </p:cNvPr>
          <p:cNvSpPr>
            <a:spLocks noGrp="1"/>
          </p:cNvSpPr>
          <p:nvPr/>
        </p:nvSpPr>
        <p:spPr>
          <a:xfrm>
            <a:off x="9208007" y="281635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all campaign rows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29C969-34EC-483D-A802-5ADD2F74721B}"/>
              </a:ext>
            </a:extLst>
          </p:cNvPr>
          <p:cNvSpPr>
            <a:spLocks noGrp="1"/>
          </p:cNvSpPr>
          <p:nvPr/>
        </p:nvSpPr>
        <p:spPr>
          <a:xfrm>
            <a:off x="640080" y="34290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DELIVERY &amp; MEASUREMENT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246DE01-7131-4E4A-A1AE-9E9864DDF826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9DDD65-800B-460C-891B-84F5ECBEC723}"/>
              </a:ext>
            </a:extLst>
          </p:cNvPr>
          <p:cNvSpPr>
            <a:spLocks noGrp="1"/>
          </p:cNvSpPr>
          <p:nvPr/>
        </p:nvSpPr>
        <p:spPr>
          <a:xfrm>
            <a:off x="877824" y="403250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5E7A7A-3564-48E3-900D-41BCCB5CD88C}"/>
              </a:ext>
            </a:extLst>
          </p:cNvPr>
          <p:cNvSpPr>
            <a:spLocks noGrp="1"/>
          </p:cNvSpPr>
          <p:nvPr/>
        </p:nvSpPr>
        <p:spPr>
          <a:xfrm>
            <a:off x="896112" y="421538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CLICK-THROUGH RATE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1D7E4D-27B9-47A9-9CF0-431AB9952CB8}"/>
              </a:ext>
            </a:extLst>
          </p:cNvPr>
          <p:cNvSpPr>
            <a:spLocks noGrp="1"/>
          </p:cNvSpPr>
          <p:nvPr/>
        </p:nvSpPr>
        <p:spPr>
          <a:xfrm>
            <a:off x="877824" y="443484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5.70%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C1E55B-E802-4DD2-9D1A-4B316E945FBF}"/>
              </a:ext>
            </a:extLst>
          </p:cNvPr>
          <p:cNvSpPr>
            <a:spLocks noGrp="1"/>
          </p:cNvSpPr>
          <p:nvPr/>
        </p:nvSpPr>
        <p:spPr>
          <a:xfrm>
            <a:off x="896112" y="491947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clicks divided by impressions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4C89709-C19C-49E3-97BB-286713B8B102}"/>
              </a:ext>
            </a:extLst>
          </p:cNvPr>
          <p:cNvSpPr>
            <a:spLocks noGrp="1"/>
          </p:cNvSpPr>
          <p:nvPr/>
        </p:nvSpPr>
        <p:spPr>
          <a:xfrm>
            <a:off x="3410711" y="379476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41F331C-E5F3-47DD-83C9-BA9AE8DD28AE}"/>
              </a:ext>
            </a:extLst>
          </p:cNvPr>
          <p:cNvSpPr>
            <a:spLocks noGrp="1"/>
          </p:cNvSpPr>
          <p:nvPr/>
        </p:nvSpPr>
        <p:spPr>
          <a:xfrm>
            <a:off x="3648455" y="403250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A5CAD0-F928-4EC9-ADAD-9A0368DD07DC}"/>
              </a:ext>
            </a:extLst>
          </p:cNvPr>
          <p:cNvSpPr>
            <a:spLocks noGrp="1"/>
          </p:cNvSpPr>
          <p:nvPr/>
        </p:nvSpPr>
        <p:spPr>
          <a:xfrm>
            <a:off x="3666744" y="421538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CAMPAIGN ROWS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465EDB-93CE-4E3E-9B6D-B14B20706993}"/>
              </a:ext>
            </a:extLst>
          </p:cNvPr>
          <p:cNvSpPr>
            <a:spLocks noGrp="1"/>
          </p:cNvSpPr>
          <p:nvPr/>
        </p:nvSpPr>
        <p:spPr>
          <a:xfrm>
            <a:off x="3648455" y="443484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043E91-A507-4BBC-AD14-18DC88B9F5FD}"/>
              </a:ext>
            </a:extLst>
          </p:cNvPr>
          <p:cNvSpPr>
            <a:spLocks noGrp="1"/>
          </p:cNvSpPr>
          <p:nvPr/>
        </p:nvSpPr>
        <p:spPr>
          <a:xfrm>
            <a:off x="3666744" y="491947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in the Replenish account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1EF8BA5-D7DF-4573-9E9D-09CDFDC9D762}"/>
              </a:ext>
            </a:extLst>
          </p:cNvPr>
          <p:cNvSpPr>
            <a:spLocks noGrp="1"/>
          </p:cNvSpPr>
          <p:nvPr/>
        </p:nvSpPr>
        <p:spPr>
          <a:xfrm>
            <a:off x="6181344" y="3794760"/>
            <a:ext cx="2615184" cy="15087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w="3175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4BA0C17-BF6E-4F08-98A2-194F5522E767}"/>
              </a:ext>
            </a:extLst>
          </p:cNvPr>
          <p:cNvSpPr>
            <a:spLocks noGrp="1"/>
          </p:cNvSpPr>
          <p:nvPr/>
        </p:nvSpPr>
        <p:spPr>
          <a:xfrm>
            <a:off x="6419088" y="403250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AF434A-4F25-48A9-8045-03589897CF51}"/>
              </a:ext>
            </a:extLst>
          </p:cNvPr>
          <p:cNvSpPr>
            <a:spLocks noGrp="1"/>
          </p:cNvSpPr>
          <p:nvPr/>
        </p:nvSpPr>
        <p:spPr>
          <a:xfrm>
            <a:off x="6437376" y="421538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ROWS WITH SPEND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C99A10-7736-4627-A154-662318AB1A9C}"/>
              </a:ext>
            </a:extLst>
          </p:cNvPr>
          <p:cNvSpPr>
            <a:spLocks noGrp="1"/>
          </p:cNvSpPr>
          <p:nvPr/>
        </p:nvSpPr>
        <p:spPr>
          <a:xfrm>
            <a:off x="6419088" y="443484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3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A4CDA7-1869-4A30-9A94-353B0832BE1F}"/>
              </a:ext>
            </a:extLst>
          </p:cNvPr>
          <p:cNvSpPr>
            <a:spLocks noGrp="1"/>
          </p:cNvSpPr>
          <p:nvPr/>
        </p:nvSpPr>
        <p:spPr>
          <a:xfrm>
            <a:off x="6437376" y="491947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during the selected week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A888E50-A8E7-449B-A070-9F1B52A0AA41}"/>
              </a:ext>
            </a:extLst>
          </p:cNvPr>
          <p:cNvSpPr>
            <a:spLocks noGrp="1"/>
          </p:cNvSpPr>
          <p:nvPr/>
        </p:nvSpPr>
        <p:spPr>
          <a:xfrm>
            <a:off x="8951976" y="3794760"/>
            <a:ext cx="261518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0B43D02-28DE-43CD-9CA0-E32E93F8171B}"/>
              </a:ext>
            </a:extLst>
          </p:cNvPr>
          <p:cNvSpPr>
            <a:spLocks noGrp="1"/>
          </p:cNvSpPr>
          <p:nvPr/>
        </p:nvSpPr>
        <p:spPr>
          <a:xfrm>
            <a:off x="9189719" y="4032504"/>
            <a:ext cx="585216" cy="91440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A5F077-1C2E-4F26-AB3C-F691F19D1BCC}"/>
              </a:ext>
            </a:extLst>
          </p:cNvPr>
          <p:cNvSpPr>
            <a:spLocks noGrp="1"/>
          </p:cNvSpPr>
          <p:nvPr/>
        </p:nvSpPr>
        <p:spPr>
          <a:xfrm>
            <a:off x="9208007" y="4215384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LIMITED DELIVERY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8918FD-842A-44A0-B5C2-7C4D0D062EA7}"/>
              </a:ext>
            </a:extLst>
          </p:cNvPr>
          <p:cNvSpPr>
            <a:spLocks noGrp="1"/>
          </p:cNvSpPr>
          <p:nvPr/>
        </p:nvSpPr>
        <p:spPr>
          <a:xfrm>
            <a:off x="9189719" y="443484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A2E6FC-EB6B-4D34-A734-CFA023418631}"/>
              </a:ext>
            </a:extLst>
          </p:cNvPr>
          <p:cNvSpPr>
            <a:spLocks noGrp="1"/>
          </p:cNvSpPr>
          <p:nvPr/>
        </p:nvSpPr>
        <p:spPr>
          <a:xfrm>
            <a:off x="9208007" y="491947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Pampano, 15 impressions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6F7933-F4FF-4EAC-B5CC-55D93D621F0B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Campaign rows total 5,049 impressions, 288 clicks, and $153.72 in spend at a 5.70% CTR and $0.53 average CPC. Six rows generated spend; Pampano recorded limited delivery. Conversion reporting is pending validation, so this report focuses on verified delivery and traffic performance.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6B2544E-6F63-4D8E-8D0D-F45F7673AE61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BB20C-1377-43C8-A077-C419BD9C6548}"/>
              </a:ext>
            </a:extLst>
          </p:cNvPr>
          <p:cNvSpPr>
            <a:spLocks noGrp="1"/>
          </p:cNvSpPr>
          <p:nvPr/>
        </p:nvSpPr>
        <p:spPr>
          <a:xfrm>
            <a:off x="640080" y="647395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106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606" y="6254496"/>
            <a:ext cx="233265" cy="31089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12CBF2D-583F-4C42-80EF-3C2DB729F6DF}"/>
              </a:ext>
            </a:extLst>
          </p:cNvPr>
          <p:cNvSpPr>
            <a:spLocks noGrp="1"/>
          </p:cNvSpPr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45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FC28A-76F5-4BE0-9C51-FD708EBBB0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29AAA8-8B28-47FA-BD0F-042AE4E0BC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CADC51-D3FB-4929-B9F4-CDE917946CF3}"/>
              </a:ext>
            </a:extLst>
          </p:cNvPr>
          <p:cNvSpPr>
            <a:spLocks noGrp="1"/>
          </p:cNvSpPr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7155D-51EC-4E5E-8FF8-570E22D51DC0}"/>
              </a:ext>
            </a:extLst>
          </p:cNvPr>
          <p:cNvSpPr>
            <a:spLocks noGrp="1"/>
          </p:cNvSpPr>
          <p:nvPr/>
        </p:nvSpPr>
        <p:spPr>
          <a:xfrm>
            <a:off x="640080" y="146304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PERFORMANCE</a:t>
            </a:r>
          </a:p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Cost per click by priority market</a:t>
            </a:r>
          </a:p>
        </p:txBody>
      </p:sp>
      <p:pic>
        <p:nvPicPr>
          <p:cNvPr id="4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505" y="256032"/>
            <a:ext cx="425366" cy="56692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FFC5FD-E74E-48EF-A826-9268451C5407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45236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5CB3B-FE78-4AFE-A82A-835DF762307C}"/>
              </a:ext>
            </a:extLst>
          </p:cNvPr>
          <p:cNvSpPr>
            <a:spLocks noGrp="1"/>
          </p:cNvSpPr>
          <p:nvPr/>
        </p:nvSpPr>
        <p:spPr>
          <a:xfrm>
            <a:off x="960120" y="16459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Average cost per click by market  ($)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6AB28-FF4B-44C0-9259-EEB913572B82}"/>
              </a:ext>
            </a:extLst>
          </p:cNvPr>
          <p:cNvSpPr>
            <a:spLocks noGrp="1"/>
          </p:cNvSpPr>
          <p:nvPr/>
        </p:nvSpPr>
        <p:spPr>
          <a:xfrm>
            <a:off x="4129088" y="2231136"/>
            <a:ext cx="14630" cy="2395727"/>
          </a:xfrm>
          <a:prstGeom prst="rect">
            <a:avLst/>
          </a:prstGeom>
          <a:solidFill>
            <a:srgbClr val="86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08214-675F-45E8-8A04-00121CAD7BD8}"/>
              </a:ext>
            </a:extLst>
          </p:cNvPr>
          <p:cNvSpPr>
            <a:spLocks noGrp="1"/>
          </p:cNvSpPr>
          <p:nvPr/>
        </p:nvSpPr>
        <p:spPr>
          <a:xfrm>
            <a:off x="3636645" y="197510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avg $0.53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84126-4F88-4506-9E9C-14A39A1D96E8}"/>
              </a:ext>
            </a:extLst>
          </p:cNvPr>
          <p:cNvSpPr>
            <a:spLocks noGrp="1"/>
          </p:cNvSpPr>
          <p:nvPr/>
        </p:nvSpPr>
        <p:spPr>
          <a:xfrm>
            <a:off x="868680" y="235915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Coral Springs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68BA4F-02EC-4632-8BCA-52976A000B6A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48463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2AFB96-9536-47DF-B848-A8B570FE421F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4000500" cy="310896"/>
          </a:xfrm>
          <a:prstGeom prst="roundRect">
            <a:avLst>
              <a:gd name="adj" fmla="val 16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1E1CE-DB79-4BC8-9F24-0E2435D9E02A}"/>
              </a:ext>
            </a:extLst>
          </p:cNvPr>
          <p:cNvSpPr>
            <a:spLocks noGrp="1"/>
          </p:cNvSpPr>
          <p:nvPr/>
        </p:nvSpPr>
        <p:spPr>
          <a:xfrm>
            <a:off x="6858000" y="2322576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$1.53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CD73E-B76E-4886-A74E-B699094F11A5}"/>
              </a:ext>
            </a:extLst>
          </p:cNvPr>
          <p:cNvSpPr>
            <a:spLocks noGrp="1"/>
          </p:cNvSpPr>
          <p:nvPr/>
        </p:nvSpPr>
        <p:spPr>
          <a:xfrm>
            <a:off x="868680" y="2962656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Torrey Del Mar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0AEE80-F6C7-485C-8331-365018651D25}"/>
              </a:ext>
            </a:extLst>
          </p:cNvPr>
          <p:cNvSpPr>
            <a:spLocks noGrp="1"/>
          </p:cNvSpPr>
          <p:nvPr/>
        </p:nvSpPr>
        <p:spPr>
          <a:xfrm>
            <a:off x="2743200" y="2980944"/>
            <a:ext cx="48463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AFDBB20-EDFC-463D-B9F6-08D690CD6E23}"/>
              </a:ext>
            </a:extLst>
          </p:cNvPr>
          <p:cNvSpPr>
            <a:spLocks noGrp="1"/>
          </p:cNvSpPr>
          <p:nvPr/>
        </p:nvSpPr>
        <p:spPr>
          <a:xfrm>
            <a:off x="2743200" y="2980944"/>
            <a:ext cx="836295" cy="310896"/>
          </a:xfrm>
          <a:prstGeom prst="roundRect">
            <a:avLst>
              <a:gd name="adj" fmla="val 16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5695E-64F4-41F0-BC61-FAC924973FF3}"/>
              </a:ext>
            </a:extLst>
          </p:cNvPr>
          <p:cNvSpPr>
            <a:spLocks noGrp="1"/>
          </p:cNvSpPr>
          <p:nvPr/>
        </p:nvSpPr>
        <p:spPr>
          <a:xfrm>
            <a:off x="3714750" y="2926080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BB5EEF-3D00-448A-8188-84BFF9412978}"/>
              </a:ext>
            </a:extLst>
          </p:cNvPr>
          <p:cNvSpPr>
            <a:spLocks noGrp="1"/>
          </p:cNvSpPr>
          <p:nvPr/>
        </p:nvSpPr>
        <p:spPr>
          <a:xfrm>
            <a:off x="868680" y="3566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Miramar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1F6BA0-1B33-4FD2-AB4F-BD2312853E99}"/>
              </a:ext>
            </a:extLst>
          </p:cNvPr>
          <p:cNvSpPr>
            <a:spLocks noGrp="1"/>
          </p:cNvSpPr>
          <p:nvPr/>
        </p:nvSpPr>
        <p:spPr>
          <a:xfrm>
            <a:off x="2743200" y="3584448"/>
            <a:ext cx="48463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27D631-A133-4D46-8C71-2DAD99EBE61A}"/>
              </a:ext>
            </a:extLst>
          </p:cNvPr>
          <p:cNvSpPr>
            <a:spLocks noGrp="1"/>
          </p:cNvSpPr>
          <p:nvPr/>
        </p:nvSpPr>
        <p:spPr>
          <a:xfrm>
            <a:off x="2743200" y="3584448"/>
            <a:ext cx="993458" cy="310896"/>
          </a:xfrm>
          <a:prstGeom prst="roundRect">
            <a:avLst>
              <a:gd name="adj" fmla="val 16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3ADD2-B2B3-49DE-B601-A6E1E401CE5F}"/>
              </a:ext>
            </a:extLst>
          </p:cNvPr>
          <p:cNvSpPr>
            <a:spLocks noGrp="1"/>
          </p:cNvSpPr>
          <p:nvPr/>
        </p:nvSpPr>
        <p:spPr>
          <a:xfrm>
            <a:off x="3876675" y="3529584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7AF44-1A94-4DDF-9623-858B11ADA988}"/>
              </a:ext>
            </a:extLst>
          </p:cNvPr>
          <p:cNvSpPr>
            <a:spLocks noGrp="1"/>
          </p:cNvSpPr>
          <p:nvPr/>
        </p:nvSpPr>
        <p:spPr>
          <a:xfrm>
            <a:off x="868680" y="4169664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Miami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D7BA2E-5A2C-4F82-9DD7-97A5C33EEB50}"/>
              </a:ext>
            </a:extLst>
          </p:cNvPr>
          <p:cNvSpPr>
            <a:spLocks noGrp="1"/>
          </p:cNvSpPr>
          <p:nvPr/>
        </p:nvSpPr>
        <p:spPr>
          <a:xfrm>
            <a:off x="2743200" y="4187952"/>
            <a:ext cx="48463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7D4FF5D-F098-4126-9453-D419EAAF7225}"/>
              </a:ext>
            </a:extLst>
          </p:cNvPr>
          <p:cNvSpPr>
            <a:spLocks noGrp="1"/>
          </p:cNvSpPr>
          <p:nvPr/>
        </p:nvSpPr>
        <p:spPr>
          <a:xfrm>
            <a:off x="2743200" y="4187952"/>
            <a:ext cx="3085148" cy="310896"/>
          </a:xfrm>
          <a:prstGeom prst="roundRect">
            <a:avLst>
              <a:gd name="adj" fmla="val 16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76DCB-A035-4A75-8A60-5239539F92BD}"/>
              </a:ext>
            </a:extLst>
          </p:cNvPr>
          <p:cNvSpPr>
            <a:spLocks noGrp="1"/>
          </p:cNvSpPr>
          <p:nvPr/>
        </p:nvSpPr>
        <p:spPr>
          <a:xfrm>
            <a:off x="5962650" y="4133088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$1.18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8C49-04CA-4C66-8715-52AB7609CA4E}"/>
              </a:ext>
            </a:extLst>
          </p:cNvPr>
          <p:cNvSpPr>
            <a:spLocks noGrp="1"/>
          </p:cNvSpPr>
          <p:nvPr/>
        </p:nvSpPr>
        <p:spPr>
          <a:xfrm>
            <a:off x="960120" y="4956048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Lower is better. The line marks the $0.53 account average.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0ADE1FB-7A85-4647-92A2-3958DAF96245}"/>
              </a:ext>
            </a:extLst>
          </p:cNvPr>
          <p:cNvSpPr>
            <a:spLocks noGrp="1"/>
          </p:cNvSpPr>
          <p:nvPr/>
        </p:nvSpPr>
        <p:spPr>
          <a:xfrm>
            <a:off x="8321040" y="1417320"/>
            <a:ext cx="3227832" cy="3977639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w="3175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4D8AD2-84F8-430F-AE7F-7E6932F4363F}"/>
              </a:ext>
            </a:extLst>
          </p:cNvPr>
          <p:cNvSpPr>
            <a:spLocks noGrp="1"/>
          </p:cNvSpPr>
          <p:nvPr/>
        </p:nvSpPr>
        <p:spPr>
          <a:xfrm>
            <a:off x="8613648" y="17830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CTR LEADER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CCB0F0-258E-4756-8FE9-F67836932BD8}"/>
              </a:ext>
            </a:extLst>
          </p:cNvPr>
          <p:cNvSpPr>
            <a:spLocks noGrp="1"/>
          </p:cNvSpPr>
          <p:nvPr/>
        </p:nvSpPr>
        <p:spPr>
          <a:xfrm>
            <a:off x="8558784" y="21945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58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10.05%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90F05E-C66F-476D-A0E3-D5175EBFC2F5}"/>
              </a:ext>
            </a:extLst>
          </p:cNvPr>
          <p:cNvSpPr>
            <a:spLocks noGrp="1"/>
          </p:cNvSpPr>
          <p:nvPr/>
        </p:nvSpPr>
        <p:spPr>
          <a:xfrm>
            <a:off x="8613648" y="32461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3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Carmel Mountain click-through rate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46A53A-AE9F-4610-9FF5-5E076B90FC02}"/>
              </a:ext>
            </a:extLst>
          </p:cNvPr>
          <p:cNvSpPr>
            <a:spLocks noGrp="1"/>
          </p:cNvSpPr>
          <p:nvPr/>
        </p:nvSpPr>
        <p:spPr>
          <a:xfrm>
            <a:off x="8613648" y="3977639"/>
            <a:ext cx="2514600" cy="27432"/>
          </a:xfrm>
          <a:prstGeom prst="rect">
            <a:avLst/>
          </a:prstGeom>
          <a:gradFill rotWithShape="1">
            <a:gsLst>
              <a:gs pos="0">
                <a:srgbClr val="008062"/>
              </a:gs>
              <a:gs pos="100000">
                <a:srgbClr val="3AB093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8298F9-35ED-429A-A4CC-1F8D320EF674}"/>
              </a:ext>
            </a:extLst>
          </p:cNvPr>
          <p:cNvSpPr>
            <a:spLocks noGrp="1"/>
          </p:cNvSpPr>
          <p:nvPr/>
        </p:nvSpPr>
        <p:spPr>
          <a:xfrm>
            <a:off x="8613648" y="4133087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1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Carmel Mountain led CTR, while Torrey Del Mar produced the most clicks at an efficient $0.32 CPC.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672B44-3587-4B71-AFA4-BD6D7187A133}"/>
              </a:ext>
            </a:extLst>
          </p:cNvPr>
          <p:cNvSpPr>
            <a:spLocks noGrp="1"/>
          </p:cNvSpPr>
          <p:nvPr/>
        </p:nvSpPr>
        <p:spPr>
          <a:xfrm>
            <a:off x="640080" y="550468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Priority-market view uses the four highest-spend rows. Coral Springs and Miami ran above the $0.53 CPC average; Torrey Del Mar and Miramar combined lower CPCs with stronger traffic volume.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132CC1-BA49-4425-A299-EFFEE8D44D85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ADD57F-6B91-450A-BD1B-B3E9FE63BD22}"/>
              </a:ext>
            </a:extLst>
          </p:cNvPr>
          <p:cNvSpPr>
            <a:spLocks noGrp="1"/>
          </p:cNvSpPr>
          <p:nvPr/>
        </p:nvSpPr>
        <p:spPr>
          <a:xfrm>
            <a:off x="640080" y="647395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7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606" y="6254496"/>
            <a:ext cx="233265" cy="3108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D73CD86-B83B-43CB-A6A4-1123B389F2E4}"/>
              </a:ext>
            </a:extLst>
          </p:cNvPr>
          <p:cNvSpPr>
            <a:spLocks noGrp="1"/>
          </p:cNvSpPr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017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7E5EE3-3430-4AB9-AA85-C3770D809E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312B1-62D9-43D7-B4A5-458CC17DE0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2A9C6-CB25-4620-A908-F15D0AFAF34F}"/>
              </a:ext>
            </a:extLst>
          </p:cNvPr>
          <p:cNvSpPr>
            <a:spLocks noGrp="1"/>
          </p:cNvSpPr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B21BA-48FB-40A5-AD7C-5B98DC374905}"/>
              </a:ext>
            </a:extLst>
          </p:cNvPr>
          <p:cNvSpPr>
            <a:spLocks noGrp="1"/>
          </p:cNvSpPr>
          <p:nvPr/>
        </p:nvSpPr>
        <p:spPr>
          <a:xfrm>
            <a:off x="640080" y="375683"/>
            <a:ext cx="10058400" cy="3642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ALL CAMPAIGN CPC DETAIL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Every Replenish campaign row</a:t>
            </a:r>
            <a:endParaRPr sz="2500" b="1" i="0">
              <a:solidFill>
                <a:srgbClr val="FFFFFF"/>
              </a:solidFill>
              <a:latin typeface="Segoe UI Semibold"/>
              <a:ea typeface="Segoe UI Semibold"/>
              <a:cs typeface="Segoe UI Semibold"/>
            </a:endParaRPr>
          </a:p>
        </p:txBody>
      </p:sp>
      <p:pic>
        <p:nvPicPr>
          <p:cNvPr id="6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505" y="256032"/>
            <a:ext cx="425366" cy="5669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804231-F5EE-4375-8B2A-C159821AD1A6}"/>
              </a:ext>
            </a:extLst>
          </p:cNvPr>
          <p:cNvSpPr>
            <a:spLocks noGrp="1"/>
          </p:cNvSpPr>
          <p:nvPr/>
        </p:nvSpPr>
        <p:spPr>
          <a:xfrm>
            <a:off x="640080" y="1664208"/>
            <a:ext cx="10908792" cy="34198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4CE5E7-57BB-4E62-9DA9-C0BF8F5F2E3C}"/>
              </a:ext>
            </a:extLst>
          </p:cNvPr>
          <p:cNvSpPr>
            <a:spLocks noGrp="1"/>
          </p:cNvSpPr>
          <p:nvPr/>
        </p:nvSpPr>
        <p:spPr>
          <a:xfrm>
            <a:off x="640080" y="1664208"/>
            <a:ext cx="1090879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57F4A9-B0AF-4490-85F4-3B522C1A7502}"/>
              </a:ext>
            </a:extLst>
          </p:cNvPr>
          <p:cNvSpPr>
            <a:spLocks noGrp="1"/>
          </p:cNvSpPr>
          <p:nvPr/>
        </p:nvSpPr>
        <p:spPr>
          <a:xfrm>
            <a:off x="822959" y="1664208"/>
            <a:ext cx="2029967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MARKET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6A4D4-71BF-44AC-A941-B01532F81403}"/>
              </a:ext>
            </a:extLst>
          </p:cNvPr>
          <p:cNvSpPr>
            <a:spLocks noGrp="1"/>
          </p:cNvSpPr>
          <p:nvPr/>
        </p:nvSpPr>
        <p:spPr>
          <a:xfrm>
            <a:off x="3108960" y="1664208"/>
            <a:ext cx="193852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IMPR. / CLICKS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FFC22-AC42-4664-8FA4-3770A7DC2A47}"/>
              </a:ext>
            </a:extLst>
          </p:cNvPr>
          <p:cNvSpPr>
            <a:spLocks noGrp="1"/>
          </p:cNvSpPr>
          <p:nvPr/>
        </p:nvSpPr>
        <p:spPr>
          <a:xfrm>
            <a:off x="5303520" y="1664208"/>
            <a:ext cx="193852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SPEND / CPC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22D89-0A42-46DC-83C9-741326DE2796}"/>
              </a:ext>
            </a:extLst>
          </p:cNvPr>
          <p:cNvSpPr>
            <a:spLocks noGrp="1"/>
          </p:cNvSpPr>
          <p:nvPr/>
        </p:nvSpPr>
        <p:spPr>
          <a:xfrm>
            <a:off x="7498079" y="1664208"/>
            <a:ext cx="120700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CTR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1DA79-CDFE-44CA-BB85-5EA595184A19}"/>
              </a:ext>
            </a:extLst>
          </p:cNvPr>
          <p:cNvSpPr>
            <a:spLocks noGrp="1"/>
          </p:cNvSpPr>
          <p:nvPr/>
        </p:nvSpPr>
        <p:spPr>
          <a:xfrm>
            <a:off x="8961119" y="1664208"/>
            <a:ext cx="25146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DELIVERY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1249B2-5279-4617-B6F1-B3F3A364461E}"/>
              </a:ext>
            </a:extLst>
          </p:cNvPr>
          <p:cNvSpPr>
            <a:spLocks noGrp="1"/>
          </p:cNvSpPr>
          <p:nvPr/>
        </p:nvSpPr>
        <p:spPr>
          <a:xfrm>
            <a:off x="640080" y="2157984"/>
            <a:ext cx="109087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82887-AC2B-45C9-BE18-6CCC8EF7E3FD}"/>
              </a:ext>
            </a:extLst>
          </p:cNvPr>
          <p:cNvSpPr>
            <a:spLocks noGrp="1"/>
          </p:cNvSpPr>
          <p:nvPr/>
        </p:nvSpPr>
        <p:spPr>
          <a:xfrm>
            <a:off x="640080" y="2523744"/>
            <a:ext cx="10908792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921C66-5009-48DF-B48F-DEA8B9CFEB6A}"/>
              </a:ext>
            </a:extLst>
          </p:cNvPr>
          <p:cNvSpPr>
            <a:spLocks noGrp="1"/>
          </p:cNvSpPr>
          <p:nvPr/>
        </p:nvSpPr>
        <p:spPr>
          <a:xfrm>
            <a:off x="640080" y="2889504"/>
            <a:ext cx="109087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07F1BD-AFE9-4310-A58B-527930A849B9}"/>
              </a:ext>
            </a:extLst>
          </p:cNvPr>
          <p:cNvSpPr>
            <a:spLocks noGrp="1"/>
          </p:cNvSpPr>
          <p:nvPr/>
        </p:nvSpPr>
        <p:spPr>
          <a:xfrm>
            <a:off x="640080" y="3255264"/>
            <a:ext cx="10908792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8953DA-8F62-4A81-A9D1-1FBABE7EC8CB}"/>
              </a:ext>
            </a:extLst>
          </p:cNvPr>
          <p:cNvSpPr>
            <a:spLocks noGrp="1"/>
          </p:cNvSpPr>
          <p:nvPr/>
        </p:nvSpPr>
        <p:spPr>
          <a:xfrm>
            <a:off x="640080" y="4718304"/>
            <a:ext cx="10908792" cy="365760"/>
          </a:xfrm>
          <a:prstGeom prst="rect">
            <a:avLst/>
          </a:prstGeom>
          <a:solidFill>
            <a:srgbClr val="EB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0B7F8A-2AF0-4F0E-B2EC-C41C9FB0C05F}"/>
              </a:ext>
            </a:extLst>
          </p:cNvPr>
          <p:cNvSpPr>
            <a:spLocks noGrp="1"/>
          </p:cNvSpPr>
          <p:nvPr/>
        </p:nvSpPr>
        <p:spPr>
          <a:xfrm>
            <a:off x="640080" y="5248656"/>
            <a:ext cx="10881360" cy="365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00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Every Replenish campaign row is shown with spend, impressions, clicks, CTR, and average CPC. The account blended to $0.53 CPC. Torrey Del Mar ($0.32), Miramar ($0.38), Solana Beach ($0.47), and Carmel Mountain ($0.50) ran at or below that account average.</a:t>
            </a:r>
            <a:endParaRPr sz="1000" b="0" i="1">
              <a:solidFill>
                <a:srgbClr val="7C889E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8A8404-9C8E-40E8-BF65-486810A01E19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D4775E-EA73-4156-98F7-83EE48307D7A}"/>
              </a:ext>
            </a:extLst>
          </p:cNvPr>
          <p:cNvSpPr>
            <a:spLocks noGrp="1"/>
          </p:cNvSpPr>
          <p:nvPr/>
        </p:nvSpPr>
        <p:spPr>
          <a:xfrm>
            <a:off x="640080" y="647395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11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606" y="6254496"/>
            <a:ext cx="233265" cy="31089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DC48C9A-30D6-45ED-A661-11029A51D9FF}"/>
              </a:ext>
            </a:extLst>
          </p:cNvPr>
          <p:cNvSpPr>
            <a:spLocks noGrp="1"/>
          </p:cNvSpPr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70B8F-E862-6333-7653-BA5E3D5EE664}"/>
              </a:ext>
            </a:extLst>
          </p:cNvPr>
          <p:cNvSpPr>
            <a:spLocks noGrp="1"/>
          </p:cNvSpPr>
          <p:nvPr/>
        </p:nvSpPr>
        <p:spPr>
          <a:xfrm>
            <a:off x="640080" y="3621024"/>
            <a:ext cx="109087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6588A4-228D-5EC1-04F5-A61B2D23755F}"/>
              </a:ext>
            </a:extLst>
          </p:cNvPr>
          <p:cNvSpPr>
            <a:spLocks noGrp="1"/>
          </p:cNvSpPr>
          <p:nvPr/>
        </p:nvSpPr>
        <p:spPr>
          <a:xfrm>
            <a:off x="640080" y="3986784"/>
            <a:ext cx="10908792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B25294-4AD7-AEBF-4141-973D822CAC54}"/>
              </a:ext>
            </a:extLst>
          </p:cNvPr>
          <p:cNvSpPr>
            <a:spLocks noGrp="1"/>
          </p:cNvSpPr>
          <p:nvPr/>
        </p:nvSpPr>
        <p:spPr>
          <a:xfrm>
            <a:off x="640080" y="4352544"/>
            <a:ext cx="109087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CC1C5A-7AC7-474B-9AF1-A8A39A39A9D2}"/>
              </a:ext>
            </a:extLst>
          </p:cNvPr>
          <p:cNvSpPr>
            <a:spLocks noGrp="1"/>
          </p:cNvSpPr>
          <p:nvPr/>
        </p:nvSpPr>
        <p:spPr>
          <a:xfrm>
            <a:off x="640080" y="2139696"/>
            <a:ext cx="10908792" cy="36576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91F79A-C996-4C44-AD66-67FCF1DB9BAB}"/>
              </a:ext>
            </a:extLst>
          </p:cNvPr>
          <p:cNvSpPr>
            <a:spLocks noGrp="1"/>
          </p:cNvSpPr>
          <p:nvPr/>
        </p:nvSpPr>
        <p:spPr>
          <a:xfrm>
            <a:off x="640080" y="25146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07611A-A1C6-49DA-8F44-DF759430B409}"/>
              </a:ext>
            </a:extLst>
          </p:cNvPr>
          <p:cNvSpPr>
            <a:spLocks noGrp="1"/>
          </p:cNvSpPr>
          <p:nvPr/>
        </p:nvSpPr>
        <p:spPr>
          <a:xfrm>
            <a:off x="640080" y="288036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3D342B-22C8-4679-8E1E-9D414963B59F}"/>
              </a:ext>
            </a:extLst>
          </p:cNvPr>
          <p:cNvSpPr>
            <a:spLocks noGrp="1"/>
          </p:cNvSpPr>
          <p:nvPr/>
        </p:nvSpPr>
        <p:spPr>
          <a:xfrm>
            <a:off x="640080" y="324612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9DC1894-8B5E-461E-94AD-84731FACD884}"/>
              </a:ext>
            </a:extLst>
          </p:cNvPr>
          <p:cNvSpPr>
            <a:spLocks noGrp="1"/>
          </p:cNvSpPr>
          <p:nvPr/>
        </p:nvSpPr>
        <p:spPr>
          <a:xfrm>
            <a:off x="640080" y="3607308"/>
            <a:ext cx="10908792" cy="27432"/>
          </a:xfrm>
          <a:prstGeom prst="rect">
            <a:avLst/>
          </a:prstGeom>
          <a:solidFill>
            <a:srgbClr val="00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1FC34DE-7878-35E1-4DB1-AF803ACAA15E}"/>
              </a:ext>
            </a:extLst>
          </p:cNvPr>
          <p:cNvSpPr>
            <a:spLocks noGrp="1"/>
          </p:cNvSpPr>
          <p:nvPr/>
        </p:nvSpPr>
        <p:spPr>
          <a:xfrm>
            <a:off x="640080" y="397764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4E39ECE-B04A-3D13-4AB5-D4D6EE37DFC2}"/>
              </a:ext>
            </a:extLst>
          </p:cNvPr>
          <p:cNvSpPr>
            <a:spLocks noGrp="1"/>
          </p:cNvSpPr>
          <p:nvPr/>
        </p:nvSpPr>
        <p:spPr>
          <a:xfrm>
            <a:off x="640080" y="43434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4A2FF61-7799-1502-31E0-33F326C75484}"/>
              </a:ext>
            </a:extLst>
          </p:cNvPr>
          <p:cNvSpPr>
            <a:spLocks noGrp="1"/>
          </p:cNvSpPr>
          <p:nvPr/>
        </p:nvSpPr>
        <p:spPr>
          <a:xfrm>
            <a:off x="640080" y="470916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FD7AD8-4FB1-48A6-9B33-2D9C7F562248}"/>
              </a:ext>
            </a:extLst>
          </p:cNvPr>
          <p:cNvSpPr>
            <a:spLocks noGrp="1"/>
          </p:cNvSpPr>
          <p:nvPr/>
        </p:nvSpPr>
        <p:spPr>
          <a:xfrm>
            <a:off x="2918764" y="2157984"/>
            <a:ext cx="14630" cy="29260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080C39-4AE4-4087-8902-D74A14B35EED}"/>
              </a:ext>
            </a:extLst>
          </p:cNvPr>
          <p:cNvSpPr>
            <a:spLocks noGrp="1"/>
          </p:cNvSpPr>
          <p:nvPr/>
        </p:nvSpPr>
        <p:spPr>
          <a:xfrm>
            <a:off x="5113324" y="2157984"/>
            <a:ext cx="14630" cy="29260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2BF7C3-0B1D-4F51-96B6-CA8E8F54C5BA}"/>
              </a:ext>
            </a:extLst>
          </p:cNvPr>
          <p:cNvSpPr>
            <a:spLocks noGrp="1"/>
          </p:cNvSpPr>
          <p:nvPr/>
        </p:nvSpPr>
        <p:spPr>
          <a:xfrm>
            <a:off x="7307884" y="2157984"/>
            <a:ext cx="14630" cy="29260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1385050-2C2D-403A-B298-8168F4BA05C3}"/>
              </a:ext>
            </a:extLst>
          </p:cNvPr>
          <p:cNvSpPr>
            <a:spLocks noGrp="1"/>
          </p:cNvSpPr>
          <p:nvPr/>
        </p:nvSpPr>
        <p:spPr>
          <a:xfrm>
            <a:off x="8770924" y="2157984"/>
            <a:ext cx="14630" cy="292608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C5135D-AF93-473B-8DDB-B8BCBAD0CEE2}"/>
              </a:ext>
            </a:extLst>
          </p:cNvPr>
          <p:cNvSpPr>
            <a:spLocks noGrp="1"/>
          </p:cNvSpPr>
          <p:nvPr/>
        </p:nvSpPr>
        <p:spPr>
          <a:xfrm>
            <a:off x="640080" y="1664208"/>
            <a:ext cx="10908792" cy="3419856"/>
          </a:xfrm>
          <a:prstGeom prst="rect">
            <a:avLst/>
          </a:prstGeom>
          <a:noFill/>
          <a:ln w="31750">
            <a:solidFill>
              <a:srgbClr val="869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F5A84-2BF4-47F4-A4FD-AED7ACE8C167}"/>
              </a:ext>
            </a:extLst>
          </p:cNvPr>
          <p:cNvSpPr>
            <a:spLocks noGrp="1"/>
          </p:cNvSpPr>
          <p:nvPr/>
        </p:nvSpPr>
        <p:spPr>
          <a:xfrm>
            <a:off x="822959" y="226007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Coral Springs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4C1C1-8D11-497A-A8C7-A0239D2453EC}"/>
              </a:ext>
            </a:extLst>
          </p:cNvPr>
          <p:cNvSpPr>
            <a:spLocks noGrp="1"/>
          </p:cNvSpPr>
          <p:nvPr/>
        </p:nvSpPr>
        <p:spPr>
          <a:xfrm>
            <a:off x="3108960" y="226007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985 / 24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05835-BAFF-47A5-BD0A-B7C5FB817F9E}"/>
              </a:ext>
            </a:extLst>
          </p:cNvPr>
          <p:cNvSpPr>
            <a:spLocks noGrp="1"/>
          </p:cNvSpPr>
          <p:nvPr/>
        </p:nvSpPr>
        <p:spPr>
          <a:xfrm>
            <a:off x="5303520" y="226007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$36.73 / $1.53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4C081B-0E9A-4125-ABA7-956C00D559DC}"/>
              </a:ext>
            </a:extLst>
          </p:cNvPr>
          <p:cNvSpPr>
            <a:spLocks noGrp="1"/>
          </p:cNvSpPr>
          <p:nvPr/>
        </p:nvSpPr>
        <p:spPr>
          <a:xfrm>
            <a:off x="7498079" y="226007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2.44%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8BD04-093D-4674-B89E-D8255CFDB095}"/>
              </a:ext>
            </a:extLst>
          </p:cNvPr>
          <p:cNvSpPr>
            <a:spLocks noGrp="1"/>
          </p:cNvSpPr>
          <p:nvPr/>
        </p:nvSpPr>
        <p:spPr>
          <a:xfrm>
            <a:off x="8961119" y="226007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57BDB7-EA2E-4B66-9003-B95711B05EAE}"/>
              </a:ext>
            </a:extLst>
          </p:cNvPr>
          <p:cNvSpPr>
            <a:spLocks noGrp="1"/>
          </p:cNvSpPr>
          <p:nvPr/>
        </p:nvSpPr>
        <p:spPr>
          <a:xfrm>
            <a:off x="822959" y="262583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Torrey Del Mar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1DED50-8266-4BE8-A03B-7168072E3AB2}"/>
              </a:ext>
            </a:extLst>
          </p:cNvPr>
          <p:cNvSpPr>
            <a:spLocks noGrp="1"/>
          </p:cNvSpPr>
          <p:nvPr/>
        </p:nvSpPr>
        <p:spPr>
          <a:xfrm>
            <a:off x="3108960" y="262583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1,216 / 107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081F5F-7068-4F18-86EA-98A6A3DEEF42}"/>
              </a:ext>
            </a:extLst>
          </p:cNvPr>
          <p:cNvSpPr>
            <a:spLocks noGrp="1"/>
          </p:cNvSpPr>
          <p:nvPr/>
        </p:nvSpPr>
        <p:spPr>
          <a:xfrm>
            <a:off x="5303520" y="262583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$33.92 / $0.32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58765-1E99-41E0-9D23-6F19520546E5}"/>
              </a:ext>
            </a:extLst>
          </p:cNvPr>
          <p:cNvSpPr>
            <a:spLocks noGrp="1"/>
          </p:cNvSpPr>
          <p:nvPr/>
        </p:nvSpPr>
        <p:spPr>
          <a:xfrm>
            <a:off x="7498079" y="262583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8.80%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581AB-A0D4-4955-BA12-DB475ADA79B5}"/>
              </a:ext>
            </a:extLst>
          </p:cNvPr>
          <p:cNvSpPr>
            <a:spLocks noGrp="1"/>
          </p:cNvSpPr>
          <p:nvPr/>
        </p:nvSpPr>
        <p:spPr>
          <a:xfrm>
            <a:off x="8961119" y="262583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C50374-B72E-435B-B87F-2EF253362259}"/>
              </a:ext>
            </a:extLst>
          </p:cNvPr>
          <p:cNvSpPr>
            <a:spLocks noGrp="1"/>
          </p:cNvSpPr>
          <p:nvPr/>
        </p:nvSpPr>
        <p:spPr>
          <a:xfrm>
            <a:off x="822959" y="299159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Miramar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D587D0-8360-4640-9215-D36C14F73E9E}"/>
              </a:ext>
            </a:extLst>
          </p:cNvPr>
          <p:cNvSpPr>
            <a:spLocks noGrp="1"/>
          </p:cNvSpPr>
          <p:nvPr/>
        </p:nvSpPr>
        <p:spPr>
          <a:xfrm>
            <a:off x="3108960" y="299159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1,143 / 67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D0B1F2-F2E7-4A6C-A680-4B09F6AB669E}"/>
              </a:ext>
            </a:extLst>
          </p:cNvPr>
          <p:cNvSpPr>
            <a:spLocks noGrp="1"/>
          </p:cNvSpPr>
          <p:nvPr/>
        </p:nvSpPr>
        <p:spPr>
          <a:xfrm>
            <a:off x="5303520" y="299159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$25.45 / $0.38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03054-7C1C-4B26-8CC0-82D606EE64A2}"/>
              </a:ext>
            </a:extLst>
          </p:cNvPr>
          <p:cNvSpPr>
            <a:spLocks noGrp="1"/>
          </p:cNvSpPr>
          <p:nvPr/>
        </p:nvSpPr>
        <p:spPr>
          <a:xfrm>
            <a:off x="7498079" y="299159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5.86%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658443-E9CD-4BC2-8ECC-5D5AE7BD31F2}"/>
              </a:ext>
            </a:extLst>
          </p:cNvPr>
          <p:cNvSpPr>
            <a:spLocks noGrp="1"/>
          </p:cNvSpPr>
          <p:nvPr/>
        </p:nvSpPr>
        <p:spPr>
          <a:xfrm>
            <a:off x="8961119" y="299159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41604E-2F96-45C6-B674-B9FC120ABEC5}"/>
              </a:ext>
            </a:extLst>
          </p:cNvPr>
          <p:cNvSpPr>
            <a:spLocks noGrp="1"/>
          </p:cNvSpPr>
          <p:nvPr/>
        </p:nvSpPr>
        <p:spPr>
          <a:xfrm>
            <a:off x="822959" y="335735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Miami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954E87-16AC-4680-81CF-D10D20F92E3D}"/>
              </a:ext>
            </a:extLst>
          </p:cNvPr>
          <p:cNvSpPr>
            <a:spLocks noGrp="1"/>
          </p:cNvSpPr>
          <p:nvPr/>
        </p:nvSpPr>
        <p:spPr>
          <a:xfrm>
            <a:off x="3108960" y="335735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638 / 20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6993FF-B277-40AA-9DBA-C5F68FF4EBF1}"/>
              </a:ext>
            </a:extLst>
          </p:cNvPr>
          <p:cNvSpPr>
            <a:spLocks noGrp="1"/>
          </p:cNvSpPr>
          <p:nvPr/>
        </p:nvSpPr>
        <p:spPr>
          <a:xfrm>
            <a:off x="5303520" y="335735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$23.52 / $1.18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ADACA0-1CAC-4FD3-8439-E9D8F7246C3D}"/>
              </a:ext>
            </a:extLst>
          </p:cNvPr>
          <p:cNvSpPr>
            <a:spLocks noGrp="1"/>
          </p:cNvSpPr>
          <p:nvPr/>
        </p:nvSpPr>
        <p:spPr>
          <a:xfrm>
            <a:off x="7498079" y="335735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3.13%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6EA76F-E075-453F-850A-9DC4939D43F0}"/>
              </a:ext>
            </a:extLst>
          </p:cNvPr>
          <p:cNvSpPr>
            <a:spLocks noGrp="1"/>
          </p:cNvSpPr>
          <p:nvPr/>
        </p:nvSpPr>
        <p:spPr>
          <a:xfrm>
            <a:off x="8961119" y="335735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7" name="TextBox 14">
            <a:extLst>
              <a:ext uri="{FF2B5EF4-FFF2-40B4-BE49-F238E27FC236}">
                <a16:creationId xmlns:a16="http://schemas.microsoft.com/office/drawing/2014/main" id="{A76190D4-4BB2-B4D4-C96D-2FB5D04D593E}"/>
              </a:ext>
            </a:extLst>
          </p:cNvPr>
          <p:cNvSpPr>
            <a:spLocks noGrp="1"/>
          </p:cNvSpPr>
          <p:nvPr/>
        </p:nvSpPr>
        <p:spPr>
          <a:xfrm>
            <a:off x="822959" y="372311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Carmel Mountain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59" name="TextBox 15">
            <a:extLst>
              <a:ext uri="{FF2B5EF4-FFF2-40B4-BE49-F238E27FC236}">
                <a16:creationId xmlns:a16="http://schemas.microsoft.com/office/drawing/2014/main" id="{F0A99B69-EA11-6A5C-A096-61E7FFB4CF2C}"/>
              </a:ext>
            </a:extLst>
          </p:cNvPr>
          <p:cNvSpPr>
            <a:spLocks noGrp="1"/>
          </p:cNvSpPr>
          <p:nvPr/>
        </p:nvSpPr>
        <p:spPr>
          <a:xfrm>
            <a:off x="3108960" y="372311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418 / 42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0" name="TextBox 16">
            <a:extLst>
              <a:ext uri="{FF2B5EF4-FFF2-40B4-BE49-F238E27FC236}">
                <a16:creationId xmlns:a16="http://schemas.microsoft.com/office/drawing/2014/main" id="{3BDFB7A8-3A02-EDF2-049D-DA1B57D46739}"/>
              </a:ext>
            </a:extLst>
          </p:cNvPr>
          <p:cNvSpPr>
            <a:spLocks noGrp="1"/>
          </p:cNvSpPr>
          <p:nvPr/>
        </p:nvSpPr>
        <p:spPr>
          <a:xfrm>
            <a:off x="5303520" y="372311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$21.03 / $0.50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100658D2-CCE3-5F22-85C1-F2D4272B11E0}"/>
              </a:ext>
            </a:extLst>
          </p:cNvPr>
          <p:cNvSpPr>
            <a:spLocks noGrp="1"/>
          </p:cNvSpPr>
          <p:nvPr/>
        </p:nvSpPr>
        <p:spPr>
          <a:xfrm>
            <a:off x="7498079" y="372311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10.05%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2" name="TextBox 18">
            <a:extLst>
              <a:ext uri="{FF2B5EF4-FFF2-40B4-BE49-F238E27FC236}">
                <a16:creationId xmlns:a16="http://schemas.microsoft.com/office/drawing/2014/main" id="{A493E348-508C-BA23-EC9E-8935AB483E33}"/>
              </a:ext>
            </a:extLst>
          </p:cNvPr>
          <p:cNvSpPr>
            <a:spLocks noGrp="1"/>
          </p:cNvSpPr>
          <p:nvPr/>
        </p:nvSpPr>
        <p:spPr>
          <a:xfrm>
            <a:off x="8961119" y="372311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4" name="TextBox 20">
            <a:extLst>
              <a:ext uri="{FF2B5EF4-FFF2-40B4-BE49-F238E27FC236}">
                <a16:creationId xmlns:a16="http://schemas.microsoft.com/office/drawing/2014/main" id="{40D860B8-FB23-16B4-66D9-C4C886A4762C}"/>
              </a:ext>
            </a:extLst>
          </p:cNvPr>
          <p:cNvSpPr>
            <a:spLocks noGrp="1"/>
          </p:cNvSpPr>
          <p:nvPr/>
        </p:nvSpPr>
        <p:spPr>
          <a:xfrm>
            <a:off x="822959" y="408887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Solana Beach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6" name="TextBox 21">
            <a:extLst>
              <a:ext uri="{FF2B5EF4-FFF2-40B4-BE49-F238E27FC236}">
                <a16:creationId xmlns:a16="http://schemas.microsoft.com/office/drawing/2014/main" id="{4C127D6E-CAE1-630D-18AA-E55426B69C49}"/>
              </a:ext>
            </a:extLst>
          </p:cNvPr>
          <p:cNvSpPr>
            <a:spLocks noGrp="1"/>
          </p:cNvSpPr>
          <p:nvPr/>
        </p:nvSpPr>
        <p:spPr>
          <a:xfrm>
            <a:off x="3108960" y="408887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634 / 28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7" name="TextBox 22">
            <a:extLst>
              <a:ext uri="{FF2B5EF4-FFF2-40B4-BE49-F238E27FC236}">
                <a16:creationId xmlns:a16="http://schemas.microsoft.com/office/drawing/2014/main" id="{542D418C-F887-3805-3D7A-53A3D1FA7611}"/>
              </a:ext>
            </a:extLst>
          </p:cNvPr>
          <p:cNvSpPr>
            <a:spLocks noGrp="1"/>
          </p:cNvSpPr>
          <p:nvPr/>
        </p:nvSpPr>
        <p:spPr>
          <a:xfrm>
            <a:off x="5303520" y="408887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$13.07 / $0.47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23">
            <a:extLst>
              <a:ext uri="{FF2B5EF4-FFF2-40B4-BE49-F238E27FC236}">
                <a16:creationId xmlns:a16="http://schemas.microsoft.com/office/drawing/2014/main" id="{3F22A784-F8E3-7C18-1D0C-7E8A6133559A}"/>
              </a:ext>
            </a:extLst>
          </p:cNvPr>
          <p:cNvSpPr>
            <a:spLocks noGrp="1"/>
          </p:cNvSpPr>
          <p:nvPr/>
        </p:nvSpPr>
        <p:spPr>
          <a:xfrm>
            <a:off x="7498079" y="408887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4.42%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9" name="TextBox 24">
            <a:extLst>
              <a:ext uri="{FF2B5EF4-FFF2-40B4-BE49-F238E27FC236}">
                <a16:creationId xmlns:a16="http://schemas.microsoft.com/office/drawing/2014/main" id="{76C197D3-F24A-9D48-6618-BB845CE93125}"/>
              </a:ext>
            </a:extLst>
          </p:cNvPr>
          <p:cNvSpPr>
            <a:spLocks noGrp="1"/>
          </p:cNvSpPr>
          <p:nvPr/>
        </p:nvSpPr>
        <p:spPr>
          <a:xfrm>
            <a:off x="8961119" y="408887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1" name="TextBox 14">
            <a:extLst>
              <a:ext uri="{FF2B5EF4-FFF2-40B4-BE49-F238E27FC236}">
                <a16:creationId xmlns:a16="http://schemas.microsoft.com/office/drawing/2014/main" id="{3DD2E85E-F9F3-1F8E-01B2-B3FA1B77C14C}"/>
              </a:ext>
            </a:extLst>
          </p:cNvPr>
          <p:cNvSpPr>
            <a:spLocks noGrp="1"/>
          </p:cNvSpPr>
          <p:nvPr/>
        </p:nvSpPr>
        <p:spPr>
          <a:xfrm>
            <a:off x="822959" y="445463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Pampano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72" name="TextBox 15">
            <a:extLst>
              <a:ext uri="{FF2B5EF4-FFF2-40B4-BE49-F238E27FC236}">
                <a16:creationId xmlns:a16="http://schemas.microsoft.com/office/drawing/2014/main" id="{AA554A90-1C40-5461-F176-DF6DEECDCE3E}"/>
              </a:ext>
            </a:extLst>
          </p:cNvPr>
          <p:cNvSpPr>
            <a:spLocks noGrp="1"/>
          </p:cNvSpPr>
          <p:nvPr/>
        </p:nvSpPr>
        <p:spPr>
          <a:xfrm>
            <a:off x="3108960" y="445463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15 / 0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27107517-8D76-8D54-D5F2-DEE70F783ECE}"/>
              </a:ext>
            </a:extLst>
          </p:cNvPr>
          <p:cNvSpPr>
            <a:spLocks noGrp="1"/>
          </p:cNvSpPr>
          <p:nvPr/>
        </p:nvSpPr>
        <p:spPr>
          <a:xfrm>
            <a:off x="5303520" y="445463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$0.00 / N/A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4" name="TextBox 17">
            <a:extLst>
              <a:ext uri="{FF2B5EF4-FFF2-40B4-BE49-F238E27FC236}">
                <a16:creationId xmlns:a16="http://schemas.microsoft.com/office/drawing/2014/main" id="{0B89512E-F964-E857-E5C0-7D3079F2CB39}"/>
              </a:ext>
            </a:extLst>
          </p:cNvPr>
          <p:cNvSpPr>
            <a:spLocks noGrp="1"/>
          </p:cNvSpPr>
          <p:nvPr/>
        </p:nvSpPr>
        <p:spPr>
          <a:xfrm>
            <a:off x="7498079" y="445463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0.00%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5" name="TextBox 18">
            <a:extLst>
              <a:ext uri="{FF2B5EF4-FFF2-40B4-BE49-F238E27FC236}">
                <a16:creationId xmlns:a16="http://schemas.microsoft.com/office/drawing/2014/main" id="{98190240-1D74-B3B3-E7A9-E0FCC1FF1720}"/>
              </a:ext>
            </a:extLst>
          </p:cNvPr>
          <p:cNvSpPr>
            <a:spLocks noGrp="1"/>
          </p:cNvSpPr>
          <p:nvPr/>
        </p:nvSpPr>
        <p:spPr>
          <a:xfrm>
            <a:off x="8961119" y="445463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Limited delivery</a:t>
            </a:r>
            <a:endParaRPr sz="1050" b="0" i="0">
              <a:solidFill>
                <a:srgbClr val="4C587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F7915A-62DD-4842-949A-FCCE91BF5A5F}"/>
              </a:ext>
            </a:extLst>
          </p:cNvPr>
          <p:cNvSpPr>
            <a:spLocks noGrp="1"/>
          </p:cNvSpPr>
          <p:nvPr/>
        </p:nvSpPr>
        <p:spPr>
          <a:xfrm>
            <a:off x="822959" y="4820392"/>
            <a:ext cx="20665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All 7 rows</a:t>
            </a:r>
            <a:endParaRPr sz="1050" b="1" i="0">
              <a:solidFill>
                <a:srgbClr val="18203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E8EA83-0551-4D4B-BD8E-2C8E9306D941}"/>
              </a:ext>
            </a:extLst>
          </p:cNvPr>
          <p:cNvSpPr>
            <a:spLocks noGrp="1"/>
          </p:cNvSpPr>
          <p:nvPr/>
        </p:nvSpPr>
        <p:spPr>
          <a:xfrm>
            <a:off x="3108960" y="482039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5,049 / 288</a:t>
            </a:r>
            <a:endParaRPr sz="1050" b="1" i="0">
              <a:solidFill>
                <a:srgbClr val="4C5872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2A89C1-2574-4D0D-98D1-07FF1800B384}"/>
              </a:ext>
            </a:extLst>
          </p:cNvPr>
          <p:cNvSpPr>
            <a:spLocks noGrp="1"/>
          </p:cNvSpPr>
          <p:nvPr/>
        </p:nvSpPr>
        <p:spPr>
          <a:xfrm>
            <a:off x="5303520" y="4820392"/>
            <a:ext cx="19385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$153.72 / $0.53</a:t>
            </a:r>
            <a:endParaRPr sz="1050" b="1" i="0">
              <a:solidFill>
                <a:srgbClr val="4C5872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A89F07-6C82-4F49-B768-F587B459681E}"/>
              </a:ext>
            </a:extLst>
          </p:cNvPr>
          <p:cNvSpPr>
            <a:spLocks noGrp="1"/>
          </p:cNvSpPr>
          <p:nvPr/>
        </p:nvSpPr>
        <p:spPr>
          <a:xfrm>
            <a:off x="7498079" y="4820392"/>
            <a:ext cx="12070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5.70%</a:t>
            </a:r>
            <a:endParaRPr sz="1050" b="1" i="0">
              <a:solidFill>
                <a:srgbClr val="4C5872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4DE49E-59B4-44D2-A7C5-3C1D92768A07}"/>
              </a:ext>
            </a:extLst>
          </p:cNvPr>
          <p:cNvSpPr>
            <a:spLocks noGrp="1"/>
          </p:cNvSpPr>
          <p:nvPr/>
        </p:nvSpPr>
        <p:spPr>
          <a:xfrm>
            <a:off x="8961119" y="4820392"/>
            <a:ext cx="2496312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6 spent / 1 limited</a:t>
            </a:r>
            <a:endParaRPr sz="1050" b="1" i="0">
              <a:solidFill>
                <a:srgbClr val="4C5872"/>
              </a:solidFill>
              <a:latin typeface="Segoe UI Semibold"/>
              <a:ea typeface="Segoe UI Semibold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09137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D93202-9356-43A3-B57E-A788FE91B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3BFDA4-4F4E-44EC-861A-CFBC2569D2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0C929-8E1D-4ED6-9B0D-B7285DB76365}"/>
              </a:ext>
            </a:extLst>
          </p:cNvPr>
          <p:cNvSpPr>
            <a:spLocks noGrp="1"/>
          </p:cNvSpPr>
          <p:nvPr/>
        </p:nvSpPr>
        <p:spPr>
          <a:xfrm>
            <a:off x="0" y="1024128"/>
            <a:ext cx="12191695" cy="68580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7E575-2D24-4867-9497-BC33758EC9D0}"/>
              </a:ext>
            </a:extLst>
          </p:cNvPr>
          <p:cNvSpPr>
            <a:spLocks noGrp="1"/>
          </p:cNvSpPr>
          <p:nvPr/>
        </p:nvSpPr>
        <p:spPr>
          <a:xfrm>
            <a:off x="640080" y="146304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TAKEAWAYS</a:t>
            </a:r>
          </a:p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worked  ·  What's next</a:t>
            </a:r>
          </a:p>
        </p:txBody>
      </p:sp>
      <p:pic>
        <p:nvPicPr>
          <p:cNvPr id="4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505" y="256032"/>
            <a:ext cx="425366" cy="56692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CB766E-D778-443D-B04F-D1FB6B8014C6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230368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FF25B6-E8D2-42D7-B5D3-7953E9DBF071}"/>
              </a:ext>
            </a:extLst>
          </p:cNvPr>
          <p:cNvSpPr>
            <a:spLocks noGrp="1"/>
          </p:cNvSpPr>
          <p:nvPr/>
        </p:nvSpPr>
        <p:spPr>
          <a:xfrm>
            <a:off x="841248" y="1673352"/>
            <a:ext cx="137160" cy="3648456"/>
          </a:xfrm>
          <a:prstGeom prst="roundRect">
            <a:avLst>
              <a:gd name="adj" fmla="val 50000"/>
            </a:avLst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5E37E-8597-4AFC-915C-892D14CC693A}"/>
              </a:ext>
            </a:extLst>
          </p:cNvPr>
          <p:cNvSpPr>
            <a:spLocks noGrp="1"/>
          </p:cNvSpPr>
          <p:nvPr/>
        </p:nvSpPr>
        <p:spPr>
          <a:xfrm>
            <a:off x="1170432" y="16916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WHAT WORKED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27CD27-20F4-4788-8205-93CAEF5DCB92}"/>
              </a:ext>
            </a:extLst>
          </p:cNvPr>
          <p:cNvSpPr>
            <a:spLocks noGrp="1"/>
          </p:cNvSpPr>
          <p:nvPr/>
        </p:nvSpPr>
        <p:spPr>
          <a:xfrm>
            <a:off x="1188720" y="2295144"/>
            <a:ext cx="118872" cy="118872"/>
          </a:xfrm>
          <a:prstGeom prst="ellipse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25F40A-90BC-4301-9FC0-73D02345CA27}"/>
              </a:ext>
            </a:extLst>
          </p:cNvPr>
          <p:cNvSpPr>
            <a:spLocks noGrp="1"/>
          </p:cNvSpPr>
          <p:nvPr/>
        </p:nvSpPr>
        <p:spPr>
          <a:xfrm>
            <a:off x="1463040" y="2212848"/>
            <a:ext cx="4224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Strong overall click rate. The account delivered a 5.70% CTR from 5,049 impressions.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B741F2-E727-4DE0-AA08-7774AD85F101}"/>
              </a:ext>
            </a:extLst>
          </p:cNvPr>
          <p:cNvSpPr>
            <a:spLocks noGrp="1"/>
          </p:cNvSpPr>
          <p:nvPr/>
        </p:nvSpPr>
        <p:spPr>
          <a:xfrm>
            <a:off x="1188720" y="3319272"/>
            <a:ext cx="118872" cy="118872"/>
          </a:xfrm>
          <a:prstGeom prst="ellipse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F3D5A-26E5-4C88-8544-B486E204D8BF}"/>
              </a:ext>
            </a:extLst>
          </p:cNvPr>
          <p:cNvSpPr>
            <a:spLocks noGrp="1"/>
          </p:cNvSpPr>
          <p:nvPr/>
        </p:nvSpPr>
        <p:spPr>
          <a:xfrm>
            <a:off x="1463040" y="3236976"/>
            <a:ext cx="4224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Torrey led click volume. It produced 107 clicks at a $0.32 CPC and 8.80% CTR.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E6129B-1B9F-49ED-858B-1BC43052C107}"/>
              </a:ext>
            </a:extLst>
          </p:cNvPr>
          <p:cNvSpPr>
            <a:spLocks noGrp="1"/>
          </p:cNvSpPr>
          <p:nvPr/>
        </p:nvSpPr>
        <p:spPr>
          <a:xfrm>
            <a:off x="1188720" y="4343400"/>
            <a:ext cx="118872" cy="118872"/>
          </a:xfrm>
          <a:prstGeom prst="ellipse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18F4B-E303-4B67-8C50-D1C7544A6B44}"/>
              </a:ext>
            </a:extLst>
          </p:cNvPr>
          <p:cNvSpPr>
            <a:spLocks noGrp="1"/>
          </p:cNvSpPr>
          <p:nvPr/>
        </p:nvSpPr>
        <p:spPr>
          <a:xfrm>
            <a:off x="1463040" y="4261104"/>
            <a:ext cx="42245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Carmel Mountain led CTR. It reached 10.05% with 42 clicks from 418 impressions.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DBFD693-9E51-471A-9BD0-1C5EB0B665F2}"/>
              </a:ext>
            </a:extLst>
          </p:cNvPr>
          <p:cNvSpPr>
            <a:spLocks noGrp="1"/>
          </p:cNvSpPr>
          <p:nvPr/>
        </p:nvSpPr>
        <p:spPr>
          <a:xfrm>
            <a:off x="6053328" y="1417320"/>
            <a:ext cx="549554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B4C0D3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869136-2530-4C5E-A725-0180E9467E18}"/>
              </a:ext>
            </a:extLst>
          </p:cNvPr>
          <p:cNvSpPr>
            <a:spLocks noGrp="1"/>
          </p:cNvSpPr>
          <p:nvPr/>
        </p:nvSpPr>
        <p:spPr>
          <a:xfrm>
            <a:off x="6254496" y="1673352"/>
            <a:ext cx="137160" cy="3648456"/>
          </a:xfrm>
          <a:prstGeom prst="roundRect">
            <a:avLst>
              <a:gd name="adj" fmla="val 50000"/>
            </a:avLst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DE7F5-1CC9-4CE7-B09F-D986FC430912}"/>
              </a:ext>
            </a:extLst>
          </p:cNvPr>
          <p:cNvSpPr>
            <a:spLocks noGrp="1"/>
          </p:cNvSpPr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WHAT'S NEXT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D4C631-E089-49A7-A243-253AF8A68C96}"/>
              </a:ext>
            </a:extLst>
          </p:cNvPr>
          <p:cNvSpPr>
            <a:spLocks noGrp="1"/>
          </p:cNvSpPr>
          <p:nvPr/>
        </p:nvSpPr>
        <p:spPr>
          <a:xfrm>
            <a:off x="6583680" y="2212848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9050">
            <a:solidFill>
              <a:srgbClr val="F48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60CB10-E45A-432D-B3F4-3B50DB6B26EC}"/>
              </a:ext>
            </a:extLst>
          </p:cNvPr>
          <p:cNvSpPr>
            <a:spLocks noGrp="1"/>
          </p:cNvSpPr>
          <p:nvPr/>
        </p:nvSpPr>
        <p:spPr>
          <a:xfrm>
            <a:off x="6583680" y="2194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A5B5CE-0797-4BCB-B2BF-2881A40F59B4}"/>
              </a:ext>
            </a:extLst>
          </p:cNvPr>
          <p:cNvSpPr>
            <a:spLocks noGrp="1"/>
          </p:cNvSpPr>
          <p:nvPr/>
        </p:nvSpPr>
        <p:spPr>
          <a:xfrm>
            <a:off x="7077456" y="2185416"/>
            <a:ext cx="42793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Protect Torrey Del Mar and Miramar; both paired efficient CPC with meaningful traffic.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A06B876-2E78-434C-9975-D2D750421553}"/>
              </a:ext>
            </a:extLst>
          </p:cNvPr>
          <p:cNvSpPr>
            <a:spLocks noGrp="1"/>
          </p:cNvSpPr>
          <p:nvPr/>
        </p:nvSpPr>
        <p:spPr>
          <a:xfrm>
            <a:off x="6583680" y="299923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9050">
            <a:solidFill>
              <a:srgbClr val="F48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319DD-B23B-4F9A-A7ED-5D7206F44A9A}"/>
              </a:ext>
            </a:extLst>
          </p:cNvPr>
          <p:cNvSpPr>
            <a:spLocks noGrp="1"/>
          </p:cNvSpPr>
          <p:nvPr/>
        </p:nvSpPr>
        <p:spPr>
          <a:xfrm>
            <a:off x="6583680" y="298094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CFABB7-48DC-4EFD-977D-E81D1CBF8C03}"/>
              </a:ext>
            </a:extLst>
          </p:cNvPr>
          <p:cNvSpPr>
            <a:spLocks noGrp="1"/>
          </p:cNvSpPr>
          <p:nvPr/>
        </p:nvSpPr>
        <p:spPr>
          <a:xfrm>
            <a:off x="7077456" y="2971800"/>
            <a:ext cx="42793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Review Coral Springs and Miami, where CPCs of $1.53 and $1.18 exceeded the $0.53 average.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8B75A80-C681-4803-B1F1-0724C22FB23D}"/>
              </a:ext>
            </a:extLst>
          </p:cNvPr>
          <p:cNvSpPr>
            <a:spLocks noGrp="1"/>
          </p:cNvSpPr>
          <p:nvPr/>
        </p:nvSpPr>
        <p:spPr>
          <a:xfrm>
            <a:off x="6583680" y="378561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9050">
            <a:solidFill>
              <a:srgbClr val="F48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FEFE88-812A-49F3-BDAD-1B747B0E456C}"/>
              </a:ext>
            </a:extLst>
          </p:cNvPr>
          <p:cNvSpPr>
            <a:spLocks noGrp="1"/>
          </p:cNvSpPr>
          <p:nvPr/>
        </p:nvSpPr>
        <p:spPr>
          <a:xfrm>
            <a:off x="6583680" y="37673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46815B-62BC-4792-B077-E49E4FB015A4}"/>
              </a:ext>
            </a:extLst>
          </p:cNvPr>
          <p:cNvSpPr>
            <a:spLocks noGrp="1"/>
          </p:cNvSpPr>
          <p:nvPr/>
        </p:nvSpPr>
        <p:spPr>
          <a:xfrm>
            <a:off x="7077456" y="3758183"/>
            <a:ext cx="42793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Investigate Pampano's limited delivery after 15 impressions and no spend during the week.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938B22-CA00-477D-9131-3CA664D0F627}"/>
              </a:ext>
            </a:extLst>
          </p:cNvPr>
          <p:cNvSpPr>
            <a:spLocks noGrp="1"/>
          </p:cNvSpPr>
          <p:nvPr/>
        </p:nvSpPr>
        <p:spPr>
          <a:xfrm>
            <a:off x="6583680" y="457200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9050">
            <a:solidFill>
              <a:srgbClr val="F48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DAE106-6135-484D-9C66-903B2A750C0A}"/>
              </a:ext>
            </a:extLst>
          </p:cNvPr>
          <p:cNvSpPr>
            <a:spLocks noGrp="1"/>
          </p:cNvSpPr>
          <p:nvPr/>
        </p:nvSpPr>
        <p:spPr>
          <a:xfrm>
            <a:off x="6583680" y="45537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ACA1E3-BA45-4215-B141-A065032784B4}"/>
              </a:ext>
            </a:extLst>
          </p:cNvPr>
          <p:cNvSpPr>
            <a:spLocks noGrp="1"/>
          </p:cNvSpPr>
          <p:nvPr/>
        </p:nvSpPr>
        <p:spPr>
          <a:xfrm>
            <a:off x="7077456" y="4544568"/>
            <a:ext cx="42793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Validate conversion definitions, attribution window, platform latency, and downstream outcomes before conversion claims.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D90C2A-130A-45B0-BD9A-5100D84FF3CC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10908792" cy="18288"/>
          </a:xfrm>
          <a:prstGeom prst="rect">
            <a:avLst/>
          </a:prstGeom>
          <a:solidFill>
            <a:srgbClr val="B4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129F37-4E22-493A-8C65-F8CE33AE55E5}"/>
              </a:ext>
            </a:extLst>
          </p:cNvPr>
          <p:cNvSpPr>
            <a:spLocks noGrp="1"/>
          </p:cNvSpPr>
          <p:nvPr/>
        </p:nvSpPr>
        <p:spPr>
          <a:xfrm>
            <a:off x="640080" y="647395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68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606" y="6254496"/>
            <a:ext cx="233265" cy="3108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0175B4D-B31A-4B57-8D51-BEF7760AFFBA}"/>
              </a:ext>
            </a:extLst>
          </p:cNvPr>
          <p:cNvSpPr>
            <a:spLocks noGrp="1"/>
          </p:cNvSpPr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077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07C10C-2875-4A72-8E49-FBB2306FE8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0FBCD2-2CB4-4361-97C7-B8576E1AF5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668B95-D99C-475D-BA8D-118AB985887B}"/>
              </a:ext>
            </a:extLst>
          </p:cNvPr>
          <p:cNvSpPr>
            <a:spLocks noGrp="1"/>
          </p:cNvSpPr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D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051A93-514B-4A11-9556-369EFEFAC608}"/>
              </a:ext>
            </a:extLst>
          </p:cNvPr>
          <p:cNvSpPr>
            <a:spLocks noGrp="1"/>
          </p:cNvSpPr>
          <p:nvPr/>
        </p:nvSpPr>
        <p:spPr>
          <a:xfrm>
            <a:off x="310896" y="384048"/>
            <a:ext cx="11569903" cy="6053328"/>
          </a:xfrm>
          <a:prstGeom prst="roundRect">
            <a:avLst>
              <a:gd name="adj" fmla="val 1500"/>
            </a:avLst>
          </a:prstGeom>
          <a:noFill/>
          <a:ln w="22225"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E5591C-939D-4DF4-95B9-4706D2D48C16}"/>
              </a:ext>
            </a:extLst>
          </p:cNvPr>
          <p:cNvSpPr>
            <a:spLocks noGrp="1"/>
          </p:cNvSpPr>
          <p:nvPr/>
        </p:nvSpPr>
        <p:spPr>
          <a:xfrm>
            <a:off x="4970182" y="822960"/>
            <a:ext cx="225224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8062"/>
            </a:solidFill>
          </a:ln>
          <a:effectLst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382" y="1097280"/>
            <a:ext cx="1337844" cy="1783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5F8C5C-1E22-4AA4-A0C8-FBC8ABA5D887}"/>
              </a:ext>
            </a:extLst>
          </p:cNvPr>
          <p:cNvSpPr>
            <a:spLocks noGrp="1"/>
          </p:cNvSpPr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30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Traffic stayed efficient.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236922-5501-4DF8-A032-097E8AF57E53}"/>
              </a:ext>
            </a:extLst>
          </p:cNvPr>
          <p:cNvSpPr>
            <a:spLocks noGrp="1"/>
          </p:cNvSpPr>
          <p:nvPr/>
        </p:nvSpPr>
        <p:spPr>
          <a:xfrm>
            <a:off x="3078784" y="4343400"/>
            <a:ext cx="28803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8062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08164-1A8D-4222-8A61-CB8D8B4BAAC3}"/>
              </a:ext>
            </a:extLst>
          </p:cNvPr>
          <p:cNvSpPr>
            <a:spLocks noGrp="1"/>
          </p:cNvSpPr>
          <p:nvPr/>
        </p:nvSpPr>
        <p:spPr>
          <a:xfrm>
            <a:off x="3078784" y="4343400"/>
            <a:ext cx="2880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$0.53  average cost per click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E78C59-DA30-492F-8153-9FD849ADA2BA}"/>
              </a:ext>
            </a:extLst>
          </p:cNvPr>
          <p:cNvSpPr>
            <a:spLocks noGrp="1"/>
          </p:cNvSpPr>
          <p:nvPr/>
        </p:nvSpPr>
        <p:spPr>
          <a:xfrm>
            <a:off x="6233464" y="4343400"/>
            <a:ext cx="28803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8062"/>
            </a:solidFill>
          </a:ln>
          <a:effectLst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E853D-CD5A-4384-8699-47A690D49CA4}"/>
              </a:ext>
            </a:extLst>
          </p:cNvPr>
          <p:cNvSpPr>
            <a:spLocks noGrp="1"/>
          </p:cNvSpPr>
          <p:nvPr/>
        </p:nvSpPr>
        <p:spPr>
          <a:xfrm>
            <a:off x="6233464" y="4343400"/>
            <a:ext cx="2880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288  paid clicks this week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F0DDA5-7F75-4FF6-925F-BDE6AB83A099}"/>
              </a:ext>
            </a:extLst>
          </p:cNvPr>
          <p:cNvSpPr>
            <a:spLocks noGrp="1"/>
          </p:cNvSpPr>
          <p:nvPr/>
        </p:nvSpPr>
        <p:spPr>
          <a:xfrm>
            <a:off x="3490264" y="5212080"/>
            <a:ext cx="1737360" cy="73152"/>
          </a:xfrm>
          <a:prstGeom prst="rect">
            <a:avLst/>
          </a:prstGeom>
          <a:solidFill>
            <a:srgbClr val="F48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59C34-638C-48D8-BEED-4D25B5CC97BF}"/>
              </a:ext>
            </a:extLst>
          </p:cNvPr>
          <p:cNvSpPr>
            <a:spLocks noGrp="1"/>
          </p:cNvSpPr>
          <p:nvPr/>
        </p:nvSpPr>
        <p:spPr>
          <a:xfrm>
            <a:off x="5227624" y="5212080"/>
            <a:ext cx="1737360" cy="73152"/>
          </a:xfrm>
          <a:prstGeom prst="rect">
            <a:avLst/>
          </a:prstGeom>
          <a:solidFill>
            <a:srgbClr val="ED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476DAB-85F6-498B-97FA-D8A95CE107E1}"/>
              </a:ext>
            </a:extLst>
          </p:cNvPr>
          <p:cNvSpPr>
            <a:spLocks noGrp="1"/>
          </p:cNvSpPr>
          <p:nvPr/>
        </p:nvSpPr>
        <p:spPr>
          <a:xfrm>
            <a:off x="6964984" y="5212080"/>
            <a:ext cx="1737360" cy="73152"/>
          </a:xfrm>
          <a:prstGeom prst="rect">
            <a:avLst/>
          </a:prstGeom>
          <a:solidFill>
            <a:srgbClr val="00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61FF8-7B95-4075-A470-F4494A713C4C}"/>
              </a:ext>
            </a:extLst>
          </p:cNvPr>
          <p:cNvSpPr>
            <a:spLocks noGrp="1"/>
          </p:cNvSpPr>
          <p:nvPr/>
        </p:nvSpPr>
        <p:spPr>
          <a:xfrm>
            <a:off x="914400" y="5468112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sz="13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Seven campaign rows delivered 5,049 impressions and 288 clicks on $153.72 in spend, with a 5.70% CTR. Conversion reporting is pending validation.</a:t>
            </a:r>
          </a:p>
          <a:p>
            <a:pPr algn="ctr">
              <a:spcAft>
                <a:spcPts val="200"/>
              </a:spcAft>
              <a:buNone/>
            </a:pPr>
            <a:r>
              <a:rPr sz="11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Prepared by Dillon Mohr, Account Manager, Momentum 360  ·  dillon@needmomentum.com</a:t>
            </a:r>
          </a:p>
          <a:p>
            <a:pPr algn="ctr">
              <a:buNone/>
            </a:pPr>
            <a:r>
              <a:rPr sz="11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Client: Mia Lange, Replenish  ·  7-Eleven</a:t>
            </a:r>
          </a:p>
        </p:txBody>
      </p:sp>
    </p:spTree>
    <p:extLst>
      <p:ext uri="{BB962C8B-B14F-4D97-AF65-F5344CB8AC3E}">
        <p14:creationId xmlns:p14="http://schemas.microsoft.com/office/powerpoint/2010/main" val="54779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Microsoft Office PowerPoint</Application>
  <DocSecurity>0</DocSecurity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Dillon Mohr</cp:lastModifiedBy>
  <cp:revision>1</cp:revision>
  <dcterms:created xsi:type="dcterms:W3CDTF">2026-07-26T22:40:46Z</dcterms:created>
  <dcterms:modified xsi:type="dcterms:W3CDTF">2026-07-27T15:09:29Z</dcterms:modified>
</cp:coreProperties>
</file>