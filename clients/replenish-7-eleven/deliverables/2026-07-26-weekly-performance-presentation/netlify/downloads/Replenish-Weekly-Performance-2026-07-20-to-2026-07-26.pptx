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f35ef3ced473c" /><Relationship Type="http://schemas.openxmlformats.org/officeDocument/2006/relationships/extended-properties" Target="/docProps/app.xml" Id="Rf974ca32f0a34e47" /><Relationship Type="http://schemas.openxmlformats.org/officeDocument/2006/relationships/officeDocument" Target="/ppt/presentation.xml" Id="R4a461d2a40df4e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c493af28e4a7f"/>
  </p:sldMasterIdLst>
  <p:notesMasterIdLst>
    <p:notesMasterId xmlns:r="http://schemas.openxmlformats.org/officeDocument/2006/relationships" r:id="R3d2b5184c8dc4399"/>
  </p:notesMasterIdLst>
  <p:sldIdLst>
    <p:sldId xmlns:r="http://schemas.openxmlformats.org/officeDocument/2006/relationships" id="256" r:id="R29852d4eea884d5b"/>
    <p:sldId xmlns:r="http://schemas.openxmlformats.org/officeDocument/2006/relationships" id="257" r:id="R21f66e5108e14552"/>
    <p:sldId xmlns:r="http://schemas.openxmlformats.org/officeDocument/2006/relationships" id="258" r:id="R91585ac005154d4a"/>
    <p:sldId xmlns:r="http://schemas.openxmlformats.org/officeDocument/2006/relationships" id="259" r:id="R9f2efc29cd904529"/>
    <p:sldId xmlns:r="http://schemas.openxmlformats.org/officeDocument/2006/relationships" id="260" r:id="Re52b141b60eb4329"/>
    <p:sldId xmlns:r="http://schemas.openxmlformats.org/officeDocument/2006/relationships" id="261" r:id="R442938e65dd14a7e"/>
    <p:sldId xmlns:r="http://schemas.openxmlformats.org/officeDocument/2006/relationships" id="262" r:id="R756af240e7114596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37c0da989548ab" /><Relationship Type="http://schemas.openxmlformats.org/officeDocument/2006/relationships/slideMaster" Target="/ppt/slideMasters/slideMaster1.xml" Id="R31ec493af28e4a7f" /><Relationship Type="http://schemas.openxmlformats.org/officeDocument/2006/relationships/notesMaster" Target="/ppt/notesMasters/notesMaster1.xml" Id="R3d2b5184c8dc4399" /><Relationship Type="http://schemas.openxmlformats.org/officeDocument/2006/relationships/presProps" Target="/ppt/presProps.xml" Id="R90f40af721504c0c" /><Relationship Type="http://schemas.openxmlformats.org/officeDocument/2006/relationships/viewProps" Target="/ppt/viewProps.xml" Id="Rf8bb1e10692d4102" /><Relationship Type="http://schemas.openxmlformats.org/officeDocument/2006/relationships/tableStyles" Target="/ppt/tableStyles.xml" Id="Rdbfe3b2c914a484b" /><Relationship Type="http://schemas.openxmlformats.org/officeDocument/2006/relationships/slide" Target="/ppt/slides/slide1.xml" Id="R29852d4eea884d5b" /><Relationship Type="http://schemas.openxmlformats.org/officeDocument/2006/relationships/slide" Target="/ppt/slides/slide2.xml" Id="R21f66e5108e14552" /><Relationship Type="http://schemas.openxmlformats.org/officeDocument/2006/relationships/slide" Target="/ppt/slides/slide3.xml" Id="R91585ac005154d4a" /><Relationship Type="http://schemas.openxmlformats.org/officeDocument/2006/relationships/slide" Target="/ppt/slides/slide4.xml" Id="R9f2efc29cd904529" /><Relationship Type="http://schemas.openxmlformats.org/officeDocument/2006/relationships/slide" Target="/ppt/slides/slide5.xml" Id="Re52b141b60eb4329" /><Relationship Type="http://schemas.openxmlformats.org/officeDocument/2006/relationships/slide" Target="/ppt/slides/slide6.xml" Id="R442938e65dd14a7e" /><Relationship Type="http://schemas.openxmlformats.org/officeDocument/2006/relationships/slide" Target="/ppt/slides/slide7.xml" Id="R756af240e71145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9f62770d15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76a196262a46ed" /><Relationship Type="http://schemas.openxmlformats.org/officeDocument/2006/relationships/notesMaster" Target="/ppt/notesMasters/notesMaster1.xml" Id="Reafeeb5c8eef47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937e2b47a646ed" /><Relationship Type="http://schemas.openxmlformats.org/officeDocument/2006/relationships/notesMaster" Target="/ppt/notesMasters/notesMaster1.xml" Id="R9e8842f9ff0c4b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038d791cbd472c" /><Relationship Type="http://schemas.openxmlformats.org/officeDocument/2006/relationships/notesMaster" Target="/ppt/notesMasters/notesMaster1.xml" Id="Rcfd27432fce5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759179a7974ed8" /><Relationship Type="http://schemas.openxmlformats.org/officeDocument/2006/relationships/notesMaster" Target="/ppt/notesMasters/notesMaster1.xml" Id="R7958a43858ec41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2dcec453db4f82" /><Relationship Type="http://schemas.openxmlformats.org/officeDocument/2006/relationships/notesMaster" Target="/ppt/notesMasters/notesMaster1.xml" Id="Re2ca547225164b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9a0b88ec54484c" /><Relationship Type="http://schemas.openxmlformats.org/officeDocument/2006/relationships/notesMaster" Target="/ppt/notesMasters/notesMaster1.xml" Id="R840bf7ffb2ea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65b433c6b34d00" /><Relationship Type="http://schemas.openxmlformats.org/officeDocument/2006/relationships/notesMaster" Target="/ppt/notesMasters/notesMaster1.xml" Id="R6253fc1106cd40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Ads authenticated UI: Replenish account 627-501-4654, Jul 20–26, 2026, observed Jul 26, 2026.</a:t>
            </a:r>
          </a:p>
          <a:p xmlns:a="http://schemas.openxmlformats.org/drawingml/2006/main">
            <a:r>
              <a:t>- C:/Users/dillo/Documents/Codex/projects/client-operations/clients/replenish-7-eleven/deliverables/2026-07-26-weekly-performance-presentation/source-data.json</a:t>
            </a:r>
          </a:p>
          <a:p xmlns:a="http://schemas.openxmlformats.org/drawingml/2006/main">
            <a:r>
              <a:t>- Gmail sent Replenish attachment, used only as the exact 7-Eleven design and logo template.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9c8f38c82f48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d90ec02074d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324ef5aa043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40eb57b3ba4f4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7cac2b1364b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72ee7a53c43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c080853a8249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2987539cb417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370ebae4541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1afeffb57f467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ee3adfff74d7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D31979-2E94-4E91-8F73-DA50AA21255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7874EFB-02A5-49D8-933D-066E098BA2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3DB7951-7942-452A-81EE-D30DC049C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559C03-35D6-4151-BD5C-E0EE97674C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E544C-9668-48B8-A909-F427B96457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4D02EA-CC1A-4E7B-BF07-3AB94FAEA5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68C6D3A-EC6B-4FAF-92D0-5DB3260F3F3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F72E3BE-BDB3-44B8-B7FF-599759F6CF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93C99-6357-4CBE-878A-4A0B551E98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125700A-BC54-47BB-8E0D-35691886BC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BFCDFA-A04D-49F4-90CE-440C72068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142428-3564-44F3-BFED-3CE05EBB85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9A6ADB-38D4-4CC9-859D-5BBD221A1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E3FD84-B670-4CF7-8533-0ABFC1ACC5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FA151B-20DB-4BD4-8B01-99C85931E3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B0A008-9F6F-4D19-A9ED-3972E0323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1DEEA2-24F8-47CF-904E-F29C6BE01E5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4A8007E-EB86-4F37-B278-14F0FEFDE78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AAFA26-F456-4FEA-ACF3-98A0CFB89E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9E6E3A-D60B-4619-84F5-885353262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05140A-85B8-4960-A39C-2C839E0411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42360-9ACD-43DB-A7DE-0B8C76FA52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D8EC5F-FD48-49C7-B04F-5855D976B7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9010E8E-B0AC-4986-B1D9-7C14B486637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01A5A84-CBCF-4823-9973-E534E801403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4E6EDEE-B7F4-4996-B373-8620B3995FD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520A846-E08C-4888-B04C-DB3E8507D7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D42013D-724A-4B4D-AB81-2E9CD99585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F171B83-7B72-4026-8B7B-75DD8D6BCC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65918F4-1380-4669-83F1-90A2827D5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EC102F7-47D5-4093-BB90-929926B355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B125A7B-9A90-48F5-B4A0-AB1318E791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6465A66-EA61-4AA6-8E3A-94B5B00B68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1F9784-4F1C-48C8-855A-0C8633BE2A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766D4BF-75C0-4132-B17F-1A688983DF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FE88A1E-B137-4B47-BF74-FE9F6EB3B9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2E75D2-966E-43D3-89B3-9C74AD00A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488E1E3-EF9C-4EA1-BDFC-DC125328EB9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B9DE64A-B16C-46AE-814B-2B7C0199D6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49DBBCF-0792-43B3-8E45-5FF8E23F108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95091D9-15AF-45BA-97AA-74CB174396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659DC3-3F37-4096-BB24-EE2FBBCF87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A27D1D-CB86-41E7-84AD-096E019DEE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CA53D0C-B336-47AE-B7DF-1FF6EEF22D1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360B1D-8692-4B77-A73D-D027380360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626D284-4BAF-4409-B7B1-5D8C436966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C0972E7-6130-4C28-BF3A-7D5E0DC36B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CFBCF34-3150-4DA6-AB95-9015C6046A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0C1026-E5CD-4E8D-B1D6-97FD36C244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C2B0B2-6ED4-4A49-A6E3-0965C369C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A5C459F-1F0F-4BB5-B752-BE234D23D0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9C3D89-2DAC-4095-B0B4-7D99775FAC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7943037-3B36-409C-899E-D049174694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9A2241E-914E-4F62-9745-5D432587F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99888E4-B6A7-42B9-B60B-32E54FDB11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204769-D8B1-4817-A51C-8B56294723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B50033-ECE5-48D2-8EAF-20EFE3EE16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A22CA4-2C72-4826-A490-D273DD703C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f0e532c504ac0" /><Relationship Type="http://schemas.openxmlformats.org/officeDocument/2006/relationships/slideLayout" Target="/ppt/slideLayouts/slideLayout1.xml" Id="R88f41d86a7d241c1" /><Relationship Type="http://schemas.openxmlformats.org/officeDocument/2006/relationships/slideLayout" Target="/ppt/slideLayouts/slideLayout2.xml" Id="Rf590cfacb9e44478" /><Relationship Type="http://schemas.openxmlformats.org/officeDocument/2006/relationships/slideLayout" Target="/ppt/slideLayouts/slideLayout3.xml" Id="R8ab65de75ed743ca" /><Relationship Type="http://schemas.openxmlformats.org/officeDocument/2006/relationships/slideLayout" Target="/ppt/slideLayouts/slideLayout4.xml" Id="R43a5f7bee3604c69" /><Relationship Type="http://schemas.openxmlformats.org/officeDocument/2006/relationships/slideLayout" Target="/ppt/slideLayouts/slideLayout5.xml" Id="R0be97f03d80f415e" /><Relationship Type="http://schemas.openxmlformats.org/officeDocument/2006/relationships/slideLayout" Target="/ppt/slideLayouts/slideLayout6.xml" Id="Re8d717075af9494c" /><Relationship Type="http://schemas.openxmlformats.org/officeDocument/2006/relationships/slideLayout" Target="/ppt/slideLayouts/slideLayout7.xml" Id="R252d896632f64e67" /><Relationship Type="http://schemas.openxmlformats.org/officeDocument/2006/relationships/slideLayout" Target="/ppt/slideLayouts/slideLayout8.xml" Id="R9abf7b19a6f04486" /><Relationship Type="http://schemas.openxmlformats.org/officeDocument/2006/relationships/slideLayout" Target="/ppt/slideLayouts/slideLayout9.xml" Id="R3b8fa86e4f7a4c32" /><Relationship Type="http://schemas.openxmlformats.org/officeDocument/2006/relationships/slideLayout" Target="/ppt/slideLayouts/slideLayout10.xml" Id="Rf3b5840188dd4943" /><Relationship Type="http://schemas.openxmlformats.org/officeDocument/2006/relationships/slideLayout" Target="/ppt/slideLayouts/slideLayout11.xml" Id="R7444484d9ec94a7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C36BE08-CCA7-40FF-AEFB-6A9711156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F0CDA2-CB6F-4A8C-AA0E-C71C284C55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BD5ECD-1903-442D-A104-B0F6D749490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61D5AE-1392-4E82-A632-FED986775B1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228AE33-271B-4896-A488-D790275511C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f41d86a7d241c1"/>
    <p:sldLayoutId xmlns:r="http://schemas.openxmlformats.org/officeDocument/2006/relationships" id="2147483650" r:id="Rf590cfacb9e44478"/>
    <p:sldLayoutId xmlns:r="http://schemas.openxmlformats.org/officeDocument/2006/relationships" id="2147483651" r:id="R8ab65de75ed743ca"/>
    <p:sldLayoutId xmlns:r="http://schemas.openxmlformats.org/officeDocument/2006/relationships" id="2147483652" r:id="R43a5f7bee3604c69"/>
    <p:sldLayoutId xmlns:r="http://schemas.openxmlformats.org/officeDocument/2006/relationships" id="2147483653" r:id="R0be97f03d80f415e"/>
    <p:sldLayoutId xmlns:r="http://schemas.openxmlformats.org/officeDocument/2006/relationships" id="2147483654" r:id="Re8d717075af9494c"/>
    <p:sldLayoutId xmlns:r="http://schemas.openxmlformats.org/officeDocument/2006/relationships" id="2147483655" r:id="R252d896632f64e67"/>
    <p:sldLayoutId xmlns:r="http://schemas.openxmlformats.org/officeDocument/2006/relationships" id="2147483656" r:id="R9abf7b19a6f04486"/>
    <p:sldLayoutId xmlns:r="http://schemas.openxmlformats.org/officeDocument/2006/relationships" id="2147483657" r:id="R3b8fa86e4f7a4c32"/>
    <p:sldLayoutId xmlns:r="http://schemas.openxmlformats.org/officeDocument/2006/relationships" id="2147483658" r:id="Rf3b5840188dd4943"/>
    <p:sldLayoutId xmlns:r="http://schemas.openxmlformats.org/officeDocument/2006/relationships" id="2147483659" r:id="R7444484d9ec94a7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e601c2f8ab4caf" /><Relationship Type="http://schemas.openxmlformats.org/officeDocument/2006/relationships/image" Target="/ppt/media/image.png" Id="R3722838e9da542c2" /><Relationship Type="http://schemas.openxmlformats.org/officeDocument/2006/relationships/notesSlide" Target="/ppt/notesSlides/notesSlide1.xml" Id="R138523283bfb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ea564f31714986" /><Relationship Type="http://schemas.openxmlformats.org/officeDocument/2006/relationships/image" Target="/ppt/media/image.png" Id="R236099fa4ca64861" /><Relationship Type="http://schemas.openxmlformats.org/officeDocument/2006/relationships/notesSlide" Target="/ppt/notesSlides/notesSlide2.xml" Id="Rd0783e204dcf4b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2b530614e2469c" /><Relationship Type="http://schemas.openxmlformats.org/officeDocument/2006/relationships/image" Target="/ppt/media/image.png" Id="R825afd2a49a7476e" /><Relationship Type="http://schemas.openxmlformats.org/officeDocument/2006/relationships/notesSlide" Target="/ppt/notesSlides/notesSlide3.xml" Id="R82ef2d6cbb12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ef17dc0aba407f" /><Relationship Type="http://schemas.openxmlformats.org/officeDocument/2006/relationships/image" Target="/ppt/media/image.png" Id="Read7ac5c40fb424a" /><Relationship Type="http://schemas.openxmlformats.org/officeDocument/2006/relationships/notesSlide" Target="/ppt/notesSlides/notesSlide4.xml" Id="Rf4998f62b43d4b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2522846c664aa2" /><Relationship Type="http://schemas.openxmlformats.org/officeDocument/2006/relationships/image" Target="/ppt/media/image.png" Id="Re385da9dc80b456d" /><Relationship Type="http://schemas.openxmlformats.org/officeDocument/2006/relationships/notesSlide" Target="/ppt/notesSlides/notesSlide5.xml" Id="R3815fa5bf73f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b40c53dfa341ce" /><Relationship Type="http://schemas.openxmlformats.org/officeDocument/2006/relationships/image" Target="/ppt/media/image.png" Id="Rbbe30433991d4faf" /><Relationship Type="http://schemas.openxmlformats.org/officeDocument/2006/relationships/notesSlide" Target="/ppt/notesSlides/notesSlide6.xml" Id="R8f44041936704a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8c9c499bbb40d5" /><Relationship Type="http://schemas.openxmlformats.org/officeDocument/2006/relationships/image" Target="/ppt/media/image.png" Id="Rf43b8e237fbe43c9" /><Relationship Type="http://schemas.openxmlformats.org/officeDocument/2006/relationships/notesSlide" Target="/ppt/notesSlides/notesSlide7.xml" Id="Rd22557ae1fef437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0BD6EA-8B67-4A5C-B636-6AD6F62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E9A4AD-122A-45C4-8CC1-16484ACA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3FC3A05-149B-4907-93A0-05ABB026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384048"/>
            <a:ext cx="11569903" cy="6163056"/>
          </a:xfrm>
          <a:prstGeom xmlns:a="http://schemas.openxmlformats.org/drawingml/2006/main" prst="roundRect">
            <a:avLst>
              <a:gd name="adj" fmla="val 15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2838e9da542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07319" y="868680"/>
            <a:ext cx="1577970" cy="210312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F3497D-3322-4352-A099-4A0E3BB4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10362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WEEKLY PERFORMANCE REPORT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60F79D-FFAD-4D11-8ECA-1FD0BDBD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36289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Replenish × 7-Eleven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F035B3A-EA71-4210-9681-3AFA614F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7992"/>
            <a:ext cx="10362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Week of July 20 to 26, 2026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9AB2D62-8C15-476D-AC2B-469B7455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4" y="5029200"/>
            <a:ext cx="2788920" cy="42062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8062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75AA177-0068-4A9D-8D81-D61260C3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844" y="5029200"/>
            <a:ext cx="27889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/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BA00E9-3339-4F6F-A562-0ADBD425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64" y="5870448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2B800FF-AF24-498D-B4DD-BC6753E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624" y="5870448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A23DADD-FD6E-42D6-91DC-F8F0624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984" y="5870448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BB80D29-57A3-4947-8E91-43FC1BB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9904"/>
            <a:ext cx="103628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Prepared by Dillon Mohr, Account Manager  •  Momentum 360  •  dillon@needmomentum.com</a:t>
            </a:r>
          </a:p>
        </p:txBody>
      </p:sp>
    </p:spTree>
    <p:extLst>
      <p:ext uri="{BB962C8B-B14F-4D97-AF65-F5344CB8AC3E}">
        <p14:creationId xmlns:p14="http://schemas.microsoft.com/office/powerpoint/2010/main" val="16577504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B822DA-DE21-4079-866E-6A92ED0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C54C1D-E486-447D-ABA2-1E4787C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1F06F3C-B55D-410E-B964-DDE1EFEA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4128"/>
            <a:ext cx="1219169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4138538-3C92-48C1-8A30-4362F56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EXECUTIVE SUMMARY</a:t>
            </a:r>
          </a:p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Google Ads performance | July 20 to 26</a:t>
            </a:r>
          </a:p>
        </p:txBody>
      </p:sp>
      <p:pic>
        <p:nvPicPr>
          <p:cNvPr id="3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099fa4ca6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23505" y="256032"/>
            <a:ext cx="425366" cy="566928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AE7FB1B-7E44-4DA4-ADF5-8376EBAB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71600"/>
            <a:ext cx="5806440" cy="2468880"/>
          </a:xfrm>
          <a:prstGeom xmlns:a="http://schemas.openxmlformats.org/drawingml/2006/main" prst="roundRect">
            <a:avLst>
              <a:gd name="adj" fmla="val 4500"/>
            </a:avLst>
          </a:prstGeom>
          <a:gradFill xmlns:a="http://schemas.openxmlformats.org/drawingml/2006/main"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xmlns:a="http://schemas.openxmlformats.org/drawingml/2006/main" w="3175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4B9A805-27B9-4AD3-9279-5606A291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7" y="1664208"/>
            <a:ext cx="51663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AVERAGE COST PER CLICK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65C1A4D-1635-4E5B-AD4C-572FE628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1975104"/>
            <a:ext cx="5294375" cy="1402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2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$0.53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B874DF4-C586-40E5-BB68-2217EAB8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7" y="3328416"/>
            <a:ext cx="516635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Across all Replenish campaign rows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0CC9C1C-30E7-49C8-8ECC-435FFFF6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371600"/>
            <a:ext cx="4892040" cy="2468880"/>
          </a:xfrm>
          <a:prstGeom xmlns:a="http://schemas.openxmlformats.org/drawingml/2006/main" prst="roundRect">
            <a:avLst>
              <a:gd name="adj" fmla="val 4500"/>
            </a:avLst>
          </a:prstGeom>
          <a:gradFill xmlns:a="http://schemas.openxmlformats.org/drawingml/2006/main"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xmlns:a="http://schemas.openxmlformats.org/drawingml/2006/main" w="3175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6D2753-BE14-47F3-B99A-BC5948FE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664208"/>
            <a:ext cx="42519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CLICK-THROUGH RATE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20819D5-7804-4572-A18E-1CD197D8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975104"/>
            <a:ext cx="4379975" cy="13167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6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5.70%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3A04BB5-13D1-4ED0-8CB1-1F39A65A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328416"/>
            <a:ext cx="4251959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288 clicks from 5,049 impressions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5AF766C-DBE4-4736-9839-8022101A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77639"/>
            <a:ext cx="10908792" cy="178308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B879E70-579B-4E28-BA48-BC6EA1C7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24528"/>
            <a:ext cx="2286000" cy="2926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008062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8CB9104-3230-4A01-8B9D-F532E86F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15384"/>
            <a:ext cx="2286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7 CAMPAIGN ROWS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B01204E-12B3-403B-AC30-745326E8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178808"/>
            <a:ext cx="7772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Where things stand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60DA7D6-CC95-47E8-821F-2AAE119B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17720"/>
            <a:ext cx="1024128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2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Replenish Google Ads generated 288 clicks from 5,049 impressions on $153.72 in spend. Average CPC was $0.53 and CTR was 5.70%. Torrey Del Mar led click volume, while Carmel Mountain posted the strongest CTR. Coral Springs and Miami carried the highest CPCs. Conversion reporting is pending validation.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A0E4697-9D3D-444B-A66A-F6702DF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C84A03F-3A84-4510-BEB7-9B2D5CC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46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099fa4ca648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06" y="6254496"/>
            <a:ext cx="233265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EAFCB74-764C-4548-8D25-AA6440CD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70945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12297E-3EA7-4817-9DD9-C0F65678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AB915BE-730C-4A58-BF41-DE918A00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DEDC5D5-9A8B-4751-B1EF-6D753C96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4128"/>
            <a:ext cx="1219169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17FACAA-9F50-41BF-BECC-0749FFE7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HEADLINE METRICS</a:t>
            </a:r>
          </a:p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The week in numbers</a:t>
            </a:r>
          </a:p>
        </p:txBody>
      </p:sp>
      <p:pic>
        <p:nvPicPr>
          <p:cNvPr id="6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afd2a49a7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23505" y="256032"/>
            <a:ext cx="425366" cy="566928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FDCE0EF-9BF5-4A09-BC44-8D1F5615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32588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THIS WEEK  •  JULY 20 TO 26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8B1014C-032F-41E4-B9EE-39406B91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9C306DD-F68A-43D9-B5D9-6102820F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2938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D28848F-4B2E-46F9-912C-C2432EF5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1226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TOTAL SPEND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1D300FC-4FD5-4047-AA12-FCEAEAF1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$153.72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36BF195-8762-4B73-B6A9-4FE13158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1635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across 7 campaign rows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5AA1C12-68C0-4B47-99C9-638D16F0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1" y="169164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1F4CA89-9C11-418A-840B-690BB161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5" y="192938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1B3054-3AA7-4D51-A21C-0EDC8F15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11226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IMPRESSIONS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2617DAC-BA16-4BE1-A784-0E31F3C7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5" y="233172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5,049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B9A4776-1E4F-4248-8339-4B6159E0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281635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served this week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B762F90-DDD0-4524-9457-051E202A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69164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34072F7E-E858-4077-B5AC-47F76029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2938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C414E43-C814-4B17-A0FF-764CCA77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11226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AD CLICKS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AD9A80A-4CA1-4E26-8A9E-ACADA921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33172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288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2592EBF-9FF4-44B7-873A-AA13DE65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81635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paid clicks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CA39E35-FC89-47BA-AFB1-0AF0B853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1691640"/>
            <a:ext cx="2615184" cy="1508760"/>
          </a:xfrm>
          <a:prstGeom xmlns:a="http://schemas.openxmlformats.org/drawingml/2006/main" prst="roundRect">
            <a:avLst>
              <a:gd name="adj" fmla="val 6000"/>
            </a:avLst>
          </a:prstGeom>
          <a:gradFill xmlns:a="http://schemas.openxmlformats.org/drawingml/2006/main"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xmlns:a="http://schemas.openxmlformats.org/drawingml/2006/main" w="3175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5FA9D54-C807-441E-AB69-C39B3F5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9" y="192938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386AF23-EA00-4EAE-B20D-AFB2AFE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211226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AVERAGE CPC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605CE2C-A538-4333-A196-6DE68F1E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9" y="233172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$0.53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96CA5C5-E277-4537-A206-E2B3B0F3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281635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all campaign rows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329C969-34EC-483D-A802-5ADD2F7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10881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DELIVERY &amp; MEASUREMENT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246DE01-7131-4E4A-A1AE-9E9864DD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209DDD65-800B-460C-891B-84F5ECBE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3250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35E7A7A-3564-48E3-900D-41BCCB5C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21538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CLICK-THROUGH RATE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DD1D7E4D-27B9-47A9-9CF0-431AB995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43484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5.70%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9C1E55B-E802-4DD2-9D1A-4B316E94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91947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clicks divided by impressions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64C89709-C19C-49E3-97BB-286713B8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1" y="379476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41F331C-E5F3-47DD-83C9-BA9AE8DD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5" y="403250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0A5CAD0-F928-4EC9-ADAD-9A0368DD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21538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CAMPAIGN ROWS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0465EDB-93CE-4E3E-9B6D-B14B2070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5" y="443484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7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EC043E91-A507-4BBC-AD14-18DC88B9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" y="491947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in the Replenish account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51EF8BA5-D7DF-4573-9E9D-09CDFDC9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794760"/>
            <a:ext cx="2615184" cy="1508760"/>
          </a:xfrm>
          <a:prstGeom xmlns:a="http://schemas.openxmlformats.org/drawingml/2006/main" prst="roundRect">
            <a:avLst>
              <a:gd name="adj" fmla="val 6000"/>
            </a:avLst>
          </a:prstGeom>
          <a:gradFill xmlns:a="http://schemas.openxmlformats.org/drawingml/2006/main"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xmlns:a="http://schemas.openxmlformats.org/drawingml/2006/main" w="3175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4BA0C17-BF6E-4F08-98A2-194F552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03250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6AF434A-4F25-48A9-8045-0358989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21538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ROWS WITH SPEND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DC99A10-7736-4627-A154-662318AB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43484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3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B8A4CDA7-1869-4A30-9A94-353B0832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91947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during the selected week</a:t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1A888E50-A8E7-449B-A070-9F1B52A0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3794760"/>
            <a:ext cx="2615184" cy="15087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30B43D02-28DE-43CD-9CA0-E32E93F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9" y="4032504"/>
            <a:ext cx="585216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DA5F077-1C2E-4F26-AB3C-F691F19D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4215384"/>
            <a:ext cx="21579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LIMITED DELIVERY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FC8918FD-842A-44A0-B5C2-7C4D0D06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19" y="4434840"/>
            <a:ext cx="21762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7A2E6FC-EB6B-4D34-A734-CFA0234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4919472"/>
            <a:ext cx="21579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</a:pPr>
            <a:r>
              <a:rPr sz="9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Pampano, 15 impressions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6F7933-F4FF-4EAC-B5CC-55D93D6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0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Campaign rows total 5,049 impressions, 288 clicks, and $153.72 in spend at a 5.70% CTR and $0.53 average CPC. Six rows generated spend; Pampano recorded limited delivery. Conversion reporting is pending validation, so this report focuses on verified delivery and traffic performance.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A6B2544E-6F63-4D8E-8D0D-F45F767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3B0BB20C-1377-43C8-A077-C419BD9C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106" name="Picture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afd2a49a7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06" y="6254496"/>
            <a:ext cx="233265" cy="310896"/>
          </a:xfrm>
          <a:prstGeom xmlns:a="http://schemas.openxmlformats.org/drawingml/2006/main" prst="rect">
            <a:avLst/>
          </a:prstGeom>
        </p:spPr>
      </p:pic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12CBF2D-583F-4C42-80EF-3C2DB729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664594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FFC28A-76F5-4BE0-9C51-FD708EBB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A29AAA8-8B28-47FA-BD0F-042AE4E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CADC51-D3FB-4929-B9F4-CDE91794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4128"/>
            <a:ext cx="1219169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057155D-51EC-4E5E-8FF8-570E22D5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PERFORMANCE</a:t>
            </a:r>
          </a:p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Cost per click by priority market</a:t>
            </a:r>
          </a:p>
        </p:txBody>
      </p:sp>
      <p:pic>
        <p:nvPicPr>
          <p:cNvPr id="4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7ac5c40fb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23505" y="256032"/>
            <a:ext cx="425366" cy="566928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6FFC5FD-E74E-48EF-A826-9268451C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7452360" cy="3977639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2E5CB3B-FE78-4AFE-A82A-835DF762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645920"/>
            <a:ext cx="6858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Average cost per click by market  ($)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616AB28-FF4B-44C0-9259-EEB91357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088" y="2231136"/>
            <a:ext cx="14630" cy="23957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95A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908214-675F-45E8-8A04-00121CA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6645" y="1975104"/>
            <a:ext cx="1554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avg $0.53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9E84126-4F88-4506-9E9C-14A39A1D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59152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Coral Springs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268BA4F-02EC-4632-8BCA-52976A0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77440"/>
            <a:ext cx="48463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12700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2AFB96-9536-47DF-B848-A8B570FE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77440"/>
            <a:ext cx="4000500" cy="31089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31E1CE-DB79-4BC8-9F24-0E2435D9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2576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$1.53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32CD73E-B76E-4886-A74E-B699094F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62656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Torrey Del Mar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40AEE80-F6C7-485C-8331-3650186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0944"/>
            <a:ext cx="48463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12700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BAFDBB20-EDFC-463D-B9F6-08D690C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80944"/>
            <a:ext cx="836295" cy="31089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A5695E-64F4-41F0-BC61-FAC9249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26080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$0.32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8BB5EEF-3D00-448A-8188-84BFF941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66160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Miramar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01F6BA0-1B33-4FD2-AB4F-BD231285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4448"/>
            <a:ext cx="48463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12700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427D631-A133-4D46-8C71-2DAD99EB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84448"/>
            <a:ext cx="993458" cy="31089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C53ADD2-B2B3-49DE-B601-A6E1E401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29584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$0.38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057AF44-1A94-4DDF-9623-858B11AD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9664"/>
            <a:ext cx="1783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Miami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8D7BA2E-5A2C-4F82-9DD7-97A5C33E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87952"/>
            <a:ext cx="484632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12700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B7D4FF5D-F098-4126-9453-D419EAA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87952"/>
            <a:ext cx="3085148" cy="310896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5176DCB-A035-4A75-8A60-5239539F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33088"/>
            <a:ext cx="8229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$1.18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79C8C49-04CA-4C66-8715-52AB7609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56048"/>
            <a:ext cx="6675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Lower is better. The line marks the $0.53 account average.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0ADE1FB-7A85-4647-92A2-3958DAF9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227832" cy="3977639"/>
          </a:xfrm>
          <a:prstGeom xmlns:a="http://schemas.openxmlformats.org/drawingml/2006/main" prst="roundRect">
            <a:avLst>
              <a:gd name="adj" fmla="val 4500"/>
            </a:avLst>
          </a:prstGeom>
          <a:gradFill xmlns:a="http://schemas.openxmlformats.org/drawingml/2006/main" rotWithShape="1">
            <a:gsLst>
              <a:gs pos="0">
                <a:srgbClr val="FFFFFF"/>
              </a:gs>
              <a:gs pos="100000">
                <a:srgbClr val="E9F5F0"/>
              </a:gs>
            </a:gsLst>
            <a:lin ang="16200000" scaled="0"/>
          </a:gradFill>
          <a:ln xmlns:a="http://schemas.openxmlformats.org/drawingml/2006/main" w="3175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D4D8AD2-84F8-430F-AE7F-7E6932F4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783080"/>
            <a:ext cx="2651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CTR LEADER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8CCB0F0-258E-4756-8FE9-F6783693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194560"/>
            <a:ext cx="28346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5800" b="1" i="0">
                <a:solidFill>
                  <a:srgbClr val="008062"/>
                </a:solidFill>
                <a:effectLst>
                  <a:outerShdw blurRad="40000" dist="22000" dir="5400000" rotWithShape="0">
                    <a:srgbClr val="000000">
                      <a:alpha val="24000"/>
                    </a:srgbClr>
                  </a:outerShdw>
                </a:effectLst>
                <a:latin typeface="Segoe UI Semibold"/>
                <a:ea typeface="Segoe UI Semibold"/>
                <a:cs typeface="Segoe UI Semibold"/>
              </a:rPr>
              <a:t>10.05%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290F05E-C66F-476D-A0E3-D5175EBF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246120"/>
            <a:ext cx="26974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3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Carmel Mountain click-through rate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5046A53A-AE9F-4610-9FF5-5E076B90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977639"/>
            <a:ext cx="2514600" cy="2743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8062"/>
              </a:gs>
              <a:gs pos="100000">
                <a:srgbClr val="3AB093"/>
              </a:gs>
            </a:gsLst>
            <a:lin ang="162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98298F9-35ED-429A-A4CC-1F8D320E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133087"/>
            <a:ext cx="27432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1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Carmel Mountain led CTR, while Torrey Del Mar produced the most clicks at an efficient $0.32 CPC.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A672B44-3587-4B71-AFA4-BD6D718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04688"/>
            <a:ext cx="10881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05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Priority-market view uses the four highest-spend rows. Coral Springs and Miami ran above the $0.53 CPC average; Torrey Del Mar and Miramar combined lower CPCs with stronger traffic volume.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4132CC1-BA49-4425-A299-EFFEE8D4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AADD57F-6B91-450A-BD1B-B3E9FE6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7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7ac5c40fb42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06" y="6254496"/>
            <a:ext cx="233265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D73CD86-B83B-43CB-A6A4-1123B38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01761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7E5EE3-3430-4AB9-AA85-C3770D80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74312B1-62D9-43D7-B4A5-458CC17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92A9C6-CB25-4620-A908-F15D0AF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4128"/>
            <a:ext cx="1219169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3B21BA-48FB-40A5-AD7C-5B98DC3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MARKET KPI DETAIL</a:t>
            </a:r>
          </a:p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Highest-spend campaigns, side by side</a:t>
            </a:r>
          </a:p>
        </p:txBody>
      </p:sp>
      <p:pic>
        <p:nvPicPr>
          <p:cNvPr id="6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da9dc80b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23505" y="256032"/>
            <a:ext cx="425366" cy="566928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C804231-F5EE-4375-8B2A-C159821A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64208"/>
            <a:ext cx="10908792" cy="34198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B4CE5E7-57BB-4E62-9DA9-C0BF8F5F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64208"/>
            <a:ext cx="10908792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57F4A9-B0AF-4490-85F4-3B522C1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664208"/>
            <a:ext cx="2029967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MARKET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636A4D4-71BF-44AC-A941-B01532F8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1664208"/>
            <a:ext cx="1938528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IMPR. / CLICKS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BFFC22-AC42-4664-8FA4-3770A7DC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64208"/>
            <a:ext cx="1938528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SPEND / CPC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3822D89-0A42-46DC-83C9-741326DE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1664208"/>
            <a:ext cx="1207008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CTR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F71DA79-CDFE-44CA-BB85-5EA59518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1664208"/>
            <a:ext cx="251460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DELIVERY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D1249B2-5279-4617-B6F1-B3F3A364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57984"/>
            <a:ext cx="10908792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07F5A84-2BF4-47F4-A4FD-AED7ACE8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157984"/>
            <a:ext cx="2066543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Coral Springs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24C1C1-8D11-497A-A8C7-A0239D24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157984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985 / 24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2D05835-BAFF-47A5-BD0A-B7C5FB81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57984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$36.73 / $1.53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F4C081B-0E9A-4125-ABA7-956C00D5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157984"/>
            <a:ext cx="12070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2.44%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B98BD04-093D-4674-B89E-D8255CFD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2157984"/>
            <a:ext cx="249631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43C82887-AC2B-45C9-BE18-6CCC8EF7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3200"/>
            <a:ext cx="10908792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57BDB7-EA2E-4B66-9003-B95711B0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743200"/>
            <a:ext cx="2066543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Torrey Del Mar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91DED50-8266-4BE8-A03B-7168072E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43200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1,216 / 107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A081F5F-7068-4F18-86EA-98A6A3D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743200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$33.92 / $0.32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9D58765-1E99-41E0-9D23-6F195205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743200"/>
            <a:ext cx="12070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8.80%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6C581AB-A0D4-4955-BA12-DB475ADA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2743200"/>
            <a:ext cx="249631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A921C66-5009-48DF-B48F-DEA8B9CF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10908792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5C50374-B72E-435B-B87F-2EF25336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328416"/>
            <a:ext cx="2066543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Miramar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AD587D0-8360-4640-9215-D36C14F7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328416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1,143 / 67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BD0B1F2-F2E7-4A6C-A680-4B09F6A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328416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$25.45 / $0.38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B003054-7C1C-4B26-8CC0-82D606EE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328416"/>
            <a:ext cx="12070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5.86%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C658443-E9CD-4BC2-8ECC-5D5AE7BD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3328416"/>
            <a:ext cx="249631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AC07F1BD-AFE9-4310-A58B-527930A8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13632"/>
            <a:ext cx="10908792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741604E-2F96-45C6-B674-B9FC120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3913632"/>
            <a:ext cx="2066543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Miami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1954E87-16AC-4680-81CF-D10D20F9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913632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638 / 20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46993FF-B277-40AA-9DBA-C5F68FF4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3913632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$23.52 / $1.18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CADACA0-1CAC-4FD3-8439-E9D8F724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913632"/>
            <a:ext cx="12070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3.13%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36EA76F-E075-453F-850A-9DC4939D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3913632"/>
            <a:ext cx="249631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Eligible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618953DA-8F62-4A81-A9D1-1FBABE7E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98848"/>
            <a:ext cx="10908792" cy="585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82F7915A-62DD-4842-949A-FCCE91B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4498848"/>
            <a:ext cx="2066543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All 7 rows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F5E8EA83-0551-4D4B-BD8E-2C8E9306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498848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5,049 / 288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12A89C1-2574-4D0D-98D1-07FF1800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4498848"/>
            <a:ext cx="193852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$153.72 / $0.53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A89F07-6C82-4F49-B768-F587B459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4498848"/>
            <a:ext cx="1207008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5.70%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B64DE49E-59B4-44D2-A7C5-3C1D927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19" y="4498848"/>
            <a:ext cx="2496312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6 spent / 1 limited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90CC1C5A-7AC7-474B-9AF1-A8A39A39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39696"/>
            <a:ext cx="10908792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991F79A-C996-4C44-AD66-67FCF1DB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34056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8A07611A-A1C6-49DA-8F44-DF759430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19272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1A3D342B-22C8-4679-8E1E-9D414963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04488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69DC1894-8B5E-461E-94AD-84731FAC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5132"/>
            <a:ext cx="10908792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C4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4DFD7AD8-4FB1-48A6-9B33-2D9C7F56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64" y="2157984"/>
            <a:ext cx="1463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77080C39-4AE4-4087-8902-D74A14B3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324" y="2157984"/>
            <a:ext cx="1463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9E2BF7C3-0B1D-4F51-96B6-CA8E8F54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884" y="2157984"/>
            <a:ext cx="1463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D1385050-2C2D-403A-B298-8168F4BA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924" y="2157984"/>
            <a:ext cx="14630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62C5135D-AF93-473B-8DDB-B8BCBAD0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64208"/>
            <a:ext cx="10908792" cy="3419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1750">
            <a:solidFill>
              <a:srgbClr val="8695A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D0B7F8A-2AF0-4F0E-B2EC-C41C9FB0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48656"/>
            <a:ext cx="108813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000" b="0" i="1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The four displayed markets are the highest-spend campaign rows. The all-seven total also includes Carmel Mountain, Solana Beach, and Pampano. Pampano recorded 15 impressions with limited delivery during the selected period.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538A8404-9C8E-40E8-BF65-486810A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C6D4775E-EA73-4156-98F7-83EE4830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116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85da9dc80b45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06" y="6254496"/>
            <a:ext cx="233265" cy="310896"/>
          </a:xfrm>
          <a:prstGeom xmlns:a="http://schemas.openxmlformats.org/drawingml/2006/main" prst="rect">
            <a:avLst/>
          </a:prstGeom>
        </p:spPr>
      </p:pic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8DC48C9A-30D6-45ED-A661-11029A51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091374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93202-9356-43A3-B57E-A788FE91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73BFDA4-4F4E-44EC-861A-CFBC2569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600C929-8E1D-4ED6-9B0D-B7285DB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4128"/>
            <a:ext cx="12191695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F7E575-2D24-4867-9497-BC33758E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6304"/>
            <a:ext cx="100584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200"/>
              </a:spcAft>
              <a:buNone/>
            </a:pPr>
            <a:r>
              <a:rPr sz="1100" b="1" i="0">
                <a:solidFill>
                  <a:srgbClr val="D4ECE2"/>
                </a:solidFill>
                <a:latin typeface="Segoe UI Semibold"/>
                <a:ea typeface="Segoe UI Semibold"/>
                <a:cs typeface="Segoe UI Semibold"/>
              </a:rPr>
              <a:t>TAKEAWAYS</a:t>
            </a:r>
          </a:p>
          <a:p xmlns:a="http://schemas.openxmlformats.org/drawingml/2006/main">
            <a:pPr algn="l">
              <a:buNone/>
            </a:pPr>
            <a:r>
              <a:rPr sz="2500" b="1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What worked  ·  What's next</a:t>
            </a:r>
          </a:p>
        </p:txBody>
      </p:sp>
      <p:pic>
        <p:nvPicPr>
          <p:cNvPr id="4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30433991d4f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23505" y="256032"/>
            <a:ext cx="425366" cy="566928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3CB766E-D778-443D-B04F-D1FB6B80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5230368" cy="41605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7FF25B6-E8D2-42D7-B5D3-7953E9DB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673352"/>
            <a:ext cx="137160" cy="3648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D15E37E-8597-4AFC-915C-892D14CC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691640"/>
            <a:ext cx="44805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WHAT WORKED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727CD27-20F4-4788-8205-93CAEF5D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29514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25F40A-90BC-4301-9FC0-73D02345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212848"/>
            <a:ext cx="4224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Strong overall click rate. The account delivered a 5.70% CTR from 5,049 impressions.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ADB741F2-E727-4DE0-AA08-7774AD85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319272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4F3D5A-26E5-4C88-8544-B486E204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36976"/>
            <a:ext cx="4224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Torrey led click volume. It produced 107 clicks at a $0.32 CPC and 8.80% CTR.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2EE6129B-1B9F-49ED-858B-1BC43052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4340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118F4B-E303-4B67-8C50-D1C7544A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261104"/>
            <a:ext cx="4224528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</a:pPr>
            <a:r>
              <a:rPr sz="125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Carmel Mountain led CTR. It reached 10.05% with 42 clicks from 418 impressions.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DBFD693-9E51-471A-9BD0-1C5EB0B6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1417320"/>
            <a:ext cx="5495544" cy="416052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4C0D3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C4869136-2530-4C5E-A725-0180E946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96" y="1673352"/>
            <a:ext cx="137160" cy="3648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91DE7F5-1CC9-4CE7-B09F-D986FC4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69164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WHAT'S NEXT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ED4C631-E089-49A7-A243-253AF8A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212848"/>
            <a:ext cx="329184" cy="329184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E7D3"/>
          </a:solidFill>
          <a:ln xmlns:a="http://schemas.openxmlformats.org/drawingml/2006/main" w="19050">
            <a:solidFill>
              <a:srgbClr val="F4811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660CB10-E45A-432D-B3F4-3B50DB6B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194560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1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DA5B5CE-0797-4BCB-B2BF-2881A40F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185416"/>
            <a:ext cx="427939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Protect Torrey Del Mar and Miramar; both paired efficient CPC with meaningful traffic.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A06B876-2E78-434C-9975-D2D75042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99232"/>
            <a:ext cx="329184" cy="329184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E7D3"/>
          </a:solidFill>
          <a:ln xmlns:a="http://schemas.openxmlformats.org/drawingml/2006/main" w="19050">
            <a:solidFill>
              <a:srgbClr val="F4811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0A319DD-B23B-4F9A-A7ED-5D7206F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809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2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FCFABB7-48DC-4EFD-977D-E81D1CB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971800"/>
            <a:ext cx="427939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Review Coral Springs and Miami, where CPCs of $1.53 and $1.18 exceeded the $0.53 average.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8B75A80-C681-4803-B1F1-0724C22F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85615"/>
            <a:ext cx="329184" cy="329184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E7D3"/>
          </a:solidFill>
          <a:ln xmlns:a="http://schemas.openxmlformats.org/drawingml/2006/main" w="19050">
            <a:solidFill>
              <a:srgbClr val="F4811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DFEFE88-812A-49F3-BDAD-1B747B0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76732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3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446815B-62BC-4792-B077-E49E4FB0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3758183"/>
            <a:ext cx="427939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Investigate Pampano's limited delivery after 15 impressions and no spend during the week.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8938B22-CA00-477D-9131-3CA664D0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72000"/>
            <a:ext cx="329184" cy="329184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BE7D3"/>
          </a:solidFill>
          <a:ln xmlns:a="http://schemas.openxmlformats.org/drawingml/2006/main" w="19050">
            <a:solidFill>
              <a:srgbClr val="F4811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2DAE106-6135-484D-9C66-903B2A75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5371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F4811F"/>
                </a:solidFill>
                <a:latin typeface="Segoe UI Semibold"/>
                <a:ea typeface="Segoe UI Semibold"/>
                <a:cs typeface="Segoe UI Semibold"/>
              </a:rPr>
              <a:t>4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ACA1E3-BA45-4215-B141-A0650327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4544568"/>
            <a:ext cx="427939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rPr sz="12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Validate conversion definitions, attribution window, platform latency, and downstream outcomes before conversion claims.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0ED90C2A-130A-45B0-BD9A-5100D84F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00800"/>
            <a:ext cx="10908792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C0D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5129F37-4E22-493A-8C65-F8CE33AE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473952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4C5872"/>
                </a:solidFill>
                <a:latin typeface="Segoe UI Semibold"/>
                <a:ea typeface="Segoe UI Semibold"/>
                <a:cs typeface="Segoe UI Semibold"/>
              </a:rPr>
              <a:t>REPLENISH × 7-ELEVEN     Weekly Performance Report  •  July 20 to 26, 2026  •  Momentum 360</a:t>
            </a:r>
          </a:p>
        </p:txBody>
      </p:sp>
      <p:pic>
        <p:nvPicPr>
          <p:cNvPr id="68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30433991d4f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15606" y="6254496"/>
            <a:ext cx="233265" cy="310896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0175B4D-B31A-4B57-8D51-BEF7760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0" y="6473952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1" i="0">
                <a:solidFill>
                  <a:srgbClr val="7C889E"/>
                </a:solidFill>
                <a:latin typeface="Segoe UI Semibold"/>
                <a:ea typeface="Segoe UI Semibold"/>
                <a:cs typeface="Segoe UI Semibol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307756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07C10C-2875-4A72-8E49-FBB2306F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F0FBCD2-2CB4-4361-97C7-B8576E1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668B95-D99C-475D-BA8D-118AB98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93408"/>
            <a:ext cx="12191695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A1051A93-514B-4A11-9556-369EFEFA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384048"/>
            <a:ext cx="11569903" cy="6053328"/>
          </a:xfrm>
          <a:prstGeom xmlns:a="http://schemas.openxmlformats.org/drawingml/2006/main" prst="roundRect">
            <a:avLst>
              <a:gd name="adj" fmla="val 1500"/>
            </a:avLst>
          </a:prstGeom>
          <a:noFill xmlns:a="http://schemas.openxmlformats.org/drawingml/2006/main"/>
          <a:ln xmlns:a="http://schemas.openxmlformats.org/drawingml/2006/main" w="22225">
            <a:solidFill>
              <a:srgbClr val="B4C0D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E5591C-939D-4DF4-95B9-4706D2D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182" y="822960"/>
            <a:ext cx="2252244" cy="233172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8062"/>
            </a:solidFill>
          </a:ln>
          <a:effectLst xmlns:a="http://schemas.openxmlformats.org/drawingml/2006/main">
            <a:outerShdw blurRad="120000" dist="40000" dir="5400000" rotWithShape="0">
              <a:srgbClr val="12324A">
                <a:alpha val="20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b8e237fbe43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7382" y="1097280"/>
            <a:ext cx="1337844" cy="178308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5F8C5C-1E22-4AA4-A0C8-FBC8ABA5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0440"/>
            <a:ext cx="10362895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 i="0">
                <a:solidFill>
                  <a:srgbClr val="182030"/>
                </a:solidFill>
                <a:latin typeface="Segoe UI Semibold"/>
                <a:ea typeface="Segoe UI Semibold"/>
                <a:cs typeface="Segoe UI Semibold"/>
              </a:rPr>
              <a:t>Traffic stayed efficient.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236922-5501-4DF8-A032-097E8AF5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784" y="4343400"/>
            <a:ext cx="2880360" cy="5120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8062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3208164-1A8D-4222-8A61-CB8D8B4B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784" y="4343400"/>
            <a:ext cx="28803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$0.53  average cost per click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FDE78C59-DA30-492F-8153-9FD849AD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64" y="4343400"/>
            <a:ext cx="2880360" cy="51206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08062"/>
            </a:solidFill>
          </a:ln>
          <a:effectLst xmlns:a="http://schemas.openxmlformats.org/drawingml/2006/main">
            <a:outerShdw blurRad="90000" dist="28000" dir="5400000" rotWithShape="0">
              <a:srgbClr val="1A2233">
                <a:alpha val="14000"/>
              </a:srgb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57E853D-CD5A-4384-8699-47A690D4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464" y="4343400"/>
            <a:ext cx="288036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 i="0">
                <a:solidFill>
                  <a:srgbClr val="008062"/>
                </a:solidFill>
                <a:latin typeface="Segoe UI Semibold"/>
                <a:ea typeface="Segoe UI Semibold"/>
                <a:cs typeface="Segoe UI Semibold"/>
              </a:rPr>
              <a:t>288  paid clicks this week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AF0DDA5-7F75-4FF6-925F-BDE6AB83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264" y="5212080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811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7559C34-638C-48D8-BEED-4D25B5CC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624" y="5212080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252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5476DAB-85F6-498B-97FA-D8A95CE1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4984" y="5212080"/>
            <a:ext cx="17373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06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2B61FF8-7B95-4075-A470-F4494A71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8112"/>
            <a:ext cx="1036289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800"/>
              </a:spcAft>
              <a:buNone/>
            </a:pPr>
            <a:r>
              <a:rPr sz="1300" b="0" i="0">
                <a:solidFill>
                  <a:srgbClr val="4C5872"/>
                </a:solidFill>
                <a:latin typeface="Segoe UI"/>
                <a:ea typeface="Segoe UI"/>
                <a:cs typeface="Segoe UI"/>
              </a:rPr>
              <a:t>Seven campaign rows delivered 5,049 impressions and 288 clicks on $153.72 in spend, with a 5.70% CTR. Conversion reporting is pending validation.</a:t>
            </a:r>
          </a:p>
          <a:p xmlns:a="http://schemas.openxmlformats.org/drawingml/2006/main">
            <a:pPr algn="ctr">
              <a:spcAft>
                <a:spcPts val="200"/>
              </a:spcAft>
              <a:buNone/>
            </a:pPr>
            <a:r>
              <a:rPr sz="11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Prepared by Dillon Mohr, Account Manager, Momentum 360  ·  dillon@needmomentum.com</a:t>
            </a:r>
          </a:p>
          <a:p xmlns:a="http://schemas.openxmlformats.org/drawingml/2006/main">
            <a:pPr algn="ctr">
              <a:buNone/>
            </a:pPr>
            <a:r>
              <a:rPr sz="11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Client: Mia Lange, Replenish  ·  </a:t>
            </a:r>
            <a:r>
              <a:rPr sz="1150" b="0" i="0">
                <a:solidFill>
                  <a:srgbClr val="7C889E"/>
                </a:solidFill>
                <a:latin typeface="Segoe UI"/>
                <a:ea typeface="Segoe UI"/>
                <a:cs typeface="Segoe UI"/>
              </a:rPr>
              <a:t>7-Eleven</a:t>
            </a:r>
          </a:p>
        </p:txBody>
      </p:sp>
    </p:spTree>
    <p:extLst>
      <p:ext uri="{BB962C8B-B14F-4D97-AF65-F5344CB8AC3E}">
        <p14:creationId xmlns:p14="http://schemas.microsoft.com/office/powerpoint/2010/main" val="54779123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2026-07-26T22:40:46.2510000Z</dcterms:created>
  <dcterms:modified xsi:type="dcterms:W3CDTF">2026-07-26T22:40:46.2510000Z</dcterms:modified>
</coreProperties>
</file>