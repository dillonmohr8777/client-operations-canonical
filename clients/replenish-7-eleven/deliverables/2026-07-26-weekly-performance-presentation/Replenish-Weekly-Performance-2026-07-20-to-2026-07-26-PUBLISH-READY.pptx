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97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7582D-4382-D286-932F-C86B577715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8505CA-D89A-C555-B4DF-6D7A5ABE63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C74E70-57D0-FBBE-05FB-7C00FDAEDE10}"/>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5" name="Footer Placeholder 4">
            <a:extLst>
              <a:ext uri="{FF2B5EF4-FFF2-40B4-BE49-F238E27FC236}">
                <a16:creationId xmlns:a16="http://schemas.microsoft.com/office/drawing/2014/main" id="{4BD480FB-20B0-6B1D-5D04-4BAA54E91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FE6BB6-1FB9-AD3C-7FBE-7302D838262A}"/>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1481443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4BE53-8B3D-00AD-5B0E-9C5241CACA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9CD56F-95EC-3856-1E51-F0253C3323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64DC7D-BD9D-D378-B0AF-3AC01A994A7D}"/>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5" name="Footer Placeholder 4">
            <a:extLst>
              <a:ext uri="{FF2B5EF4-FFF2-40B4-BE49-F238E27FC236}">
                <a16:creationId xmlns:a16="http://schemas.microsoft.com/office/drawing/2014/main" id="{A0F64CAA-6059-0749-4BD4-56249A016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77560-E47A-C88B-437D-35EF48E40ACD}"/>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3789115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F289C-157F-F205-9A29-213E76014B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7CF4A6-1919-C0F8-8DA6-6F1FDC5B63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E0420C-58CB-84B2-4EF5-EF252D3C146A}"/>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5" name="Footer Placeholder 4">
            <a:extLst>
              <a:ext uri="{FF2B5EF4-FFF2-40B4-BE49-F238E27FC236}">
                <a16:creationId xmlns:a16="http://schemas.microsoft.com/office/drawing/2014/main" id="{21210F9E-8833-357F-1AB4-5FBF06F32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43007C-6467-CE4E-940E-BACC9B73B44F}"/>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647535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804C3-6DC9-2915-2BA5-BCE56FB1CE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C8EDB3-CBAD-6B18-599D-63130BB5DB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BE7BE6-EC88-54B3-9D9A-31CD241640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A56B83-F143-79CD-6583-7A58B8AB1B5B}"/>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6" name="Footer Placeholder 5">
            <a:extLst>
              <a:ext uri="{FF2B5EF4-FFF2-40B4-BE49-F238E27FC236}">
                <a16:creationId xmlns:a16="http://schemas.microsoft.com/office/drawing/2014/main" id="{5D30B23B-2580-E8D7-3C37-94A7B1ED8C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B6115-FA35-2B07-4D1B-B00E80580C45}"/>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1387872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AC49-15A7-AC8D-C94A-DE7CC6745A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7313A-59C3-231D-2B34-3C8AB2DA5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11707E-27B2-9061-B0DC-4C05AE5F9E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EF307E-C7E5-8972-5D7D-E7580A6B1A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90E684-CD78-D45E-6760-AB994E6D0F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C20721-86C4-85BB-BC55-CFA7EFFA9A6B}"/>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8" name="Footer Placeholder 7">
            <a:extLst>
              <a:ext uri="{FF2B5EF4-FFF2-40B4-BE49-F238E27FC236}">
                <a16:creationId xmlns:a16="http://schemas.microsoft.com/office/drawing/2014/main" id="{C1A9C6F1-8FFA-5976-7620-576645E5B9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18D461-C8E1-AFB0-BE81-912C500C5529}"/>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2229957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CE91D-A862-578D-6ADE-739DE15C75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526E57-74AC-CC15-C169-DCBA54B5BBC0}"/>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4" name="Footer Placeholder 3">
            <a:extLst>
              <a:ext uri="{FF2B5EF4-FFF2-40B4-BE49-F238E27FC236}">
                <a16:creationId xmlns:a16="http://schemas.microsoft.com/office/drawing/2014/main" id="{5CFBD01C-BF47-C1A2-CAA7-ABB920391E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3BACDF-8DA8-EC2F-5120-F9CE4B2291E5}"/>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2014846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81008-3DB5-CF76-8079-52AC22BB9FB7}"/>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3" name="Footer Placeholder 2">
            <a:extLst>
              <a:ext uri="{FF2B5EF4-FFF2-40B4-BE49-F238E27FC236}">
                <a16:creationId xmlns:a16="http://schemas.microsoft.com/office/drawing/2014/main" id="{D70E1861-F134-F50A-ED0E-0D278136E0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B6135C-9018-E47A-BE7F-9D34E965D5D4}"/>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1816921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F1788-C5EA-16D8-9C3E-53DFCA9732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1F3547-26E6-5F60-7158-1DA52CD9E1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ADBA40-9483-DC67-F51F-7660323C5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99600-2076-BDBE-3381-BB29AEAFF179}"/>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6" name="Footer Placeholder 5">
            <a:extLst>
              <a:ext uri="{FF2B5EF4-FFF2-40B4-BE49-F238E27FC236}">
                <a16:creationId xmlns:a16="http://schemas.microsoft.com/office/drawing/2014/main" id="{2BA40F1F-3B1D-23CC-7568-F3E4484915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46029-0DB0-D40C-023C-D84EDE2C1BF8}"/>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50567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22A20-2294-C1A4-3D86-C99F13B38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760A0E-DF0D-9D6C-D996-FF1A7198CE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27F556-252C-3A94-2B1B-938D26FB3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49609-58C6-E1C8-6859-3FC44C009600}"/>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6" name="Footer Placeholder 5">
            <a:extLst>
              <a:ext uri="{FF2B5EF4-FFF2-40B4-BE49-F238E27FC236}">
                <a16:creationId xmlns:a16="http://schemas.microsoft.com/office/drawing/2014/main" id="{201235A2-C103-5380-FEC3-89F152C2BE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F7125C-B60A-637A-BB08-63F4A7FEB368}"/>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2074914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29EDC-4346-B468-21F2-922BA1EA71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C93405-C718-7BD8-6D6D-FBBB82EFE5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0C7665-2F48-F744-9395-9EEFBD047585}"/>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5" name="Footer Placeholder 4">
            <a:extLst>
              <a:ext uri="{FF2B5EF4-FFF2-40B4-BE49-F238E27FC236}">
                <a16:creationId xmlns:a16="http://schemas.microsoft.com/office/drawing/2014/main" id="{9384FFD8-BD2A-566B-0D47-277790C9FE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FA7E9-8433-CDB9-DFD1-AE0BAAF06DF0}"/>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2592869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D7C2DF-A027-4D97-8F2E-D43845D4D6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C43C12-755F-6CB6-05BE-4B0C808F78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A430F6-522D-5A9D-CD0C-34CA6B24F01F}"/>
              </a:ext>
            </a:extLst>
          </p:cNvPr>
          <p:cNvSpPr>
            <a:spLocks noGrp="1"/>
          </p:cNvSpPr>
          <p:nvPr>
            <p:ph type="dt" sz="half" idx="10"/>
          </p:nvPr>
        </p:nvSpPr>
        <p:spPr/>
        <p:txBody>
          <a:bodyPr/>
          <a:lstStyle/>
          <a:p>
            <a:fld id="{FF672D44-BA4A-4EDF-A47F-160693FDDB6C}" type="datetimeFigureOut">
              <a:rPr lang="en-US" smtClean="0"/>
              <a:t>7/27/2026</a:t>
            </a:fld>
            <a:endParaRPr lang="en-US"/>
          </a:p>
        </p:txBody>
      </p:sp>
      <p:sp>
        <p:nvSpPr>
          <p:cNvPr id="5" name="Footer Placeholder 4">
            <a:extLst>
              <a:ext uri="{FF2B5EF4-FFF2-40B4-BE49-F238E27FC236}">
                <a16:creationId xmlns:a16="http://schemas.microsoft.com/office/drawing/2014/main" id="{AB03F77C-080D-6B5E-743E-630521D2C6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D8FEE-5C0F-9D5E-8CAB-214CB471ECFA}"/>
              </a:ext>
            </a:extLst>
          </p:cNvPr>
          <p:cNvSpPr>
            <a:spLocks noGrp="1"/>
          </p:cNvSpPr>
          <p:nvPr>
            <p:ph type="sldNum" sz="quarter" idx="12"/>
          </p:nvPr>
        </p:nvSpPr>
        <p:spPr/>
        <p:txBody>
          <a:bodyPr/>
          <a:lstStyle/>
          <a:p>
            <a:fld id="{44ECD115-F7E8-49DC-A0DB-B8A5A69CDAB5}" type="slidenum">
              <a:rPr lang="en-US" smtClean="0"/>
              <a:t>‹#›</a:t>
            </a:fld>
            <a:endParaRPr lang="en-US"/>
          </a:p>
        </p:txBody>
      </p:sp>
    </p:spTree>
    <p:extLst>
      <p:ext uri="{BB962C8B-B14F-4D97-AF65-F5344CB8AC3E}">
        <p14:creationId xmlns:p14="http://schemas.microsoft.com/office/powerpoint/2010/main" val="3178567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87F8CF-8F89-73D1-A801-A210D47BA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8E90A7-7093-E9EE-C2D4-3AE25CC3F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44927-ADE2-E556-ECEC-1C04394A6A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672D44-BA4A-4EDF-A47F-160693FDDB6C}" type="datetimeFigureOut">
              <a:rPr lang="en-US" smtClean="0"/>
              <a:t>7/27/2026</a:t>
            </a:fld>
            <a:endParaRPr lang="en-US"/>
          </a:p>
        </p:txBody>
      </p:sp>
      <p:sp>
        <p:nvSpPr>
          <p:cNvPr id="5" name="Footer Placeholder 4">
            <a:extLst>
              <a:ext uri="{FF2B5EF4-FFF2-40B4-BE49-F238E27FC236}">
                <a16:creationId xmlns:a16="http://schemas.microsoft.com/office/drawing/2014/main" id="{419A49A5-0554-6D0A-638E-9EB162B39A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B1F592-900B-313A-1B90-79AC2D4A31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ECD115-F7E8-49DC-A0DB-B8A5A69CDAB5}" type="slidenum">
              <a:rPr lang="en-US" smtClean="0"/>
              <a:t>‹#›</a:t>
            </a:fld>
            <a:endParaRPr lang="en-US"/>
          </a:p>
        </p:txBody>
      </p:sp>
    </p:spTree>
    <p:extLst>
      <p:ext uri="{BB962C8B-B14F-4D97-AF65-F5344CB8AC3E}">
        <p14:creationId xmlns:p14="http://schemas.microsoft.com/office/powerpoint/2010/main" val="2072150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eplenish-2026-06-06.netlify.app/"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replenish-2026-06-06.netlify.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64B428-BD3D-41A8-7DB2-185AF5099980}"/>
              </a:ext>
            </a:extLst>
          </p:cNvPr>
          <p:cNvSpPr/>
          <p:nvPr/>
        </p:nvSpPr>
        <p:spPr>
          <a:xfrm>
            <a:off x="0" y="0"/>
            <a:ext cx="304800" cy="68580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A28F4BC-1751-C205-6D0E-E3CFF90ADD12}"/>
              </a:ext>
            </a:extLst>
          </p:cNvPr>
          <p:cNvSpPr/>
          <p:nvPr/>
        </p:nvSpPr>
        <p:spPr>
          <a:xfrm>
            <a:off x="304800" y="0"/>
            <a:ext cx="11887200" cy="1270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A598DE0-8B41-3ACB-9D9E-479A66F198B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9271000" y="698500"/>
            <a:ext cx="1498600" cy="1498600"/>
          </a:xfrm>
          <a:prstGeom prst="rect">
            <a:avLst/>
          </a:prstGeom>
        </p:spPr>
      </p:pic>
      <p:sp>
        <p:nvSpPr>
          <p:cNvPr id="6" name="TextBox 5">
            <a:extLst>
              <a:ext uri="{FF2B5EF4-FFF2-40B4-BE49-F238E27FC236}">
                <a16:creationId xmlns:a16="http://schemas.microsoft.com/office/drawing/2014/main" id="{AEE80914-5AA9-732F-2BD1-A6A4FD4AD596}"/>
              </a:ext>
            </a:extLst>
          </p:cNvPr>
          <p:cNvSpPr txBox="1"/>
          <p:nvPr/>
        </p:nvSpPr>
        <p:spPr>
          <a:xfrm>
            <a:off x="914400" y="1028700"/>
            <a:ext cx="5334000" cy="169277"/>
          </a:xfrm>
          <a:prstGeom prst="rect">
            <a:avLst/>
          </a:prstGeom>
          <a:noFill/>
        </p:spPr>
        <p:txBody>
          <a:bodyPr vert="horz" wrap="square" lIns="0" tIns="0" rIns="0" bIns="0" rtlCol="0">
            <a:spAutoFit/>
          </a:bodyPr>
          <a:lstStyle/>
          <a:p>
            <a:r>
              <a:rPr lang="en-US" sz="1100" b="1">
                <a:solidFill>
                  <a:srgbClr val="007243"/>
                </a:solidFill>
                <a:latin typeface="Aptos" panose="020B0004020202020204" pitchFamily="34" charset="0"/>
              </a:rPr>
              <a:t>WEEKLY PERFORMANCE</a:t>
            </a:r>
          </a:p>
        </p:txBody>
      </p:sp>
      <p:sp>
        <p:nvSpPr>
          <p:cNvPr id="7" name="TextBox 6">
            <a:extLst>
              <a:ext uri="{FF2B5EF4-FFF2-40B4-BE49-F238E27FC236}">
                <a16:creationId xmlns:a16="http://schemas.microsoft.com/office/drawing/2014/main" id="{25A0C8E3-202A-B0AE-FC25-436E94E4A017}"/>
              </a:ext>
            </a:extLst>
          </p:cNvPr>
          <p:cNvSpPr txBox="1"/>
          <p:nvPr/>
        </p:nvSpPr>
        <p:spPr>
          <a:xfrm>
            <a:off x="914400" y="1600200"/>
            <a:ext cx="8128000" cy="1169551"/>
          </a:xfrm>
          <a:prstGeom prst="rect">
            <a:avLst/>
          </a:prstGeom>
          <a:noFill/>
        </p:spPr>
        <p:txBody>
          <a:bodyPr vert="horz" wrap="square" lIns="0" tIns="0" rIns="0" bIns="0" rtlCol="0">
            <a:spAutoFit/>
          </a:bodyPr>
          <a:lstStyle/>
          <a:p>
            <a:r>
              <a:rPr lang="en-US" sz="3800" b="1">
                <a:solidFill>
                  <a:srgbClr val="181F1B"/>
                </a:solidFill>
                <a:latin typeface="Aptos" panose="020B0004020202020204" pitchFamily="34" charset="0"/>
              </a:rPr>
              <a:t>Replenish campaign
performance report</a:t>
            </a:r>
          </a:p>
        </p:txBody>
      </p:sp>
      <p:sp>
        <p:nvSpPr>
          <p:cNvPr id="8" name="TextBox 7">
            <a:extLst>
              <a:ext uri="{FF2B5EF4-FFF2-40B4-BE49-F238E27FC236}">
                <a16:creationId xmlns:a16="http://schemas.microsoft.com/office/drawing/2014/main" id="{AAC01F99-9E61-BD84-27AC-A92A5E976AAD}"/>
              </a:ext>
            </a:extLst>
          </p:cNvPr>
          <p:cNvSpPr txBox="1"/>
          <p:nvPr/>
        </p:nvSpPr>
        <p:spPr>
          <a:xfrm>
            <a:off x="914400" y="3505200"/>
            <a:ext cx="7366000" cy="523220"/>
          </a:xfrm>
          <a:prstGeom prst="rect">
            <a:avLst/>
          </a:prstGeom>
          <a:noFill/>
        </p:spPr>
        <p:txBody>
          <a:bodyPr vert="horz" wrap="square" lIns="0" tIns="0" rIns="0" bIns="0" rtlCol="0">
            <a:spAutoFit/>
          </a:bodyPr>
          <a:lstStyle/>
          <a:p>
            <a:r>
              <a:rPr lang="en-US" sz="1700">
                <a:solidFill>
                  <a:srgbClr val="5B6760"/>
                </a:solidFill>
                <a:latin typeface="Aptos" panose="020B0004020202020204" pitchFamily="34" charset="0"/>
              </a:rPr>
              <a:t>A clear view of weekly spend, traffic efficiency, and cost per click across four San Diego locations.</a:t>
            </a:r>
          </a:p>
        </p:txBody>
      </p:sp>
      <p:sp>
        <p:nvSpPr>
          <p:cNvPr id="9" name="Rectangle 8">
            <a:extLst>
              <a:ext uri="{FF2B5EF4-FFF2-40B4-BE49-F238E27FC236}">
                <a16:creationId xmlns:a16="http://schemas.microsoft.com/office/drawing/2014/main" id="{3D3A0130-BAAA-8210-AABA-A34E42DBF881}"/>
              </a:ext>
            </a:extLst>
          </p:cNvPr>
          <p:cNvSpPr/>
          <p:nvPr/>
        </p:nvSpPr>
        <p:spPr>
          <a:xfrm>
            <a:off x="914400" y="4648200"/>
            <a:ext cx="96520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D68668A-7DED-66D0-7BCB-8D6AFE7AC8D9}"/>
              </a:ext>
            </a:extLst>
          </p:cNvPr>
          <p:cNvSpPr txBox="1"/>
          <p:nvPr/>
        </p:nvSpPr>
        <p:spPr>
          <a:xfrm>
            <a:off x="914400" y="4953000"/>
            <a:ext cx="2032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REPORTING PERIOD</a:t>
            </a:r>
          </a:p>
        </p:txBody>
      </p:sp>
      <p:sp>
        <p:nvSpPr>
          <p:cNvPr id="11" name="TextBox 10">
            <a:extLst>
              <a:ext uri="{FF2B5EF4-FFF2-40B4-BE49-F238E27FC236}">
                <a16:creationId xmlns:a16="http://schemas.microsoft.com/office/drawing/2014/main" id="{160DCC0F-404C-60B6-0A2B-BC8D4B930BD6}"/>
              </a:ext>
            </a:extLst>
          </p:cNvPr>
          <p:cNvSpPr txBox="1"/>
          <p:nvPr/>
        </p:nvSpPr>
        <p:spPr>
          <a:xfrm>
            <a:off x="914400" y="5219700"/>
            <a:ext cx="3810000" cy="276999"/>
          </a:xfrm>
          <a:prstGeom prst="rect">
            <a:avLst/>
          </a:prstGeom>
          <a:noFill/>
        </p:spPr>
        <p:txBody>
          <a:bodyPr vert="horz" wrap="square" lIns="0" tIns="0" rIns="0" bIns="0" rtlCol="0">
            <a:spAutoFit/>
          </a:bodyPr>
          <a:lstStyle/>
          <a:p>
            <a:r>
              <a:rPr lang="en-US" b="1">
                <a:solidFill>
                  <a:srgbClr val="181F1B"/>
                </a:solidFill>
                <a:latin typeface="Aptos" panose="020B0004020202020204" pitchFamily="34" charset="0"/>
              </a:rPr>
              <a:t>July 20 to July 26, 2026</a:t>
            </a:r>
          </a:p>
        </p:txBody>
      </p:sp>
      <p:sp>
        <p:nvSpPr>
          <p:cNvPr id="12" name="TextBox 11">
            <a:extLst>
              <a:ext uri="{FF2B5EF4-FFF2-40B4-BE49-F238E27FC236}">
                <a16:creationId xmlns:a16="http://schemas.microsoft.com/office/drawing/2014/main" id="{1963D56C-E021-16ED-54EE-E8EFDBF618AE}"/>
              </a:ext>
            </a:extLst>
          </p:cNvPr>
          <p:cNvSpPr txBox="1"/>
          <p:nvPr/>
        </p:nvSpPr>
        <p:spPr>
          <a:xfrm>
            <a:off x="914400" y="5727700"/>
            <a:ext cx="3810000" cy="153888"/>
          </a:xfrm>
          <a:prstGeom prst="rect">
            <a:avLst/>
          </a:prstGeom>
          <a:noFill/>
        </p:spPr>
        <p:txBody>
          <a:bodyPr vert="horz" wrap="square" lIns="0" tIns="0" rIns="0" bIns="0" rtlCol="0">
            <a:spAutoFit/>
          </a:bodyPr>
          <a:lstStyle/>
          <a:p>
            <a:r>
              <a:rPr lang="en-US" sz="1000">
                <a:solidFill>
                  <a:srgbClr val="5B6760"/>
                </a:solidFill>
                <a:latin typeface="Aptos" panose="020B0004020202020204" pitchFamily="34" charset="0"/>
              </a:rPr>
              <a:t>Prepared July 27, 2026</a:t>
            </a:r>
          </a:p>
        </p:txBody>
      </p:sp>
      <p:sp>
        <p:nvSpPr>
          <p:cNvPr id="13" name="TextBox 12">
            <a:hlinkClick r:id="rId3"/>
            <a:extLst>
              <a:ext uri="{FF2B5EF4-FFF2-40B4-BE49-F238E27FC236}">
                <a16:creationId xmlns:a16="http://schemas.microsoft.com/office/drawing/2014/main" id="{4C4A9074-8021-EDDE-9D51-B8B573209D02}"/>
              </a:ext>
            </a:extLst>
          </p:cNvPr>
          <p:cNvSpPr txBox="1"/>
          <p:nvPr/>
        </p:nvSpPr>
        <p:spPr>
          <a:xfrm>
            <a:off x="7620000" y="5194300"/>
            <a:ext cx="31115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Open the live performance dashboard</a:t>
            </a:r>
          </a:p>
        </p:txBody>
      </p:sp>
      <p:sp>
        <p:nvSpPr>
          <p:cNvPr id="14" name="TextBox 13">
            <a:extLst>
              <a:ext uri="{FF2B5EF4-FFF2-40B4-BE49-F238E27FC236}">
                <a16:creationId xmlns:a16="http://schemas.microsoft.com/office/drawing/2014/main" id="{999EF5E4-AD81-3404-FAD4-76A972C7E7D6}"/>
              </a:ext>
            </a:extLst>
          </p:cNvPr>
          <p:cNvSpPr txBox="1"/>
          <p:nvPr/>
        </p:nvSpPr>
        <p:spPr>
          <a:xfrm>
            <a:off x="7620000" y="5727700"/>
            <a:ext cx="31115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REPLENISH  |  7 ELEVEN</a:t>
            </a:r>
          </a:p>
        </p:txBody>
      </p:sp>
    </p:spTree>
    <p:extLst>
      <p:ext uri="{BB962C8B-B14F-4D97-AF65-F5344CB8AC3E}">
        <p14:creationId xmlns:p14="http://schemas.microsoft.com/office/powerpoint/2010/main" val="6677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D1AA29-E500-3230-5AFB-2CDAC76B273E}"/>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4329BAF-906D-4E7C-56C2-F1256318A138}"/>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2E189EAA-B047-B405-8A69-1046ED76031E}"/>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Weekly account overview</a:t>
            </a:r>
          </a:p>
        </p:txBody>
      </p:sp>
      <p:sp>
        <p:nvSpPr>
          <p:cNvPr id="5" name="TextBox 4">
            <a:extLst>
              <a:ext uri="{FF2B5EF4-FFF2-40B4-BE49-F238E27FC236}">
                <a16:creationId xmlns:a16="http://schemas.microsoft.com/office/drawing/2014/main" id="{A7D43954-1323-6875-6D94-17CCD45F36D8}"/>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9692A2B8-309C-5AF9-2DA9-C21EA70CB5C7}"/>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1112663-4752-01AB-31CC-06D686AC8EB3}"/>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87AB42F4-D53B-09CD-70E2-2784822691E8}"/>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2</a:t>
            </a:r>
          </a:p>
        </p:txBody>
      </p:sp>
      <p:sp>
        <p:nvSpPr>
          <p:cNvPr id="9" name="Rectangle: Rounded Corners 8">
            <a:extLst>
              <a:ext uri="{FF2B5EF4-FFF2-40B4-BE49-F238E27FC236}">
                <a16:creationId xmlns:a16="http://schemas.microsoft.com/office/drawing/2014/main" id="{293F9ACD-A5DF-3965-2976-72B1053F159B}"/>
              </a:ext>
            </a:extLst>
          </p:cNvPr>
          <p:cNvSpPr/>
          <p:nvPr/>
        </p:nvSpPr>
        <p:spPr>
          <a:xfrm>
            <a:off x="685800" y="1333500"/>
            <a:ext cx="3657600" cy="1803400"/>
          </a:xfrm>
          <a:prstGeom prst="round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C5FC4C-3214-C949-662C-DA56276036FE}"/>
              </a:ext>
            </a:extLst>
          </p:cNvPr>
          <p:cNvSpPr txBox="1"/>
          <p:nvPr/>
        </p:nvSpPr>
        <p:spPr>
          <a:xfrm>
            <a:off x="990600" y="1638300"/>
            <a:ext cx="3048000" cy="600164"/>
          </a:xfrm>
          <a:prstGeom prst="rect">
            <a:avLst/>
          </a:prstGeom>
          <a:noFill/>
        </p:spPr>
        <p:txBody>
          <a:bodyPr vert="horz" wrap="square" lIns="0" tIns="0" rIns="0" bIns="0" rtlCol="0">
            <a:spAutoFit/>
          </a:bodyPr>
          <a:lstStyle/>
          <a:p>
            <a:r>
              <a:rPr lang="en-US" sz="3900" b="1">
                <a:solidFill>
                  <a:srgbClr val="FFFFFF"/>
                </a:solidFill>
                <a:latin typeface="Aptos" panose="020B0004020202020204" pitchFamily="34" charset="0"/>
              </a:rPr>
              <a:t>$93.47</a:t>
            </a:r>
          </a:p>
        </p:txBody>
      </p:sp>
      <p:sp>
        <p:nvSpPr>
          <p:cNvPr id="11" name="TextBox 10">
            <a:extLst>
              <a:ext uri="{FF2B5EF4-FFF2-40B4-BE49-F238E27FC236}">
                <a16:creationId xmlns:a16="http://schemas.microsoft.com/office/drawing/2014/main" id="{BC42F311-8599-8C54-1450-BF54DAB70C8A}"/>
              </a:ext>
            </a:extLst>
          </p:cNvPr>
          <p:cNvSpPr txBox="1"/>
          <p:nvPr/>
        </p:nvSpPr>
        <p:spPr>
          <a:xfrm>
            <a:off x="990600" y="2362200"/>
            <a:ext cx="30480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TOTAL WEEKLY SPEND</a:t>
            </a:r>
          </a:p>
        </p:txBody>
      </p:sp>
      <p:sp>
        <p:nvSpPr>
          <p:cNvPr id="12" name="TextBox 11">
            <a:extLst>
              <a:ext uri="{FF2B5EF4-FFF2-40B4-BE49-F238E27FC236}">
                <a16:creationId xmlns:a16="http://schemas.microsoft.com/office/drawing/2014/main" id="{C3F10DE2-0A6C-7697-4F9F-E8633A0CBB72}"/>
              </a:ext>
            </a:extLst>
          </p:cNvPr>
          <p:cNvSpPr txBox="1"/>
          <p:nvPr/>
        </p:nvSpPr>
        <p:spPr>
          <a:xfrm>
            <a:off x="990600" y="2679700"/>
            <a:ext cx="2997200" cy="323165"/>
          </a:xfrm>
          <a:prstGeom prst="rect">
            <a:avLst/>
          </a:prstGeom>
          <a:noFill/>
        </p:spPr>
        <p:txBody>
          <a:bodyPr vert="horz" wrap="square" lIns="0" tIns="0" rIns="0" bIns="0" rtlCol="0">
            <a:spAutoFit/>
          </a:bodyPr>
          <a:lstStyle/>
          <a:p>
            <a:r>
              <a:rPr lang="en-US" sz="1050">
                <a:solidFill>
                  <a:srgbClr val="FFFFFF"/>
                </a:solidFill>
                <a:latin typeface="Aptos" panose="020B0004020202020204" pitchFamily="34" charset="0"/>
              </a:rPr>
              <a:t>Across Torrey Del Mar, Miramar, Carmel Mountain, and Solana Beach.</a:t>
            </a:r>
          </a:p>
        </p:txBody>
      </p:sp>
      <p:sp>
        <p:nvSpPr>
          <p:cNvPr id="13" name="TextBox 12">
            <a:extLst>
              <a:ext uri="{FF2B5EF4-FFF2-40B4-BE49-F238E27FC236}">
                <a16:creationId xmlns:a16="http://schemas.microsoft.com/office/drawing/2014/main" id="{80F2A020-D245-366E-7009-63EECE13B0AC}"/>
              </a:ext>
            </a:extLst>
          </p:cNvPr>
          <p:cNvSpPr txBox="1"/>
          <p:nvPr/>
        </p:nvSpPr>
        <p:spPr>
          <a:xfrm>
            <a:off x="4902200" y="1549400"/>
            <a:ext cx="1778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3,411</a:t>
            </a:r>
          </a:p>
        </p:txBody>
      </p:sp>
      <p:sp>
        <p:nvSpPr>
          <p:cNvPr id="14" name="TextBox 13">
            <a:extLst>
              <a:ext uri="{FF2B5EF4-FFF2-40B4-BE49-F238E27FC236}">
                <a16:creationId xmlns:a16="http://schemas.microsoft.com/office/drawing/2014/main" id="{0676F827-BDA4-FE41-72C3-8BC5F44789CF}"/>
              </a:ext>
            </a:extLst>
          </p:cNvPr>
          <p:cNvSpPr txBox="1"/>
          <p:nvPr/>
        </p:nvSpPr>
        <p:spPr>
          <a:xfrm>
            <a:off x="4902200" y="2044700"/>
            <a:ext cx="1778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IMPRESSIONS</a:t>
            </a:r>
          </a:p>
        </p:txBody>
      </p:sp>
      <p:sp>
        <p:nvSpPr>
          <p:cNvPr id="15" name="TextBox 14">
            <a:extLst>
              <a:ext uri="{FF2B5EF4-FFF2-40B4-BE49-F238E27FC236}">
                <a16:creationId xmlns:a16="http://schemas.microsoft.com/office/drawing/2014/main" id="{CC6AE19A-4512-BB32-296D-83210ED005DF}"/>
              </a:ext>
            </a:extLst>
          </p:cNvPr>
          <p:cNvSpPr txBox="1"/>
          <p:nvPr/>
        </p:nvSpPr>
        <p:spPr>
          <a:xfrm>
            <a:off x="7048500" y="1549400"/>
            <a:ext cx="1524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244</a:t>
            </a:r>
          </a:p>
        </p:txBody>
      </p:sp>
      <p:sp>
        <p:nvSpPr>
          <p:cNvPr id="16" name="TextBox 15">
            <a:extLst>
              <a:ext uri="{FF2B5EF4-FFF2-40B4-BE49-F238E27FC236}">
                <a16:creationId xmlns:a16="http://schemas.microsoft.com/office/drawing/2014/main" id="{9445ED25-9483-0FCE-61B8-5967CC4C6221}"/>
              </a:ext>
            </a:extLst>
          </p:cNvPr>
          <p:cNvSpPr txBox="1"/>
          <p:nvPr/>
        </p:nvSpPr>
        <p:spPr>
          <a:xfrm>
            <a:off x="7048500" y="2044700"/>
            <a:ext cx="1524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CLICKS</a:t>
            </a:r>
          </a:p>
        </p:txBody>
      </p:sp>
      <p:sp>
        <p:nvSpPr>
          <p:cNvPr id="17" name="TextBox 16">
            <a:extLst>
              <a:ext uri="{FF2B5EF4-FFF2-40B4-BE49-F238E27FC236}">
                <a16:creationId xmlns:a16="http://schemas.microsoft.com/office/drawing/2014/main" id="{7E8608C8-DF5B-E38A-45B9-03E3529C8838}"/>
              </a:ext>
            </a:extLst>
          </p:cNvPr>
          <p:cNvSpPr txBox="1"/>
          <p:nvPr/>
        </p:nvSpPr>
        <p:spPr>
          <a:xfrm>
            <a:off x="8940800" y="1549400"/>
            <a:ext cx="2159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7.15%</a:t>
            </a:r>
          </a:p>
        </p:txBody>
      </p:sp>
      <p:sp>
        <p:nvSpPr>
          <p:cNvPr id="18" name="TextBox 17">
            <a:extLst>
              <a:ext uri="{FF2B5EF4-FFF2-40B4-BE49-F238E27FC236}">
                <a16:creationId xmlns:a16="http://schemas.microsoft.com/office/drawing/2014/main" id="{A6D5072C-E170-CCAA-8709-BA7F80236D2F}"/>
              </a:ext>
            </a:extLst>
          </p:cNvPr>
          <p:cNvSpPr txBox="1"/>
          <p:nvPr/>
        </p:nvSpPr>
        <p:spPr>
          <a:xfrm>
            <a:off x="8940800" y="2044700"/>
            <a:ext cx="2159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CLICK THROUGH RATE</a:t>
            </a:r>
          </a:p>
        </p:txBody>
      </p:sp>
      <p:sp>
        <p:nvSpPr>
          <p:cNvPr id="19" name="TextBox 18">
            <a:extLst>
              <a:ext uri="{FF2B5EF4-FFF2-40B4-BE49-F238E27FC236}">
                <a16:creationId xmlns:a16="http://schemas.microsoft.com/office/drawing/2014/main" id="{6F130990-D204-5414-13D7-512E56F90888}"/>
              </a:ext>
            </a:extLst>
          </p:cNvPr>
          <p:cNvSpPr txBox="1"/>
          <p:nvPr/>
        </p:nvSpPr>
        <p:spPr>
          <a:xfrm>
            <a:off x="4902200" y="2603500"/>
            <a:ext cx="2413000" cy="430887"/>
          </a:xfrm>
          <a:prstGeom prst="rect">
            <a:avLst/>
          </a:prstGeom>
          <a:noFill/>
        </p:spPr>
        <p:txBody>
          <a:bodyPr vert="horz" wrap="square" lIns="0" tIns="0" rIns="0" bIns="0" rtlCol="0">
            <a:spAutoFit/>
          </a:bodyPr>
          <a:lstStyle/>
          <a:p>
            <a:r>
              <a:rPr lang="en-US" sz="2800" b="1">
                <a:solidFill>
                  <a:srgbClr val="181F1B"/>
                </a:solidFill>
                <a:latin typeface="Aptos" panose="020B0004020202020204" pitchFamily="34" charset="0"/>
              </a:rPr>
              <a:t>$0.38</a:t>
            </a:r>
          </a:p>
        </p:txBody>
      </p:sp>
      <p:sp>
        <p:nvSpPr>
          <p:cNvPr id="20" name="TextBox 19">
            <a:extLst>
              <a:ext uri="{FF2B5EF4-FFF2-40B4-BE49-F238E27FC236}">
                <a16:creationId xmlns:a16="http://schemas.microsoft.com/office/drawing/2014/main" id="{436B3790-A8D1-A47E-634D-F4568C0E352F}"/>
              </a:ext>
            </a:extLst>
          </p:cNvPr>
          <p:cNvSpPr txBox="1"/>
          <p:nvPr/>
        </p:nvSpPr>
        <p:spPr>
          <a:xfrm>
            <a:off x="4902200" y="3098800"/>
            <a:ext cx="2413000" cy="138499"/>
          </a:xfrm>
          <a:prstGeom prst="rect">
            <a:avLst/>
          </a:prstGeom>
          <a:noFill/>
        </p:spPr>
        <p:txBody>
          <a:bodyPr vert="horz" wrap="square" lIns="0" tIns="0" rIns="0" bIns="0" rtlCol="0">
            <a:spAutoFit/>
          </a:bodyPr>
          <a:lstStyle/>
          <a:p>
            <a:r>
              <a:rPr lang="en-US" sz="900" b="1">
                <a:solidFill>
                  <a:srgbClr val="5B6760"/>
                </a:solidFill>
                <a:latin typeface="Aptos" panose="020B0004020202020204" pitchFamily="34" charset="0"/>
              </a:rPr>
              <a:t>BLENDED COST PER CLICK</a:t>
            </a:r>
          </a:p>
        </p:txBody>
      </p:sp>
      <p:sp>
        <p:nvSpPr>
          <p:cNvPr id="21" name="TextBox 20">
            <a:extLst>
              <a:ext uri="{FF2B5EF4-FFF2-40B4-BE49-F238E27FC236}">
                <a16:creationId xmlns:a16="http://schemas.microsoft.com/office/drawing/2014/main" id="{19338A7E-19E5-349D-7870-1FE5F6023933}"/>
              </a:ext>
            </a:extLst>
          </p:cNvPr>
          <p:cNvSpPr txBox="1"/>
          <p:nvPr/>
        </p:nvSpPr>
        <p:spPr>
          <a:xfrm>
            <a:off x="685800" y="3733800"/>
            <a:ext cx="7010400" cy="738664"/>
          </a:xfrm>
          <a:prstGeom prst="rect">
            <a:avLst/>
          </a:prstGeom>
          <a:noFill/>
        </p:spPr>
        <p:txBody>
          <a:bodyPr vert="horz" wrap="square" lIns="0" tIns="0" rIns="0" bIns="0" rtlCol="0">
            <a:spAutoFit/>
          </a:bodyPr>
          <a:lstStyle/>
          <a:p>
            <a:r>
              <a:rPr lang="en-US" sz="1600">
                <a:solidFill>
                  <a:srgbClr val="181F1B"/>
                </a:solidFill>
                <a:latin typeface="Aptos" panose="020B0004020202020204" pitchFamily="34" charset="0"/>
              </a:rPr>
              <a:t>The four San Diego locations generated 244 clicks at a blended cost of thirty eight cents. Torrey Del Mar led click volume, while Carmel Mountain produced the strongest click through rate.</a:t>
            </a:r>
          </a:p>
        </p:txBody>
      </p:sp>
      <p:sp>
        <p:nvSpPr>
          <p:cNvPr id="22" name="Rectangle: Rounded Corners 21">
            <a:extLst>
              <a:ext uri="{FF2B5EF4-FFF2-40B4-BE49-F238E27FC236}">
                <a16:creationId xmlns:a16="http://schemas.microsoft.com/office/drawing/2014/main" id="{E63CAA43-AE72-7699-57D5-20D20A93504D}"/>
              </a:ext>
            </a:extLst>
          </p:cNvPr>
          <p:cNvSpPr/>
          <p:nvPr/>
        </p:nvSpPr>
        <p:spPr>
          <a:xfrm>
            <a:off x="8128000" y="3619500"/>
            <a:ext cx="3378200" cy="1828800"/>
          </a:xfrm>
          <a:prstGeom prst="roundRect">
            <a:avLst/>
          </a:prstGeom>
          <a:solidFill>
            <a:srgbClr val="FFFFFF"/>
          </a:solidFill>
          <a:ln>
            <a:solidFill>
              <a:srgbClr val="DCDF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3135F71-2A09-6572-B91A-ED23D8E86FD5}"/>
              </a:ext>
            </a:extLst>
          </p:cNvPr>
          <p:cNvSpPr txBox="1"/>
          <p:nvPr/>
        </p:nvSpPr>
        <p:spPr>
          <a:xfrm>
            <a:off x="8432800" y="3898900"/>
            <a:ext cx="2768600" cy="169277"/>
          </a:xfrm>
          <a:prstGeom prst="rect">
            <a:avLst/>
          </a:prstGeom>
          <a:noFill/>
        </p:spPr>
        <p:txBody>
          <a:bodyPr vert="horz" wrap="square" lIns="0" tIns="0" rIns="0" bIns="0" rtlCol="0">
            <a:spAutoFit/>
          </a:bodyPr>
          <a:lstStyle/>
          <a:p>
            <a:r>
              <a:rPr lang="en-US" sz="1100" b="1">
                <a:solidFill>
                  <a:srgbClr val="007243"/>
                </a:solidFill>
                <a:latin typeface="Aptos" panose="020B0004020202020204" pitchFamily="34" charset="0"/>
              </a:rPr>
              <a:t>Directional benchmark</a:t>
            </a:r>
          </a:p>
        </p:txBody>
      </p:sp>
      <p:sp>
        <p:nvSpPr>
          <p:cNvPr id="24" name="TextBox 23">
            <a:extLst>
              <a:ext uri="{FF2B5EF4-FFF2-40B4-BE49-F238E27FC236}">
                <a16:creationId xmlns:a16="http://schemas.microsoft.com/office/drawing/2014/main" id="{1036FC17-430D-0533-0611-DCEBE150C372}"/>
              </a:ext>
            </a:extLst>
          </p:cNvPr>
          <p:cNvSpPr txBox="1"/>
          <p:nvPr/>
        </p:nvSpPr>
        <p:spPr>
          <a:xfrm>
            <a:off x="8432800" y="4305300"/>
            <a:ext cx="2768600" cy="400110"/>
          </a:xfrm>
          <a:prstGeom prst="rect">
            <a:avLst/>
          </a:prstGeom>
          <a:noFill/>
        </p:spPr>
        <p:txBody>
          <a:bodyPr vert="horz" wrap="square" lIns="0" tIns="0" rIns="0" bIns="0" rtlCol="0">
            <a:spAutoFit/>
          </a:bodyPr>
          <a:lstStyle/>
          <a:p>
            <a:r>
              <a:rPr lang="en-US" sz="2600" b="1">
                <a:solidFill>
                  <a:srgbClr val="181F1B"/>
                </a:solidFill>
                <a:latin typeface="Aptos" panose="020B0004020202020204" pitchFamily="34" charset="0"/>
              </a:rPr>
              <a:t>91% lower</a:t>
            </a:r>
          </a:p>
        </p:txBody>
      </p:sp>
      <p:sp>
        <p:nvSpPr>
          <p:cNvPr id="25" name="TextBox 24">
            <a:extLst>
              <a:ext uri="{FF2B5EF4-FFF2-40B4-BE49-F238E27FC236}">
                <a16:creationId xmlns:a16="http://schemas.microsoft.com/office/drawing/2014/main" id="{40C68BBD-454B-A58B-394F-861AC95DD889}"/>
              </a:ext>
            </a:extLst>
          </p:cNvPr>
          <p:cNvSpPr txBox="1"/>
          <p:nvPr/>
        </p:nvSpPr>
        <p:spPr>
          <a:xfrm>
            <a:off x="8432800" y="4826000"/>
            <a:ext cx="2667000" cy="507831"/>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The $0.38 blended cost per click is 91% below the $4.14 search benchmark for Shopping, Collectibles, and Gifts.</a:t>
            </a:r>
          </a:p>
        </p:txBody>
      </p:sp>
      <p:sp>
        <p:nvSpPr>
          <p:cNvPr id="26" name="TextBox 25">
            <a:extLst>
              <a:ext uri="{FF2B5EF4-FFF2-40B4-BE49-F238E27FC236}">
                <a16:creationId xmlns:a16="http://schemas.microsoft.com/office/drawing/2014/main" id="{85EC237A-EEEF-F09A-CC79-CA5D69D60211}"/>
              </a:ext>
            </a:extLst>
          </p:cNvPr>
          <p:cNvSpPr txBox="1"/>
          <p:nvPr/>
        </p:nvSpPr>
        <p:spPr>
          <a:xfrm>
            <a:off x="685800" y="5372100"/>
            <a:ext cx="70104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Because these campaigns use Performance Max inventory, this is a directional cost comparison, not an exact format match.</a:t>
            </a:r>
          </a:p>
        </p:txBody>
      </p:sp>
    </p:spTree>
    <p:extLst>
      <p:ext uri="{BB962C8B-B14F-4D97-AF65-F5344CB8AC3E}">
        <p14:creationId xmlns:p14="http://schemas.microsoft.com/office/powerpoint/2010/main" val="406852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13CC79-B561-0D17-5337-CB7B34F5FFCC}"/>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E5F0EF-BF7E-79D0-DC6F-1417F473D0B6}"/>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07E42958-C5F2-6B24-6740-318215271869}"/>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San Diego budget allocation</a:t>
            </a:r>
          </a:p>
        </p:txBody>
      </p:sp>
      <p:sp>
        <p:nvSpPr>
          <p:cNvPr id="5" name="TextBox 4">
            <a:extLst>
              <a:ext uri="{FF2B5EF4-FFF2-40B4-BE49-F238E27FC236}">
                <a16:creationId xmlns:a16="http://schemas.microsoft.com/office/drawing/2014/main" id="{AFF1DC2A-4F4C-7B82-33AD-EFE19ACB7382}"/>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29D4810E-2AD0-B195-2B51-B7BAC225A88E}"/>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5FE7FB2-904A-6719-55A1-E44F86B3B73B}"/>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4C75D5B0-BBCA-659E-7BD8-2121606E79FB}"/>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3</a:t>
            </a:r>
          </a:p>
        </p:txBody>
      </p:sp>
      <p:sp>
        <p:nvSpPr>
          <p:cNvPr id="9" name="TextBox 8">
            <a:extLst>
              <a:ext uri="{FF2B5EF4-FFF2-40B4-BE49-F238E27FC236}">
                <a16:creationId xmlns:a16="http://schemas.microsoft.com/office/drawing/2014/main" id="{CEA9D276-5290-0B92-1387-4C12F18E3EBF}"/>
              </a:ext>
            </a:extLst>
          </p:cNvPr>
          <p:cNvSpPr txBox="1"/>
          <p:nvPr/>
        </p:nvSpPr>
        <p:spPr>
          <a:xfrm>
            <a:off x="685800" y="1168400"/>
            <a:ext cx="9652000" cy="184666"/>
          </a:xfrm>
          <a:prstGeom prst="rect">
            <a:avLst/>
          </a:prstGeom>
          <a:noFill/>
        </p:spPr>
        <p:txBody>
          <a:bodyPr vert="horz" wrap="square" lIns="0" tIns="0" rIns="0" bIns="0" rtlCol="0">
            <a:spAutoFit/>
          </a:bodyPr>
          <a:lstStyle/>
          <a:p>
            <a:r>
              <a:rPr lang="en-US" sz="1200">
                <a:solidFill>
                  <a:srgbClr val="5B6760"/>
                </a:solidFill>
                <a:latin typeface="Aptos" panose="020B0004020202020204" pitchFamily="34" charset="0"/>
              </a:rPr>
              <a:t>All four San Diego locations were active during the reporting period. Torrey Del Mar represented 36% of weekly spend.</a:t>
            </a:r>
          </a:p>
        </p:txBody>
      </p:sp>
      <p:sp>
        <p:nvSpPr>
          <p:cNvPr id="10" name="TextBox 9">
            <a:extLst>
              <a:ext uri="{FF2B5EF4-FFF2-40B4-BE49-F238E27FC236}">
                <a16:creationId xmlns:a16="http://schemas.microsoft.com/office/drawing/2014/main" id="{094F0175-BFC6-0C04-7CE4-D1BD576C7E1B}"/>
              </a:ext>
            </a:extLst>
          </p:cNvPr>
          <p:cNvSpPr txBox="1"/>
          <p:nvPr/>
        </p:nvSpPr>
        <p:spPr>
          <a:xfrm>
            <a:off x="685800" y="17780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Torrey Del Mar</a:t>
            </a:r>
          </a:p>
        </p:txBody>
      </p:sp>
      <p:sp>
        <p:nvSpPr>
          <p:cNvPr id="11" name="Rectangle 10">
            <a:extLst>
              <a:ext uri="{FF2B5EF4-FFF2-40B4-BE49-F238E27FC236}">
                <a16:creationId xmlns:a16="http://schemas.microsoft.com/office/drawing/2014/main" id="{985F95FC-2A2E-3932-BEC6-74BC022042E6}"/>
              </a:ext>
            </a:extLst>
          </p:cNvPr>
          <p:cNvSpPr/>
          <p:nvPr/>
        </p:nvSpPr>
        <p:spPr>
          <a:xfrm>
            <a:off x="2946400" y="18034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B9EE53-8480-BC9E-35F8-05952A8CB1E9}"/>
              </a:ext>
            </a:extLst>
          </p:cNvPr>
          <p:cNvSpPr/>
          <p:nvPr/>
        </p:nvSpPr>
        <p:spPr>
          <a:xfrm>
            <a:off x="2946400" y="1803400"/>
            <a:ext cx="54610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FAC68CE-440E-E4C3-DF1D-1616A777ECA0}"/>
              </a:ext>
            </a:extLst>
          </p:cNvPr>
          <p:cNvSpPr txBox="1"/>
          <p:nvPr/>
        </p:nvSpPr>
        <p:spPr>
          <a:xfrm>
            <a:off x="8686800" y="17653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$33.92</a:t>
            </a:r>
          </a:p>
        </p:txBody>
      </p:sp>
      <p:sp>
        <p:nvSpPr>
          <p:cNvPr id="14" name="TextBox 13">
            <a:extLst>
              <a:ext uri="{FF2B5EF4-FFF2-40B4-BE49-F238E27FC236}">
                <a16:creationId xmlns:a16="http://schemas.microsoft.com/office/drawing/2014/main" id="{2986669A-9004-9484-CA18-F91FB03026E1}"/>
              </a:ext>
            </a:extLst>
          </p:cNvPr>
          <p:cNvSpPr txBox="1"/>
          <p:nvPr/>
        </p:nvSpPr>
        <p:spPr>
          <a:xfrm>
            <a:off x="10058400" y="17653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36% of spend</a:t>
            </a:r>
          </a:p>
        </p:txBody>
      </p:sp>
      <p:sp>
        <p:nvSpPr>
          <p:cNvPr id="15" name="TextBox 14">
            <a:extLst>
              <a:ext uri="{FF2B5EF4-FFF2-40B4-BE49-F238E27FC236}">
                <a16:creationId xmlns:a16="http://schemas.microsoft.com/office/drawing/2014/main" id="{86EB4F40-C35F-4930-ED4C-F012F6E0D0A5}"/>
              </a:ext>
            </a:extLst>
          </p:cNvPr>
          <p:cNvSpPr txBox="1"/>
          <p:nvPr/>
        </p:nvSpPr>
        <p:spPr>
          <a:xfrm>
            <a:off x="685800" y="23495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16" name="Rectangle 15">
            <a:extLst>
              <a:ext uri="{FF2B5EF4-FFF2-40B4-BE49-F238E27FC236}">
                <a16:creationId xmlns:a16="http://schemas.microsoft.com/office/drawing/2014/main" id="{EA396390-B06B-5A44-A68A-A6CFBCC7E8E7}"/>
              </a:ext>
            </a:extLst>
          </p:cNvPr>
          <p:cNvSpPr/>
          <p:nvPr/>
        </p:nvSpPr>
        <p:spPr>
          <a:xfrm>
            <a:off x="2946400" y="23749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9327000-ADA5-6614-B82C-5C5EDB50002E}"/>
              </a:ext>
            </a:extLst>
          </p:cNvPr>
          <p:cNvSpPr/>
          <p:nvPr/>
        </p:nvSpPr>
        <p:spPr>
          <a:xfrm>
            <a:off x="2946400" y="2374900"/>
            <a:ext cx="41021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F21B79D-E2B4-9250-D885-68F243ABC2C9}"/>
              </a:ext>
            </a:extLst>
          </p:cNvPr>
          <p:cNvSpPr txBox="1"/>
          <p:nvPr/>
        </p:nvSpPr>
        <p:spPr>
          <a:xfrm>
            <a:off x="8686800" y="23368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$25.45</a:t>
            </a:r>
          </a:p>
        </p:txBody>
      </p:sp>
      <p:sp>
        <p:nvSpPr>
          <p:cNvPr id="19" name="TextBox 18">
            <a:extLst>
              <a:ext uri="{FF2B5EF4-FFF2-40B4-BE49-F238E27FC236}">
                <a16:creationId xmlns:a16="http://schemas.microsoft.com/office/drawing/2014/main" id="{D18C6509-DC82-FE84-2657-A557133BC008}"/>
              </a:ext>
            </a:extLst>
          </p:cNvPr>
          <p:cNvSpPr txBox="1"/>
          <p:nvPr/>
        </p:nvSpPr>
        <p:spPr>
          <a:xfrm>
            <a:off x="10058400" y="23368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27% of spend</a:t>
            </a:r>
          </a:p>
        </p:txBody>
      </p:sp>
      <p:sp>
        <p:nvSpPr>
          <p:cNvPr id="20" name="TextBox 19">
            <a:extLst>
              <a:ext uri="{FF2B5EF4-FFF2-40B4-BE49-F238E27FC236}">
                <a16:creationId xmlns:a16="http://schemas.microsoft.com/office/drawing/2014/main" id="{AC68782C-AE2F-6EE9-1939-27411DF13FA4}"/>
              </a:ext>
            </a:extLst>
          </p:cNvPr>
          <p:cNvSpPr txBox="1"/>
          <p:nvPr/>
        </p:nvSpPr>
        <p:spPr>
          <a:xfrm>
            <a:off x="685800" y="29210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Carmel Mountain</a:t>
            </a:r>
          </a:p>
        </p:txBody>
      </p:sp>
      <p:sp>
        <p:nvSpPr>
          <p:cNvPr id="21" name="Rectangle 20">
            <a:extLst>
              <a:ext uri="{FF2B5EF4-FFF2-40B4-BE49-F238E27FC236}">
                <a16:creationId xmlns:a16="http://schemas.microsoft.com/office/drawing/2014/main" id="{A2AD0B0C-E7B2-A436-D22B-4573A3401421}"/>
              </a:ext>
            </a:extLst>
          </p:cNvPr>
          <p:cNvSpPr/>
          <p:nvPr/>
        </p:nvSpPr>
        <p:spPr>
          <a:xfrm>
            <a:off x="2946400" y="29464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AB00356-3BEC-3D4A-F50C-E2C660209D79}"/>
              </a:ext>
            </a:extLst>
          </p:cNvPr>
          <p:cNvSpPr/>
          <p:nvPr/>
        </p:nvSpPr>
        <p:spPr>
          <a:xfrm>
            <a:off x="2946400" y="2946400"/>
            <a:ext cx="3390900" cy="177800"/>
          </a:xfrm>
          <a:prstGeom prst="rect">
            <a:avLst/>
          </a:prstGeom>
          <a:solidFill>
            <a:srgbClr val="004E30"/>
          </a:solidFill>
          <a:ln w="12700" cap="flat" cmpd="sng" algn="ctr">
            <a:noFill/>
            <a:prstDash val="solid"/>
            <a:miter lim="800000"/>
          </a:ln>
          <a:effectLst/>
          <a:extLst>
            <a:ext uri="{91240B29-F687-4F45-9708-019B960494DF}">
              <a14:hiddenLine xmlns:a14="http://schemas.microsoft.com/office/drawing/2010/main" w="12700" cap="flat" cmpd="sng" algn="ctr">
                <a:solidFill>
                  <a:srgbClr val="004E3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0F48CA9-D6C8-0122-9C18-DED72B011DA5}"/>
              </a:ext>
            </a:extLst>
          </p:cNvPr>
          <p:cNvSpPr txBox="1"/>
          <p:nvPr/>
        </p:nvSpPr>
        <p:spPr>
          <a:xfrm>
            <a:off x="8686800" y="29083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$21.03</a:t>
            </a:r>
          </a:p>
        </p:txBody>
      </p:sp>
      <p:sp>
        <p:nvSpPr>
          <p:cNvPr id="24" name="TextBox 23">
            <a:extLst>
              <a:ext uri="{FF2B5EF4-FFF2-40B4-BE49-F238E27FC236}">
                <a16:creationId xmlns:a16="http://schemas.microsoft.com/office/drawing/2014/main" id="{C1DB1390-70BC-8FA0-F955-581D4A95D955}"/>
              </a:ext>
            </a:extLst>
          </p:cNvPr>
          <p:cNvSpPr txBox="1"/>
          <p:nvPr/>
        </p:nvSpPr>
        <p:spPr>
          <a:xfrm>
            <a:off x="10058400" y="29083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22% of spend</a:t>
            </a:r>
          </a:p>
        </p:txBody>
      </p:sp>
      <p:sp>
        <p:nvSpPr>
          <p:cNvPr id="25" name="TextBox 24">
            <a:extLst>
              <a:ext uri="{FF2B5EF4-FFF2-40B4-BE49-F238E27FC236}">
                <a16:creationId xmlns:a16="http://schemas.microsoft.com/office/drawing/2014/main" id="{40F48947-89C9-03A9-7112-EA838FC48474}"/>
              </a:ext>
            </a:extLst>
          </p:cNvPr>
          <p:cNvSpPr txBox="1"/>
          <p:nvPr/>
        </p:nvSpPr>
        <p:spPr>
          <a:xfrm>
            <a:off x="685800" y="34925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Solana Beach</a:t>
            </a:r>
          </a:p>
        </p:txBody>
      </p:sp>
      <p:sp>
        <p:nvSpPr>
          <p:cNvPr id="26" name="Rectangle 25">
            <a:extLst>
              <a:ext uri="{FF2B5EF4-FFF2-40B4-BE49-F238E27FC236}">
                <a16:creationId xmlns:a16="http://schemas.microsoft.com/office/drawing/2014/main" id="{04B8AFBE-CA70-6364-BFE8-67B33088866F}"/>
              </a:ext>
            </a:extLst>
          </p:cNvPr>
          <p:cNvSpPr/>
          <p:nvPr/>
        </p:nvSpPr>
        <p:spPr>
          <a:xfrm>
            <a:off x="2946400" y="35179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7512591-31A2-DDB8-E103-7C72A58158CF}"/>
              </a:ext>
            </a:extLst>
          </p:cNvPr>
          <p:cNvSpPr/>
          <p:nvPr/>
        </p:nvSpPr>
        <p:spPr>
          <a:xfrm>
            <a:off x="2946400" y="3517900"/>
            <a:ext cx="2108200" cy="177800"/>
          </a:xfrm>
          <a:prstGeom prst="rect">
            <a:avLst/>
          </a:prstGeom>
          <a:solidFill>
            <a:srgbClr val="004E30"/>
          </a:solidFill>
          <a:ln w="12700" cap="flat" cmpd="sng" algn="ctr">
            <a:noFill/>
            <a:prstDash val="solid"/>
            <a:miter lim="800000"/>
          </a:ln>
          <a:effectLst/>
          <a:extLst>
            <a:ext uri="{91240B29-F687-4F45-9708-019B960494DF}">
              <a14:hiddenLine xmlns:a14="http://schemas.microsoft.com/office/drawing/2010/main" w="12700" cap="flat" cmpd="sng" algn="ctr">
                <a:solidFill>
                  <a:srgbClr val="004E3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8FFEC5E-4A0D-A227-805A-8920E08CE6B1}"/>
              </a:ext>
            </a:extLst>
          </p:cNvPr>
          <p:cNvSpPr txBox="1"/>
          <p:nvPr/>
        </p:nvSpPr>
        <p:spPr>
          <a:xfrm>
            <a:off x="8686800" y="3479800"/>
            <a:ext cx="11684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$13.07</a:t>
            </a:r>
          </a:p>
        </p:txBody>
      </p:sp>
      <p:sp>
        <p:nvSpPr>
          <p:cNvPr id="29" name="TextBox 28">
            <a:extLst>
              <a:ext uri="{FF2B5EF4-FFF2-40B4-BE49-F238E27FC236}">
                <a16:creationId xmlns:a16="http://schemas.microsoft.com/office/drawing/2014/main" id="{EE8376E2-72B6-5FCF-6915-A8AF4AB5F13A}"/>
              </a:ext>
            </a:extLst>
          </p:cNvPr>
          <p:cNvSpPr txBox="1"/>
          <p:nvPr/>
        </p:nvSpPr>
        <p:spPr>
          <a:xfrm>
            <a:off x="10058400" y="3479800"/>
            <a:ext cx="14478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14% of spend</a:t>
            </a:r>
          </a:p>
        </p:txBody>
      </p:sp>
    </p:spTree>
    <p:extLst>
      <p:ext uri="{BB962C8B-B14F-4D97-AF65-F5344CB8AC3E}">
        <p14:creationId xmlns:p14="http://schemas.microsoft.com/office/powerpoint/2010/main" val="1412375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EB2284-1A92-D03C-CD07-7FA6B44E2235}"/>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6E69CC4-D11F-315C-0EE3-8CF9CBDD74FA}"/>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92CAB04E-A953-C385-54AC-DC9B79A54C46}"/>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Cost per click by location</a:t>
            </a:r>
          </a:p>
        </p:txBody>
      </p:sp>
      <p:sp>
        <p:nvSpPr>
          <p:cNvPr id="5" name="TextBox 4">
            <a:extLst>
              <a:ext uri="{FF2B5EF4-FFF2-40B4-BE49-F238E27FC236}">
                <a16:creationId xmlns:a16="http://schemas.microsoft.com/office/drawing/2014/main" id="{BF953084-E3DB-5E9C-5C34-143AF0975A6E}"/>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9DE188DC-2018-D8C2-3BC4-C3A145ECD1BA}"/>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8589D0D-BB49-9058-F53F-BB753181E7ED}"/>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4513E7D6-F8E8-74DA-6699-B503E5848933}"/>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4</a:t>
            </a:r>
          </a:p>
        </p:txBody>
      </p:sp>
      <p:sp>
        <p:nvSpPr>
          <p:cNvPr id="9" name="TextBox 8">
            <a:extLst>
              <a:ext uri="{FF2B5EF4-FFF2-40B4-BE49-F238E27FC236}">
                <a16:creationId xmlns:a16="http://schemas.microsoft.com/office/drawing/2014/main" id="{9E9FE86B-E836-1663-B9D8-223031D9A096}"/>
              </a:ext>
            </a:extLst>
          </p:cNvPr>
          <p:cNvSpPr txBox="1"/>
          <p:nvPr/>
        </p:nvSpPr>
        <p:spPr>
          <a:xfrm>
            <a:off x="685800" y="1168400"/>
            <a:ext cx="9652000" cy="184666"/>
          </a:xfrm>
          <a:prstGeom prst="rect">
            <a:avLst/>
          </a:prstGeom>
          <a:noFill/>
        </p:spPr>
        <p:txBody>
          <a:bodyPr vert="horz" wrap="square" lIns="0" tIns="0" rIns="0" bIns="0" rtlCol="0">
            <a:spAutoFit/>
          </a:bodyPr>
          <a:lstStyle/>
          <a:p>
            <a:r>
              <a:rPr lang="en-US" sz="1200">
                <a:solidFill>
                  <a:srgbClr val="5B6760"/>
                </a:solidFill>
                <a:latin typeface="Aptos" panose="020B0004020202020204" pitchFamily="34" charset="0"/>
              </a:rPr>
              <a:t>Every San Diego location remained below the $4.14 directional search benchmark. The four locations blended to $0.38.</a:t>
            </a:r>
          </a:p>
        </p:txBody>
      </p:sp>
      <p:sp>
        <p:nvSpPr>
          <p:cNvPr id="10" name="TextBox 9">
            <a:extLst>
              <a:ext uri="{FF2B5EF4-FFF2-40B4-BE49-F238E27FC236}">
                <a16:creationId xmlns:a16="http://schemas.microsoft.com/office/drawing/2014/main" id="{C93C0158-A246-C0C4-5117-A5CBF9729F5C}"/>
              </a:ext>
            </a:extLst>
          </p:cNvPr>
          <p:cNvSpPr txBox="1"/>
          <p:nvPr/>
        </p:nvSpPr>
        <p:spPr>
          <a:xfrm>
            <a:off x="685800" y="17907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Torrey Del Mar</a:t>
            </a:r>
          </a:p>
        </p:txBody>
      </p:sp>
      <p:sp>
        <p:nvSpPr>
          <p:cNvPr id="11" name="Rectangle 10">
            <a:extLst>
              <a:ext uri="{FF2B5EF4-FFF2-40B4-BE49-F238E27FC236}">
                <a16:creationId xmlns:a16="http://schemas.microsoft.com/office/drawing/2014/main" id="{123626A9-BDBC-9F67-97FF-69EB04F14514}"/>
              </a:ext>
            </a:extLst>
          </p:cNvPr>
          <p:cNvSpPr/>
          <p:nvPr/>
        </p:nvSpPr>
        <p:spPr>
          <a:xfrm>
            <a:off x="2946400" y="18161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AA0DC43-F5C0-2D1B-B145-C78BE0651D9A}"/>
              </a:ext>
            </a:extLst>
          </p:cNvPr>
          <p:cNvSpPr/>
          <p:nvPr/>
        </p:nvSpPr>
        <p:spPr>
          <a:xfrm>
            <a:off x="2946400" y="1816100"/>
            <a:ext cx="4191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BE84957-6EC2-759D-4361-A4C5F22DCC04}"/>
              </a:ext>
            </a:extLst>
          </p:cNvPr>
          <p:cNvSpPr txBox="1"/>
          <p:nvPr/>
        </p:nvSpPr>
        <p:spPr>
          <a:xfrm>
            <a:off x="8686800" y="17780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$0.32</a:t>
            </a:r>
          </a:p>
        </p:txBody>
      </p:sp>
      <p:sp>
        <p:nvSpPr>
          <p:cNvPr id="14" name="TextBox 13">
            <a:extLst>
              <a:ext uri="{FF2B5EF4-FFF2-40B4-BE49-F238E27FC236}">
                <a16:creationId xmlns:a16="http://schemas.microsoft.com/office/drawing/2014/main" id="{63635A46-A119-CD55-6DCB-711C458706B2}"/>
              </a:ext>
            </a:extLst>
          </p:cNvPr>
          <p:cNvSpPr txBox="1"/>
          <p:nvPr/>
        </p:nvSpPr>
        <p:spPr>
          <a:xfrm>
            <a:off x="9956800" y="17780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92% below benchmark</a:t>
            </a:r>
          </a:p>
        </p:txBody>
      </p:sp>
      <p:sp>
        <p:nvSpPr>
          <p:cNvPr id="15" name="TextBox 14">
            <a:extLst>
              <a:ext uri="{FF2B5EF4-FFF2-40B4-BE49-F238E27FC236}">
                <a16:creationId xmlns:a16="http://schemas.microsoft.com/office/drawing/2014/main" id="{F6E1E242-80A6-4AB8-D7C2-200B3EF0AABD}"/>
              </a:ext>
            </a:extLst>
          </p:cNvPr>
          <p:cNvSpPr txBox="1"/>
          <p:nvPr/>
        </p:nvSpPr>
        <p:spPr>
          <a:xfrm>
            <a:off x="685800" y="23495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16" name="Rectangle 15">
            <a:extLst>
              <a:ext uri="{FF2B5EF4-FFF2-40B4-BE49-F238E27FC236}">
                <a16:creationId xmlns:a16="http://schemas.microsoft.com/office/drawing/2014/main" id="{AAA59FA0-2920-0DE1-AAB1-080928B6DE7D}"/>
              </a:ext>
            </a:extLst>
          </p:cNvPr>
          <p:cNvSpPr/>
          <p:nvPr/>
        </p:nvSpPr>
        <p:spPr>
          <a:xfrm>
            <a:off x="2946400" y="23749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996C7-D2D5-E1F2-A46D-582A472A4A07}"/>
              </a:ext>
            </a:extLst>
          </p:cNvPr>
          <p:cNvSpPr/>
          <p:nvPr/>
        </p:nvSpPr>
        <p:spPr>
          <a:xfrm>
            <a:off x="2946400" y="2374900"/>
            <a:ext cx="4953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95F34DE-1270-9E2C-B11C-64623285A4F0}"/>
              </a:ext>
            </a:extLst>
          </p:cNvPr>
          <p:cNvSpPr txBox="1"/>
          <p:nvPr/>
        </p:nvSpPr>
        <p:spPr>
          <a:xfrm>
            <a:off x="8686800" y="23368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$0.38</a:t>
            </a:r>
          </a:p>
        </p:txBody>
      </p:sp>
      <p:sp>
        <p:nvSpPr>
          <p:cNvPr id="19" name="TextBox 18">
            <a:extLst>
              <a:ext uri="{FF2B5EF4-FFF2-40B4-BE49-F238E27FC236}">
                <a16:creationId xmlns:a16="http://schemas.microsoft.com/office/drawing/2014/main" id="{F10D13BB-C7D0-C5AF-C8C6-F21CE61F82DF}"/>
              </a:ext>
            </a:extLst>
          </p:cNvPr>
          <p:cNvSpPr txBox="1"/>
          <p:nvPr/>
        </p:nvSpPr>
        <p:spPr>
          <a:xfrm>
            <a:off x="9956800" y="23368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91% below benchmark</a:t>
            </a:r>
          </a:p>
        </p:txBody>
      </p:sp>
      <p:sp>
        <p:nvSpPr>
          <p:cNvPr id="20" name="TextBox 19">
            <a:extLst>
              <a:ext uri="{FF2B5EF4-FFF2-40B4-BE49-F238E27FC236}">
                <a16:creationId xmlns:a16="http://schemas.microsoft.com/office/drawing/2014/main" id="{3B2173C4-B790-3D67-1AA8-7418222FBB34}"/>
              </a:ext>
            </a:extLst>
          </p:cNvPr>
          <p:cNvSpPr txBox="1"/>
          <p:nvPr/>
        </p:nvSpPr>
        <p:spPr>
          <a:xfrm>
            <a:off x="685800" y="29083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Carmel Mountain</a:t>
            </a:r>
          </a:p>
        </p:txBody>
      </p:sp>
      <p:sp>
        <p:nvSpPr>
          <p:cNvPr id="21" name="Rectangle 20">
            <a:extLst>
              <a:ext uri="{FF2B5EF4-FFF2-40B4-BE49-F238E27FC236}">
                <a16:creationId xmlns:a16="http://schemas.microsoft.com/office/drawing/2014/main" id="{6FB9D61F-07C8-09F6-EEA2-EA9CFB477B29}"/>
              </a:ext>
            </a:extLst>
          </p:cNvPr>
          <p:cNvSpPr/>
          <p:nvPr/>
        </p:nvSpPr>
        <p:spPr>
          <a:xfrm>
            <a:off x="2946400" y="29337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A23C62-D066-7C96-BC95-04ED7EC941D5}"/>
              </a:ext>
            </a:extLst>
          </p:cNvPr>
          <p:cNvSpPr/>
          <p:nvPr/>
        </p:nvSpPr>
        <p:spPr>
          <a:xfrm>
            <a:off x="2946400" y="2933700"/>
            <a:ext cx="660400" cy="1778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210957B-96C6-5C91-431C-0556671D66A5}"/>
              </a:ext>
            </a:extLst>
          </p:cNvPr>
          <p:cNvSpPr txBox="1"/>
          <p:nvPr/>
        </p:nvSpPr>
        <p:spPr>
          <a:xfrm>
            <a:off x="8686800" y="28956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$0.50</a:t>
            </a:r>
          </a:p>
        </p:txBody>
      </p:sp>
      <p:sp>
        <p:nvSpPr>
          <p:cNvPr id="24" name="TextBox 23">
            <a:extLst>
              <a:ext uri="{FF2B5EF4-FFF2-40B4-BE49-F238E27FC236}">
                <a16:creationId xmlns:a16="http://schemas.microsoft.com/office/drawing/2014/main" id="{326CACD5-27AE-31F1-44D9-57C211099F18}"/>
              </a:ext>
            </a:extLst>
          </p:cNvPr>
          <p:cNvSpPr txBox="1"/>
          <p:nvPr/>
        </p:nvSpPr>
        <p:spPr>
          <a:xfrm>
            <a:off x="9956800" y="28956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88% below benchmark</a:t>
            </a:r>
          </a:p>
        </p:txBody>
      </p:sp>
      <p:sp>
        <p:nvSpPr>
          <p:cNvPr id="25" name="TextBox 24">
            <a:extLst>
              <a:ext uri="{FF2B5EF4-FFF2-40B4-BE49-F238E27FC236}">
                <a16:creationId xmlns:a16="http://schemas.microsoft.com/office/drawing/2014/main" id="{1C4D981C-137C-6EF7-1C62-814F33DD9A25}"/>
              </a:ext>
            </a:extLst>
          </p:cNvPr>
          <p:cNvSpPr txBox="1"/>
          <p:nvPr/>
        </p:nvSpPr>
        <p:spPr>
          <a:xfrm>
            <a:off x="685800" y="3467100"/>
            <a:ext cx="21590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Solana Beach</a:t>
            </a:r>
          </a:p>
        </p:txBody>
      </p:sp>
      <p:sp>
        <p:nvSpPr>
          <p:cNvPr id="26" name="Rectangle 25">
            <a:extLst>
              <a:ext uri="{FF2B5EF4-FFF2-40B4-BE49-F238E27FC236}">
                <a16:creationId xmlns:a16="http://schemas.microsoft.com/office/drawing/2014/main" id="{34A05EA1-325C-4C01-93AE-E55F54C37C95}"/>
              </a:ext>
            </a:extLst>
          </p:cNvPr>
          <p:cNvSpPr/>
          <p:nvPr/>
        </p:nvSpPr>
        <p:spPr>
          <a:xfrm>
            <a:off x="2946400" y="3492500"/>
            <a:ext cx="5461000" cy="1778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97C03B5-0B9D-5F7D-BFA3-8A9BB9028FDB}"/>
              </a:ext>
            </a:extLst>
          </p:cNvPr>
          <p:cNvSpPr/>
          <p:nvPr/>
        </p:nvSpPr>
        <p:spPr>
          <a:xfrm>
            <a:off x="2946400" y="3492500"/>
            <a:ext cx="622300" cy="1778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4CCFA31-5E7D-0CE2-AB82-510A31240B7B}"/>
              </a:ext>
            </a:extLst>
          </p:cNvPr>
          <p:cNvSpPr txBox="1"/>
          <p:nvPr/>
        </p:nvSpPr>
        <p:spPr>
          <a:xfrm>
            <a:off x="8686800" y="3454400"/>
            <a:ext cx="1117600" cy="184666"/>
          </a:xfrm>
          <a:prstGeom prst="rect">
            <a:avLst/>
          </a:prstGeom>
          <a:noFill/>
        </p:spPr>
        <p:txBody>
          <a:bodyPr vert="horz" wrap="square" lIns="0" tIns="0" rIns="0" bIns="0" rtlCol="0">
            <a:spAutoFit/>
          </a:bodyPr>
          <a:lstStyle/>
          <a:p>
            <a:pPr algn="r"/>
            <a:r>
              <a:rPr lang="en-US" sz="1200" b="1">
                <a:solidFill>
                  <a:srgbClr val="181F1B"/>
                </a:solidFill>
                <a:latin typeface="Aptos" panose="020B0004020202020204" pitchFamily="34" charset="0"/>
              </a:rPr>
              <a:t>$0.47</a:t>
            </a:r>
          </a:p>
        </p:txBody>
      </p:sp>
      <p:sp>
        <p:nvSpPr>
          <p:cNvPr id="29" name="TextBox 28">
            <a:extLst>
              <a:ext uri="{FF2B5EF4-FFF2-40B4-BE49-F238E27FC236}">
                <a16:creationId xmlns:a16="http://schemas.microsoft.com/office/drawing/2014/main" id="{E642182F-9648-014B-300B-DFC5F12E5BCE}"/>
              </a:ext>
            </a:extLst>
          </p:cNvPr>
          <p:cNvSpPr txBox="1"/>
          <p:nvPr/>
        </p:nvSpPr>
        <p:spPr>
          <a:xfrm>
            <a:off x="9956800" y="3454400"/>
            <a:ext cx="1549400" cy="146194"/>
          </a:xfrm>
          <a:prstGeom prst="rect">
            <a:avLst/>
          </a:prstGeom>
          <a:noFill/>
        </p:spPr>
        <p:txBody>
          <a:bodyPr vert="horz" wrap="square" lIns="0" tIns="0" rIns="0" bIns="0" rtlCol="0">
            <a:spAutoFit/>
          </a:bodyPr>
          <a:lstStyle/>
          <a:p>
            <a:pPr algn="r"/>
            <a:r>
              <a:rPr lang="en-US" sz="950">
                <a:solidFill>
                  <a:srgbClr val="5B6760"/>
                </a:solidFill>
                <a:latin typeface="Aptos" panose="020B0004020202020204" pitchFamily="34" charset="0"/>
              </a:rPr>
              <a:t>89% below benchmark</a:t>
            </a:r>
          </a:p>
        </p:txBody>
      </p:sp>
      <p:sp>
        <p:nvSpPr>
          <p:cNvPr id="30" name="Rectangle 29">
            <a:extLst>
              <a:ext uri="{FF2B5EF4-FFF2-40B4-BE49-F238E27FC236}">
                <a16:creationId xmlns:a16="http://schemas.microsoft.com/office/drawing/2014/main" id="{F136F605-1D96-E613-7A21-937027ED4D23}"/>
              </a:ext>
            </a:extLst>
          </p:cNvPr>
          <p:cNvSpPr/>
          <p:nvPr/>
        </p:nvSpPr>
        <p:spPr>
          <a:xfrm>
            <a:off x="2946400" y="5905500"/>
            <a:ext cx="177800" cy="1778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26A046-213A-54B1-AFAE-E72DD41C24BB}"/>
              </a:ext>
            </a:extLst>
          </p:cNvPr>
          <p:cNvSpPr txBox="1"/>
          <p:nvPr/>
        </p:nvSpPr>
        <p:spPr>
          <a:xfrm>
            <a:off x="3213100" y="5880100"/>
            <a:ext cx="2794000" cy="138499"/>
          </a:xfrm>
          <a:prstGeom prst="rect">
            <a:avLst/>
          </a:prstGeom>
          <a:noFill/>
        </p:spPr>
        <p:txBody>
          <a:bodyPr vert="horz" wrap="square" lIns="0" tIns="0" rIns="0" bIns="0" rtlCol="0">
            <a:spAutoFit/>
          </a:bodyPr>
          <a:lstStyle/>
          <a:p>
            <a:r>
              <a:rPr lang="en-US" sz="900">
                <a:solidFill>
                  <a:srgbClr val="5B6760"/>
                </a:solidFill>
                <a:latin typeface="Aptos" panose="020B0004020202020204" pitchFamily="34" charset="0"/>
              </a:rPr>
              <a:t>At or below $0.38 San Diego average</a:t>
            </a:r>
          </a:p>
        </p:txBody>
      </p:sp>
      <p:sp>
        <p:nvSpPr>
          <p:cNvPr id="32" name="Rectangle 31">
            <a:extLst>
              <a:ext uri="{FF2B5EF4-FFF2-40B4-BE49-F238E27FC236}">
                <a16:creationId xmlns:a16="http://schemas.microsoft.com/office/drawing/2014/main" id="{E0F53715-57B7-21D8-679E-A99DC7A7BE7F}"/>
              </a:ext>
            </a:extLst>
          </p:cNvPr>
          <p:cNvSpPr/>
          <p:nvPr/>
        </p:nvSpPr>
        <p:spPr>
          <a:xfrm>
            <a:off x="6248400" y="5905500"/>
            <a:ext cx="177800" cy="177800"/>
          </a:xfrm>
          <a:prstGeom prst="rect">
            <a:avLst/>
          </a:prstGeom>
          <a:solidFill>
            <a:srgbClr val="F47A20"/>
          </a:solidFill>
          <a:ln w="12700" cap="flat" cmpd="sng" algn="ctr">
            <a:noFill/>
            <a:prstDash val="solid"/>
            <a:miter lim="800000"/>
          </a:ln>
          <a:effectLst/>
          <a:extLst>
            <a:ext uri="{91240B29-F687-4F45-9708-019B960494DF}">
              <a14:hiddenLine xmlns:a14="http://schemas.microsoft.com/office/drawing/2010/main" w="12700" cap="flat" cmpd="sng" algn="ctr">
                <a:solidFill>
                  <a:srgbClr val="F47A2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9155C85-F918-C81B-E5D0-908C743FDE48}"/>
              </a:ext>
            </a:extLst>
          </p:cNvPr>
          <p:cNvSpPr txBox="1"/>
          <p:nvPr/>
        </p:nvSpPr>
        <p:spPr>
          <a:xfrm>
            <a:off x="6515100" y="5880100"/>
            <a:ext cx="3429000" cy="138499"/>
          </a:xfrm>
          <a:prstGeom prst="rect">
            <a:avLst/>
          </a:prstGeom>
          <a:noFill/>
        </p:spPr>
        <p:txBody>
          <a:bodyPr vert="horz" wrap="square" lIns="0" tIns="0" rIns="0" bIns="0" rtlCol="0">
            <a:spAutoFit/>
          </a:bodyPr>
          <a:lstStyle/>
          <a:p>
            <a:r>
              <a:rPr lang="en-US" sz="900">
                <a:solidFill>
                  <a:srgbClr val="5B6760"/>
                </a:solidFill>
                <a:latin typeface="Aptos" panose="020B0004020202020204" pitchFamily="34" charset="0"/>
              </a:rPr>
              <a:t>Above San Diego average, still below benchmark</a:t>
            </a:r>
          </a:p>
        </p:txBody>
      </p:sp>
    </p:spTree>
    <p:extLst>
      <p:ext uri="{BB962C8B-B14F-4D97-AF65-F5344CB8AC3E}">
        <p14:creationId xmlns:p14="http://schemas.microsoft.com/office/powerpoint/2010/main" val="1042756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8D9066-1F7E-7E8A-1B05-869761C037F1}"/>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0853FBB-460D-68DD-9978-51DA4358591B}"/>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FCFBCBC4-986F-5275-B91E-201F1DCD529C}"/>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Complete San Diego location detail</a:t>
            </a:r>
          </a:p>
        </p:txBody>
      </p:sp>
      <p:sp>
        <p:nvSpPr>
          <p:cNvPr id="5" name="TextBox 4">
            <a:extLst>
              <a:ext uri="{FF2B5EF4-FFF2-40B4-BE49-F238E27FC236}">
                <a16:creationId xmlns:a16="http://schemas.microsoft.com/office/drawing/2014/main" id="{681C3BC3-7A92-CE68-2F80-F9C0EBED0E81}"/>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5C3C0EC1-A4A0-D525-7DEB-2968B818544B}"/>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354A20C-7FFE-08F2-BC2A-6046D0843C77}"/>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93261EB7-B73D-778D-4965-3F25A7B0919F}"/>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5</a:t>
            </a:r>
          </a:p>
        </p:txBody>
      </p:sp>
      <p:sp>
        <p:nvSpPr>
          <p:cNvPr id="9" name="Rectangle 8">
            <a:extLst>
              <a:ext uri="{FF2B5EF4-FFF2-40B4-BE49-F238E27FC236}">
                <a16:creationId xmlns:a16="http://schemas.microsoft.com/office/drawing/2014/main" id="{26EFB7D8-DA56-0D35-D2B4-E392F9B5946E}"/>
              </a:ext>
            </a:extLst>
          </p:cNvPr>
          <p:cNvSpPr/>
          <p:nvPr/>
        </p:nvSpPr>
        <p:spPr>
          <a:xfrm>
            <a:off x="685800" y="1333500"/>
            <a:ext cx="10820400" cy="4064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2E6F981-8434-8AB4-9031-9215FC985272}"/>
              </a:ext>
            </a:extLst>
          </p:cNvPr>
          <p:cNvSpPr txBox="1"/>
          <p:nvPr/>
        </p:nvSpPr>
        <p:spPr>
          <a:xfrm>
            <a:off x="685800" y="1460500"/>
            <a:ext cx="3111500" cy="138499"/>
          </a:xfrm>
          <a:prstGeom prst="rect">
            <a:avLst/>
          </a:prstGeom>
          <a:noFill/>
        </p:spPr>
        <p:txBody>
          <a:bodyPr vert="horz" wrap="square" lIns="0" tIns="0" rIns="0" bIns="0" rtlCol="0">
            <a:spAutoFit/>
          </a:bodyPr>
          <a:lstStyle/>
          <a:p>
            <a:r>
              <a:rPr lang="en-US" sz="900" b="1">
                <a:solidFill>
                  <a:srgbClr val="FFFFFF"/>
                </a:solidFill>
                <a:latin typeface="Aptos" panose="020B0004020202020204" pitchFamily="34" charset="0"/>
              </a:rPr>
              <a:t>LOCATION</a:t>
            </a:r>
          </a:p>
        </p:txBody>
      </p:sp>
      <p:sp>
        <p:nvSpPr>
          <p:cNvPr id="11" name="TextBox 10">
            <a:extLst>
              <a:ext uri="{FF2B5EF4-FFF2-40B4-BE49-F238E27FC236}">
                <a16:creationId xmlns:a16="http://schemas.microsoft.com/office/drawing/2014/main" id="{C42F0616-18EF-CD6C-127D-D783B2F4E083}"/>
              </a:ext>
            </a:extLst>
          </p:cNvPr>
          <p:cNvSpPr txBox="1"/>
          <p:nvPr/>
        </p:nvSpPr>
        <p:spPr>
          <a:xfrm>
            <a:off x="4089400" y="1460500"/>
            <a:ext cx="11684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SPEND</a:t>
            </a:r>
          </a:p>
        </p:txBody>
      </p:sp>
      <p:sp>
        <p:nvSpPr>
          <p:cNvPr id="12" name="TextBox 11">
            <a:extLst>
              <a:ext uri="{FF2B5EF4-FFF2-40B4-BE49-F238E27FC236}">
                <a16:creationId xmlns:a16="http://schemas.microsoft.com/office/drawing/2014/main" id="{6DFAB661-0FC5-3A90-3496-89BF273D756E}"/>
              </a:ext>
            </a:extLst>
          </p:cNvPr>
          <p:cNvSpPr txBox="1"/>
          <p:nvPr/>
        </p:nvSpPr>
        <p:spPr>
          <a:xfrm>
            <a:off x="5499100" y="1460500"/>
            <a:ext cx="13208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IMPRESSIONS</a:t>
            </a:r>
          </a:p>
        </p:txBody>
      </p:sp>
      <p:sp>
        <p:nvSpPr>
          <p:cNvPr id="13" name="TextBox 12">
            <a:extLst>
              <a:ext uri="{FF2B5EF4-FFF2-40B4-BE49-F238E27FC236}">
                <a16:creationId xmlns:a16="http://schemas.microsoft.com/office/drawing/2014/main" id="{3352156C-9140-C67A-7064-E108278D71CC}"/>
              </a:ext>
            </a:extLst>
          </p:cNvPr>
          <p:cNvSpPr txBox="1"/>
          <p:nvPr/>
        </p:nvSpPr>
        <p:spPr>
          <a:xfrm>
            <a:off x="7061200" y="1460500"/>
            <a:ext cx="10160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CLICKS</a:t>
            </a:r>
          </a:p>
        </p:txBody>
      </p:sp>
      <p:sp>
        <p:nvSpPr>
          <p:cNvPr id="14" name="TextBox 13">
            <a:extLst>
              <a:ext uri="{FF2B5EF4-FFF2-40B4-BE49-F238E27FC236}">
                <a16:creationId xmlns:a16="http://schemas.microsoft.com/office/drawing/2014/main" id="{83E0702A-64DE-C656-736C-F9AD2E1E188A}"/>
              </a:ext>
            </a:extLst>
          </p:cNvPr>
          <p:cNvSpPr txBox="1"/>
          <p:nvPr/>
        </p:nvSpPr>
        <p:spPr>
          <a:xfrm>
            <a:off x="8331200" y="1460500"/>
            <a:ext cx="9652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CTR</a:t>
            </a:r>
          </a:p>
        </p:txBody>
      </p:sp>
      <p:sp>
        <p:nvSpPr>
          <p:cNvPr id="15" name="TextBox 14">
            <a:extLst>
              <a:ext uri="{FF2B5EF4-FFF2-40B4-BE49-F238E27FC236}">
                <a16:creationId xmlns:a16="http://schemas.microsoft.com/office/drawing/2014/main" id="{1E3A39BD-66E4-4C31-1F77-221C6230A2C1}"/>
              </a:ext>
            </a:extLst>
          </p:cNvPr>
          <p:cNvSpPr txBox="1"/>
          <p:nvPr/>
        </p:nvSpPr>
        <p:spPr>
          <a:xfrm>
            <a:off x="9575800" y="1460500"/>
            <a:ext cx="1016000" cy="138499"/>
          </a:xfrm>
          <a:prstGeom prst="rect">
            <a:avLst/>
          </a:prstGeom>
          <a:noFill/>
        </p:spPr>
        <p:txBody>
          <a:bodyPr vert="horz" wrap="square" lIns="0" tIns="0" rIns="0" bIns="0" rtlCol="0">
            <a:spAutoFit/>
          </a:bodyPr>
          <a:lstStyle/>
          <a:p>
            <a:pPr algn="r"/>
            <a:r>
              <a:rPr lang="en-US" sz="900" b="1">
                <a:solidFill>
                  <a:srgbClr val="FFFFFF"/>
                </a:solidFill>
                <a:latin typeface="Aptos" panose="020B0004020202020204" pitchFamily="34" charset="0"/>
              </a:rPr>
              <a:t>CPC</a:t>
            </a:r>
          </a:p>
        </p:txBody>
      </p:sp>
      <p:sp>
        <p:nvSpPr>
          <p:cNvPr id="16" name="TextBox 15">
            <a:extLst>
              <a:ext uri="{FF2B5EF4-FFF2-40B4-BE49-F238E27FC236}">
                <a16:creationId xmlns:a16="http://schemas.microsoft.com/office/drawing/2014/main" id="{E78FBFEA-76A1-9DD0-CFE7-8CF3C6661029}"/>
              </a:ext>
            </a:extLst>
          </p:cNvPr>
          <p:cNvSpPr txBox="1"/>
          <p:nvPr/>
        </p:nvSpPr>
        <p:spPr>
          <a:xfrm>
            <a:off x="685800" y="18542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Torrey Del Mar</a:t>
            </a:r>
          </a:p>
        </p:txBody>
      </p:sp>
      <p:sp>
        <p:nvSpPr>
          <p:cNvPr id="17" name="TextBox 16">
            <a:extLst>
              <a:ext uri="{FF2B5EF4-FFF2-40B4-BE49-F238E27FC236}">
                <a16:creationId xmlns:a16="http://schemas.microsoft.com/office/drawing/2014/main" id="{601226A8-C27D-BB62-CD62-C56907151424}"/>
              </a:ext>
            </a:extLst>
          </p:cNvPr>
          <p:cNvSpPr txBox="1"/>
          <p:nvPr/>
        </p:nvSpPr>
        <p:spPr>
          <a:xfrm>
            <a:off x="4089400" y="18542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$33.92</a:t>
            </a:r>
          </a:p>
        </p:txBody>
      </p:sp>
      <p:sp>
        <p:nvSpPr>
          <p:cNvPr id="18" name="TextBox 17">
            <a:extLst>
              <a:ext uri="{FF2B5EF4-FFF2-40B4-BE49-F238E27FC236}">
                <a16:creationId xmlns:a16="http://schemas.microsoft.com/office/drawing/2014/main" id="{1E00601C-604D-84AF-D885-F584E0F9C59C}"/>
              </a:ext>
            </a:extLst>
          </p:cNvPr>
          <p:cNvSpPr txBox="1"/>
          <p:nvPr/>
        </p:nvSpPr>
        <p:spPr>
          <a:xfrm>
            <a:off x="5499100" y="18542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1,216</a:t>
            </a:r>
          </a:p>
        </p:txBody>
      </p:sp>
      <p:sp>
        <p:nvSpPr>
          <p:cNvPr id="19" name="TextBox 18">
            <a:extLst>
              <a:ext uri="{FF2B5EF4-FFF2-40B4-BE49-F238E27FC236}">
                <a16:creationId xmlns:a16="http://schemas.microsoft.com/office/drawing/2014/main" id="{C381ED90-7BCE-6A19-9E0E-41DD34B5EBA9}"/>
              </a:ext>
            </a:extLst>
          </p:cNvPr>
          <p:cNvSpPr txBox="1"/>
          <p:nvPr/>
        </p:nvSpPr>
        <p:spPr>
          <a:xfrm>
            <a:off x="7061200" y="18542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107</a:t>
            </a:r>
          </a:p>
        </p:txBody>
      </p:sp>
      <p:sp>
        <p:nvSpPr>
          <p:cNvPr id="20" name="TextBox 19">
            <a:extLst>
              <a:ext uri="{FF2B5EF4-FFF2-40B4-BE49-F238E27FC236}">
                <a16:creationId xmlns:a16="http://schemas.microsoft.com/office/drawing/2014/main" id="{B970E07B-D6B3-3D67-77BA-82EF19E9FBCC}"/>
              </a:ext>
            </a:extLst>
          </p:cNvPr>
          <p:cNvSpPr txBox="1"/>
          <p:nvPr/>
        </p:nvSpPr>
        <p:spPr>
          <a:xfrm>
            <a:off x="8331200" y="18542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8.80%</a:t>
            </a:r>
          </a:p>
        </p:txBody>
      </p:sp>
      <p:sp>
        <p:nvSpPr>
          <p:cNvPr id="21" name="TextBox 20">
            <a:extLst>
              <a:ext uri="{FF2B5EF4-FFF2-40B4-BE49-F238E27FC236}">
                <a16:creationId xmlns:a16="http://schemas.microsoft.com/office/drawing/2014/main" id="{74CE3BD9-1424-303F-786E-7AF42D409FE0}"/>
              </a:ext>
            </a:extLst>
          </p:cNvPr>
          <p:cNvSpPr txBox="1"/>
          <p:nvPr/>
        </p:nvSpPr>
        <p:spPr>
          <a:xfrm>
            <a:off x="9575800" y="1854200"/>
            <a:ext cx="10160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$0.32</a:t>
            </a:r>
          </a:p>
        </p:txBody>
      </p:sp>
      <p:sp>
        <p:nvSpPr>
          <p:cNvPr id="22" name="Rectangle 21">
            <a:extLst>
              <a:ext uri="{FF2B5EF4-FFF2-40B4-BE49-F238E27FC236}">
                <a16:creationId xmlns:a16="http://schemas.microsoft.com/office/drawing/2014/main" id="{FE94C71A-F135-8DBE-D5AA-28B94A0C6BD4}"/>
              </a:ext>
            </a:extLst>
          </p:cNvPr>
          <p:cNvSpPr/>
          <p:nvPr/>
        </p:nvSpPr>
        <p:spPr>
          <a:xfrm>
            <a:off x="685800" y="2298700"/>
            <a:ext cx="10820400" cy="495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F46671F-4380-3063-284B-B3E21BFC5EF9}"/>
              </a:ext>
            </a:extLst>
          </p:cNvPr>
          <p:cNvSpPr txBox="1"/>
          <p:nvPr/>
        </p:nvSpPr>
        <p:spPr>
          <a:xfrm>
            <a:off x="685800" y="23495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24" name="TextBox 23">
            <a:extLst>
              <a:ext uri="{FF2B5EF4-FFF2-40B4-BE49-F238E27FC236}">
                <a16:creationId xmlns:a16="http://schemas.microsoft.com/office/drawing/2014/main" id="{B455DF1F-C423-4545-321D-11EEC5628B09}"/>
              </a:ext>
            </a:extLst>
          </p:cNvPr>
          <p:cNvSpPr txBox="1"/>
          <p:nvPr/>
        </p:nvSpPr>
        <p:spPr>
          <a:xfrm>
            <a:off x="4089400" y="23495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$25.45</a:t>
            </a:r>
          </a:p>
        </p:txBody>
      </p:sp>
      <p:sp>
        <p:nvSpPr>
          <p:cNvPr id="25" name="TextBox 24">
            <a:extLst>
              <a:ext uri="{FF2B5EF4-FFF2-40B4-BE49-F238E27FC236}">
                <a16:creationId xmlns:a16="http://schemas.microsoft.com/office/drawing/2014/main" id="{EB82BAF5-2147-3C5C-A3E5-0C6CCC6065BF}"/>
              </a:ext>
            </a:extLst>
          </p:cNvPr>
          <p:cNvSpPr txBox="1"/>
          <p:nvPr/>
        </p:nvSpPr>
        <p:spPr>
          <a:xfrm>
            <a:off x="5499100" y="23495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1,143</a:t>
            </a:r>
          </a:p>
        </p:txBody>
      </p:sp>
      <p:sp>
        <p:nvSpPr>
          <p:cNvPr id="26" name="TextBox 25">
            <a:extLst>
              <a:ext uri="{FF2B5EF4-FFF2-40B4-BE49-F238E27FC236}">
                <a16:creationId xmlns:a16="http://schemas.microsoft.com/office/drawing/2014/main" id="{5601EC9A-D827-1F23-0099-6FBC0C8CCC6E}"/>
              </a:ext>
            </a:extLst>
          </p:cNvPr>
          <p:cNvSpPr txBox="1"/>
          <p:nvPr/>
        </p:nvSpPr>
        <p:spPr>
          <a:xfrm>
            <a:off x="7061200" y="23495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67</a:t>
            </a:r>
          </a:p>
        </p:txBody>
      </p:sp>
      <p:sp>
        <p:nvSpPr>
          <p:cNvPr id="27" name="TextBox 26">
            <a:extLst>
              <a:ext uri="{FF2B5EF4-FFF2-40B4-BE49-F238E27FC236}">
                <a16:creationId xmlns:a16="http://schemas.microsoft.com/office/drawing/2014/main" id="{BF5134B3-1DC1-3262-E2D3-E52941BCC521}"/>
              </a:ext>
            </a:extLst>
          </p:cNvPr>
          <p:cNvSpPr txBox="1"/>
          <p:nvPr/>
        </p:nvSpPr>
        <p:spPr>
          <a:xfrm>
            <a:off x="8331200" y="23495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5.86%</a:t>
            </a:r>
          </a:p>
        </p:txBody>
      </p:sp>
      <p:sp>
        <p:nvSpPr>
          <p:cNvPr id="28" name="TextBox 27">
            <a:extLst>
              <a:ext uri="{FF2B5EF4-FFF2-40B4-BE49-F238E27FC236}">
                <a16:creationId xmlns:a16="http://schemas.microsoft.com/office/drawing/2014/main" id="{8526FC90-B3EF-F630-4146-413BE2E61FEE}"/>
              </a:ext>
            </a:extLst>
          </p:cNvPr>
          <p:cNvSpPr txBox="1"/>
          <p:nvPr/>
        </p:nvSpPr>
        <p:spPr>
          <a:xfrm>
            <a:off x="9575800" y="2349500"/>
            <a:ext cx="10160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$0.38</a:t>
            </a:r>
          </a:p>
        </p:txBody>
      </p:sp>
      <p:sp>
        <p:nvSpPr>
          <p:cNvPr id="29" name="TextBox 28">
            <a:extLst>
              <a:ext uri="{FF2B5EF4-FFF2-40B4-BE49-F238E27FC236}">
                <a16:creationId xmlns:a16="http://schemas.microsoft.com/office/drawing/2014/main" id="{00713A18-CFDF-E3CA-B21B-EF8831A60CB4}"/>
              </a:ext>
            </a:extLst>
          </p:cNvPr>
          <p:cNvSpPr txBox="1"/>
          <p:nvPr/>
        </p:nvSpPr>
        <p:spPr>
          <a:xfrm>
            <a:off x="685800" y="28448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Carmel Mountain</a:t>
            </a:r>
          </a:p>
        </p:txBody>
      </p:sp>
      <p:sp>
        <p:nvSpPr>
          <p:cNvPr id="30" name="TextBox 29">
            <a:extLst>
              <a:ext uri="{FF2B5EF4-FFF2-40B4-BE49-F238E27FC236}">
                <a16:creationId xmlns:a16="http://schemas.microsoft.com/office/drawing/2014/main" id="{4A202683-50B2-35D0-7AE9-778D2A63E804}"/>
              </a:ext>
            </a:extLst>
          </p:cNvPr>
          <p:cNvSpPr txBox="1"/>
          <p:nvPr/>
        </p:nvSpPr>
        <p:spPr>
          <a:xfrm>
            <a:off x="4089400" y="28448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$21.03</a:t>
            </a:r>
          </a:p>
        </p:txBody>
      </p:sp>
      <p:sp>
        <p:nvSpPr>
          <p:cNvPr id="31" name="TextBox 30">
            <a:extLst>
              <a:ext uri="{FF2B5EF4-FFF2-40B4-BE49-F238E27FC236}">
                <a16:creationId xmlns:a16="http://schemas.microsoft.com/office/drawing/2014/main" id="{9F01680D-342A-E21E-7ACE-2A64AF102136}"/>
              </a:ext>
            </a:extLst>
          </p:cNvPr>
          <p:cNvSpPr txBox="1"/>
          <p:nvPr/>
        </p:nvSpPr>
        <p:spPr>
          <a:xfrm>
            <a:off x="5499100" y="28448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418</a:t>
            </a:r>
          </a:p>
        </p:txBody>
      </p:sp>
      <p:sp>
        <p:nvSpPr>
          <p:cNvPr id="32" name="TextBox 31">
            <a:extLst>
              <a:ext uri="{FF2B5EF4-FFF2-40B4-BE49-F238E27FC236}">
                <a16:creationId xmlns:a16="http://schemas.microsoft.com/office/drawing/2014/main" id="{7A47693E-F9B1-68ED-D05C-5E3E79691212}"/>
              </a:ext>
            </a:extLst>
          </p:cNvPr>
          <p:cNvSpPr txBox="1"/>
          <p:nvPr/>
        </p:nvSpPr>
        <p:spPr>
          <a:xfrm>
            <a:off x="7061200" y="28448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42</a:t>
            </a:r>
          </a:p>
        </p:txBody>
      </p:sp>
      <p:sp>
        <p:nvSpPr>
          <p:cNvPr id="33" name="TextBox 32">
            <a:extLst>
              <a:ext uri="{FF2B5EF4-FFF2-40B4-BE49-F238E27FC236}">
                <a16:creationId xmlns:a16="http://schemas.microsoft.com/office/drawing/2014/main" id="{D87E8AE3-E973-0080-1B6C-5BDEB96C35A7}"/>
              </a:ext>
            </a:extLst>
          </p:cNvPr>
          <p:cNvSpPr txBox="1"/>
          <p:nvPr/>
        </p:nvSpPr>
        <p:spPr>
          <a:xfrm>
            <a:off x="8331200" y="28448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10.05%</a:t>
            </a:r>
          </a:p>
        </p:txBody>
      </p:sp>
      <p:sp>
        <p:nvSpPr>
          <p:cNvPr id="34" name="TextBox 33">
            <a:extLst>
              <a:ext uri="{FF2B5EF4-FFF2-40B4-BE49-F238E27FC236}">
                <a16:creationId xmlns:a16="http://schemas.microsoft.com/office/drawing/2014/main" id="{D1294BD6-B297-DF90-564D-A69F84FB7602}"/>
              </a:ext>
            </a:extLst>
          </p:cNvPr>
          <p:cNvSpPr txBox="1"/>
          <p:nvPr/>
        </p:nvSpPr>
        <p:spPr>
          <a:xfrm>
            <a:off x="9575800" y="2844800"/>
            <a:ext cx="10160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$0.50</a:t>
            </a:r>
          </a:p>
        </p:txBody>
      </p:sp>
      <p:sp>
        <p:nvSpPr>
          <p:cNvPr id="35" name="Rectangle 34">
            <a:extLst>
              <a:ext uri="{FF2B5EF4-FFF2-40B4-BE49-F238E27FC236}">
                <a16:creationId xmlns:a16="http://schemas.microsoft.com/office/drawing/2014/main" id="{358D2924-5160-C484-CB2D-87931BB0717A}"/>
              </a:ext>
            </a:extLst>
          </p:cNvPr>
          <p:cNvSpPr/>
          <p:nvPr/>
        </p:nvSpPr>
        <p:spPr>
          <a:xfrm>
            <a:off x="685800" y="3289300"/>
            <a:ext cx="10820400" cy="495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8D94729-937E-AFC3-AE69-B27C058610F3}"/>
              </a:ext>
            </a:extLst>
          </p:cNvPr>
          <p:cNvSpPr txBox="1"/>
          <p:nvPr/>
        </p:nvSpPr>
        <p:spPr>
          <a:xfrm>
            <a:off x="685800" y="33401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Solana Beach</a:t>
            </a:r>
          </a:p>
        </p:txBody>
      </p:sp>
      <p:sp>
        <p:nvSpPr>
          <p:cNvPr id="37" name="TextBox 36">
            <a:extLst>
              <a:ext uri="{FF2B5EF4-FFF2-40B4-BE49-F238E27FC236}">
                <a16:creationId xmlns:a16="http://schemas.microsoft.com/office/drawing/2014/main" id="{36F0D494-05E8-A36F-6227-2D3B6CE64030}"/>
              </a:ext>
            </a:extLst>
          </p:cNvPr>
          <p:cNvSpPr txBox="1"/>
          <p:nvPr/>
        </p:nvSpPr>
        <p:spPr>
          <a:xfrm>
            <a:off x="4089400" y="3340100"/>
            <a:ext cx="11684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$13.07</a:t>
            </a:r>
          </a:p>
        </p:txBody>
      </p:sp>
      <p:sp>
        <p:nvSpPr>
          <p:cNvPr id="38" name="TextBox 37">
            <a:extLst>
              <a:ext uri="{FF2B5EF4-FFF2-40B4-BE49-F238E27FC236}">
                <a16:creationId xmlns:a16="http://schemas.microsoft.com/office/drawing/2014/main" id="{66678A57-52F7-498E-5D63-0451325C7A08}"/>
              </a:ext>
            </a:extLst>
          </p:cNvPr>
          <p:cNvSpPr txBox="1"/>
          <p:nvPr/>
        </p:nvSpPr>
        <p:spPr>
          <a:xfrm>
            <a:off x="5499100" y="3340100"/>
            <a:ext cx="13208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634</a:t>
            </a:r>
          </a:p>
        </p:txBody>
      </p:sp>
      <p:sp>
        <p:nvSpPr>
          <p:cNvPr id="39" name="TextBox 38">
            <a:extLst>
              <a:ext uri="{FF2B5EF4-FFF2-40B4-BE49-F238E27FC236}">
                <a16:creationId xmlns:a16="http://schemas.microsoft.com/office/drawing/2014/main" id="{CDB1B2B4-68CA-BAF7-E4CF-646D05BFEA02}"/>
              </a:ext>
            </a:extLst>
          </p:cNvPr>
          <p:cNvSpPr txBox="1"/>
          <p:nvPr/>
        </p:nvSpPr>
        <p:spPr>
          <a:xfrm>
            <a:off x="7061200" y="3340100"/>
            <a:ext cx="10160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28</a:t>
            </a:r>
          </a:p>
        </p:txBody>
      </p:sp>
      <p:sp>
        <p:nvSpPr>
          <p:cNvPr id="40" name="TextBox 39">
            <a:extLst>
              <a:ext uri="{FF2B5EF4-FFF2-40B4-BE49-F238E27FC236}">
                <a16:creationId xmlns:a16="http://schemas.microsoft.com/office/drawing/2014/main" id="{9E640BAC-715B-6A0A-6BDC-22A838364970}"/>
              </a:ext>
            </a:extLst>
          </p:cNvPr>
          <p:cNvSpPr txBox="1"/>
          <p:nvPr/>
        </p:nvSpPr>
        <p:spPr>
          <a:xfrm>
            <a:off x="8331200" y="3340100"/>
            <a:ext cx="965200" cy="169277"/>
          </a:xfrm>
          <a:prstGeom prst="rect">
            <a:avLst/>
          </a:prstGeom>
          <a:noFill/>
        </p:spPr>
        <p:txBody>
          <a:bodyPr vert="horz" wrap="square" lIns="0" tIns="0" rIns="0" bIns="0" rtlCol="0">
            <a:spAutoFit/>
          </a:bodyPr>
          <a:lstStyle/>
          <a:p>
            <a:pPr algn="r"/>
            <a:r>
              <a:rPr lang="en-US" sz="1100">
                <a:solidFill>
                  <a:srgbClr val="181F1B"/>
                </a:solidFill>
                <a:latin typeface="Aptos" panose="020B0004020202020204" pitchFamily="34" charset="0"/>
              </a:rPr>
              <a:t>4.42%</a:t>
            </a:r>
          </a:p>
        </p:txBody>
      </p:sp>
      <p:sp>
        <p:nvSpPr>
          <p:cNvPr id="41" name="TextBox 40">
            <a:extLst>
              <a:ext uri="{FF2B5EF4-FFF2-40B4-BE49-F238E27FC236}">
                <a16:creationId xmlns:a16="http://schemas.microsoft.com/office/drawing/2014/main" id="{2A110243-7671-DB5B-5634-875AD2AE1C57}"/>
              </a:ext>
            </a:extLst>
          </p:cNvPr>
          <p:cNvSpPr txBox="1"/>
          <p:nvPr/>
        </p:nvSpPr>
        <p:spPr>
          <a:xfrm>
            <a:off x="9575800" y="3340100"/>
            <a:ext cx="10160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$0.47</a:t>
            </a:r>
          </a:p>
        </p:txBody>
      </p:sp>
      <p:sp>
        <p:nvSpPr>
          <p:cNvPr id="42" name="TextBox 41">
            <a:extLst>
              <a:ext uri="{FF2B5EF4-FFF2-40B4-BE49-F238E27FC236}">
                <a16:creationId xmlns:a16="http://schemas.microsoft.com/office/drawing/2014/main" id="{7ED7D96F-6525-8AA7-A8C2-A1A22533629F}"/>
              </a:ext>
            </a:extLst>
          </p:cNvPr>
          <p:cNvSpPr txBox="1"/>
          <p:nvPr/>
        </p:nvSpPr>
        <p:spPr>
          <a:xfrm>
            <a:off x="685800" y="23495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Miramar</a:t>
            </a:r>
          </a:p>
        </p:txBody>
      </p:sp>
      <p:sp>
        <p:nvSpPr>
          <p:cNvPr id="43" name="Rectangle 42">
            <a:extLst>
              <a:ext uri="{FF2B5EF4-FFF2-40B4-BE49-F238E27FC236}">
                <a16:creationId xmlns:a16="http://schemas.microsoft.com/office/drawing/2014/main" id="{31AB7C90-18B2-7633-A2A6-CC14F271DC6A}"/>
              </a:ext>
            </a:extLst>
          </p:cNvPr>
          <p:cNvSpPr/>
          <p:nvPr/>
        </p:nvSpPr>
        <p:spPr>
          <a:xfrm>
            <a:off x="685800" y="54483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339AD44A-DA64-DFF0-03B0-FF0D118CEEBF}"/>
              </a:ext>
            </a:extLst>
          </p:cNvPr>
          <p:cNvSpPr txBox="1"/>
          <p:nvPr/>
        </p:nvSpPr>
        <p:spPr>
          <a:xfrm>
            <a:off x="685800" y="5626100"/>
            <a:ext cx="3111500" cy="169277"/>
          </a:xfrm>
          <a:prstGeom prst="rect">
            <a:avLst/>
          </a:prstGeom>
          <a:noFill/>
        </p:spPr>
        <p:txBody>
          <a:bodyPr vert="horz" wrap="square" lIns="0" tIns="0" rIns="0" bIns="0" rtlCol="0">
            <a:spAutoFit/>
          </a:bodyPr>
          <a:lstStyle/>
          <a:p>
            <a:r>
              <a:rPr lang="en-US" sz="1100" b="1">
                <a:solidFill>
                  <a:srgbClr val="181F1B"/>
                </a:solidFill>
                <a:latin typeface="Aptos" panose="020B0004020202020204" pitchFamily="34" charset="0"/>
              </a:rPr>
              <a:t>FOUR LOCATION TOTAL</a:t>
            </a:r>
          </a:p>
        </p:txBody>
      </p:sp>
      <p:sp>
        <p:nvSpPr>
          <p:cNvPr id="45" name="TextBox 44">
            <a:extLst>
              <a:ext uri="{FF2B5EF4-FFF2-40B4-BE49-F238E27FC236}">
                <a16:creationId xmlns:a16="http://schemas.microsoft.com/office/drawing/2014/main" id="{81DAF552-21C5-4080-E2B6-EA2F71E5B05E}"/>
              </a:ext>
            </a:extLst>
          </p:cNvPr>
          <p:cNvSpPr txBox="1"/>
          <p:nvPr/>
        </p:nvSpPr>
        <p:spPr>
          <a:xfrm>
            <a:off x="4089400" y="5626100"/>
            <a:ext cx="11684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$93.47</a:t>
            </a:r>
          </a:p>
        </p:txBody>
      </p:sp>
      <p:sp>
        <p:nvSpPr>
          <p:cNvPr id="46" name="TextBox 45">
            <a:extLst>
              <a:ext uri="{FF2B5EF4-FFF2-40B4-BE49-F238E27FC236}">
                <a16:creationId xmlns:a16="http://schemas.microsoft.com/office/drawing/2014/main" id="{7A07C0BD-E4FE-45DA-A7EC-2ACDDA32A2AF}"/>
              </a:ext>
            </a:extLst>
          </p:cNvPr>
          <p:cNvSpPr txBox="1"/>
          <p:nvPr/>
        </p:nvSpPr>
        <p:spPr>
          <a:xfrm>
            <a:off x="5499100" y="5626100"/>
            <a:ext cx="13208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3,411</a:t>
            </a:r>
          </a:p>
        </p:txBody>
      </p:sp>
      <p:sp>
        <p:nvSpPr>
          <p:cNvPr id="47" name="TextBox 46">
            <a:extLst>
              <a:ext uri="{FF2B5EF4-FFF2-40B4-BE49-F238E27FC236}">
                <a16:creationId xmlns:a16="http://schemas.microsoft.com/office/drawing/2014/main" id="{60C4C803-8DC6-8A43-CB1D-F8D7F15635C8}"/>
              </a:ext>
            </a:extLst>
          </p:cNvPr>
          <p:cNvSpPr txBox="1"/>
          <p:nvPr/>
        </p:nvSpPr>
        <p:spPr>
          <a:xfrm>
            <a:off x="7061200" y="5626100"/>
            <a:ext cx="10160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244</a:t>
            </a:r>
          </a:p>
        </p:txBody>
      </p:sp>
      <p:sp>
        <p:nvSpPr>
          <p:cNvPr id="48" name="TextBox 47">
            <a:extLst>
              <a:ext uri="{FF2B5EF4-FFF2-40B4-BE49-F238E27FC236}">
                <a16:creationId xmlns:a16="http://schemas.microsoft.com/office/drawing/2014/main" id="{0C1C346A-C571-0D0D-E320-AB3E34C29AAD}"/>
              </a:ext>
            </a:extLst>
          </p:cNvPr>
          <p:cNvSpPr txBox="1"/>
          <p:nvPr/>
        </p:nvSpPr>
        <p:spPr>
          <a:xfrm>
            <a:off x="8331200" y="5626100"/>
            <a:ext cx="965200" cy="169277"/>
          </a:xfrm>
          <a:prstGeom prst="rect">
            <a:avLst/>
          </a:prstGeom>
          <a:noFill/>
        </p:spPr>
        <p:txBody>
          <a:bodyPr vert="horz" wrap="square" lIns="0" tIns="0" rIns="0" bIns="0" rtlCol="0">
            <a:spAutoFit/>
          </a:bodyPr>
          <a:lstStyle/>
          <a:p>
            <a:pPr algn="r"/>
            <a:r>
              <a:rPr lang="en-US" sz="1100" b="1">
                <a:solidFill>
                  <a:srgbClr val="181F1B"/>
                </a:solidFill>
                <a:latin typeface="Aptos" panose="020B0004020202020204" pitchFamily="34" charset="0"/>
              </a:rPr>
              <a:t>7.15%</a:t>
            </a:r>
          </a:p>
        </p:txBody>
      </p:sp>
      <p:sp>
        <p:nvSpPr>
          <p:cNvPr id="49" name="TextBox 48">
            <a:extLst>
              <a:ext uri="{FF2B5EF4-FFF2-40B4-BE49-F238E27FC236}">
                <a16:creationId xmlns:a16="http://schemas.microsoft.com/office/drawing/2014/main" id="{CBBE3CE6-D19D-7315-39B6-F22F78D7C3F2}"/>
              </a:ext>
            </a:extLst>
          </p:cNvPr>
          <p:cNvSpPr txBox="1"/>
          <p:nvPr/>
        </p:nvSpPr>
        <p:spPr>
          <a:xfrm>
            <a:off x="9575800" y="5626100"/>
            <a:ext cx="1016000" cy="169277"/>
          </a:xfrm>
          <a:prstGeom prst="rect">
            <a:avLst/>
          </a:prstGeom>
          <a:noFill/>
        </p:spPr>
        <p:txBody>
          <a:bodyPr vert="horz" wrap="square" lIns="0" tIns="0" rIns="0" bIns="0" rtlCol="0">
            <a:spAutoFit/>
          </a:bodyPr>
          <a:lstStyle/>
          <a:p>
            <a:pPr algn="r"/>
            <a:r>
              <a:rPr lang="en-US" sz="1100" b="1">
                <a:solidFill>
                  <a:srgbClr val="007243"/>
                </a:solidFill>
                <a:latin typeface="Aptos" panose="020B0004020202020204" pitchFamily="34" charset="0"/>
              </a:rPr>
              <a:t>$0.38</a:t>
            </a:r>
          </a:p>
        </p:txBody>
      </p:sp>
    </p:spTree>
    <p:extLst>
      <p:ext uri="{BB962C8B-B14F-4D97-AF65-F5344CB8AC3E}">
        <p14:creationId xmlns:p14="http://schemas.microsoft.com/office/powerpoint/2010/main" val="401483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AB210C-CBC1-BE80-7E06-FE2F4E52757B}"/>
              </a:ext>
            </a:extLst>
          </p:cNvPr>
          <p:cNvSpPr/>
          <p:nvPr/>
        </p:nvSpPr>
        <p:spPr>
          <a:xfrm>
            <a:off x="0" y="0"/>
            <a:ext cx="12192000" cy="101600"/>
          </a:xfrm>
          <a:prstGeom prst="rect">
            <a:avLst/>
          </a:prstGeom>
          <a:solidFill>
            <a:srgbClr val="007243"/>
          </a:solidFill>
          <a:ln w="12700" cap="flat" cmpd="sng" algn="ctr">
            <a:noFill/>
            <a:prstDash val="solid"/>
            <a:miter lim="800000"/>
          </a:ln>
          <a:effectLst/>
          <a:extLst>
            <a:ext uri="{91240B29-F687-4F45-9708-019B960494DF}">
              <a14:hiddenLine xmlns:a14="http://schemas.microsoft.com/office/drawing/2010/main" w="12700" cap="flat" cmpd="sng" algn="ctr">
                <a:solidFill>
                  <a:srgbClr val="007243"/>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B77E2F4-92DE-77A1-54FD-E7629BFFFD40}"/>
              </a:ext>
            </a:extLst>
          </p:cNvPr>
          <p:cNvSpPr txBox="1"/>
          <p:nvPr/>
        </p:nvSpPr>
        <p:spPr>
          <a:xfrm>
            <a:off x="685800" y="304800"/>
            <a:ext cx="4318000" cy="153888"/>
          </a:xfrm>
          <a:prstGeom prst="rect">
            <a:avLst/>
          </a:prstGeom>
          <a:noFill/>
        </p:spPr>
        <p:txBody>
          <a:bodyPr vert="horz" wrap="square" lIns="0" tIns="0" rIns="0" bIns="0" rtlCol="0">
            <a:spAutoFit/>
          </a:bodyPr>
          <a:lstStyle/>
          <a:p>
            <a:r>
              <a:rPr lang="en-US" sz="1000" b="1">
                <a:solidFill>
                  <a:srgbClr val="007243"/>
                </a:solidFill>
                <a:latin typeface="Aptos" panose="020B0004020202020204" pitchFamily="34" charset="0"/>
              </a:rPr>
              <a:t>REPLENISH  |  7 ELEVEN</a:t>
            </a:r>
          </a:p>
        </p:txBody>
      </p:sp>
      <p:sp>
        <p:nvSpPr>
          <p:cNvPr id="4" name="TextBox 3">
            <a:extLst>
              <a:ext uri="{FF2B5EF4-FFF2-40B4-BE49-F238E27FC236}">
                <a16:creationId xmlns:a16="http://schemas.microsoft.com/office/drawing/2014/main" id="{30081868-687A-BD95-9A77-1898EC58B121}"/>
              </a:ext>
            </a:extLst>
          </p:cNvPr>
          <p:cNvSpPr txBox="1"/>
          <p:nvPr/>
        </p:nvSpPr>
        <p:spPr>
          <a:xfrm>
            <a:off x="685800" y="622300"/>
            <a:ext cx="8128000" cy="384721"/>
          </a:xfrm>
          <a:prstGeom prst="rect">
            <a:avLst/>
          </a:prstGeom>
          <a:noFill/>
        </p:spPr>
        <p:txBody>
          <a:bodyPr vert="horz" wrap="square" lIns="0" tIns="0" rIns="0" bIns="0" rtlCol="0">
            <a:spAutoFit/>
          </a:bodyPr>
          <a:lstStyle/>
          <a:p>
            <a:r>
              <a:rPr lang="en-US" sz="2500" b="1">
                <a:solidFill>
                  <a:srgbClr val="181F1B"/>
                </a:solidFill>
                <a:latin typeface="Aptos" panose="020B0004020202020204" pitchFamily="34" charset="0"/>
              </a:rPr>
              <a:t>What we are doing next</a:t>
            </a:r>
          </a:p>
        </p:txBody>
      </p:sp>
      <p:sp>
        <p:nvSpPr>
          <p:cNvPr id="5" name="TextBox 4">
            <a:extLst>
              <a:ext uri="{FF2B5EF4-FFF2-40B4-BE49-F238E27FC236}">
                <a16:creationId xmlns:a16="http://schemas.microsoft.com/office/drawing/2014/main" id="{52A9D110-FFFB-5E79-914E-11E1CAD0292F}"/>
              </a:ext>
            </a:extLst>
          </p:cNvPr>
          <p:cNvSpPr txBox="1"/>
          <p:nvPr/>
        </p:nvSpPr>
        <p:spPr>
          <a:xfrm>
            <a:off x="8890000" y="368300"/>
            <a:ext cx="2616200" cy="138499"/>
          </a:xfrm>
          <a:prstGeom prst="rect">
            <a:avLst/>
          </a:prstGeom>
          <a:noFill/>
        </p:spPr>
        <p:txBody>
          <a:bodyPr vert="horz" wrap="square" lIns="0" tIns="0" rIns="0" bIns="0" rtlCol="0">
            <a:spAutoFit/>
          </a:bodyPr>
          <a:lstStyle/>
          <a:p>
            <a:pPr algn="r"/>
            <a:r>
              <a:rPr lang="en-US" sz="900" b="1">
                <a:solidFill>
                  <a:srgbClr val="5B6760"/>
                </a:solidFill>
                <a:latin typeface="Aptos" panose="020B0004020202020204" pitchFamily="34" charset="0"/>
              </a:rPr>
              <a:t>JULY 20 TO JULY 26, 2026</a:t>
            </a:r>
          </a:p>
        </p:txBody>
      </p:sp>
      <p:sp>
        <p:nvSpPr>
          <p:cNvPr id="6" name="Rectangle 5">
            <a:extLst>
              <a:ext uri="{FF2B5EF4-FFF2-40B4-BE49-F238E27FC236}">
                <a16:creationId xmlns:a16="http://schemas.microsoft.com/office/drawing/2014/main" id="{C173008E-E6E2-356C-6059-31C1697F767B}"/>
              </a:ext>
            </a:extLst>
          </p:cNvPr>
          <p:cNvSpPr/>
          <p:nvPr/>
        </p:nvSpPr>
        <p:spPr>
          <a:xfrm>
            <a:off x="685800" y="6362700"/>
            <a:ext cx="10820400" cy="12700"/>
          </a:xfrm>
          <a:prstGeom prst="rect">
            <a:avLst/>
          </a:prstGeom>
          <a:solidFill>
            <a:srgbClr val="DCDFDA"/>
          </a:solidFill>
          <a:ln w="12700" cap="flat" cmpd="sng" algn="ctr">
            <a:noFill/>
            <a:prstDash val="solid"/>
            <a:miter lim="800000"/>
          </a:ln>
          <a:effectLst/>
          <a:extLst>
            <a:ext uri="{91240B29-F687-4F45-9708-019B960494DF}">
              <a14:hiddenLine xmlns:a14="http://schemas.microsoft.com/office/drawing/2010/main" w="12700" cap="flat" cmpd="sng" algn="ctr">
                <a:solidFill>
                  <a:srgbClr val="DCDFDA"/>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1507A5D-FE3B-CC94-A9D9-564494B381CD}"/>
              </a:ext>
            </a:extLst>
          </p:cNvPr>
          <p:cNvSpPr txBox="1"/>
          <p:nvPr/>
        </p:nvSpPr>
        <p:spPr>
          <a:xfrm>
            <a:off x="685800" y="6502400"/>
            <a:ext cx="8128000" cy="130805"/>
          </a:xfrm>
          <a:prstGeom prst="rect">
            <a:avLst/>
          </a:prstGeom>
          <a:noFill/>
        </p:spPr>
        <p:txBody>
          <a:bodyPr vert="horz" wrap="square" lIns="0" tIns="0" rIns="0" bIns="0" rtlCol="0">
            <a:spAutoFit/>
          </a:bodyPr>
          <a:lstStyle/>
          <a:p>
            <a:r>
              <a:rPr lang="en-US" sz="850">
                <a:solidFill>
                  <a:srgbClr val="5B6760"/>
                </a:solidFill>
                <a:latin typeface="Aptos" panose="020B0004020202020204" pitchFamily="34" charset="0"/>
              </a:rPr>
              <a:t>Verified platform reporting  |  Reporting prepared July 27, 2026</a:t>
            </a:r>
          </a:p>
        </p:txBody>
      </p:sp>
      <p:sp>
        <p:nvSpPr>
          <p:cNvPr id="8" name="TextBox 7">
            <a:extLst>
              <a:ext uri="{FF2B5EF4-FFF2-40B4-BE49-F238E27FC236}">
                <a16:creationId xmlns:a16="http://schemas.microsoft.com/office/drawing/2014/main" id="{CE7FFD3A-4EB0-3A2D-13E9-C1E2CD65598E}"/>
              </a:ext>
            </a:extLst>
          </p:cNvPr>
          <p:cNvSpPr txBox="1"/>
          <p:nvPr/>
        </p:nvSpPr>
        <p:spPr>
          <a:xfrm>
            <a:off x="11176000" y="6477000"/>
            <a:ext cx="330200" cy="130805"/>
          </a:xfrm>
          <a:prstGeom prst="rect">
            <a:avLst/>
          </a:prstGeom>
          <a:noFill/>
        </p:spPr>
        <p:txBody>
          <a:bodyPr vert="horz" wrap="square" lIns="0" tIns="0" rIns="0" bIns="0" rtlCol="0">
            <a:spAutoFit/>
          </a:bodyPr>
          <a:lstStyle/>
          <a:p>
            <a:pPr algn="r"/>
            <a:r>
              <a:rPr lang="en-US" sz="850" b="1">
                <a:solidFill>
                  <a:srgbClr val="5B6760"/>
                </a:solidFill>
                <a:latin typeface="Aptos" panose="020B0004020202020204" pitchFamily="34" charset="0"/>
              </a:rPr>
              <a:t>6</a:t>
            </a:r>
          </a:p>
        </p:txBody>
      </p:sp>
      <p:sp>
        <p:nvSpPr>
          <p:cNvPr id="9" name="TextBox 8">
            <a:extLst>
              <a:ext uri="{FF2B5EF4-FFF2-40B4-BE49-F238E27FC236}">
                <a16:creationId xmlns:a16="http://schemas.microsoft.com/office/drawing/2014/main" id="{EB09C8B2-9DED-C8DE-77F1-85B0ECCED348}"/>
              </a:ext>
            </a:extLst>
          </p:cNvPr>
          <p:cNvSpPr txBox="1"/>
          <p:nvPr/>
        </p:nvSpPr>
        <p:spPr>
          <a:xfrm>
            <a:off x="685800" y="1206500"/>
            <a:ext cx="9982200" cy="430887"/>
          </a:xfrm>
          <a:prstGeom prst="rect">
            <a:avLst/>
          </a:prstGeom>
          <a:noFill/>
        </p:spPr>
        <p:txBody>
          <a:bodyPr vert="horz" wrap="square" lIns="0" tIns="0" rIns="0" bIns="0" rtlCol="0">
            <a:spAutoFit/>
          </a:bodyPr>
          <a:lstStyle/>
          <a:p>
            <a:r>
              <a:rPr lang="en-US" sz="1400">
                <a:solidFill>
                  <a:srgbClr val="5B6760"/>
                </a:solidFill>
                <a:latin typeface="Aptos" panose="020B0004020202020204" pitchFamily="34" charset="0"/>
              </a:rPr>
              <a:t>All four San Diego locations are buying traffic efficiently. The next week should build on the strongest local engagement signals and keep the reporting focused on these markets.</a:t>
            </a:r>
          </a:p>
        </p:txBody>
      </p:sp>
      <p:sp>
        <p:nvSpPr>
          <p:cNvPr id="10" name="TextBox 9">
            <a:extLst>
              <a:ext uri="{FF2B5EF4-FFF2-40B4-BE49-F238E27FC236}">
                <a16:creationId xmlns:a16="http://schemas.microsoft.com/office/drawing/2014/main" id="{06426CD8-E753-6D15-F646-B8F5AFB086A8}"/>
              </a:ext>
            </a:extLst>
          </p:cNvPr>
          <p:cNvSpPr txBox="1"/>
          <p:nvPr/>
        </p:nvSpPr>
        <p:spPr>
          <a:xfrm>
            <a:off x="685800" y="2133600"/>
            <a:ext cx="698500" cy="338554"/>
          </a:xfrm>
          <a:prstGeom prst="rect">
            <a:avLst/>
          </a:prstGeom>
          <a:noFill/>
        </p:spPr>
        <p:txBody>
          <a:bodyPr vert="horz" wrap="square" lIns="0" tIns="0" rIns="0" bIns="0" rtlCol="0">
            <a:spAutoFit/>
          </a:bodyPr>
          <a:lstStyle/>
          <a:p>
            <a:r>
              <a:rPr lang="en-US" sz="2200" b="1">
                <a:solidFill>
                  <a:srgbClr val="F47A20"/>
                </a:solidFill>
                <a:latin typeface="Aptos" panose="020B0004020202020204" pitchFamily="34" charset="0"/>
              </a:rPr>
              <a:t>01</a:t>
            </a:r>
          </a:p>
        </p:txBody>
      </p:sp>
      <p:sp>
        <p:nvSpPr>
          <p:cNvPr id="11" name="TextBox 10">
            <a:extLst>
              <a:ext uri="{FF2B5EF4-FFF2-40B4-BE49-F238E27FC236}">
                <a16:creationId xmlns:a16="http://schemas.microsoft.com/office/drawing/2014/main" id="{59FC0F75-1D56-3035-0AAC-7E07AF880A9D}"/>
              </a:ext>
            </a:extLst>
          </p:cNvPr>
          <p:cNvSpPr txBox="1"/>
          <p:nvPr/>
        </p:nvSpPr>
        <p:spPr>
          <a:xfrm>
            <a:off x="1625600" y="2133600"/>
            <a:ext cx="4191000" cy="261610"/>
          </a:xfrm>
          <a:prstGeom prst="rect">
            <a:avLst/>
          </a:prstGeom>
          <a:noFill/>
        </p:spPr>
        <p:txBody>
          <a:bodyPr vert="horz" wrap="square" lIns="0" tIns="0" rIns="0" bIns="0" rtlCol="0">
            <a:spAutoFit/>
          </a:bodyPr>
          <a:lstStyle/>
          <a:p>
            <a:r>
              <a:rPr lang="en-US" sz="1700" b="1">
                <a:solidFill>
                  <a:srgbClr val="181F1B"/>
                </a:solidFill>
                <a:latin typeface="Aptos" panose="020B0004020202020204" pitchFamily="34" charset="0"/>
              </a:rPr>
              <a:t>Build on Torrey Del Mar volume</a:t>
            </a:r>
          </a:p>
        </p:txBody>
      </p:sp>
      <p:sp>
        <p:nvSpPr>
          <p:cNvPr id="12" name="TextBox 11">
            <a:extLst>
              <a:ext uri="{FF2B5EF4-FFF2-40B4-BE49-F238E27FC236}">
                <a16:creationId xmlns:a16="http://schemas.microsoft.com/office/drawing/2014/main" id="{7FD931A9-91DA-7E99-2FF5-AEF59A881616}"/>
              </a:ext>
            </a:extLst>
          </p:cNvPr>
          <p:cNvSpPr txBox="1"/>
          <p:nvPr/>
        </p:nvSpPr>
        <p:spPr>
          <a:xfrm>
            <a:off x="1625600" y="2527300"/>
            <a:ext cx="54610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Torrey Del Mar produced 107 clicks at a thirty two cent cost per click while maintaining an 8.80% click through rate.</a:t>
            </a:r>
          </a:p>
        </p:txBody>
      </p:sp>
      <p:sp>
        <p:nvSpPr>
          <p:cNvPr id="13" name="TextBox 12">
            <a:extLst>
              <a:ext uri="{FF2B5EF4-FFF2-40B4-BE49-F238E27FC236}">
                <a16:creationId xmlns:a16="http://schemas.microsoft.com/office/drawing/2014/main" id="{8272C25F-60FA-908E-D422-C9D04AB5FDBE}"/>
              </a:ext>
            </a:extLst>
          </p:cNvPr>
          <p:cNvSpPr txBox="1"/>
          <p:nvPr/>
        </p:nvSpPr>
        <p:spPr>
          <a:xfrm>
            <a:off x="685800" y="3314700"/>
            <a:ext cx="698500" cy="338554"/>
          </a:xfrm>
          <a:prstGeom prst="rect">
            <a:avLst/>
          </a:prstGeom>
          <a:noFill/>
        </p:spPr>
        <p:txBody>
          <a:bodyPr vert="horz" wrap="square" lIns="0" tIns="0" rIns="0" bIns="0" rtlCol="0">
            <a:spAutoFit/>
          </a:bodyPr>
          <a:lstStyle/>
          <a:p>
            <a:r>
              <a:rPr lang="en-US" sz="2200" b="1">
                <a:solidFill>
                  <a:srgbClr val="F47A20"/>
                </a:solidFill>
                <a:latin typeface="Aptos" panose="020B0004020202020204" pitchFamily="34" charset="0"/>
              </a:rPr>
              <a:t>02</a:t>
            </a:r>
          </a:p>
        </p:txBody>
      </p:sp>
      <p:sp>
        <p:nvSpPr>
          <p:cNvPr id="14" name="TextBox 13">
            <a:extLst>
              <a:ext uri="{FF2B5EF4-FFF2-40B4-BE49-F238E27FC236}">
                <a16:creationId xmlns:a16="http://schemas.microsoft.com/office/drawing/2014/main" id="{64353888-2871-A622-DD41-4544FD3B7FD8}"/>
              </a:ext>
            </a:extLst>
          </p:cNvPr>
          <p:cNvSpPr txBox="1"/>
          <p:nvPr/>
        </p:nvSpPr>
        <p:spPr>
          <a:xfrm>
            <a:off x="1625600" y="3314700"/>
            <a:ext cx="4191000" cy="261610"/>
          </a:xfrm>
          <a:prstGeom prst="rect">
            <a:avLst/>
          </a:prstGeom>
          <a:noFill/>
        </p:spPr>
        <p:txBody>
          <a:bodyPr vert="horz" wrap="square" lIns="0" tIns="0" rIns="0" bIns="0" rtlCol="0">
            <a:spAutoFit/>
          </a:bodyPr>
          <a:lstStyle/>
          <a:p>
            <a:r>
              <a:rPr lang="en-US" sz="1700" b="1">
                <a:solidFill>
                  <a:srgbClr val="181F1B"/>
                </a:solidFill>
                <a:latin typeface="Aptos" panose="020B0004020202020204" pitchFamily="34" charset="0"/>
              </a:rPr>
              <a:t>Use Carmel Mountain engagement</a:t>
            </a:r>
          </a:p>
        </p:txBody>
      </p:sp>
      <p:sp>
        <p:nvSpPr>
          <p:cNvPr id="15" name="TextBox 14">
            <a:extLst>
              <a:ext uri="{FF2B5EF4-FFF2-40B4-BE49-F238E27FC236}">
                <a16:creationId xmlns:a16="http://schemas.microsoft.com/office/drawing/2014/main" id="{C135A0F6-7AD7-FDA9-35C0-FCF81CF264BC}"/>
              </a:ext>
            </a:extLst>
          </p:cNvPr>
          <p:cNvSpPr txBox="1"/>
          <p:nvPr/>
        </p:nvSpPr>
        <p:spPr>
          <a:xfrm>
            <a:off x="1625600" y="3708400"/>
            <a:ext cx="54610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Carmel Mountain delivered the strongest click through rate at 10.05%, with 42 clicks from 418 impressions.</a:t>
            </a:r>
          </a:p>
        </p:txBody>
      </p:sp>
      <p:sp>
        <p:nvSpPr>
          <p:cNvPr id="16" name="TextBox 15">
            <a:extLst>
              <a:ext uri="{FF2B5EF4-FFF2-40B4-BE49-F238E27FC236}">
                <a16:creationId xmlns:a16="http://schemas.microsoft.com/office/drawing/2014/main" id="{1B572909-47B9-2FDC-8BC0-1CE873C4F9A9}"/>
              </a:ext>
            </a:extLst>
          </p:cNvPr>
          <p:cNvSpPr txBox="1"/>
          <p:nvPr/>
        </p:nvSpPr>
        <p:spPr>
          <a:xfrm>
            <a:off x="685800" y="4495800"/>
            <a:ext cx="698500" cy="338554"/>
          </a:xfrm>
          <a:prstGeom prst="rect">
            <a:avLst/>
          </a:prstGeom>
          <a:noFill/>
        </p:spPr>
        <p:txBody>
          <a:bodyPr vert="horz" wrap="square" lIns="0" tIns="0" rIns="0" bIns="0" rtlCol="0">
            <a:spAutoFit/>
          </a:bodyPr>
          <a:lstStyle/>
          <a:p>
            <a:r>
              <a:rPr lang="en-US" sz="2200" b="1">
                <a:solidFill>
                  <a:srgbClr val="F47A20"/>
                </a:solidFill>
                <a:latin typeface="Aptos" panose="020B0004020202020204" pitchFamily="34" charset="0"/>
              </a:rPr>
              <a:t>03</a:t>
            </a:r>
          </a:p>
        </p:txBody>
      </p:sp>
      <p:sp>
        <p:nvSpPr>
          <p:cNvPr id="17" name="TextBox 16">
            <a:extLst>
              <a:ext uri="{FF2B5EF4-FFF2-40B4-BE49-F238E27FC236}">
                <a16:creationId xmlns:a16="http://schemas.microsoft.com/office/drawing/2014/main" id="{F443CD86-6E1B-65C4-A262-7CB3544159E5}"/>
              </a:ext>
            </a:extLst>
          </p:cNvPr>
          <p:cNvSpPr txBox="1"/>
          <p:nvPr/>
        </p:nvSpPr>
        <p:spPr>
          <a:xfrm>
            <a:off x="1625600" y="4495800"/>
            <a:ext cx="4191000" cy="261610"/>
          </a:xfrm>
          <a:prstGeom prst="rect">
            <a:avLst/>
          </a:prstGeom>
          <a:noFill/>
        </p:spPr>
        <p:txBody>
          <a:bodyPr vert="horz" wrap="square" lIns="0" tIns="0" rIns="0" bIns="0" rtlCol="0">
            <a:spAutoFit/>
          </a:bodyPr>
          <a:lstStyle/>
          <a:p>
            <a:r>
              <a:rPr lang="en-US" sz="1700" b="1">
                <a:solidFill>
                  <a:srgbClr val="181F1B"/>
                </a:solidFill>
                <a:latin typeface="Aptos" panose="020B0004020202020204" pitchFamily="34" charset="0"/>
              </a:rPr>
              <a:t>Keep all four locations visible</a:t>
            </a:r>
          </a:p>
        </p:txBody>
      </p:sp>
      <p:sp>
        <p:nvSpPr>
          <p:cNvPr id="18" name="TextBox 17">
            <a:extLst>
              <a:ext uri="{FF2B5EF4-FFF2-40B4-BE49-F238E27FC236}">
                <a16:creationId xmlns:a16="http://schemas.microsoft.com/office/drawing/2014/main" id="{0F06F34D-20A0-06AD-A410-6B5F0ED92E45}"/>
              </a:ext>
            </a:extLst>
          </p:cNvPr>
          <p:cNvSpPr txBox="1"/>
          <p:nvPr/>
        </p:nvSpPr>
        <p:spPr>
          <a:xfrm>
            <a:off x="1625600" y="4889500"/>
            <a:ext cx="5461000" cy="338554"/>
          </a:xfrm>
          <a:prstGeom prst="rect">
            <a:avLst/>
          </a:prstGeom>
          <a:noFill/>
        </p:spPr>
        <p:txBody>
          <a:bodyPr vert="horz" wrap="square" lIns="0" tIns="0" rIns="0" bIns="0" rtlCol="0">
            <a:spAutoFit/>
          </a:bodyPr>
          <a:lstStyle/>
          <a:p>
            <a:r>
              <a:rPr lang="en-US" sz="1100">
                <a:solidFill>
                  <a:srgbClr val="5B6760"/>
                </a:solidFill>
                <a:latin typeface="Aptos" panose="020B0004020202020204" pitchFamily="34" charset="0"/>
              </a:rPr>
              <a:t>Continue comparing Miramar and Solana Beach with the two leaders while connecting platform traffic with store level outcomes.</a:t>
            </a:r>
          </a:p>
        </p:txBody>
      </p:sp>
      <p:sp>
        <p:nvSpPr>
          <p:cNvPr id="19" name="Rectangle: Rounded Corners 18">
            <a:extLst>
              <a:ext uri="{FF2B5EF4-FFF2-40B4-BE49-F238E27FC236}">
                <a16:creationId xmlns:a16="http://schemas.microsoft.com/office/drawing/2014/main" id="{E1A78ED2-95CD-0F91-3CB8-F7D3D9F63F5F}"/>
              </a:ext>
            </a:extLst>
          </p:cNvPr>
          <p:cNvSpPr/>
          <p:nvPr/>
        </p:nvSpPr>
        <p:spPr>
          <a:xfrm>
            <a:off x="7924800" y="2082800"/>
            <a:ext cx="3581400" cy="3009900"/>
          </a:xfrm>
          <a:prstGeom prst="roundRect">
            <a:avLst/>
          </a:prstGeom>
          <a:solidFill>
            <a:srgbClr val="E2F0E8"/>
          </a:solidFill>
          <a:ln w="12700" cap="flat" cmpd="sng" algn="ctr">
            <a:noFill/>
            <a:prstDash val="solid"/>
            <a:miter lim="800000"/>
          </a:ln>
          <a:effectLst/>
          <a:extLst>
            <a:ext uri="{91240B29-F687-4F45-9708-019B960494DF}">
              <a14:hiddenLine xmlns:a14="http://schemas.microsoft.com/office/drawing/2010/main" w="12700" cap="flat" cmpd="sng" algn="ctr">
                <a:solidFill>
                  <a:srgbClr val="E2F0E8"/>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21E88F1-6D09-8C25-48D4-8BE864A35BB0}"/>
              </a:ext>
            </a:extLst>
          </p:cNvPr>
          <p:cNvSpPr txBox="1"/>
          <p:nvPr/>
        </p:nvSpPr>
        <p:spPr>
          <a:xfrm>
            <a:off x="8280400" y="2425700"/>
            <a:ext cx="2870200" cy="200055"/>
          </a:xfrm>
          <a:prstGeom prst="rect">
            <a:avLst/>
          </a:prstGeom>
          <a:noFill/>
        </p:spPr>
        <p:txBody>
          <a:bodyPr vert="horz" wrap="square" lIns="0" tIns="0" rIns="0" bIns="0" rtlCol="0">
            <a:spAutoFit/>
          </a:bodyPr>
          <a:lstStyle/>
          <a:p>
            <a:r>
              <a:rPr lang="en-US" sz="1300" b="1">
                <a:solidFill>
                  <a:srgbClr val="004E30"/>
                </a:solidFill>
                <a:latin typeface="Aptos" panose="020B0004020202020204" pitchFamily="34" charset="0"/>
              </a:rPr>
              <a:t>Reporting note</a:t>
            </a:r>
          </a:p>
        </p:txBody>
      </p:sp>
      <p:sp>
        <p:nvSpPr>
          <p:cNvPr id="21" name="TextBox 20">
            <a:extLst>
              <a:ext uri="{FF2B5EF4-FFF2-40B4-BE49-F238E27FC236}">
                <a16:creationId xmlns:a16="http://schemas.microsoft.com/office/drawing/2014/main" id="{8EB60DA1-A92F-8516-157F-B214506A9BE9}"/>
              </a:ext>
            </a:extLst>
          </p:cNvPr>
          <p:cNvSpPr txBox="1"/>
          <p:nvPr/>
        </p:nvSpPr>
        <p:spPr>
          <a:xfrm>
            <a:off x="8280400" y="2908300"/>
            <a:ext cx="2844800" cy="1692771"/>
          </a:xfrm>
          <a:prstGeom prst="rect">
            <a:avLst/>
          </a:prstGeom>
          <a:noFill/>
        </p:spPr>
        <p:txBody>
          <a:bodyPr vert="horz" wrap="square" lIns="0" tIns="0" rIns="0" bIns="0" rtlCol="0">
            <a:spAutoFit/>
          </a:bodyPr>
          <a:lstStyle/>
          <a:p>
            <a:r>
              <a:rPr lang="en-US" sz="1100">
                <a:solidFill>
                  <a:srgbClr val="181F1B"/>
                </a:solidFill>
                <a:latin typeface="Aptos" panose="020B0004020202020204" pitchFamily="34" charset="0"/>
              </a:rPr>
              <a:t>Platform delivery and traffic metrics are verified for the four San Diego locations from July 20 through July 26. The industry comparison uses the 2026 WordStream Shopping, Collectibles, and Gifts search benchmark of $4.14 per click.</a:t>
            </a:r>
          </a:p>
          <a:p>
            <a:endParaRPr lang="en-US" sz="1100">
              <a:solidFill>
                <a:srgbClr val="181F1B"/>
              </a:solidFill>
              <a:latin typeface="Aptos" panose="020B0004020202020204" pitchFamily="34" charset="0"/>
            </a:endParaRPr>
          </a:p>
          <a:p>
            <a:r>
              <a:rPr lang="en-US" sz="1100">
                <a:solidFill>
                  <a:srgbClr val="181F1B"/>
                </a:solidFill>
                <a:latin typeface="Aptos" panose="020B0004020202020204" pitchFamily="34" charset="0"/>
              </a:rPr>
              <a:t>Because the campaigns use Performance Max inventory, the benchmark is directional. Store level outcomes can add context as they become available.</a:t>
            </a:r>
          </a:p>
        </p:txBody>
      </p:sp>
      <p:sp>
        <p:nvSpPr>
          <p:cNvPr id="22" name="TextBox 21">
            <a:hlinkClick r:id="rId2"/>
            <a:extLst>
              <a:ext uri="{FF2B5EF4-FFF2-40B4-BE49-F238E27FC236}">
                <a16:creationId xmlns:a16="http://schemas.microsoft.com/office/drawing/2014/main" id="{B7DCAEEA-B643-7A76-6860-55B00BD97048}"/>
              </a:ext>
            </a:extLst>
          </p:cNvPr>
          <p:cNvSpPr txBox="1"/>
          <p:nvPr/>
        </p:nvSpPr>
        <p:spPr>
          <a:xfrm>
            <a:off x="8280400" y="4749800"/>
            <a:ext cx="2844800" cy="169277"/>
          </a:xfrm>
          <a:prstGeom prst="rect">
            <a:avLst/>
          </a:prstGeom>
          <a:noFill/>
        </p:spPr>
        <p:txBody>
          <a:bodyPr vert="horz" wrap="square" lIns="0" tIns="0" rIns="0" bIns="0" rtlCol="0">
            <a:spAutoFit/>
          </a:bodyPr>
          <a:lstStyle/>
          <a:p>
            <a:r>
              <a:rPr lang="en-US" sz="1100" b="1">
                <a:solidFill>
                  <a:srgbClr val="007243"/>
                </a:solidFill>
                <a:latin typeface="Aptos" panose="020B0004020202020204" pitchFamily="34" charset="0"/>
              </a:rPr>
              <a:t>Open the live dashboard</a:t>
            </a:r>
          </a:p>
        </p:txBody>
      </p:sp>
    </p:spTree>
    <p:extLst>
      <p:ext uri="{BB962C8B-B14F-4D97-AF65-F5344CB8AC3E}">
        <p14:creationId xmlns:p14="http://schemas.microsoft.com/office/powerpoint/2010/main" val="3009209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Words>
  <Application>Microsoft Office PowerPoint</Application>
  <PresentationFormat>Custom</PresentationFormat>
  <Paragraphs>129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Dillon Mohr</dc:creator>
  <cp:lastModifiedBy>Dillon Mohr</cp:lastModifiedBy>
  <cp:revision>1</cp:revision>
  <dcterms:created xsi:type="dcterms:W3CDTF">2026-07-27T17:53:18Z</dcterms:created>
  <dcterms:modified xsi:type="dcterms:W3CDTF">2026-07-27T17:53:18Z</dcterms:modified>
</cp:coreProperties>
</file>