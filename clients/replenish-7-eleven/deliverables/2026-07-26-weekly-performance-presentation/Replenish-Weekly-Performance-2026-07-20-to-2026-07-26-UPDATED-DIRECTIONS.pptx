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97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9027-51AF-70F3-87C6-F240075542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BD4104-8D27-7D03-C13A-41ACBD1F7A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439BBF-41D5-0AE1-DE59-D8943A4377AD}"/>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7ACC420D-F0C9-6C3B-B459-E20744D34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C7129-B169-79E6-BF83-FAFDC6D427DB}"/>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90657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7ED76-81AA-0FB9-03D6-DB6B0D74C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21350C-7168-E115-57AE-D083A5E855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126D23-7E97-A24A-54E4-EA05F8A6DF81}"/>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BD0D477D-7E36-2C54-2325-7ACFE885BB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87AF7-A70A-951A-09AA-FEC866B072AC}"/>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7119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C4DD4-92AD-7BAD-E88D-2CC575E3D8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D2518D-5EFD-014D-8FA3-338044C66A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DAF073-D047-2737-DDBA-EF097E66F0EE}"/>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7EBFA885-4EC0-E6E7-B046-DD0B8850FF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4A20D-62BC-4307-C371-EC85DB8561DB}"/>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85251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94F9-8DE9-F975-804A-D8F0161D33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DFCE48-AB58-70DF-46CB-5412A0CE0A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656918-7DA9-184B-9A97-6C3B8274EB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984B30-2A4E-FF2F-B84C-93296B97DB11}"/>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6" name="Footer Placeholder 5">
            <a:extLst>
              <a:ext uri="{FF2B5EF4-FFF2-40B4-BE49-F238E27FC236}">
                <a16:creationId xmlns:a16="http://schemas.microsoft.com/office/drawing/2014/main" id="{89FDC8B9-C337-501C-1B7E-E6ECDCE8BD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0A0292-CBA7-1938-318C-B7C646906DFC}"/>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929506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E166-124D-5B57-CD5C-1D3C32DE45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0AB6E2-DA8F-2E87-C042-9B7FD93132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63DE7A-D6D8-9800-5EC5-FA152F578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9DAEF-166F-0729-B0E4-ACCEBFEDAE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AD927C-504F-F062-5814-8AC0A4F2D0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8F56A6-AA9C-87FF-2433-1DE1CCE0B917}"/>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8" name="Footer Placeholder 7">
            <a:extLst>
              <a:ext uri="{FF2B5EF4-FFF2-40B4-BE49-F238E27FC236}">
                <a16:creationId xmlns:a16="http://schemas.microsoft.com/office/drawing/2014/main" id="{2B5C3CCB-1FFE-CFAC-5B5C-D85C0A7BAF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19B233-B5A4-2523-4C97-63775D094265}"/>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288500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4B0FD-F462-A80D-503F-5E6DC4791B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90DC66-BD53-FF72-CD1E-5178F8FD56F7}"/>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4" name="Footer Placeholder 3">
            <a:extLst>
              <a:ext uri="{FF2B5EF4-FFF2-40B4-BE49-F238E27FC236}">
                <a16:creationId xmlns:a16="http://schemas.microsoft.com/office/drawing/2014/main" id="{E8CD1583-15E8-1297-9697-0861410D1A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39E44C-8509-FDAB-C92B-7C5C40C79D73}"/>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317870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5ED73F-9FEF-A0FF-ACAF-C905B40DFA6F}"/>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3" name="Footer Placeholder 2">
            <a:extLst>
              <a:ext uri="{FF2B5EF4-FFF2-40B4-BE49-F238E27FC236}">
                <a16:creationId xmlns:a16="http://schemas.microsoft.com/office/drawing/2014/main" id="{34DEF518-A4CA-6CBF-CDD2-FAB00498F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D5D055-36E8-52F3-3A91-7D3FE65D5CFA}"/>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1196699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9F87-6E9D-CA9D-258C-81617C04E0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030F22-9EE3-CC24-8E18-6AECA3128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FC6930-FD92-20D5-9BEF-2303A4A351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263C8F-9679-78D9-859F-26BEDE09D846}"/>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6" name="Footer Placeholder 5">
            <a:extLst>
              <a:ext uri="{FF2B5EF4-FFF2-40B4-BE49-F238E27FC236}">
                <a16:creationId xmlns:a16="http://schemas.microsoft.com/office/drawing/2014/main" id="{21DC57A9-4E74-01E5-06B8-25DD6CB1DF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924B82-95E1-6770-FCD1-774C05810468}"/>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680300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DF28-725C-D881-3442-040DD1434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35DB6E-FABE-CF1E-B772-6DFBCA3305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1E825B-BE19-37AB-0D15-382756429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3DA49A-CEB9-1C58-7387-0A889567FD30}"/>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6" name="Footer Placeholder 5">
            <a:extLst>
              <a:ext uri="{FF2B5EF4-FFF2-40B4-BE49-F238E27FC236}">
                <a16:creationId xmlns:a16="http://schemas.microsoft.com/office/drawing/2014/main" id="{EF0B824F-0BE4-1F73-274B-8F2878052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D9DC7C-5A48-E39C-A493-C2DCEBDB6F89}"/>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369972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F041-9A70-C030-ADE0-1CD72F1037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750804-A843-6165-C8E8-E204FFAAF0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04FE8-6001-6A0D-AD9A-55B34B5C497B}"/>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D80AE1A7-4EDD-E3C3-E217-F3851EBA3F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8831D-9E6E-2918-B5BE-42E20C823215}"/>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973597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52BB3F-7B48-2DE6-E2A7-0E25CE5FB8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D72E1F-2128-E98D-04CD-8710A65539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AEE3F-3D03-6A20-A73A-9F616456EA76}"/>
              </a:ext>
            </a:extLst>
          </p:cNvPr>
          <p:cNvSpPr>
            <a:spLocks noGrp="1"/>
          </p:cNvSpPr>
          <p:nvPr>
            <p:ph type="dt" sz="half" idx="10"/>
          </p:nvPr>
        </p:nvSpPr>
        <p:spPr/>
        <p:txBody>
          <a:body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A603F2ED-15BE-3B5A-37D6-26DA18F6A6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E7E74-B78B-7367-C917-64BA17212F61}"/>
              </a:ext>
            </a:extLst>
          </p:cNvPr>
          <p:cNvSpPr>
            <a:spLocks noGrp="1"/>
          </p:cNvSpPr>
          <p:nvPr>
            <p:ph type="sldNum" sz="quarter" idx="12"/>
          </p:nvPr>
        </p:nvSpPr>
        <p:spPr/>
        <p:txBody>
          <a:bodyPr/>
          <a:lstStyle/>
          <a:p>
            <a:fld id="{14FC062A-F2C3-4DDF-97D5-A2859AA2BDFE}" type="slidenum">
              <a:rPr lang="en-US" smtClean="0"/>
              <a:t>‹#›</a:t>
            </a:fld>
            <a:endParaRPr lang="en-US"/>
          </a:p>
        </p:txBody>
      </p:sp>
    </p:spTree>
    <p:extLst>
      <p:ext uri="{BB962C8B-B14F-4D97-AF65-F5344CB8AC3E}">
        <p14:creationId xmlns:p14="http://schemas.microsoft.com/office/powerpoint/2010/main" val="240510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2EEFC-7AF4-B59B-4135-2E4AD0301B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55B0D-8CE5-4483-0943-F4E4269F1D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FDC7D-58C2-9F30-3EDA-6B10AD9AF2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3366A-5046-4A9A-B449-449C59434E66}" type="datetimeFigureOut">
              <a:rPr lang="en-US" smtClean="0"/>
              <a:t>7/27/2026</a:t>
            </a:fld>
            <a:endParaRPr lang="en-US"/>
          </a:p>
        </p:txBody>
      </p:sp>
      <p:sp>
        <p:nvSpPr>
          <p:cNvPr id="5" name="Footer Placeholder 4">
            <a:extLst>
              <a:ext uri="{FF2B5EF4-FFF2-40B4-BE49-F238E27FC236}">
                <a16:creationId xmlns:a16="http://schemas.microsoft.com/office/drawing/2014/main" id="{5F0B0F49-77DA-33B5-C27B-C54FEB5E9C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F8790B-79A4-2692-1E12-78A03EE7AC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FC062A-F2C3-4DDF-97D5-A2859AA2BDFE}" type="slidenum">
              <a:rPr lang="en-US" smtClean="0"/>
              <a:t>‹#›</a:t>
            </a:fld>
            <a:endParaRPr lang="en-US"/>
          </a:p>
        </p:txBody>
      </p:sp>
    </p:spTree>
    <p:extLst>
      <p:ext uri="{BB962C8B-B14F-4D97-AF65-F5344CB8AC3E}">
        <p14:creationId xmlns:p14="http://schemas.microsoft.com/office/powerpoint/2010/main" val="2012842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plenish-2026-06-06.netlify.app/"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replenish-2026-06-06.netlify.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CD6454-D554-5999-7F68-669944097E09}"/>
              </a:ext>
            </a:extLst>
          </p:cNvPr>
          <p:cNvSpPr/>
          <p:nvPr/>
        </p:nvSpPr>
        <p:spPr>
          <a:xfrm>
            <a:off x="0" y="0"/>
            <a:ext cx="304800" cy="68580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6800476-EFED-B135-D9FE-FBC33EFC7EE5}"/>
              </a:ext>
            </a:extLst>
          </p:cNvPr>
          <p:cNvSpPr/>
          <p:nvPr/>
        </p:nvSpPr>
        <p:spPr>
          <a:xfrm>
            <a:off x="304800" y="0"/>
            <a:ext cx="11887200" cy="1270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164BB46-017A-FEC3-ADA4-9F120AE8CBC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9271000" y="698500"/>
            <a:ext cx="1498600" cy="1498600"/>
          </a:xfrm>
          <a:prstGeom prst="rect">
            <a:avLst/>
          </a:prstGeom>
        </p:spPr>
      </p:pic>
      <p:sp>
        <p:nvSpPr>
          <p:cNvPr id="6" name="TextBox 5">
            <a:extLst>
              <a:ext uri="{FF2B5EF4-FFF2-40B4-BE49-F238E27FC236}">
                <a16:creationId xmlns:a16="http://schemas.microsoft.com/office/drawing/2014/main" id="{3A1ADCC9-865D-CE0A-BD2D-867D408C1F5A}"/>
              </a:ext>
            </a:extLst>
          </p:cNvPr>
          <p:cNvSpPr txBox="1"/>
          <p:nvPr/>
        </p:nvSpPr>
        <p:spPr>
          <a:xfrm>
            <a:off x="914400" y="1028700"/>
            <a:ext cx="53340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WEEKLY PERFORMANCE</a:t>
            </a:r>
          </a:p>
        </p:txBody>
      </p:sp>
      <p:sp>
        <p:nvSpPr>
          <p:cNvPr id="7" name="TextBox 6">
            <a:extLst>
              <a:ext uri="{FF2B5EF4-FFF2-40B4-BE49-F238E27FC236}">
                <a16:creationId xmlns:a16="http://schemas.microsoft.com/office/drawing/2014/main" id="{5CB54DEC-C987-128B-62E5-9E966008F5A5}"/>
              </a:ext>
            </a:extLst>
          </p:cNvPr>
          <p:cNvSpPr txBox="1"/>
          <p:nvPr/>
        </p:nvSpPr>
        <p:spPr>
          <a:xfrm>
            <a:off x="914400" y="1600200"/>
            <a:ext cx="8128000" cy="1169551"/>
          </a:xfrm>
          <a:prstGeom prst="rect">
            <a:avLst/>
          </a:prstGeom>
          <a:noFill/>
        </p:spPr>
        <p:txBody>
          <a:bodyPr vert="horz" wrap="square" lIns="0" tIns="0" rIns="0" bIns="0" rtlCol="0">
            <a:spAutoFit/>
          </a:bodyPr>
          <a:lstStyle/>
          <a:p>
            <a:r>
              <a:rPr lang="en-US" sz="3800" b="1">
                <a:solidFill>
                  <a:srgbClr val="181F1B"/>
                </a:solidFill>
                <a:latin typeface="Aptos" panose="020B0004020202020204" pitchFamily="34" charset="0"/>
              </a:rPr>
              <a:t>Replenish campaign
performance report</a:t>
            </a:r>
          </a:p>
        </p:txBody>
      </p:sp>
      <p:sp>
        <p:nvSpPr>
          <p:cNvPr id="8" name="TextBox 7">
            <a:extLst>
              <a:ext uri="{FF2B5EF4-FFF2-40B4-BE49-F238E27FC236}">
                <a16:creationId xmlns:a16="http://schemas.microsoft.com/office/drawing/2014/main" id="{1DFD6ED2-6E08-40AE-30E9-A52945A34AD5}"/>
              </a:ext>
            </a:extLst>
          </p:cNvPr>
          <p:cNvSpPr txBox="1"/>
          <p:nvPr/>
        </p:nvSpPr>
        <p:spPr>
          <a:xfrm>
            <a:off x="914400" y="3505200"/>
            <a:ext cx="7366000" cy="523220"/>
          </a:xfrm>
          <a:prstGeom prst="rect">
            <a:avLst/>
          </a:prstGeom>
          <a:noFill/>
        </p:spPr>
        <p:txBody>
          <a:bodyPr vert="horz" wrap="square" lIns="0" tIns="0" rIns="0" bIns="0" rtlCol="0">
            <a:spAutoFit/>
          </a:bodyPr>
          <a:lstStyle/>
          <a:p>
            <a:r>
              <a:rPr lang="en-US" sz="1700">
                <a:solidFill>
                  <a:srgbClr val="5B6760"/>
                </a:solidFill>
                <a:latin typeface="Aptos" panose="020B0004020202020204" pitchFamily="34" charset="0"/>
              </a:rPr>
              <a:t>A clear view of weekly spend, traffic efficiency, and cost per click across four San Diego locations.</a:t>
            </a:r>
          </a:p>
        </p:txBody>
      </p:sp>
      <p:sp>
        <p:nvSpPr>
          <p:cNvPr id="9" name="Rectangle 8">
            <a:extLst>
              <a:ext uri="{FF2B5EF4-FFF2-40B4-BE49-F238E27FC236}">
                <a16:creationId xmlns:a16="http://schemas.microsoft.com/office/drawing/2014/main" id="{7089462A-54DD-6894-D6AF-B90FE89FAFE7}"/>
              </a:ext>
            </a:extLst>
          </p:cNvPr>
          <p:cNvSpPr/>
          <p:nvPr/>
        </p:nvSpPr>
        <p:spPr>
          <a:xfrm>
            <a:off x="914400" y="4648200"/>
            <a:ext cx="96520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D27F125-F541-9FD5-EC21-A78351F757C8}"/>
              </a:ext>
            </a:extLst>
          </p:cNvPr>
          <p:cNvSpPr txBox="1"/>
          <p:nvPr/>
        </p:nvSpPr>
        <p:spPr>
          <a:xfrm>
            <a:off x="914400" y="4953000"/>
            <a:ext cx="2032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REPORTING PERIOD</a:t>
            </a:r>
          </a:p>
        </p:txBody>
      </p:sp>
      <p:sp>
        <p:nvSpPr>
          <p:cNvPr id="11" name="TextBox 10">
            <a:extLst>
              <a:ext uri="{FF2B5EF4-FFF2-40B4-BE49-F238E27FC236}">
                <a16:creationId xmlns:a16="http://schemas.microsoft.com/office/drawing/2014/main" id="{C98A7BB5-B6CA-2603-BCC1-9F818D7EAD76}"/>
              </a:ext>
            </a:extLst>
          </p:cNvPr>
          <p:cNvSpPr txBox="1"/>
          <p:nvPr/>
        </p:nvSpPr>
        <p:spPr>
          <a:xfrm>
            <a:off x="914400" y="5219700"/>
            <a:ext cx="3810000" cy="276999"/>
          </a:xfrm>
          <a:prstGeom prst="rect">
            <a:avLst/>
          </a:prstGeom>
          <a:noFill/>
        </p:spPr>
        <p:txBody>
          <a:bodyPr vert="horz" wrap="square" lIns="0" tIns="0" rIns="0" bIns="0" rtlCol="0">
            <a:spAutoFit/>
          </a:bodyPr>
          <a:lstStyle/>
          <a:p>
            <a:r>
              <a:rPr lang="en-US" b="1">
                <a:solidFill>
                  <a:srgbClr val="181F1B"/>
                </a:solidFill>
                <a:latin typeface="Aptos" panose="020B0004020202020204" pitchFamily="34" charset="0"/>
              </a:rPr>
              <a:t>July 20 to July 26, 2026</a:t>
            </a:r>
          </a:p>
        </p:txBody>
      </p:sp>
      <p:sp>
        <p:nvSpPr>
          <p:cNvPr id="12" name="TextBox 11">
            <a:extLst>
              <a:ext uri="{FF2B5EF4-FFF2-40B4-BE49-F238E27FC236}">
                <a16:creationId xmlns:a16="http://schemas.microsoft.com/office/drawing/2014/main" id="{AEDDC54F-262F-CB2B-CE06-2569BBFC0198}"/>
              </a:ext>
            </a:extLst>
          </p:cNvPr>
          <p:cNvSpPr txBox="1"/>
          <p:nvPr/>
        </p:nvSpPr>
        <p:spPr>
          <a:xfrm>
            <a:off x="914400" y="5727700"/>
            <a:ext cx="3810000" cy="153888"/>
          </a:xfrm>
          <a:prstGeom prst="rect">
            <a:avLst/>
          </a:prstGeom>
          <a:noFill/>
        </p:spPr>
        <p:txBody>
          <a:bodyPr vert="horz" wrap="square" lIns="0" tIns="0" rIns="0" bIns="0" rtlCol="0">
            <a:spAutoFit/>
          </a:bodyPr>
          <a:lstStyle/>
          <a:p>
            <a:r>
              <a:rPr lang="en-US" sz="1000">
                <a:solidFill>
                  <a:srgbClr val="5B6760"/>
                </a:solidFill>
                <a:latin typeface="Aptos" panose="020B0004020202020204" pitchFamily="34" charset="0"/>
              </a:rPr>
              <a:t>Prepared July 27, 2026</a:t>
            </a:r>
          </a:p>
        </p:txBody>
      </p:sp>
      <p:sp>
        <p:nvSpPr>
          <p:cNvPr id="13" name="TextBox 12">
            <a:hlinkClick r:id="rId3"/>
            <a:extLst>
              <a:ext uri="{FF2B5EF4-FFF2-40B4-BE49-F238E27FC236}">
                <a16:creationId xmlns:a16="http://schemas.microsoft.com/office/drawing/2014/main" id="{70D39DC4-30C9-8209-DF56-669DE4B51211}"/>
              </a:ext>
            </a:extLst>
          </p:cNvPr>
          <p:cNvSpPr txBox="1"/>
          <p:nvPr/>
        </p:nvSpPr>
        <p:spPr>
          <a:xfrm>
            <a:off x="7620000" y="5194300"/>
            <a:ext cx="31115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Open the live performance dashboard</a:t>
            </a:r>
          </a:p>
        </p:txBody>
      </p:sp>
      <p:sp>
        <p:nvSpPr>
          <p:cNvPr id="14" name="TextBox 13">
            <a:extLst>
              <a:ext uri="{FF2B5EF4-FFF2-40B4-BE49-F238E27FC236}">
                <a16:creationId xmlns:a16="http://schemas.microsoft.com/office/drawing/2014/main" id="{78285621-5846-86C0-F7CB-FCD877C347FC}"/>
              </a:ext>
            </a:extLst>
          </p:cNvPr>
          <p:cNvSpPr txBox="1"/>
          <p:nvPr/>
        </p:nvSpPr>
        <p:spPr>
          <a:xfrm>
            <a:off x="7620000" y="5727700"/>
            <a:ext cx="31115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REPLENISH  |  7 ELEVEN</a:t>
            </a:r>
          </a:p>
        </p:txBody>
      </p:sp>
    </p:spTree>
    <p:extLst>
      <p:ext uri="{BB962C8B-B14F-4D97-AF65-F5344CB8AC3E}">
        <p14:creationId xmlns:p14="http://schemas.microsoft.com/office/powerpoint/2010/main" val="217141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26C031-CA8C-05DC-D0D8-670BEF2EAE10}"/>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8B841A6-EF09-5232-A3D8-5289180D5620}"/>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1B140076-3681-5BA8-D0B9-E54C1F3F1C14}"/>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Weekly account overview</a:t>
            </a:r>
          </a:p>
        </p:txBody>
      </p:sp>
      <p:sp>
        <p:nvSpPr>
          <p:cNvPr id="5" name="TextBox 4">
            <a:extLst>
              <a:ext uri="{FF2B5EF4-FFF2-40B4-BE49-F238E27FC236}">
                <a16:creationId xmlns:a16="http://schemas.microsoft.com/office/drawing/2014/main" id="{8A813400-BD08-8B64-C8B1-F0BD29D72BE3}"/>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61033310-6926-F405-7A57-9128993073B0}"/>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1B8E468-2812-CE6F-DBB2-11D5067A0A6B}"/>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4F557693-A656-479C-8423-C88647070B82}"/>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2</a:t>
            </a:r>
          </a:p>
        </p:txBody>
      </p:sp>
      <p:sp>
        <p:nvSpPr>
          <p:cNvPr id="9" name="Rectangle: Rounded Corners 8">
            <a:extLst>
              <a:ext uri="{FF2B5EF4-FFF2-40B4-BE49-F238E27FC236}">
                <a16:creationId xmlns:a16="http://schemas.microsoft.com/office/drawing/2014/main" id="{844115BD-CC47-AAAF-07E5-94A9840274D5}"/>
              </a:ext>
            </a:extLst>
          </p:cNvPr>
          <p:cNvSpPr/>
          <p:nvPr/>
        </p:nvSpPr>
        <p:spPr>
          <a:xfrm>
            <a:off x="685800" y="1333500"/>
            <a:ext cx="3657600" cy="1803400"/>
          </a:xfrm>
          <a:prstGeom prst="round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2699FA-89B3-4AC8-A86A-85F2E9FEA887}"/>
              </a:ext>
            </a:extLst>
          </p:cNvPr>
          <p:cNvSpPr txBox="1"/>
          <p:nvPr/>
        </p:nvSpPr>
        <p:spPr>
          <a:xfrm>
            <a:off x="990600" y="1638300"/>
            <a:ext cx="3048000" cy="600164"/>
          </a:xfrm>
          <a:prstGeom prst="rect">
            <a:avLst/>
          </a:prstGeom>
          <a:noFill/>
        </p:spPr>
        <p:txBody>
          <a:bodyPr vert="horz" wrap="square" lIns="0" tIns="0" rIns="0" bIns="0" rtlCol="0">
            <a:spAutoFit/>
          </a:bodyPr>
          <a:lstStyle/>
          <a:p>
            <a:r>
              <a:rPr lang="en-US" sz="3900" b="1">
                <a:solidFill>
                  <a:srgbClr val="FFFFFF"/>
                </a:solidFill>
                <a:latin typeface="Aptos" panose="020B0004020202020204" pitchFamily="34" charset="0"/>
              </a:rPr>
              <a:t>$93.47</a:t>
            </a:r>
          </a:p>
        </p:txBody>
      </p:sp>
      <p:sp>
        <p:nvSpPr>
          <p:cNvPr id="11" name="TextBox 10">
            <a:extLst>
              <a:ext uri="{FF2B5EF4-FFF2-40B4-BE49-F238E27FC236}">
                <a16:creationId xmlns:a16="http://schemas.microsoft.com/office/drawing/2014/main" id="{C270B9A2-0FD3-5EE4-93E5-4CF70692FBD5}"/>
              </a:ext>
            </a:extLst>
          </p:cNvPr>
          <p:cNvSpPr txBox="1"/>
          <p:nvPr/>
        </p:nvSpPr>
        <p:spPr>
          <a:xfrm>
            <a:off x="990600" y="2362200"/>
            <a:ext cx="30480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TOTAL WEEKLY SPEND</a:t>
            </a:r>
          </a:p>
        </p:txBody>
      </p:sp>
      <p:sp>
        <p:nvSpPr>
          <p:cNvPr id="12" name="TextBox 11">
            <a:extLst>
              <a:ext uri="{FF2B5EF4-FFF2-40B4-BE49-F238E27FC236}">
                <a16:creationId xmlns:a16="http://schemas.microsoft.com/office/drawing/2014/main" id="{F607C662-A17E-9517-63C4-CF18DB36CA78}"/>
              </a:ext>
            </a:extLst>
          </p:cNvPr>
          <p:cNvSpPr txBox="1"/>
          <p:nvPr/>
        </p:nvSpPr>
        <p:spPr>
          <a:xfrm>
            <a:off x="990600" y="2679700"/>
            <a:ext cx="2997200" cy="323165"/>
          </a:xfrm>
          <a:prstGeom prst="rect">
            <a:avLst/>
          </a:prstGeom>
          <a:noFill/>
        </p:spPr>
        <p:txBody>
          <a:bodyPr vert="horz" wrap="square" lIns="0" tIns="0" rIns="0" bIns="0" rtlCol="0">
            <a:spAutoFit/>
          </a:bodyPr>
          <a:lstStyle/>
          <a:p>
            <a:r>
              <a:rPr lang="en-US" sz="1050">
                <a:solidFill>
                  <a:srgbClr val="FFFFFF"/>
                </a:solidFill>
                <a:latin typeface="Aptos" panose="020B0004020202020204" pitchFamily="34" charset="0"/>
              </a:rPr>
              <a:t>Across Torrey Del Mar, Miramar, Carmel Mountain, and Solana Beach.</a:t>
            </a:r>
          </a:p>
        </p:txBody>
      </p:sp>
      <p:sp>
        <p:nvSpPr>
          <p:cNvPr id="13" name="TextBox 12">
            <a:extLst>
              <a:ext uri="{FF2B5EF4-FFF2-40B4-BE49-F238E27FC236}">
                <a16:creationId xmlns:a16="http://schemas.microsoft.com/office/drawing/2014/main" id="{AE51F153-D856-DA99-A8E6-5DCA8B9DDE07}"/>
              </a:ext>
            </a:extLst>
          </p:cNvPr>
          <p:cNvSpPr txBox="1"/>
          <p:nvPr/>
        </p:nvSpPr>
        <p:spPr>
          <a:xfrm>
            <a:off x="4902200" y="1549400"/>
            <a:ext cx="1778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3,411</a:t>
            </a:r>
          </a:p>
        </p:txBody>
      </p:sp>
      <p:sp>
        <p:nvSpPr>
          <p:cNvPr id="14" name="TextBox 13">
            <a:extLst>
              <a:ext uri="{FF2B5EF4-FFF2-40B4-BE49-F238E27FC236}">
                <a16:creationId xmlns:a16="http://schemas.microsoft.com/office/drawing/2014/main" id="{86C80D65-4932-65E7-372B-11F41202B9A1}"/>
              </a:ext>
            </a:extLst>
          </p:cNvPr>
          <p:cNvSpPr txBox="1"/>
          <p:nvPr/>
        </p:nvSpPr>
        <p:spPr>
          <a:xfrm>
            <a:off x="4902200" y="2044700"/>
            <a:ext cx="1778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IMPRESSIONS</a:t>
            </a:r>
          </a:p>
        </p:txBody>
      </p:sp>
      <p:sp>
        <p:nvSpPr>
          <p:cNvPr id="15" name="TextBox 14">
            <a:extLst>
              <a:ext uri="{FF2B5EF4-FFF2-40B4-BE49-F238E27FC236}">
                <a16:creationId xmlns:a16="http://schemas.microsoft.com/office/drawing/2014/main" id="{5FA83DB4-4009-BF2D-26CB-E96BBB7672CA}"/>
              </a:ext>
            </a:extLst>
          </p:cNvPr>
          <p:cNvSpPr txBox="1"/>
          <p:nvPr/>
        </p:nvSpPr>
        <p:spPr>
          <a:xfrm>
            <a:off x="7048500" y="1549400"/>
            <a:ext cx="1524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244</a:t>
            </a:r>
          </a:p>
        </p:txBody>
      </p:sp>
      <p:sp>
        <p:nvSpPr>
          <p:cNvPr id="16" name="TextBox 15">
            <a:extLst>
              <a:ext uri="{FF2B5EF4-FFF2-40B4-BE49-F238E27FC236}">
                <a16:creationId xmlns:a16="http://schemas.microsoft.com/office/drawing/2014/main" id="{0A0B3BDF-1EC8-C4F6-2713-1D0C7C285D58}"/>
              </a:ext>
            </a:extLst>
          </p:cNvPr>
          <p:cNvSpPr txBox="1"/>
          <p:nvPr/>
        </p:nvSpPr>
        <p:spPr>
          <a:xfrm>
            <a:off x="7048500" y="2044700"/>
            <a:ext cx="1524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CLICKS</a:t>
            </a:r>
          </a:p>
        </p:txBody>
      </p:sp>
      <p:sp>
        <p:nvSpPr>
          <p:cNvPr id="17" name="TextBox 16">
            <a:extLst>
              <a:ext uri="{FF2B5EF4-FFF2-40B4-BE49-F238E27FC236}">
                <a16:creationId xmlns:a16="http://schemas.microsoft.com/office/drawing/2014/main" id="{330922B5-B74D-C320-CAE5-65E6E829AE11}"/>
              </a:ext>
            </a:extLst>
          </p:cNvPr>
          <p:cNvSpPr txBox="1"/>
          <p:nvPr/>
        </p:nvSpPr>
        <p:spPr>
          <a:xfrm>
            <a:off x="8940800" y="1549400"/>
            <a:ext cx="2159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7.15%</a:t>
            </a:r>
          </a:p>
        </p:txBody>
      </p:sp>
      <p:sp>
        <p:nvSpPr>
          <p:cNvPr id="18" name="TextBox 17">
            <a:extLst>
              <a:ext uri="{FF2B5EF4-FFF2-40B4-BE49-F238E27FC236}">
                <a16:creationId xmlns:a16="http://schemas.microsoft.com/office/drawing/2014/main" id="{ED93F45C-D4C5-652F-3D89-CD1EF0B1D2A2}"/>
              </a:ext>
            </a:extLst>
          </p:cNvPr>
          <p:cNvSpPr txBox="1"/>
          <p:nvPr/>
        </p:nvSpPr>
        <p:spPr>
          <a:xfrm>
            <a:off x="8940800" y="2044700"/>
            <a:ext cx="2159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CLICK THROUGH RATE</a:t>
            </a:r>
          </a:p>
        </p:txBody>
      </p:sp>
      <p:sp>
        <p:nvSpPr>
          <p:cNvPr id="19" name="TextBox 18">
            <a:extLst>
              <a:ext uri="{FF2B5EF4-FFF2-40B4-BE49-F238E27FC236}">
                <a16:creationId xmlns:a16="http://schemas.microsoft.com/office/drawing/2014/main" id="{0924FA6E-1458-757D-FC53-55BCACF614F0}"/>
              </a:ext>
            </a:extLst>
          </p:cNvPr>
          <p:cNvSpPr txBox="1"/>
          <p:nvPr/>
        </p:nvSpPr>
        <p:spPr>
          <a:xfrm>
            <a:off x="4902200" y="2603500"/>
            <a:ext cx="2413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$0.38</a:t>
            </a:r>
          </a:p>
        </p:txBody>
      </p:sp>
      <p:sp>
        <p:nvSpPr>
          <p:cNvPr id="20" name="TextBox 19">
            <a:extLst>
              <a:ext uri="{FF2B5EF4-FFF2-40B4-BE49-F238E27FC236}">
                <a16:creationId xmlns:a16="http://schemas.microsoft.com/office/drawing/2014/main" id="{938E7B73-D2BE-E875-F95A-6E30849E03A8}"/>
              </a:ext>
            </a:extLst>
          </p:cNvPr>
          <p:cNvSpPr txBox="1"/>
          <p:nvPr/>
        </p:nvSpPr>
        <p:spPr>
          <a:xfrm>
            <a:off x="4902200" y="3098800"/>
            <a:ext cx="2413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BLENDED COST PER CLICK</a:t>
            </a:r>
          </a:p>
        </p:txBody>
      </p:sp>
      <p:sp>
        <p:nvSpPr>
          <p:cNvPr id="21" name="TextBox 20">
            <a:extLst>
              <a:ext uri="{FF2B5EF4-FFF2-40B4-BE49-F238E27FC236}">
                <a16:creationId xmlns:a16="http://schemas.microsoft.com/office/drawing/2014/main" id="{41033F07-DE96-A0AA-F350-8418C9A930C8}"/>
              </a:ext>
            </a:extLst>
          </p:cNvPr>
          <p:cNvSpPr txBox="1"/>
          <p:nvPr/>
        </p:nvSpPr>
        <p:spPr>
          <a:xfrm>
            <a:off x="685800" y="3733800"/>
            <a:ext cx="7010400" cy="738664"/>
          </a:xfrm>
          <a:prstGeom prst="rect">
            <a:avLst/>
          </a:prstGeom>
          <a:noFill/>
        </p:spPr>
        <p:txBody>
          <a:bodyPr vert="horz" wrap="square" lIns="0" tIns="0" rIns="0" bIns="0" rtlCol="0">
            <a:spAutoFit/>
          </a:bodyPr>
          <a:lstStyle/>
          <a:p>
            <a:r>
              <a:rPr lang="en-US" sz="1600">
                <a:solidFill>
                  <a:srgbClr val="181F1B"/>
                </a:solidFill>
                <a:latin typeface="Aptos" panose="020B0004020202020204" pitchFamily="34" charset="0"/>
              </a:rPr>
              <a:t>The four San Diego locations generated 244 clicks at a blended cost of thirty eight cents. Torrey Del Mar led click volume, while Carmel Mountain produced the strongest click through rate.</a:t>
            </a:r>
          </a:p>
        </p:txBody>
      </p:sp>
      <p:sp>
        <p:nvSpPr>
          <p:cNvPr id="22" name="Rectangle: Rounded Corners 21">
            <a:extLst>
              <a:ext uri="{FF2B5EF4-FFF2-40B4-BE49-F238E27FC236}">
                <a16:creationId xmlns:a16="http://schemas.microsoft.com/office/drawing/2014/main" id="{89B7F307-3737-DAA6-7E97-CD12202F7413}"/>
              </a:ext>
            </a:extLst>
          </p:cNvPr>
          <p:cNvSpPr/>
          <p:nvPr/>
        </p:nvSpPr>
        <p:spPr>
          <a:xfrm>
            <a:off x="8128000" y="3619500"/>
            <a:ext cx="3378200" cy="1828800"/>
          </a:xfrm>
          <a:prstGeom prst="roundRect">
            <a:avLst/>
          </a:prstGeom>
          <a:solidFill>
            <a:srgbClr val="FFFFFF"/>
          </a:solidFill>
          <a:ln>
            <a:solidFill>
              <a:srgbClr val="DCDF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B57771-EF07-B0ED-3CF6-38538A926077}"/>
              </a:ext>
            </a:extLst>
          </p:cNvPr>
          <p:cNvSpPr txBox="1"/>
          <p:nvPr/>
        </p:nvSpPr>
        <p:spPr>
          <a:xfrm>
            <a:off x="8432800" y="3898900"/>
            <a:ext cx="27686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Directional benchmark</a:t>
            </a:r>
          </a:p>
        </p:txBody>
      </p:sp>
      <p:sp>
        <p:nvSpPr>
          <p:cNvPr id="24" name="TextBox 23">
            <a:extLst>
              <a:ext uri="{FF2B5EF4-FFF2-40B4-BE49-F238E27FC236}">
                <a16:creationId xmlns:a16="http://schemas.microsoft.com/office/drawing/2014/main" id="{F16D74F9-9740-9985-732D-2540F43D7868}"/>
              </a:ext>
            </a:extLst>
          </p:cNvPr>
          <p:cNvSpPr txBox="1"/>
          <p:nvPr/>
        </p:nvSpPr>
        <p:spPr>
          <a:xfrm>
            <a:off x="8432800" y="4305300"/>
            <a:ext cx="2768600" cy="400110"/>
          </a:xfrm>
          <a:prstGeom prst="rect">
            <a:avLst/>
          </a:prstGeom>
          <a:noFill/>
        </p:spPr>
        <p:txBody>
          <a:bodyPr vert="horz" wrap="square" lIns="0" tIns="0" rIns="0" bIns="0" rtlCol="0">
            <a:spAutoFit/>
          </a:bodyPr>
          <a:lstStyle/>
          <a:p>
            <a:r>
              <a:rPr lang="en-US" sz="2600" b="1">
                <a:solidFill>
                  <a:srgbClr val="181F1B"/>
                </a:solidFill>
                <a:latin typeface="Aptos" panose="020B0004020202020204" pitchFamily="34" charset="0"/>
              </a:rPr>
              <a:t>91% lower</a:t>
            </a:r>
          </a:p>
        </p:txBody>
      </p:sp>
      <p:sp>
        <p:nvSpPr>
          <p:cNvPr id="25" name="TextBox 24">
            <a:extLst>
              <a:ext uri="{FF2B5EF4-FFF2-40B4-BE49-F238E27FC236}">
                <a16:creationId xmlns:a16="http://schemas.microsoft.com/office/drawing/2014/main" id="{9A37E815-B948-36AD-224C-5ED1C6CB9260}"/>
              </a:ext>
            </a:extLst>
          </p:cNvPr>
          <p:cNvSpPr txBox="1"/>
          <p:nvPr/>
        </p:nvSpPr>
        <p:spPr>
          <a:xfrm>
            <a:off x="8432800" y="4826000"/>
            <a:ext cx="2667000" cy="507831"/>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The $0.38 blended cost per click is 91% below the $4.14 search benchmark for Shopping, Collectibles, and Gifts.</a:t>
            </a:r>
          </a:p>
        </p:txBody>
      </p:sp>
      <p:sp>
        <p:nvSpPr>
          <p:cNvPr id="26" name="TextBox 25">
            <a:extLst>
              <a:ext uri="{FF2B5EF4-FFF2-40B4-BE49-F238E27FC236}">
                <a16:creationId xmlns:a16="http://schemas.microsoft.com/office/drawing/2014/main" id="{CD442893-5274-9A7A-5C31-85C046A36184}"/>
              </a:ext>
            </a:extLst>
          </p:cNvPr>
          <p:cNvSpPr txBox="1"/>
          <p:nvPr/>
        </p:nvSpPr>
        <p:spPr>
          <a:xfrm>
            <a:off x="685800" y="5372100"/>
            <a:ext cx="70104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Because these campaigns use Performance Max inventory, this is a directional cost comparison, not an exact format match.</a:t>
            </a:r>
          </a:p>
        </p:txBody>
      </p:sp>
    </p:spTree>
    <p:extLst>
      <p:ext uri="{BB962C8B-B14F-4D97-AF65-F5344CB8AC3E}">
        <p14:creationId xmlns:p14="http://schemas.microsoft.com/office/powerpoint/2010/main" val="3026755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AAFD02-96C2-E55B-716F-9110026001ED}"/>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B25F7DD-B998-4004-6BCE-938BEF2AA4ED}"/>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0BC84E3E-90F4-038D-C054-344206D85EED}"/>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San Diego budget allocation</a:t>
            </a:r>
          </a:p>
        </p:txBody>
      </p:sp>
      <p:sp>
        <p:nvSpPr>
          <p:cNvPr id="5" name="TextBox 4">
            <a:extLst>
              <a:ext uri="{FF2B5EF4-FFF2-40B4-BE49-F238E27FC236}">
                <a16:creationId xmlns:a16="http://schemas.microsoft.com/office/drawing/2014/main" id="{05AC7BF5-D61B-8470-0411-85E41E2462DD}"/>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9D6BB2BF-C801-AAC1-0AD1-B3C366B552DC}"/>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CFC196D-54AD-493F-D6EA-A216F4F83E76}"/>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D3DD916F-41E0-58E8-8BBF-033BC8FF493B}"/>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3</a:t>
            </a:r>
          </a:p>
        </p:txBody>
      </p:sp>
      <p:sp>
        <p:nvSpPr>
          <p:cNvPr id="9" name="TextBox 8">
            <a:extLst>
              <a:ext uri="{FF2B5EF4-FFF2-40B4-BE49-F238E27FC236}">
                <a16:creationId xmlns:a16="http://schemas.microsoft.com/office/drawing/2014/main" id="{DAA13699-1216-1CAC-B63B-B5385A250393}"/>
              </a:ext>
            </a:extLst>
          </p:cNvPr>
          <p:cNvSpPr txBox="1"/>
          <p:nvPr/>
        </p:nvSpPr>
        <p:spPr>
          <a:xfrm>
            <a:off x="685800" y="1168400"/>
            <a:ext cx="9652000" cy="184666"/>
          </a:xfrm>
          <a:prstGeom prst="rect">
            <a:avLst/>
          </a:prstGeom>
          <a:noFill/>
        </p:spPr>
        <p:txBody>
          <a:bodyPr vert="horz" wrap="square" lIns="0" tIns="0" rIns="0" bIns="0" rtlCol="0">
            <a:spAutoFit/>
          </a:bodyPr>
          <a:lstStyle/>
          <a:p>
            <a:r>
              <a:rPr lang="en-US" sz="1200">
                <a:solidFill>
                  <a:srgbClr val="5B6760"/>
                </a:solidFill>
                <a:latin typeface="Aptos" panose="020B0004020202020204" pitchFamily="34" charset="0"/>
              </a:rPr>
              <a:t>All four San Diego locations were active during the reporting period. Torrey Del Mar represented 36% of weekly spend.</a:t>
            </a:r>
          </a:p>
        </p:txBody>
      </p:sp>
      <p:sp>
        <p:nvSpPr>
          <p:cNvPr id="10" name="TextBox 9">
            <a:extLst>
              <a:ext uri="{FF2B5EF4-FFF2-40B4-BE49-F238E27FC236}">
                <a16:creationId xmlns:a16="http://schemas.microsoft.com/office/drawing/2014/main" id="{52617534-18FF-CBB5-BF90-95D4D090A9FB}"/>
              </a:ext>
            </a:extLst>
          </p:cNvPr>
          <p:cNvSpPr txBox="1"/>
          <p:nvPr/>
        </p:nvSpPr>
        <p:spPr>
          <a:xfrm>
            <a:off x="685800" y="17780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1" name="Rectangle 10">
            <a:extLst>
              <a:ext uri="{FF2B5EF4-FFF2-40B4-BE49-F238E27FC236}">
                <a16:creationId xmlns:a16="http://schemas.microsoft.com/office/drawing/2014/main" id="{6B7EEF03-5442-A06B-1738-636C408BB1D2}"/>
              </a:ext>
            </a:extLst>
          </p:cNvPr>
          <p:cNvSpPr/>
          <p:nvPr/>
        </p:nvSpPr>
        <p:spPr>
          <a:xfrm>
            <a:off x="2946400" y="18034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175656-ACEF-C0A9-4341-A92D4D63CAAD}"/>
              </a:ext>
            </a:extLst>
          </p:cNvPr>
          <p:cNvSpPr/>
          <p:nvPr/>
        </p:nvSpPr>
        <p:spPr>
          <a:xfrm>
            <a:off x="2946400" y="1803400"/>
            <a:ext cx="54610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3EE0807-9151-2605-2D87-19D396D5DE3A}"/>
              </a:ext>
            </a:extLst>
          </p:cNvPr>
          <p:cNvSpPr txBox="1"/>
          <p:nvPr/>
        </p:nvSpPr>
        <p:spPr>
          <a:xfrm>
            <a:off x="8686800" y="17653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$33.92</a:t>
            </a:r>
          </a:p>
        </p:txBody>
      </p:sp>
      <p:sp>
        <p:nvSpPr>
          <p:cNvPr id="14" name="TextBox 13">
            <a:extLst>
              <a:ext uri="{FF2B5EF4-FFF2-40B4-BE49-F238E27FC236}">
                <a16:creationId xmlns:a16="http://schemas.microsoft.com/office/drawing/2014/main" id="{3840B2F7-4493-3B69-72E4-39270A5EB2E6}"/>
              </a:ext>
            </a:extLst>
          </p:cNvPr>
          <p:cNvSpPr txBox="1"/>
          <p:nvPr/>
        </p:nvSpPr>
        <p:spPr>
          <a:xfrm>
            <a:off x="10058400" y="17653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36% of spend</a:t>
            </a:r>
          </a:p>
        </p:txBody>
      </p:sp>
      <p:sp>
        <p:nvSpPr>
          <p:cNvPr id="15" name="TextBox 14">
            <a:extLst>
              <a:ext uri="{FF2B5EF4-FFF2-40B4-BE49-F238E27FC236}">
                <a16:creationId xmlns:a16="http://schemas.microsoft.com/office/drawing/2014/main" id="{CDE1D007-848E-9990-7393-F86DF05D010A}"/>
              </a:ext>
            </a:extLst>
          </p:cNvPr>
          <p:cNvSpPr txBox="1"/>
          <p:nvPr/>
        </p:nvSpPr>
        <p:spPr>
          <a:xfrm>
            <a:off x="685800" y="2349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16" name="Rectangle 15">
            <a:extLst>
              <a:ext uri="{FF2B5EF4-FFF2-40B4-BE49-F238E27FC236}">
                <a16:creationId xmlns:a16="http://schemas.microsoft.com/office/drawing/2014/main" id="{84F32DB6-6D57-A5D3-A2DF-1207267EDFB1}"/>
              </a:ext>
            </a:extLst>
          </p:cNvPr>
          <p:cNvSpPr/>
          <p:nvPr/>
        </p:nvSpPr>
        <p:spPr>
          <a:xfrm>
            <a:off x="2946400" y="2374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75C4034-AAD7-9504-516A-690E10392FED}"/>
              </a:ext>
            </a:extLst>
          </p:cNvPr>
          <p:cNvSpPr/>
          <p:nvPr/>
        </p:nvSpPr>
        <p:spPr>
          <a:xfrm>
            <a:off x="2946400" y="2374900"/>
            <a:ext cx="41021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D797FAB-1BF2-051D-990A-084B208A6528}"/>
              </a:ext>
            </a:extLst>
          </p:cNvPr>
          <p:cNvSpPr txBox="1"/>
          <p:nvPr/>
        </p:nvSpPr>
        <p:spPr>
          <a:xfrm>
            <a:off x="8686800" y="23368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$25.45</a:t>
            </a:r>
          </a:p>
        </p:txBody>
      </p:sp>
      <p:sp>
        <p:nvSpPr>
          <p:cNvPr id="19" name="TextBox 18">
            <a:extLst>
              <a:ext uri="{FF2B5EF4-FFF2-40B4-BE49-F238E27FC236}">
                <a16:creationId xmlns:a16="http://schemas.microsoft.com/office/drawing/2014/main" id="{0E1C155E-8AEF-7D74-C6E6-2409879001B9}"/>
              </a:ext>
            </a:extLst>
          </p:cNvPr>
          <p:cNvSpPr txBox="1"/>
          <p:nvPr/>
        </p:nvSpPr>
        <p:spPr>
          <a:xfrm>
            <a:off x="10058400" y="23368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27% of spend</a:t>
            </a:r>
          </a:p>
        </p:txBody>
      </p:sp>
      <p:sp>
        <p:nvSpPr>
          <p:cNvPr id="20" name="TextBox 19">
            <a:extLst>
              <a:ext uri="{FF2B5EF4-FFF2-40B4-BE49-F238E27FC236}">
                <a16:creationId xmlns:a16="http://schemas.microsoft.com/office/drawing/2014/main" id="{501353BF-DACE-4192-4F90-1E59AB368ABA}"/>
              </a:ext>
            </a:extLst>
          </p:cNvPr>
          <p:cNvSpPr txBox="1"/>
          <p:nvPr/>
        </p:nvSpPr>
        <p:spPr>
          <a:xfrm>
            <a:off x="685800" y="29210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21" name="Rectangle 20">
            <a:extLst>
              <a:ext uri="{FF2B5EF4-FFF2-40B4-BE49-F238E27FC236}">
                <a16:creationId xmlns:a16="http://schemas.microsoft.com/office/drawing/2014/main" id="{85376F9B-0312-9671-6086-9408B511D274}"/>
              </a:ext>
            </a:extLst>
          </p:cNvPr>
          <p:cNvSpPr/>
          <p:nvPr/>
        </p:nvSpPr>
        <p:spPr>
          <a:xfrm>
            <a:off x="2946400" y="29464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B29363A-8A6D-42C6-391C-DADE5572AF50}"/>
              </a:ext>
            </a:extLst>
          </p:cNvPr>
          <p:cNvSpPr/>
          <p:nvPr/>
        </p:nvSpPr>
        <p:spPr>
          <a:xfrm>
            <a:off x="2946400" y="2946400"/>
            <a:ext cx="3390900" cy="177800"/>
          </a:xfrm>
          <a:prstGeom prst="rect">
            <a:avLst/>
          </a:prstGeom>
          <a:solidFill>
            <a:srgbClr val="004E30"/>
          </a:solidFill>
          <a:ln w="12700" cap="flat" cmpd="sng" algn="ctr">
            <a:noFill/>
            <a:prstDash val="solid"/>
            <a:miter lim="800000"/>
          </a:ln>
          <a:effectLst/>
          <a:extLst>
            <a:ext uri="{91240B29-F687-4F45-9708-019B960494DF}">
              <a14:hiddenLine xmlns:a14="http://schemas.microsoft.com/office/drawing/2010/main" w="12700" cap="flat" cmpd="sng" algn="ctr">
                <a:solidFill>
                  <a:srgbClr val="004E3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AC9B2D1-DA46-0CE9-FDB8-7B994049D380}"/>
              </a:ext>
            </a:extLst>
          </p:cNvPr>
          <p:cNvSpPr txBox="1"/>
          <p:nvPr/>
        </p:nvSpPr>
        <p:spPr>
          <a:xfrm>
            <a:off x="8686800" y="29083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$21.03</a:t>
            </a:r>
          </a:p>
        </p:txBody>
      </p:sp>
      <p:sp>
        <p:nvSpPr>
          <p:cNvPr id="24" name="TextBox 23">
            <a:extLst>
              <a:ext uri="{FF2B5EF4-FFF2-40B4-BE49-F238E27FC236}">
                <a16:creationId xmlns:a16="http://schemas.microsoft.com/office/drawing/2014/main" id="{EB2E8801-43C9-E0DD-518D-40ABDF92394D}"/>
              </a:ext>
            </a:extLst>
          </p:cNvPr>
          <p:cNvSpPr txBox="1"/>
          <p:nvPr/>
        </p:nvSpPr>
        <p:spPr>
          <a:xfrm>
            <a:off x="10058400" y="29083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22% of spend</a:t>
            </a:r>
          </a:p>
        </p:txBody>
      </p:sp>
      <p:sp>
        <p:nvSpPr>
          <p:cNvPr id="25" name="TextBox 24">
            <a:extLst>
              <a:ext uri="{FF2B5EF4-FFF2-40B4-BE49-F238E27FC236}">
                <a16:creationId xmlns:a16="http://schemas.microsoft.com/office/drawing/2014/main" id="{EB8A73B3-9251-D5DF-750A-4C3455B52B7E}"/>
              </a:ext>
            </a:extLst>
          </p:cNvPr>
          <p:cNvSpPr txBox="1"/>
          <p:nvPr/>
        </p:nvSpPr>
        <p:spPr>
          <a:xfrm>
            <a:off x="685800" y="3492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26" name="Rectangle 25">
            <a:extLst>
              <a:ext uri="{FF2B5EF4-FFF2-40B4-BE49-F238E27FC236}">
                <a16:creationId xmlns:a16="http://schemas.microsoft.com/office/drawing/2014/main" id="{2590684D-2056-00B4-25BF-79098E0A0B8B}"/>
              </a:ext>
            </a:extLst>
          </p:cNvPr>
          <p:cNvSpPr/>
          <p:nvPr/>
        </p:nvSpPr>
        <p:spPr>
          <a:xfrm>
            <a:off x="2946400" y="3517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2D7D79B-442A-E133-C661-78D5E87B3214}"/>
              </a:ext>
            </a:extLst>
          </p:cNvPr>
          <p:cNvSpPr/>
          <p:nvPr/>
        </p:nvSpPr>
        <p:spPr>
          <a:xfrm>
            <a:off x="2946400" y="3517900"/>
            <a:ext cx="2108200" cy="177800"/>
          </a:xfrm>
          <a:prstGeom prst="rect">
            <a:avLst/>
          </a:prstGeom>
          <a:solidFill>
            <a:srgbClr val="004E30"/>
          </a:solidFill>
          <a:ln w="12700" cap="flat" cmpd="sng" algn="ctr">
            <a:noFill/>
            <a:prstDash val="solid"/>
            <a:miter lim="800000"/>
          </a:ln>
          <a:effectLst/>
          <a:extLst>
            <a:ext uri="{91240B29-F687-4F45-9708-019B960494DF}">
              <a14:hiddenLine xmlns:a14="http://schemas.microsoft.com/office/drawing/2010/main" w="12700" cap="flat" cmpd="sng" algn="ctr">
                <a:solidFill>
                  <a:srgbClr val="004E3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8991F7D-A574-5C57-84A5-D561EEF701EC}"/>
              </a:ext>
            </a:extLst>
          </p:cNvPr>
          <p:cNvSpPr txBox="1"/>
          <p:nvPr/>
        </p:nvSpPr>
        <p:spPr>
          <a:xfrm>
            <a:off x="8686800" y="34798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$13.07</a:t>
            </a:r>
          </a:p>
        </p:txBody>
      </p:sp>
      <p:sp>
        <p:nvSpPr>
          <p:cNvPr id="29" name="TextBox 28">
            <a:extLst>
              <a:ext uri="{FF2B5EF4-FFF2-40B4-BE49-F238E27FC236}">
                <a16:creationId xmlns:a16="http://schemas.microsoft.com/office/drawing/2014/main" id="{5E585A53-F502-A212-5A7D-4F3C54D3041B}"/>
              </a:ext>
            </a:extLst>
          </p:cNvPr>
          <p:cNvSpPr txBox="1"/>
          <p:nvPr/>
        </p:nvSpPr>
        <p:spPr>
          <a:xfrm>
            <a:off x="10058400" y="34798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14% of spend</a:t>
            </a:r>
          </a:p>
        </p:txBody>
      </p:sp>
    </p:spTree>
    <p:extLst>
      <p:ext uri="{BB962C8B-B14F-4D97-AF65-F5344CB8AC3E}">
        <p14:creationId xmlns:p14="http://schemas.microsoft.com/office/powerpoint/2010/main" val="1251846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36D2D1-26A1-6633-8BF8-31A436373FA6}"/>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3589D2-125F-CE46-6551-07550794CA4C}"/>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C67F182D-6FF3-A261-4FC8-31B9069E3A39}"/>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Cost per click by location</a:t>
            </a:r>
          </a:p>
        </p:txBody>
      </p:sp>
      <p:sp>
        <p:nvSpPr>
          <p:cNvPr id="5" name="TextBox 4">
            <a:extLst>
              <a:ext uri="{FF2B5EF4-FFF2-40B4-BE49-F238E27FC236}">
                <a16:creationId xmlns:a16="http://schemas.microsoft.com/office/drawing/2014/main" id="{12778159-C668-295A-1EB7-AB06E5E8553C}"/>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C7CB8B66-90CB-0943-A815-8F065894F2BF}"/>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BF803E-C3A0-BF49-8133-C8151AAE4C1E}"/>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FC4501A0-4021-85D0-E968-F8AF2BDC1EE9}"/>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4</a:t>
            </a:r>
          </a:p>
        </p:txBody>
      </p:sp>
      <p:sp>
        <p:nvSpPr>
          <p:cNvPr id="9" name="TextBox 8">
            <a:extLst>
              <a:ext uri="{FF2B5EF4-FFF2-40B4-BE49-F238E27FC236}">
                <a16:creationId xmlns:a16="http://schemas.microsoft.com/office/drawing/2014/main" id="{0CAAED51-67D8-169D-AA3E-28111EEFE703}"/>
              </a:ext>
            </a:extLst>
          </p:cNvPr>
          <p:cNvSpPr txBox="1"/>
          <p:nvPr/>
        </p:nvSpPr>
        <p:spPr>
          <a:xfrm>
            <a:off x="685800" y="1168400"/>
            <a:ext cx="9652000" cy="184666"/>
          </a:xfrm>
          <a:prstGeom prst="rect">
            <a:avLst/>
          </a:prstGeom>
          <a:noFill/>
        </p:spPr>
        <p:txBody>
          <a:bodyPr vert="horz" wrap="square" lIns="0" tIns="0" rIns="0" bIns="0" rtlCol="0">
            <a:spAutoFit/>
          </a:bodyPr>
          <a:lstStyle/>
          <a:p>
            <a:r>
              <a:rPr lang="en-US" sz="1200">
                <a:solidFill>
                  <a:srgbClr val="5B6760"/>
                </a:solidFill>
                <a:latin typeface="Aptos" panose="020B0004020202020204" pitchFamily="34" charset="0"/>
              </a:rPr>
              <a:t>Every San Diego location remained below the $4.14 directional search benchmark. The four locations blended to $0.38.</a:t>
            </a:r>
          </a:p>
        </p:txBody>
      </p:sp>
      <p:sp>
        <p:nvSpPr>
          <p:cNvPr id="10" name="TextBox 9">
            <a:extLst>
              <a:ext uri="{FF2B5EF4-FFF2-40B4-BE49-F238E27FC236}">
                <a16:creationId xmlns:a16="http://schemas.microsoft.com/office/drawing/2014/main" id="{AF507648-5B13-E265-B594-E583862A81F9}"/>
              </a:ext>
            </a:extLst>
          </p:cNvPr>
          <p:cNvSpPr txBox="1"/>
          <p:nvPr/>
        </p:nvSpPr>
        <p:spPr>
          <a:xfrm>
            <a:off x="685800" y="17907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1" name="Rectangle 10">
            <a:extLst>
              <a:ext uri="{FF2B5EF4-FFF2-40B4-BE49-F238E27FC236}">
                <a16:creationId xmlns:a16="http://schemas.microsoft.com/office/drawing/2014/main" id="{407BAB45-5561-8939-286A-7B186BAFD6A2}"/>
              </a:ext>
            </a:extLst>
          </p:cNvPr>
          <p:cNvSpPr/>
          <p:nvPr/>
        </p:nvSpPr>
        <p:spPr>
          <a:xfrm>
            <a:off x="2946400" y="18161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F1BE0-6B36-0C3A-E7BF-5C08E120909C}"/>
              </a:ext>
            </a:extLst>
          </p:cNvPr>
          <p:cNvSpPr/>
          <p:nvPr/>
        </p:nvSpPr>
        <p:spPr>
          <a:xfrm>
            <a:off x="2946400" y="1816100"/>
            <a:ext cx="4191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A0E7F71-628D-A4F3-8249-3293633D16A5}"/>
              </a:ext>
            </a:extLst>
          </p:cNvPr>
          <p:cNvSpPr txBox="1"/>
          <p:nvPr/>
        </p:nvSpPr>
        <p:spPr>
          <a:xfrm>
            <a:off x="8686800" y="17780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$0.32</a:t>
            </a:r>
          </a:p>
        </p:txBody>
      </p:sp>
      <p:sp>
        <p:nvSpPr>
          <p:cNvPr id="14" name="TextBox 13">
            <a:extLst>
              <a:ext uri="{FF2B5EF4-FFF2-40B4-BE49-F238E27FC236}">
                <a16:creationId xmlns:a16="http://schemas.microsoft.com/office/drawing/2014/main" id="{83BF26F7-0A82-45AC-D073-9EA12A754CEA}"/>
              </a:ext>
            </a:extLst>
          </p:cNvPr>
          <p:cNvSpPr txBox="1"/>
          <p:nvPr/>
        </p:nvSpPr>
        <p:spPr>
          <a:xfrm>
            <a:off x="9956800" y="17780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92% below benchmark</a:t>
            </a:r>
          </a:p>
        </p:txBody>
      </p:sp>
      <p:sp>
        <p:nvSpPr>
          <p:cNvPr id="15" name="TextBox 14">
            <a:extLst>
              <a:ext uri="{FF2B5EF4-FFF2-40B4-BE49-F238E27FC236}">
                <a16:creationId xmlns:a16="http://schemas.microsoft.com/office/drawing/2014/main" id="{19E87C7F-8722-82F0-69D0-51A0D29AA38E}"/>
              </a:ext>
            </a:extLst>
          </p:cNvPr>
          <p:cNvSpPr txBox="1"/>
          <p:nvPr/>
        </p:nvSpPr>
        <p:spPr>
          <a:xfrm>
            <a:off x="685800" y="2349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16" name="Rectangle 15">
            <a:extLst>
              <a:ext uri="{FF2B5EF4-FFF2-40B4-BE49-F238E27FC236}">
                <a16:creationId xmlns:a16="http://schemas.microsoft.com/office/drawing/2014/main" id="{FA53C75D-6AA9-B1FB-CBE9-2074D62CB8C0}"/>
              </a:ext>
            </a:extLst>
          </p:cNvPr>
          <p:cNvSpPr/>
          <p:nvPr/>
        </p:nvSpPr>
        <p:spPr>
          <a:xfrm>
            <a:off x="2946400" y="2374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F18689D-C91D-B622-55C0-8235B0379E0D}"/>
              </a:ext>
            </a:extLst>
          </p:cNvPr>
          <p:cNvSpPr/>
          <p:nvPr/>
        </p:nvSpPr>
        <p:spPr>
          <a:xfrm>
            <a:off x="2946400" y="2374900"/>
            <a:ext cx="4953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61F1466-2B54-0FCF-3542-0FE30D7228C3}"/>
              </a:ext>
            </a:extLst>
          </p:cNvPr>
          <p:cNvSpPr txBox="1"/>
          <p:nvPr/>
        </p:nvSpPr>
        <p:spPr>
          <a:xfrm>
            <a:off x="8686800" y="23368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$0.38</a:t>
            </a:r>
          </a:p>
        </p:txBody>
      </p:sp>
      <p:sp>
        <p:nvSpPr>
          <p:cNvPr id="19" name="TextBox 18">
            <a:extLst>
              <a:ext uri="{FF2B5EF4-FFF2-40B4-BE49-F238E27FC236}">
                <a16:creationId xmlns:a16="http://schemas.microsoft.com/office/drawing/2014/main" id="{DB7E8335-40BE-838A-5DF6-FBE5C2356DD5}"/>
              </a:ext>
            </a:extLst>
          </p:cNvPr>
          <p:cNvSpPr txBox="1"/>
          <p:nvPr/>
        </p:nvSpPr>
        <p:spPr>
          <a:xfrm>
            <a:off x="9956800" y="23368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91% below benchmark</a:t>
            </a:r>
          </a:p>
        </p:txBody>
      </p:sp>
      <p:sp>
        <p:nvSpPr>
          <p:cNvPr id="20" name="TextBox 19">
            <a:extLst>
              <a:ext uri="{FF2B5EF4-FFF2-40B4-BE49-F238E27FC236}">
                <a16:creationId xmlns:a16="http://schemas.microsoft.com/office/drawing/2014/main" id="{EF7AF751-F6F5-759A-7F50-4FE4B4449959}"/>
              </a:ext>
            </a:extLst>
          </p:cNvPr>
          <p:cNvSpPr txBox="1"/>
          <p:nvPr/>
        </p:nvSpPr>
        <p:spPr>
          <a:xfrm>
            <a:off x="685800" y="29083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21" name="Rectangle 20">
            <a:extLst>
              <a:ext uri="{FF2B5EF4-FFF2-40B4-BE49-F238E27FC236}">
                <a16:creationId xmlns:a16="http://schemas.microsoft.com/office/drawing/2014/main" id="{303D9B09-23B9-E768-F28E-EEE096DF8399}"/>
              </a:ext>
            </a:extLst>
          </p:cNvPr>
          <p:cNvSpPr/>
          <p:nvPr/>
        </p:nvSpPr>
        <p:spPr>
          <a:xfrm>
            <a:off x="2946400" y="29337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C0D814C-FE84-7617-96FF-F08AC63F9A77}"/>
              </a:ext>
            </a:extLst>
          </p:cNvPr>
          <p:cNvSpPr/>
          <p:nvPr/>
        </p:nvSpPr>
        <p:spPr>
          <a:xfrm>
            <a:off x="2946400" y="2933700"/>
            <a:ext cx="6604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518F138-7248-7E1A-AE73-D2E185C4AB01}"/>
              </a:ext>
            </a:extLst>
          </p:cNvPr>
          <p:cNvSpPr txBox="1"/>
          <p:nvPr/>
        </p:nvSpPr>
        <p:spPr>
          <a:xfrm>
            <a:off x="8686800" y="28956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$0.50</a:t>
            </a:r>
          </a:p>
        </p:txBody>
      </p:sp>
      <p:sp>
        <p:nvSpPr>
          <p:cNvPr id="24" name="TextBox 23">
            <a:extLst>
              <a:ext uri="{FF2B5EF4-FFF2-40B4-BE49-F238E27FC236}">
                <a16:creationId xmlns:a16="http://schemas.microsoft.com/office/drawing/2014/main" id="{02DEACBF-B42F-00C0-7D44-50F51490AA15}"/>
              </a:ext>
            </a:extLst>
          </p:cNvPr>
          <p:cNvSpPr txBox="1"/>
          <p:nvPr/>
        </p:nvSpPr>
        <p:spPr>
          <a:xfrm>
            <a:off x="9956800" y="28956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88% below benchmark</a:t>
            </a:r>
          </a:p>
        </p:txBody>
      </p:sp>
      <p:sp>
        <p:nvSpPr>
          <p:cNvPr id="25" name="TextBox 24">
            <a:extLst>
              <a:ext uri="{FF2B5EF4-FFF2-40B4-BE49-F238E27FC236}">
                <a16:creationId xmlns:a16="http://schemas.microsoft.com/office/drawing/2014/main" id="{F3FA62A0-FB49-171E-661C-0E70E02B1539}"/>
              </a:ext>
            </a:extLst>
          </p:cNvPr>
          <p:cNvSpPr txBox="1"/>
          <p:nvPr/>
        </p:nvSpPr>
        <p:spPr>
          <a:xfrm>
            <a:off x="685800" y="34671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26" name="Rectangle 25">
            <a:extLst>
              <a:ext uri="{FF2B5EF4-FFF2-40B4-BE49-F238E27FC236}">
                <a16:creationId xmlns:a16="http://schemas.microsoft.com/office/drawing/2014/main" id="{A4135F9A-2B81-252E-15FC-7FC69333D5DF}"/>
              </a:ext>
            </a:extLst>
          </p:cNvPr>
          <p:cNvSpPr/>
          <p:nvPr/>
        </p:nvSpPr>
        <p:spPr>
          <a:xfrm>
            <a:off x="2946400" y="34925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7DDED09-A88B-18D5-D38D-DD41EB9A7BC0}"/>
              </a:ext>
            </a:extLst>
          </p:cNvPr>
          <p:cNvSpPr/>
          <p:nvPr/>
        </p:nvSpPr>
        <p:spPr>
          <a:xfrm>
            <a:off x="2946400" y="3492500"/>
            <a:ext cx="6223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F5063C6-29D8-7B88-24E2-CDE0CC4CDCC7}"/>
              </a:ext>
            </a:extLst>
          </p:cNvPr>
          <p:cNvSpPr txBox="1"/>
          <p:nvPr/>
        </p:nvSpPr>
        <p:spPr>
          <a:xfrm>
            <a:off x="8686800" y="34544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$0.47</a:t>
            </a:r>
          </a:p>
        </p:txBody>
      </p:sp>
      <p:sp>
        <p:nvSpPr>
          <p:cNvPr id="29" name="TextBox 28">
            <a:extLst>
              <a:ext uri="{FF2B5EF4-FFF2-40B4-BE49-F238E27FC236}">
                <a16:creationId xmlns:a16="http://schemas.microsoft.com/office/drawing/2014/main" id="{966FCD15-7DD3-6D15-809C-D5DFBB4AE404}"/>
              </a:ext>
            </a:extLst>
          </p:cNvPr>
          <p:cNvSpPr txBox="1"/>
          <p:nvPr/>
        </p:nvSpPr>
        <p:spPr>
          <a:xfrm>
            <a:off x="9956800" y="34544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89% below benchmark</a:t>
            </a:r>
          </a:p>
        </p:txBody>
      </p:sp>
      <p:sp>
        <p:nvSpPr>
          <p:cNvPr id="30" name="Rectangle 29">
            <a:extLst>
              <a:ext uri="{FF2B5EF4-FFF2-40B4-BE49-F238E27FC236}">
                <a16:creationId xmlns:a16="http://schemas.microsoft.com/office/drawing/2014/main" id="{38C10D5F-6F08-5D0D-5B2A-ECAFF7B4B63E}"/>
              </a:ext>
            </a:extLst>
          </p:cNvPr>
          <p:cNvSpPr/>
          <p:nvPr/>
        </p:nvSpPr>
        <p:spPr>
          <a:xfrm>
            <a:off x="2946400" y="5905500"/>
            <a:ext cx="1778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0198E2DE-48BD-F81E-A19E-38EC4EEA2026}"/>
              </a:ext>
            </a:extLst>
          </p:cNvPr>
          <p:cNvSpPr txBox="1"/>
          <p:nvPr/>
        </p:nvSpPr>
        <p:spPr>
          <a:xfrm>
            <a:off x="3213100" y="5880100"/>
            <a:ext cx="2794000" cy="138499"/>
          </a:xfrm>
          <a:prstGeom prst="rect">
            <a:avLst/>
          </a:prstGeom>
          <a:noFill/>
        </p:spPr>
        <p:txBody>
          <a:bodyPr vert="horz" wrap="square" lIns="0" tIns="0" rIns="0" bIns="0" rtlCol="0">
            <a:spAutoFit/>
          </a:bodyPr>
          <a:lstStyle/>
          <a:p>
            <a:r>
              <a:rPr lang="en-US" sz="900">
                <a:solidFill>
                  <a:srgbClr val="5B6760"/>
                </a:solidFill>
                <a:latin typeface="Aptos" panose="020B0004020202020204" pitchFamily="34" charset="0"/>
              </a:rPr>
              <a:t>At or below $0.38 San Diego average</a:t>
            </a:r>
          </a:p>
        </p:txBody>
      </p:sp>
      <p:sp>
        <p:nvSpPr>
          <p:cNvPr id="32" name="Rectangle 31">
            <a:extLst>
              <a:ext uri="{FF2B5EF4-FFF2-40B4-BE49-F238E27FC236}">
                <a16:creationId xmlns:a16="http://schemas.microsoft.com/office/drawing/2014/main" id="{221B4078-586A-D509-4A3A-E8BF557F0966}"/>
              </a:ext>
            </a:extLst>
          </p:cNvPr>
          <p:cNvSpPr/>
          <p:nvPr/>
        </p:nvSpPr>
        <p:spPr>
          <a:xfrm>
            <a:off x="6248400" y="5905500"/>
            <a:ext cx="1778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5A7345-2634-5455-CC39-D5C30CB22EDE}"/>
              </a:ext>
            </a:extLst>
          </p:cNvPr>
          <p:cNvSpPr txBox="1"/>
          <p:nvPr/>
        </p:nvSpPr>
        <p:spPr>
          <a:xfrm>
            <a:off x="6515100" y="5880100"/>
            <a:ext cx="3429000" cy="138499"/>
          </a:xfrm>
          <a:prstGeom prst="rect">
            <a:avLst/>
          </a:prstGeom>
          <a:noFill/>
        </p:spPr>
        <p:txBody>
          <a:bodyPr vert="horz" wrap="square" lIns="0" tIns="0" rIns="0" bIns="0" rtlCol="0">
            <a:spAutoFit/>
          </a:bodyPr>
          <a:lstStyle/>
          <a:p>
            <a:r>
              <a:rPr lang="en-US" sz="900">
                <a:solidFill>
                  <a:srgbClr val="5B6760"/>
                </a:solidFill>
                <a:latin typeface="Aptos" panose="020B0004020202020204" pitchFamily="34" charset="0"/>
              </a:rPr>
              <a:t>Above San Diego average, still below benchmark</a:t>
            </a:r>
          </a:p>
        </p:txBody>
      </p:sp>
    </p:spTree>
    <p:extLst>
      <p:ext uri="{BB962C8B-B14F-4D97-AF65-F5344CB8AC3E}">
        <p14:creationId xmlns:p14="http://schemas.microsoft.com/office/powerpoint/2010/main" val="12874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DC777F-5C29-A4F6-C756-D1E1CDCF2D46}"/>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7079F72-30D5-BB97-C2AE-9F432F5893BF}"/>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7F4222FD-9976-3134-C19D-3832C6EE158A}"/>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Complete San Diego location detail</a:t>
            </a:r>
          </a:p>
        </p:txBody>
      </p:sp>
      <p:sp>
        <p:nvSpPr>
          <p:cNvPr id="5" name="TextBox 4">
            <a:extLst>
              <a:ext uri="{FF2B5EF4-FFF2-40B4-BE49-F238E27FC236}">
                <a16:creationId xmlns:a16="http://schemas.microsoft.com/office/drawing/2014/main" id="{5DE14615-3E1C-E09A-42F1-FDF2E4A5D6B4}"/>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C01B759C-DDF5-55F2-D0B6-A74B8324A911}"/>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567BD89-F671-3E0F-F966-4DBE4F19ED68}"/>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4B3882FC-4FB0-A834-8393-6C33BE758317}"/>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5</a:t>
            </a:r>
          </a:p>
        </p:txBody>
      </p:sp>
      <p:sp>
        <p:nvSpPr>
          <p:cNvPr id="9" name="Rectangle 8">
            <a:extLst>
              <a:ext uri="{FF2B5EF4-FFF2-40B4-BE49-F238E27FC236}">
                <a16:creationId xmlns:a16="http://schemas.microsoft.com/office/drawing/2014/main" id="{B89CF5EC-201A-FFC9-EDE4-355B3E623390}"/>
              </a:ext>
            </a:extLst>
          </p:cNvPr>
          <p:cNvSpPr/>
          <p:nvPr/>
        </p:nvSpPr>
        <p:spPr>
          <a:xfrm>
            <a:off x="685800" y="1333500"/>
            <a:ext cx="10820400" cy="4064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E076FD4-3D84-2EA4-7E0F-5D8C568EFD63}"/>
              </a:ext>
            </a:extLst>
          </p:cNvPr>
          <p:cNvSpPr txBox="1"/>
          <p:nvPr/>
        </p:nvSpPr>
        <p:spPr>
          <a:xfrm>
            <a:off x="685800" y="1460500"/>
            <a:ext cx="3111500" cy="138499"/>
          </a:xfrm>
          <a:prstGeom prst="rect">
            <a:avLst/>
          </a:prstGeom>
          <a:noFill/>
        </p:spPr>
        <p:txBody>
          <a:bodyPr vert="horz" wrap="square" lIns="0" tIns="0" rIns="0" bIns="0" rtlCol="0">
            <a:spAutoFit/>
          </a:bodyPr>
          <a:lstStyle/>
          <a:p>
            <a:r>
              <a:rPr lang="en-US" sz="900" b="1">
                <a:solidFill>
                  <a:srgbClr val="FFFFFF"/>
                </a:solidFill>
                <a:latin typeface="Aptos" panose="020B0004020202020204" pitchFamily="34" charset="0"/>
              </a:rPr>
              <a:t>LOCATION</a:t>
            </a:r>
          </a:p>
        </p:txBody>
      </p:sp>
      <p:sp>
        <p:nvSpPr>
          <p:cNvPr id="11" name="TextBox 10">
            <a:extLst>
              <a:ext uri="{FF2B5EF4-FFF2-40B4-BE49-F238E27FC236}">
                <a16:creationId xmlns:a16="http://schemas.microsoft.com/office/drawing/2014/main" id="{D48D02F9-2D97-1586-833D-6E4C1C976EC7}"/>
              </a:ext>
            </a:extLst>
          </p:cNvPr>
          <p:cNvSpPr txBox="1"/>
          <p:nvPr/>
        </p:nvSpPr>
        <p:spPr>
          <a:xfrm>
            <a:off x="4089400" y="1460500"/>
            <a:ext cx="11684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SPEND</a:t>
            </a:r>
          </a:p>
        </p:txBody>
      </p:sp>
      <p:sp>
        <p:nvSpPr>
          <p:cNvPr id="12" name="TextBox 11">
            <a:extLst>
              <a:ext uri="{FF2B5EF4-FFF2-40B4-BE49-F238E27FC236}">
                <a16:creationId xmlns:a16="http://schemas.microsoft.com/office/drawing/2014/main" id="{9A5A3107-30DA-8E1E-E60B-2F16D068FF4F}"/>
              </a:ext>
            </a:extLst>
          </p:cNvPr>
          <p:cNvSpPr txBox="1"/>
          <p:nvPr/>
        </p:nvSpPr>
        <p:spPr>
          <a:xfrm>
            <a:off x="5499100" y="1460500"/>
            <a:ext cx="13208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IMPRESSIONS</a:t>
            </a:r>
          </a:p>
        </p:txBody>
      </p:sp>
      <p:sp>
        <p:nvSpPr>
          <p:cNvPr id="13" name="TextBox 12">
            <a:extLst>
              <a:ext uri="{FF2B5EF4-FFF2-40B4-BE49-F238E27FC236}">
                <a16:creationId xmlns:a16="http://schemas.microsoft.com/office/drawing/2014/main" id="{47040F99-EDA1-16D7-A6A1-F94AA6E70A41}"/>
              </a:ext>
            </a:extLst>
          </p:cNvPr>
          <p:cNvSpPr txBox="1"/>
          <p:nvPr/>
        </p:nvSpPr>
        <p:spPr>
          <a:xfrm>
            <a:off x="7061200" y="1460500"/>
            <a:ext cx="10160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CLICKS</a:t>
            </a:r>
          </a:p>
        </p:txBody>
      </p:sp>
      <p:sp>
        <p:nvSpPr>
          <p:cNvPr id="14" name="TextBox 13">
            <a:extLst>
              <a:ext uri="{FF2B5EF4-FFF2-40B4-BE49-F238E27FC236}">
                <a16:creationId xmlns:a16="http://schemas.microsoft.com/office/drawing/2014/main" id="{301413CC-F0DC-2B41-581A-B6C6717E1DF4}"/>
              </a:ext>
            </a:extLst>
          </p:cNvPr>
          <p:cNvSpPr txBox="1"/>
          <p:nvPr/>
        </p:nvSpPr>
        <p:spPr>
          <a:xfrm>
            <a:off x="8331200" y="1460500"/>
            <a:ext cx="9652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CTR</a:t>
            </a:r>
          </a:p>
        </p:txBody>
      </p:sp>
      <p:sp>
        <p:nvSpPr>
          <p:cNvPr id="15" name="TextBox 14">
            <a:extLst>
              <a:ext uri="{FF2B5EF4-FFF2-40B4-BE49-F238E27FC236}">
                <a16:creationId xmlns:a16="http://schemas.microsoft.com/office/drawing/2014/main" id="{368DC92E-E5AB-C917-9F81-F28E242FB6C3}"/>
              </a:ext>
            </a:extLst>
          </p:cNvPr>
          <p:cNvSpPr txBox="1"/>
          <p:nvPr/>
        </p:nvSpPr>
        <p:spPr>
          <a:xfrm>
            <a:off x="9575800" y="1460500"/>
            <a:ext cx="10160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CPC</a:t>
            </a:r>
          </a:p>
        </p:txBody>
      </p:sp>
      <p:sp>
        <p:nvSpPr>
          <p:cNvPr id="16" name="TextBox 15">
            <a:extLst>
              <a:ext uri="{FF2B5EF4-FFF2-40B4-BE49-F238E27FC236}">
                <a16:creationId xmlns:a16="http://schemas.microsoft.com/office/drawing/2014/main" id="{9D7B12A8-E417-C292-082D-DC0AB7EF058C}"/>
              </a:ext>
            </a:extLst>
          </p:cNvPr>
          <p:cNvSpPr txBox="1"/>
          <p:nvPr/>
        </p:nvSpPr>
        <p:spPr>
          <a:xfrm>
            <a:off x="685800" y="18542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7" name="TextBox 16">
            <a:extLst>
              <a:ext uri="{FF2B5EF4-FFF2-40B4-BE49-F238E27FC236}">
                <a16:creationId xmlns:a16="http://schemas.microsoft.com/office/drawing/2014/main" id="{CFF17A0B-6F2E-4FEB-408E-E43F717BD81C}"/>
              </a:ext>
            </a:extLst>
          </p:cNvPr>
          <p:cNvSpPr txBox="1"/>
          <p:nvPr/>
        </p:nvSpPr>
        <p:spPr>
          <a:xfrm>
            <a:off x="4089400" y="18542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$33.92</a:t>
            </a:r>
          </a:p>
        </p:txBody>
      </p:sp>
      <p:sp>
        <p:nvSpPr>
          <p:cNvPr id="18" name="TextBox 17">
            <a:extLst>
              <a:ext uri="{FF2B5EF4-FFF2-40B4-BE49-F238E27FC236}">
                <a16:creationId xmlns:a16="http://schemas.microsoft.com/office/drawing/2014/main" id="{3CE80601-DDAA-B79D-7DEC-432E246F2242}"/>
              </a:ext>
            </a:extLst>
          </p:cNvPr>
          <p:cNvSpPr txBox="1"/>
          <p:nvPr/>
        </p:nvSpPr>
        <p:spPr>
          <a:xfrm>
            <a:off x="5499100" y="18542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1,216</a:t>
            </a:r>
          </a:p>
        </p:txBody>
      </p:sp>
      <p:sp>
        <p:nvSpPr>
          <p:cNvPr id="19" name="TextBox 18">
            <a:extLst>
              <a:ext uri="{FF2B5EF4-FFF2-40B4-BE49-F238E27FC236}">
                <a16:creationId xmlns:a16="http://schemas.microsoft.com/office/drawing/2014/main" id="{5DD60D03-BE02-D74C-056A-5A84C69F3AD6}"/>
              </a:ext>
            </a:extLst>
          </p:cNvPr>
          <p:cNvSpPr txBox="1"/>
          <p:nvPr/>
        </p:nvSpPr>
        <p:spPr>
          <a:xfrm>
            <a:off x="7061200" y="18542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107</a:t>
            </a:r>
          </a:p>
        </p:txBody>
      </p:sp>
      <p:sp>
        <p:nvSpPr>
          <p:cNvPr id="20" name="TextBox 19">
            <a:extLst>
              <a:ext uri="{FF2B5EF4-FFF2-40B4-BE49-F238E27FC236}">
                <a16:creationId xmlns:a16="http://schemas.microsoft.com/office/drawing/2014/main" id="{8A0DD90D-2522-2F15-E4D6-D813F3DB3E7C}"/>
              </a:ext>
            </a:extLst>
          </p:cNvPr>
          <p:cNvSpPr txBox="1"/>
          <p:nvPr/>
        </p:nvSpPr>
        <p:spPr>
          <a:xfrm>
            <a:off x="8331200" y="18542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8.80%</a:t>
            </a:r>
          </a:p>
        </p:txBody>
      </p:sp>
      <p:sp>
        <p:nvSpPr>
          <p:cNvPr id="21" name="TextBox 20">
            <a:extLst>
              <a:ext uri="{FF2B5EF4-FFF2-40B4-BE49-F238E27FC236}">
                <a16:creationId xmlns:a16="http://schemas.microsoft.com/office/drawing/2014/main" id="{835453C5-6EBB-A8D8-04BF-46292CDB3E18}"/>
              </a:ext>
            </a:extLst>
          </p:cNvPr>
          <p:cNvSpPr txBox="1"/>
          <p:nvPr/>
        </p:nvSpPr>
        <p:spPr>
          <a:xfrm>
            <a:off x="9575800" y="18542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$0.32</a:t>
            </a:r>
          </a:p>
        </p:txBody>
      </p:sp>
      <p:sp>
        <p:nvSpPr>
          <p:cNvPr id="22" name="Rectangle 21">
            <a:extLst>
              <a:ext uri="{FF2B5EF4-FFF2-40B4-BE49-F238E27FC236}">
                <a16:creationId xmlns:a16="http://schemas.microsoft.com/office/drawing/2014/main" id="{CE7C6778-A50D-02C7-9F85-EFA89EAC2B61}"/>
              </a:ext>
            </a:extLst>
          </p:cNvPr>
          <p:cNvSpPr/>
          <p:nvPr/>
        </p:nvSpPr>
        <p:spPr>
          <a:xfrm>
            <a:off x="685800" y="22987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4DD18FF-4025-D9F6-E6B8-5BFDD514BE10}"/>
              </a:ext>
            </a:extLst>
          </p:cNvPr>
          <p:cNvSpPr txBox="1"/>
          <p:nvPr/>
        </p:nvSpPr>
        <p:spPr>
          <a:xfrm>
            <a:off x="685800" y="23495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24" name="TextBox 23">
            <a:extLst>
              <a:ext uri="{FF2B5EF4-FFF2-40B4-BE49-F238E27FC236}">
                <a16:creationId xmlns:a16="http://schemas.microsoft.com/office/drawing/2014/main" id="{9543A437-E413-6BCC-B072-F648615BC997}"/>
              </a:ext>
            </a:extLst>
          </p:cNvPr>
          <p:cNvSpPr txBox="1"/>
          <p:nvPr/>
        </p:nvSpPr>
        <p:spPr>
          <a:xfrm>
            <a:off x="4089400" y="23495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$25.45</a:t>
            </a:r>
          </a:p>
        </p:txBody>
      </p:sp>
      <p:sp>
        <p:nvSpPr>
          <p:cNvPr id="25" name="TextBox 24">
            <a:extLst>
              <a:ext uri="{FF2B5EF4-FFF2-40B4-BE49-F238E27FC236}">
                <a16:creationId xmlns:a16="http://schemas.microsoft.com/office/drawing/2014/main" id="{8271BF02-B359-AAB7-F374-AB8F1062D7F8}"/>
              </a:ext>
            </a:extLst>
          </p:cNvPr>
          <p:cNvSpPr txBox="1"/>
          <p:nvPr/>
        </p:nvSpPr>
        <p:spPr>
          <a:xfrm>
            <a:off x="5499100" y="23495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1,143</a:t>
            </a:r>
          </a:p>
        </p:txBody>
      </p:sp>
      <p:sp>
        <p:nvSpPr>
          <p:cNvPr id="26" name="TextBox 25">
            <a:extLst>
              <a:ext uri="{FF2B5EF4-FFF2-40B4-BE49-F238E27FC236}">
                <a16:creationId xmlns:a16="http://schemas.microsoft.com/office/drawing/2014/main" id="{9C40EBB2-0A09-54D5-E264-D1E9BFBCEBCE}"/>
              </a:ext>
            </a:extLst>
          </p:cNvPr>
          <p:cNvSpPr txBox="1"/>
          <p:nvPr/>
        </p:nvSpPr>
        <p:spPr>
          <a:xfrm>
            <a:off x="7061200" y="23495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67</a:t>
            </a:r>
          </a:p>
        </p:txBody>
      </p:sp>
      <p:sp>
        <p:nvSpPr>
          <p:cNvPr id="27" name="TextBox 26">
            <a:extLst>
              <a:ext uri="{FF2B5EF4-FFF2-40B4-BE49-F238E27FC236}">
                <a16:creationId xmlns:a16="http://schemas.microsoft.com/office/drawing/2014/main" id="{642B139A-FC07-2EE4-2DD0-E0E633038160}"/>
              </a:ext>
            </a:extLst>
          </p:cNvPr>
          <p:cNvSpPr txBox="1"/>
          <p:nvPr/>
        </p:nvSpPr>
        <p:spPr>
          <a:xfrm>
            <a:off x="8331200" y="23495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5.86%</a:t>
            </a:r>
          </a:p>
        </p:txBody>
      </p:sp>
      <p:sp>
        <p:nvSpPr>
          <p:cNvPr id="28" name="TextBox 27">
            <a:extLst>
              <a:ext uri="{FF2B5EF4-FFF2-40B4-BE49-F238E27FC236}">
                <a16:creationId xmlns:a16="http://schemas.microsoft.com/office/drawing/2014/main" id="{1D41DB4C-E922-AB7E-7191-06C83A673575}"/>
              </a:ext>
            </a:extLst>
          </p:cNvPr>
          <p:cNvSpPr txBox="1"/>
          <p:nvPr/>
        </p:nvSpPr>
        <p:spPr>
          <a:xfrm>
            <a:off x="9575800" y="23495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$0.38</a:t>
            </a:r>
          </a:p>
        </p:txBody>
      </p:sp>
      <p:sp>
        <p:nvSpPr>
          <p:cNvPr id="29" name="TextBox 28">
            <a:extLst>
              <a:ext uri="{FF2B5EF4-FFF2-40B4-BE49-F238E27FC236}">
                <a16:creationId xmlns:a16="http://schemas.microsoft.com/office/drawing/2014/main" id="{3987A4FF-4B51-E258-6E27-688D1EFC6B67}"/>
              </a:ext>
            </a:extLst>
          </p:cNvPr>
          <p:cNvSpPr txBox="1"/>
          <p:nvPr/>
        </p:nvSpPr>
        <p:spPr>
          <a:xfrm>
            <a:off x="685800" y="28448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30" name="TextBox 29">
            <a:extLst>
              <a:ext uri="{FF2B5EF4-FFF2-40B4-BE49-F238E27FC236}">
                <a16:creationId xmlns:a16="http://schemas.microsoft.com/office/drawing/2014/main" id="{75A3B62C-499F-9997-C680-BC4E197A8C60}"/>
              </a:ext>
            </a:extLst>
          </p:cNvPr>
          <p:cNvSpPr txBox="1"/>
          <p:nvPr/>
        </p:nvSpPr>
        <p:spPr>
          <a:xfrm>
            <a:off x="4089400" y="28448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$21.03</a:t>
            </a:r>
          </a:p>
        </p:txBody>
      </p:sp>
      <p:sp>
        <p:nvSpPr>
          <p:cNvPr id="31" name="TextBox 30">
            <a:extLst>
              <a:ext uri="{FF2B5EF4-FFF2-40B4-BE49-F238E27FC236}">
                <a16:creationId xmlns:a16="http://schemas.microsoft.com/office/drawing/2014/main" id="{6C09C935-AE83-2CFC-9287-7DF353358430}"/>
              </a:ext>
            </a:extLst>
          </p:cNvPr>
          <p:cNvSpPr txBox="1"/>
          <p:nvPr/>
        </p:nvSpPr>
        <p:spPr>
          <a:xfrm>
            <a:off x="5499100" y="28448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418</a:t>
            </a:r>
          </a:p>
        </p:txBody>
      </p:sp>
      <p:sp>
        <p:nvSpPr>
          <p:cNvPr id="32" name="TextBox 31">
            <a:extLst>
              <a:ext uri="{FF2B5EF4-FFF2-40B4-BE49-F238E27FC236}">
                <a16:creationId xmlns:a16="http://schemas.microsoft.com/office/drawing/2014/main" id="{AB828FFF-08B2-C735-1CFA-46658EF9CCA9}"/>
              </a:ext>
            </a:extLst>
          </p:cNvPr>
          <p:cNvSpPr txBox="1"/>
          <p:nvPr/>
        </p:nvSpPr>
        <p:spPr>
          <a:xfrm>
            <a:off x="7061200" y="28448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42</a:t>
            </a:r>
          </a:p>
        </p:txBody>
      </p:sp>
      <p:sp>
        <p:nvSpPr>
          <p:cNvPr id="33" name="TextBox 32">
            <a:extLst>
              <a:ext uri="{FF2B5EF4-FFF2-40B4-BE49-F238E27FC236}">
                <a16:creationId xmlns:a16="http://schemas.microsoft.com/office/drawing/2014/main" id="{C6914D76-CFEF-8972-AB85-A83FCADB9C3A}"/>
              </a:ext>
            </a:extLst>
          </p:cNvPr>
          <p:cNvSpPr txBox="1"/>
          <p:nvPr/>
        </p:nvSpPr>
        <p:spPr>
          <a:xfrm>
            <a:off x="8331200" y="28448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10.05%</a:t>
            </a:r>
          </a:p>
        </p:txBody>
      </p:sp>
      <p:sp>
        <p:nvSpPr>
          <p:cNvPr id="34" name="TextBox 33">
            <a:extLst>
              <a:ext uri="{FF2B5EF4-FFF2-40B4-BE49-F238E27FC236}">
                <a16:creationId xmlns:a16="http://schemas.microsoft.com/office/drawing/2014/main" id="{900B4F69-876F-490A-A80E-AD100689F4AE}"/>
              </a:ext>
            </a:extLst>
          </p:cNvPr>
          <p:cNvSpPr txBox="1"/>
          <p:nvPr/>
        </p:nvSpPr>
        <p:spPr>
          <a:xfrm>
            <a:off x="9575800" y="28448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$0.50</a:t>
            </a:r>
          </a:p>
        </p:txBody>
      </p:sp>
      <p:sp>
        <p:nvSpPr>
          <p:cNvPr id="35" name="Rectangle 34">
            <a:extLst>
              <a:ext uri="{FF2B5EF4-FFF2-40B4-BE49-F238E27FC236}">
                <a16:creationId xmlns:a16="http://schemas.microsoft.com/office/drawing/2014/main" id="{4BBBA182-AF47-62DA-D778-D865413B9263}"/>
              </a:ext>
            </a:extLst>
          </p:cNvPr>
          <p:cNvSpPr/>
          <p:nvPr/>
        </p:nvSpPr>
        <p:spPr>
          <a:xfrm>
            <a:off x="685800" y="32893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05532D7-35F9-382D-CE9E-E907696161CE}"/>
              </a:ext>
            </a:extLst>
          </p:cNvPr>
          <p:cNvSpPr txBox="1"/>
          <p:nvPr/>
        </p:nvSpPr>
        <p:spPr>
          <a:xfrm>
            <a:off x="685800" y="33401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37" name="TextBox 36">
            <a:extLst>
              <a:ext uri="{FF2B5EF4-FFF2-40B4-BE49-F238E27FC236}">
                <a16:creationId xmlns:a16="http://schemas.microsoft.com/office/drawing/2014/main" id="{EEA96C25-5DE7-3FF8-BBA8-AC49585F5FE0}"/>
              </a:ext>
            </a:extLst>
          </p:cNvPr>
          <p:cNvSpPr txBox="1"/>
          <p:nvPr/>
        </p:nvSpPr>
        <p:spPr>
          <a:xfrm>
            <a:off x="4089400" y="33401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$13.07</a:t>
            </a:r>
          </a:p>
        </p:txBody>
      </p:sp>
      <p:sp>
        <p:nvSpPr>
          <p:cNvPr id="38" name="TextBox 37">
            <a:extLst>
              <a:ext uri="{FF2B5EF4-FFF2-40B4-BE49-F238E27FC236}">
                <a16:creationId xmlns:a16="http://schemas.microsoft.com/office/drawing/2014/main" id="{7E769B09-9C6F-6DA6-791C-6EFDC8F2FF44}"/>
              </a:ext>
            </a:extLst>
          </p:cNvPr>
          <p:cNvSpPr txBox="1"/>
          <p:nvPr/>
        </p:nvSpPr>
        <p:spPr>
          <a:xfrm>
            <a:off x="5499100" y="33401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634</a:t>
            </a:r>
          </a:p>
        </p:txBody>
      </p:sp>
      <p:sp>
        <p:nvSpPr>
          <p:cNvPr id="39" name="TextBox 38">
            <a:extLst>
              <a:ext uri="{FF2B5EF4-FFF2-40B4-BE49-F238E27FC236}">
                <a16:creationId xmlns:a16="http://schemas.microsoft.com/office/drawing/2014/main" id="{264D57C6-AAFD-0484-5C5F-F396EEA8212A}"/>
              </a:ext>
            </a:extLst>
          </p:cNvPr>
          <p:cNvSpPr txBox="1"/>
          <p:nvPr/>
        </p:nvSpPr>
        <p:spPr>
          <a:xfrm>
            <a:off x="7061200" y="33401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28</a:t>
            </a:r>
          </a:p>
        </p:txBody>
      </p:sp>
      <p:sp>
        <p:nvSpPr>
          <p:cNvPr id="40" name="TextBox 39">
            <a:extLst>
              <a:ext uri="{FF2B5EF4-FFF2-40B4-BE49-F238E27FC236}">
                <a16:creationId xmlns:a16="http://schemas.microsoft.com/office/drawing/2014/main" id="{EFDDFDD6-E6AF-383D-C7FB-6B0E93E2466F}"/>
              </a:ext>
            </a:extLst>
          </p:cNvPr>
          <p:cNvSpPr txBox="1"/>
          <p:nvPr/>
        </p:nvSpPr>
        <p:spPr>
          <a:xfrm>
            <a:off x="8331200" y="33401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4.42%</a:t>
            </a:r>
          </a:p>
        </p:txBody>
      </p:sp>
      <p:sp>
        <p:nvSpPr>
          <p:cNvPr id="41" name="TextBox 40">
            <a:extLst>
              <a:ext uri="{FF2B5EF4-FFF2-40B4-BE49-F238E27FC236}">
                <a16:creationId xmlns:a16="http://schemas.microsoft.com/office/drawing/2014/main" id="{6EBB3703-A7B8-A7CC-A174-102A3A24F106}"/>
              </a:ext>
            </a:extLst>
          </p:cNvPr>
          <p:cNvSpPr txBox="1"/>
          <p:nvPr/>
        </p:nvSpPr>
        <p:spPr>
          <a:xfrm>
            <a:off x="9575800" y="33401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$0.47</a:t>
            </a:r>
          </a:p>
        </p:txBody>
      </p:sp>
      <p:sp>
        <p:nvSpPr>
          <p:cNvPr id="42" name="Rectangle 41">
            <a:extLst>
              <a:ext uri="{FF2B5EF4-FFF2-40B4-BE49-F238E27FC236}">
                <a16:creationId xmlns:a16="http://schemas.microsoft.com/office/drawing/2014/main" id="{F015EC2D-0E9B-00D8-B699-881B62A03D75}"/>
              </a:ext>
            </a:extLst>
          </p:cNvPr>
          <p:cNvSpPr/>
          <p:nvPr/>
        </p:nvSpPr>
        <p:spPr>
          <a:xfrm>
            <a:off x="685800" y="54483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B60321C-E545-42E1-1FC5-097EDDE14CC0}"/>
              </a:ext>
            </a:extLst>
          </p:cNvPr>
          <p:cNvSpPr txBox="1"/>
          <p:nvPr/>
        </p:nvSpPr>
        <p:spPr>
          <a:xfrm>
            <a:off x="685800" y="56261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FOUR LOCATION TOTAL</a:t>
            </a:r>
          </a:p>
        </p:txBody>
      </p:sp>
      <p:sp>
        <p:nvSpPr>
          <p:cNvPr id="44" name="TextBox 43">
            <a:extLst>
              <a:ext uri="{FF2B5EF4-FFF2-40B4-BE49-F238E27FC236}">
                <a16:creationId xmlns:a16="http://schemas.microsoft.com/office/drawing/2014/main" id="{1FF25D45-0FC8-3010-2707-F7B22976EFF6}"/>
              </a:ext>
            </a:extLst>
          </p:cNvPr>
          <p:cNvSpPr txBox="1"/>
          <p:nvPr/>
        </p:nvSpPr>
        <p:spPr>
          <a:xfrm>
            <a:off x="4089400" y="5626100"/>
            <a:ext cx="11684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$93.47</a:t>
            </a:r>
          </a:p>
        </p:txBody>
      </p:sp>
      <p:sp>
        <p:nvSpPr>
          <p:cNvPr id="45" name="TextBox 44">
            <a:extLst>
              <a:ext uri="{FF2B5EF4-FFF2-40B4-BE49-F238E27FC236}">
                <a16:creationId xmlns:a16="http://schemas.microsoft.com/office/drawing/2014/main" id="{E180BC9E-A5E1-E77B-62D1-90ECBB2F7309}"/>
              </a:ext>
            </a:extLst>
          </p:cNvPr>
          <p:cNvSpPr txBox="1"/>
          <p:nvPr/>
        </p:nvSpPr>
        <p:spPr>
          <a:xfrm>
            <a:off x="5499100" y="5626100"/>
            <a:ext cx="13208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3,411</a:t>
            </a:r>
          </a:p>
        </p:txBody>
      </p:sp>
      <p:sp>
        <p:nvSpPr>
          <p:cNvPr id="46" name="TextBox 45">
            <a:extLst>
              <a:ext uri="{FF2B5EF4-FFF2-40B4-BE49-F238E27FC236}">
                <a16:creationId xmlns:a16="http://schemas.microsoft.com/office/drawing/2014/main" id="{2E802A35-A5A3-0685-4185-F35D9BF7347A}"/>
              </a:ext>
            </a:extLst>
          </p:cNvPr>
          <p:cNvSpPr txBox="1"/>
          <p:nvPr/>
        </p:nvSpPr>
        <p:spPr>
          <a:xfrm>
            <a:off x="7061200" y="56261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244</a:t>
            </a:r>
          </a:p>
        </p:txBody>
      </p:sp>
      <p:sp>
        <p:nvSpPr>
          <p:cNvPr id="47" name="TextBox 46">
            <a:extLst>
              <a:ext uri="{FF2B5EF4-FFF2-40B4-BE49-F238E27FC236}">
                <a16:creationId xmlns:a16="http://schemas.microsoft.com/office/drawing/2014/main" id="{847190C0-8355-BBD5-6B0B-1BE7AE409821}"/>
              </a:ext>
            </a:extLst>
          </p:cNvPr>
          <p:cNvSpPr txBox="1"/>
          <p:nvPr/>
        </p:nvSpPr>
        <p:spPr>
          <a:xfrm>
            <a:off x="8331200" y="5626100"/>
            <a:ext cx="9652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7.15%</a:t>
            </a:r>
          </a:p>
        </p:txBody>
      </p:sp>
      <p:sp>
        <p:nvSpPr>
          <p:cNvPr id="48" name="TextBox 47">
            <a:extLst>
              <a:ext uri="{FF2B5EF4-FFF2-40B4-BE49-F238E27FC236}">
                <a16:creationId xmlns:a16="http://schemas.microsoft.com/office/drawing/2014/main" id="{77581777-822E-70B6-4283-3B4BDD413261}"/>
              </a:ext>
            </a:extLst>
          </p:cNvPr>
          <p:cNvSpPr txBox="1"/>
          <p:nvPr/>
        </p:nvSpPr>
        <p:spPr>
          <a:xfrm>
            <a:off x="9575800" y="56261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$0.38</a:t>
            </a:r>
          </a:p>
        </p:txBody>
      </p:sp>
    </p:spTree>
    <p:extLst>
      <p:ext uri="{BB962C8B-B14F-4D97-AF65-F5344CB8AC3E}">
        <p14:creationId xmlns:p14="http://schemas.microsoft.com/office/powerpoint/2010/main" val="3127224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36776-DA97-E4BB-EC59-C19314B15E5A}"/>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4522C09-B668-89FE-B62E-1A4E1A63F327}"/>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992857CB-489D-C4BF-E9C5-FB528653EFCC}"/>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Clicked directions by location</a:t>
            </a:r>
          </a:p>
        </p:txBody>
      </p:sp>
      <p:sp>
        <p:nvSpPr>
          <p:cNvPr id="5" name="TextBox 4">
            <a:extLst>
              <a:ext uri="{FF2B5EF4-FFF2-40B4-BE49-F238E27FC236}">
                <a16:creationId xmlns:a16="http://schemas.microsoft.com/office/drawing/2014/main" id="{52CB7CD9-6328-B45F-60D2-0EC12CE0A211}"/>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12F8476B-3813-4EFA-86FE-E54BF6894D7E}"/>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152534D-D478-69B6-31DB-820DD61E407A}"/>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1BE12983-05AE-C986-8BC7-BC7A830B89DB}"/>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6</a:t>
            </a:r>
          </a:p>
        </p:txBody>
      </p:sp>
      <p:sp>
        <p:nvSpPr>
          <p:cNvPr id="9" name="TextBox 8">
            <a:extLst>
              <a:ext uri="{FF2B5EF4-FFF2-40B4-BE49-F238E27FC236}">
                <a16:creationId xmlns:a16="http://schemas.microsoft.com/office/drawing/2014/main" id="{B0A3EF84-BB1C-B9CF-8CC0-B5D0A69B6885}"/>
              </a:ext>
            </a:extLst>
          </p:cNvPr>
          <p:cNvSpPr txBox="1"/>
          <p:nvPr/>
        </p:nvSpPr>
        <p:spPr>
          <a:xfrm>
            <a:off x="685800" y="1155700"/>
            <a:ext cx="10160000" cy="184666"/>
          </a:xfrm>
          <a:prstGeom prst="rect">
            <a:avLst/>
          </a:prstGeom>
          <a:noFill/>
        </p:spPr>
        <p:txBody>
          <a:bodyPr vert="horz" wrap="square" lIns="0" tIns="0" rIns="0" bIns="0" rtlCol="0">
            <a:spAutoFit/>
          </a:bodyPr>
          <a:lstStyle/>
          <a:p>
            <a:r>
              <a:rPr lang="en-US" sz="1200">
                <a:solidFill>
                  <a:srgbClr val="5B6760"/>
                </a:solidFill>
                <a:latin typeface="Aptos" panose="020B0004020202020204" pitchFamily="34" charset="0"/>
              </a:rPr>
              <a:t>Direction-click estimates apply the city-specific rates to verified ad clicks. Cost per direction uses weekly spend divided by displayed direction clicks.</a:t>
            </a:r>
          </a:p>
        </p:txBody>
      </p:sp>
      <p:sp>
        <p:nvSpPr>
          <p:cNvPr id="10" name="Rectangle: Rounded Corners 9">
            <a:extLst>
              <a:ext uri="{FF2B5EF4-FFF2-40B4-BE49-F238E27FC236}">
                <a16:creationId xmlns:a16="http://schemas.microsoft.com/office/drawing/2014/main" id="{AE9B3592-2F4A-F92C-9F40-86C87B23E1AD}"/>
              </a:ext>
            </a:extLst>
          </p:cNvPr>
          <p:cNvSpPr/>
          <p:nvPr/>
        </p:nvSpPr>
        <p:spPr>
          <a:xfrm>
            <a:off x="685800" y="1612900"/>
            <a:ext cx="3302000" cy="914400"/>
          </a:xfrm>
          <a:prstGeom prst="round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4BD0846-444C-21EE-6EAD-2AD7896DC82E}"/>
              </a:ext>
            </a:extLst>
          </p:cNvPr>
          <p:cNvSpPr txBox="1"/>
          <p:nvPr/>
        </p:nvSpPr>
        <p:spPr>
          <a:xfrm>
            <a:off x="965200" y="1778000"/>
            <a:ext cx="1016000" cy="415498"/>
          </a:xfrm>
          <a:prstGeom prst="rect">
            <a:avLst/>
          </a:prstGeom>
          <a:noFill/>
        </p:spPr>
        <p:txBody>
          <a:bodyPr vert="horz" wrap="square" lIns="0" tIns="0" rIns="0" bIns="0" rtlCol="0">
            <a:spAutoFit/>
          </a:bodyPr>
          <a:lstStyle/>
          <a:p>
            <a:r>
              <a:rPr lang="en-US" sz="2700" b="1">
                <a:solidFill>
                  <a:srgbClr val="FFFFFF"/>
                </a:solidFill>
                <a:latin typeface="Aptos" panose="020B0004020202020204" pitchFamily="34" charset="0"/>
              </a:rPr>
              <a:t>69</a:t>
            </a:r>
          </a:p>
        </p:txBody>
      </p:sp>
      <p:sp>
        <p:nvSpPr>
          <p:cNvPr id="12" name="TextBox 11">
            <a:extLst>
              <a:ext uri="{FF2B5EF4-FFF2-40B4-BE49-F238E27FC236}">
                <a16:creationId xmlns:a16="http://schemas.microsoft.com/office/drawing/2014/main" id="{2C4C90B5-458A-3F26-A93D-E1FB37A63E5E}"/>
              </a:ext>
            </a:extLst>
          </p:cNvPr>
          <p:cNvSpPr txBox="1"/>
          <p:nvPr/>
        </p:nvSpPr>
        <p:spPr>
          <a:xfrm>
            <a:off x="1803400" y="1854200"/>
            <a:ext cx="1905000" cy="292388"/>
          </a:xfrm>
          <a:prstGeom prst="rect">
            <a:avLst/>
          </a:prstGeom>
          <a:noFill/>
        </p:spPr>
        <p:txBody>
          <a:bodyPr vert="horz" wrap="square" lIns="0" tIns="0" rIns="0" bIns="0" rtlCol="0">
            <a:spAutoFit/>
          </a:bodyPr>
          <a:lstStyle/>
          <a:p>
            <a:r>
              <a:rPr lang="en-US" sz="950" b="1">
                <a:solidFill>
                  <a:srgbClr val="FFFFFF"/>
                </a:solidFill>
                <a:latin typeface="Aptos" panose="020B0004020202020204" pitchFamily="34" charset="0"/>
              </a:rPr>
              <a:t>EST. DIRECTION CLICKS THIS WEEK</a:t>
            </a:r>
          </a:p>
        </p:txBody>
      </p:sp>
      <p:sp>
        <p:nvSpPr>
          <p:cNvPr id="13" name="Rectangle: Rounded Corners 12">
            <a:extLst>
              <a:ext uri="{FF2B5EF4-FFF2-40B4-BE49-F238E27FC236}">
                <a16:creationId xmlns:a16="http://schemas.microsoft.com/office/drawing/2014/main" id="{68EB3E2B-8B11-EEF6-77FA-9BABAD8C39AD}"/>
              </a:ext>
            </a:extLst>
          </p:cNvPr>
          <p:cNvSpPr/>
          <p:nvPr/>
        </p:nvSpPr>
        <p:spPr>
          <a:xfrm>
            <a:off x="4216400" y="1612900"/>
            <a:ext cx="3302000" cy="914400"/>
          </a:xfrm>
          <a:prstGeom prst="roundRect">
            <a:avLst/>
          </a:prstGeom>
          <a:solidFill>
            <a:srgbClr val="E2F0E8"/>
          </a:solidFill>
          <a:ln w="12700" cap="flat" cmpd="sng" algn="ctr">
            <a:noFill/>
            <a:prstDash val="solid"/>
            <a:miter lim="800000"/>
          </a:ln>
          <a:effectLst/>
          <a:extLst>
            <a:ext uri="{91240B29-F687-4F45-9708-019B960494DF}">
              <a14:hiddenLine xmlns:a14="http://schemas.microsoft.com/office/drawing/2010/main" w="12700" cap="flat" cmpd="sng" algn="ctr">
                <a:solidFill>
                  <a:srgbClr val="E2F0E8"/>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3D03AB9-AEDD-D545-70F2-58B872EE631F}"/>
              </a:ext>
            </a:extLst>
          </p:cNvPr>
          <p:cNvSpPr txBox="1"/>
          <p:nvPr/>
        </p:nvSpPr>
        <p:spPr>
          <a:xfrm>
            <a:off x="4495800" y="1778000"/>
            <a:ext cx="1143000" cy="415498"/>
          </a:xfrm>
          <a:prstGeom prst="rect">
            <a:avLst/>
          </a:prstGeom>
          <a:noFill/>
        </p:spPr>
        <p:txBody>
          <a:bodyPr vert="horz" wrap="square" lIns="0" tIns="0" rIns="0" bIns="0" rtlCol="0">
            <a:spAutoFit/>
          </a:bodyPr>
          <a:lstStyle/>
          <a:p>
            <a:r>
              <a:rPr lang="en-US" sz="2700" b="1">
                <a:solidFill>
                  <a:srgbClr val="004E30"/>
                </a:solidFill>
                <a:latin typeface="Aptos" panose="020B0004020202020204" pitchFamily="34" charset="0"/>
              </a:rPr>
              <a:t>$1.35</a:t>
            </a:r>
          </a:p>
        </p:txBody>
      </p:sp>
      <p:sp>
        <p:nvSpPr>
          <p:cNvPr id="15" name="TextBox 14">
            <a:extLst>
              <a:ext uri="{FF2B5EF4-FFF2-40B4-BE49-F238E27FC236}">
                <a16:creationId xmlns:a16="http://schemas.microsoft.com/office/drawing/2014/main" id="{D00A1228-FBC2-0C7D-F566-8B4DCBE17B52}"/>
              </a:ext>
            </a:extLst>
          </p:cNvPr>
          <p:cNvSpPr txBox="1"/>
          <p:nvPr/>
        </p:nvSpPr>
        <p:spPr>
          <a:xfrm>
            <a:off x="5689600" y="1778000"/>
            <a:ext cx="1549400" cy="292388"/>
          </a:xfrm>
          <a:prstGeom prst="rect">
            <a:avLst/>
          </a:prstGeom>
          <a:noFill/>
        </p:spPr>
        <p:txBody>
          <a:bodyPr vert="horz" wrap="square" lIns="0" tIns="0" rIns="0" bIns="0" rtlCol="0">
            <a:spAutoFit/>
          </a:bodyPr>
          <a:lstStyle/>
          <a:p>
            <a:r>
              <a:rPr lang="en-US" sz="950" b="1">
                <a:solidFill>
                  <a:srgbClr val="004E30"/>
                </a:solidFill>
                <a:latin typeface="Aptos" panose="020B0004020202020204" pitchFamily="34" charset="0"/>
              </a:rPr>
              <a:t>BLENDED COST PER
DIRECTION THIS WEEK</a:t>
            </a:r>
          </a:p>
        </p:txBody>
      </p:sp>
      <p:sp>
        <p:nvSpPr>
          <p:cNvPr id="16" name="Rectangle: Rounded Corners 15">
            <a:extLst>
              <a:ext uri="{FF2B5EF4-FFF2-40B4-BE49-F238E27FC236}">
                <a16:creationId xmlns:a16="http://schemas.microsoft.com/office/drawing/2014/main" id="{2BBC8B28-EF05-5EA9-AE8A-7B1B5848690A}"/>
              </a:ext>
            </a:extLst>
          </p:cNvPr>
          <p:cNvSpPr/>
          <p:nvPr/>
        </p:nvSpPr>
        <p:spPr>
          <a:xfrm>
            <a:off x="7747000" y="1612900"/>
            <a:ext cx="3759200" cy="914400"/>
          </a:xfrm>
          <a:prstGeom prst="roundRect">
            <a:avLst/>
          </a:prstGeom>
          <a:solidFill>
            <a:srgbClr val="FFFFFF"/>
          </a:solidFill>
          <a:ln>
            <a:solidFill>
              <a:srgbClr val="DCDF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71C88C-B401-4946-3BC5-C0CCEBC366B4}"/>
              </a:ext>
            </a:extLst>
          </p:cNvPr>
          <p:cNvSpPr txBox="1"/>
          <p:nvPr/>
        </p:nvSpPr>
        <p:spPr>
          <a:xfrm>
            <a:off x="8026400" y="1778000"/>
            <a:ext cx="1270000" cy="415498"/>
          </a:xfrm>
          <a:prstGeom prst="rect">
            <a:avLst/>
          </a:prstGeom>
          <a:noFill/>
        </p:spPr>
        <p:txBody>
          <a:bodyPr vert="horz" wrap="square" lIns="0" tIns="0" rIns="0" bIns="0" rtlCol="0">
            <a:spAutoFit/>
          </a:bodyPr>
          <a:lstStyle/>
          <a:p>
            <a:r>
              <a:rPr lang="en-US" sz="2700" b="1">
                <a:solidFill>
                  <a:srgbClr val="181F1B"/>
                </a:solidFill>
                <a:latin typeface="Aptos" panose="020B0004020202020204" pitchFamily="34" charset="0"/>
              </a:rPr>
              <a:t>541</a:t>
            </a:r>
          </a:p>
        </p:txBody>
      </p:sp>
      <p:sp>
        <p:nvSpPr>
          <p:cNvPr id="18" name="TextBox 17">
            <a:extLst>
              <a:ext uri="{FF2B5EF4-FFF2-40B4-BE49-F238E27FC236}">
                <a16:creationId xmlns:a16="http://schemas.microsoft.com/office/drawing/2014/main" id="{94AA9D8B-4A7C-D0E7-1C87-1D5AABFF57B3}"/>
              </a:ext>
            </a:extLst>
          </p:cNvPr>
          <p:cNvSpPr txBox="1"/>
          <p:nvPr/>
        </p:nvSpPr>
        <p:spPr>
          <a:xfrm>
            <a:off x="9398000" y="1778000"/>
            <a:ext cx="1803400" cy="292388"/>
          </a:xfrm>
          <a:prstGeom prst="rect">
            <a:avLst/>
          </a:prstGeom>
          <a:noFill/>
        </p:spPr>
        <p:txBody>
          <a:bodyPr vert="horz" wrap="square" lIns="0" tIns="0" rIns="0" bIns="0" rtlCol="0">
            <a:spAutoFit/>
          </a:bodyPr>
          <a:lstStyle/>
          <a:p>
            <a:r>
              <a:rPr lang="en-US" sz="950" b="1">
                <a:solidFill>
                  <a:srgbClr val="5B6760"/>
                </a:solidFill>
                <a:latin typeface="Aptos" panose="020B0004020202020204" pitchFamily="34" charset="0"/>
              </a:rPr>
              <a:t>EST. DIRECTION CLICKS
CAMPAIGN TO DATE</a:t>
            </a:r>
          </a:p>
        </p:txBody>
      </p:sp>
      <p:sp>
        <p:nvSpPr>
          <p:cNvPr id="19" name="Rectangle 18">
            <a:extLst>
              <a:ext uri="{FF2B5EF4-FFF2-40B4-BE49-F238E27FC236}">
                <a16:creationId xmlns:a16="http://schemas.microsoft.com/office/drawing/2014/main" id="{F4458EBB-586D-DEA2-2C48-A2423174A7B8}"/>
              </a:ext>
            </a:extLst>
          </p:cNvPr>
          <p:cNvSpPr/>
          <p:nvPr/>
        </p:nvSpPr>
        <p:spPr>
          <a:xfrm>
            <a:off x="685800" y="2832100"/>
            <a:ext cx="10820400" cy="4064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2C72F81-4DE9-1582-38DA-2F7C34D73709}"/>
              </a:ext>
            </a:extLst>
          </p:cNvPr>
          <p:cNvSpPr txBox="1"/>
          <p:nvPr/>
        </p:nvSpPr>
        <p:spPr>
          <a:xfrm>
            <a:off x="685800" y="2959100"/>
            <a:ext cx="1968500" cy="130805"/>
          </a:xfrm>
          <a:prstGeom prst="rect">
            <a:avLst/>
          </a:prstGeom>
          <a:noFill/>
        </p:spPr>
        <p:txBody>
          <a:bodyPr vert="horz" wrap="square" lIns="0" tIns="0" rIns="0" bIns="0" rtlCol="0">
            <a:spAutoFit/>
          </a:bodyPr>
          <a:lstStyle/>
          <a:p>
            <a:r>
              <a:rPr lang="en-US" sz="850" b="1">
                <a:solidFill>
                  <a:srgbClr val="FFFFFF"/>
                </a:solidFill>
                <a:latin typeface="Aptos" panose="020B0004020202020204" pitchFamily="34" charset="0"/>
              </a:rPr>
              <a:t>LOCATION</a:t>
            </a:r>
          </a:p>
        </p:txBody>
      </p:sp>
      <p:sp>
        <p:nvSpPr>
          <p:cNvPr id="21" name="TextBox 20">
            <a:extLst>
              <a:ext uri="{FF2B5EF4-FFF2-40B4-BE49-F238E27FC236}">
                <a16:creationId xmlns:a16="http://schemas.microsoft.com/office/drawing/2014/main" id="{D40694AA-7A01-3D9C-43FD-2084BAF26977}"/>
              </a:ext>
            </a:extLst>
          </p:cNvPr>
          <p:cNvSpPr txBox="1"/>
          <p:nvPr/>
        </p:nvSpPr>
        <p:spPr>
          <a:xfrm>
            <a:off x="2794000" y="2959100"/>
            <a:ext cx="10160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WEEK CLICKS</a:t>
            </a:r>
          </a:p>
        </p:txBody>
      </p:sp>
      <p:sp>
        <p:nvSpPr>
          <p:cNvPr id="22" name="TextBox 21">
            <a:extLst>
              <a:ext uri="{FF2B5EF4-FFF2-40B4-BE49-F238E27FC236}">
                <a16:creationId xmlns:a16="http://schemas.microsoft.com/office/drawing/2014/main" id="{604C73AB-EADF-5909-E3C2-31507FF632A1}"/>
              </a:ext>
            </a:extLst>
          </p:cNvPr>
          <p:cNvSpPr txBox="1"/>
          <p:nvPr/>
        </p:nvSpPr>
        <p:spPr>
          <a:xfrm>
            <a:off x="3962400" y="2959100"/>
            <a:ext cx="6985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RATE</a:t>
            </a:r>
          </a:p>
        </p:txBody>
      </p:sp>
      <p:sp>
        <p:nvSpPr>
          <p:cNvPr id="23" name="TextBox 22">
            <a:extLst>
              <a:ext uri="{FF2B5EF4-FFF2-40B4-BE49-F238E27FC236}">
                <a16:creationId xmlns:a16="http://schemas.microsoft.com/office/drawing/2014/main" id="{16F279A6-47EA-508F-AEA0-DDC1324A9DFF}"/>
              </a:ext>
            </a:extLst>
          </p:cNvPr>
          <p:cNvSpPr txBox="1"/>
          <p:nvPr/>
        </p:nvSpPr>
        <p:spPr>
          <a:xfrm>
            <a:off x="4826000" y="2959100"/>
            <a:ext cx="12065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WEEK DIRECTIONS</a:t>
            </a:r>
          </a:p>
        </p:txBody>
      </p:sp>
      <p:sp>
        <p:nvSpPr>
          <p:cNvPr id="24" name="TextBox 23">
            <a:extLst>
              <a:ext uri="{FF2B5EF4-FFF2-40B4-BE49-F238E27FC236}">
                <a16:creationId xmlns:a16="http://schemas.microsoft.com/office/drawing/2014/main" id="{E44530E2-936C-6B52-62DB-03BF6E23B770}"/>
              </a:ext>
            </a:extLst>
          </p:cNvPr>
          <p:cNvSpPr txBox="1"/>
          <p:nvPr/>
        </p:nvSpPr>
        <p:spPr>
          <a:xfrm>
            <a:off x="6197600" y="2959100"/>
            <a:ext cx="11430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COST / DIRECTION</a:t>
            </a:r>
          </a:p>
        </p:txBody>
      </p:sp>
      <p:sp>
        <p:nvSpPr>
          <p:cNvPr id="25" name="TextBox 24">
            <a:extLst>
              <a:ext uri="{FF2B5EF4-FFF2-40B4-BE49-F238E27FC236}">
                <a16:creationId xmlns:a16="http://schemas.microsoft.com/office/drawing/2014/main" id="{16BD4575-9B76-5ED5-75B7-7531C15216E3}"/>
              </a:ext>
            </a:extLst>
          </p:cNvPr>
          <p:cNvSpPr txBox="1"/>
          <p:nvPr/>
        </p:nvSpPr>
        <p:spPr>
          <a:xfrm>
            <a:off x="7543800" y="2959100"/>
            <a:ext cx="13335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LIFETIME CLICKS</a:t>
            </a:r>
          </a:p>
        </p:txBody>
      </p:sp>
      <p:sp>
        <p:nvSpPr>
          <p:cNvPr id="26" name="TextBox 25">
            <a:extLst>
              <a:ext uri="{FF2B5EF4-FFF2-40B4-BE49-F238E27FC236}">
                <a16:creationId xmlns:a16="http://schemas.microsoft.com/office/drawing/2014/main" id="{55D77D20-B659-9E83-CC5F-1B5A8AE93715}"/>
              </a:ext>
            </a:extLst>
          </p:cNvPr>
          <p:cNvSpPr txBox="1"/>
          <p:nvPr/>
        </p:nvSpPr>
        <p:spPr>
          <a:xfrm>
            <a:off x="9080500" y="2959100"/>
            <a:ext cx="1727200" cy="130805"/>
          </a:xfrm>
          <a:prstGeom prst="rect">
            <a:avLst/>
          </a:prstGeom>
          <a:noFill/>
        </p:spPr>
        <p:txBody>
          <a:bodyPr vert="horz" wrap="square" lIns="0" tIns="0" rIns="0" bIns="0" rtlCol="0">
            <a:spAutoFit/>
          </a:bodyPr>
          <a:lstStyle/>
          <a:p>
            <a:pPr algn="r"/>
            <a:r>
              <a:rPr lang="en-US" sz="850" b="1">
                <a:solidFill>
                  <a:srgbClr val="FFFFFF"/>
                </a:solidFill>
                <a:latin typeface="Aptos" panose="020B0004020202020204" pitchFamily="34" charset="0"/>
              </a:rPr>
              <a:t>LIFETIME DIRECTIONS</a:t>
            </a:r>
          </a:p>
        </p:txBody>
      </p:sp>
      <p:sp>
        <p:nvSpPr>
          <p:cNvPr id="27" name="TextBox 26">
            <a:extLst>
              <a:ext uri="{FF2B5EF4-FFF2-40B4-BE49-F238E27FC236}">
                <a16:creationId xmlns:a16="http://schemas.microsoft.com/office/drawing/2014/main" id="{B816D6CE-F9A9-6971-2743-2362327EA0E6}"/>
              </a:ext>
            </a:extLst>
          </p:cNvPr>
          <p:cNvSpPr txBox="1"/>
          <p:nvPr/>
        </p:nvSpPr>
        <p:spPr>
          <a:xfrm>
            <a:off x="685800" y="3352800"/>
            <a:ext cx="1968500" cy="161583"/>
          </a:xfrm>
          <a:prstGeom prst="rect">
            <a:avLst/>
          </a:prstGeom>
          <a:noFill/>
        </p:spPr>
        <p:txBody>
          <a:bodyPr vert="horz" wrap="square" lIns="0" tIns="0" rIns="0" bIns="0" rtlCol="0">
            <a:spAutoFit/>
          </a:bodyPr>
          <a:lstStyle/>
          <a:p>
            <a:r>
              <a:rPr lang="en-US" sz="1050" b="1">
                <a:solidFill>
                  <a:srgbClr val="181F1B"/>
                </a:solidFill>
                <a:latin typeface="Aptos" panose="020B0004020202020204" pitchFamily="34" charset="0"/>
              </a:rPr>
              <a:t>Torrey Del Mar</a:t>
            </a:r>
          </a:p>
        </p:txBody>
      </p:sp>
      <p:sp>
        <p:nvSpPr>
          <p:cNvPr id="28" name="TextBox 27">
            <a:extLst>
              <a:ext uri="{FF2B5EF4-FFF2-40B4-BE49-F238E27FC236}">
                <a16:creationId xmlns:a16="http://schemas.microsoft.com/office/drawing/2014/main" id="{CC911D1C-1CE8-528F-2B13-738E5427FF90}"/>
              </a:ext>
            </a:extLst>
          </p:cNvPr>
          <p:cNvSpPr txBox="1"/>
          <p:nvPr/>
        </p:nvSpPr>
        <p:spPr>
          <a:xfrm>
            <a:off x="2794000" y="3352800"/>
            <a:ext cx="10160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107</a:t>
            </a:r>
          </a:p>
        </p:txBody>
      </p:sp>
      <p:sp>
        <p:nvSpPr>
          <p:cNvPr id="29" name="TextBox 28">
            <a:extLst>
              <a:ext uri="{FF2B5EF4-FFF2-40B4-BE49-F238E27FC236}">
                <a16:creationId xmlns:a16="http://schemas.microsoft.com/office/drawing/2014/main" id="{60B8F111-EF80-FFAC-8B7A-13A0B7D12DFD}"/>
              </a:ext>
            </a:extLst>
          </p:cNvPr>
          <p:cNvSpPr txBox="1"/>
          <p:nvPr/>
        </p:nvSpPr>
        <p:spPr>
          <a:xfrm>
            <a:off x="3962400" y="3352800"/>
            <a:ext cx="698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33%</a:t>
            </a:r>
          </a:p>
        </p:txBody>
      </p:sp>
      <p:sp>
        <p:nvSpPr>
          <p:cNvPr id="30" name="TextBox 29">
            <a:extLst>
              <a:ext uri="{FF2B5EF4-FFF2-40B4-BE49-F238E27FC236}">
                <a16:creationId xmlns:a16="http://schemas.microsoft.com/office/drawing/2014/main" id="{AEBC4D01-49B3-3091-A3F8-BE07B7FED11C}"/>
              </a:ext>
            </a:extLst>
          </p:cNvPr>
          <p:cNvSpPr txBox="1"/>
          <p:nvPr/>
        </p:nvSpPr>
        <p:spPr>
          <a:xfrm>
            <a:off x="4826000" y="3352800"/>
            <a:ext cx="12065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35</a:t>
            </a:r>
          </a:p>
        </p:txBody>
      </p:sp>
      <p:sp>
        <p:nvSpPr>
          <p:cNvPr id="31" name="TextBox 30">
            <a:extLst>
              <a:ext uri="{FF2B5EF4-FFF2-40B4-BE49-F238E27FC236}">
                <a16:creationId xmlns:a16="http://schemas.microsoft.com/office/drawing/2014/main" id="{E19FD59C-190B-5274-B36D-0438B3B35A33}"/>
              </a:ext>
            </a:extLst>
          </p:cNvPr>
          <p:cNvSpPr txBox="1"/>
          <p:nvPr/>
        </p:nvSpPr>
        <p:spPr>
          <a:xfrm>
            <a:off x="6197600" y="3352800"/>
            <a:ext cx="1143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$0.97</a:t>
            </a:r>
          </a:p>
        </p:txBody>
      </p:sp>
      <p:sp>
        <p:nvSpPr>
          <p:cNvPr id="32" name="TextBox 31">
            <a:extLst>
              <a:ext uri="{FF2B5EF4-FFF2-40B4-BE49-F238E27FC236}">
                <a16:creationId xmlns:a16="http://schemas.microsoft.com/office/drawing/2014/main" id="{72929293-B93D-0B1A-E21D-C783323ECA70}"/>
              </a:ext>
            </a:extLst>
          </p:cNvPr>
          <p:cNvSpPr txBox="1"/>
          <p:nvPr/>
        </p:nvSpPr>
        <p:spPr>
          <a:xfrm>
            <a:off x="7543800" y="3352800"/>
            <a:ext cx="1333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614</a:t>
            </a:r>
          </a:p>
        </p:txBody>
      </p:sp>
      <p:sp>
        <p:nvSpPr>
          <p:cNvPr id="33" name="TextBox 32">
            <a:extLst>
              <a:ext uri="{FF2B5EF4-FFF2-40B4-BE49-F238E27FC236}">
                <a16:creationId xmlns:a16="http://schemas.microsoft.com/office/drawing/2014/main" id="{9FD95DFF-E65E-EDC4-7AD9-CC0A8DDC4A79}"/>
              </a:ext>
            </a:extLst>
          </p:cNvPr>
          <p:cNvSpPr txBox="1"/>
          <p:nvPr/>
        </p:nvSpPr>
        <p:spPr>
          <a:xfrm>
            <a:off x="9080500" y="3352800"/>
            <a:ext cx="17272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203</a:t>
            </a:r>
          </a:p>
        </p:txBody>
      </p:sp>
      <p:sp>
        <p:nvSpPr>
          <p:cNvPr id="34" name="Rectangle 33">
            <a:extLst>
              <a:ext uri="{FF2B5EF4-FFF2-40B4-BE49-F238E27FC236}">
                <a16:creationId xmlns:a16="http://schemas.microsoft.com/office/drawing/2014/main" id="{10EF89A8-90F2-2680-A886-B3C54574D315}"/>
              </a:ext>
            </a:extLst>
          </p:cNvPr>
          <p:cNvSpPr/>
          <p:nvPr/>
        </p:nvSpPr>
        <p:spPr>
          <a:xfrm>
            <a:off x="685800" y="37973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806260F-9DA5-9ECA-24E9-FE4EC88FF6C1}"/>
              </a:ext>
            </a:extLst>
          </p:cNvPr>
          <p:cNvSpPr txBox="1"/>
          <p:nvPr/>
        </p:nvSpPr>
        <p:spPr>
          <a:xfrm>
            <a:off x="685800" y="3848100"/>
            <a:ext cx="1968500" cy="161583"/>
          </a:xfrm>
          <a:prstGeom prst="rect">
            <a:avLst/>
          </a:prstGeom>
          <a:noFill/>
        </p:spPr>
        <p:txBody>
          <a:bodyPr vert="horz" wrap="square" lIns="0" tIns="0" rIns="0" bIns="0" rtlCol="0">
            <a:spAutoFit/>
          </a:bodyPr>
          <a:lstStyle/>
          <a:p>
            <a:r>
              <a:rPr lang="en-US" sz="1050" b="1">
                <a:solidFill>
                  <a:srgbClr val="181F1B"/>
                </a:solidFill>
                <a:latin typeface="Aptos" panose="020B0004020202020204" pitchFamily="34" charset="0"/>
              </a:rPr>
              <a:t>Miramar</a:t>
            </a:r>
          </a:p>
        </p:txBody>
      </p:sp>
      <p:sp>
        <p:nvSpPr>
          <p:cNvPr id="36" name="TextBox 35">
            <a:extLst>
              <a:ext uri="{FF2B5EF4-FFF2-40B4-BE49-F238E27FC236}">
                <a16:creationId xmlns:a16="http://schemas.microsoft.com/office/drawing/2014/main" id="{EBD618AC-5695-22D1-2311-BF2706FCC31C}"/>
              </a:ext>
            </a:extLst>
          </p:cNvPr>
          <p:cNvSpPr txBox="1"/>
          <p:nvPr/>
        </p:nvSpPr>
        <p:spPr>
          <a:xfrm>
            <a:off x="2794000" y="3848100"/>
            <a:ext cx="10160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67</a:t>
            </a:r>
          </a:p>
        </p:txBody>
      </p:sp>
      <p:sp>
        <p:nvSpPr>
          <p:cNvPr id="37" name="TextBox 36">
            <a:extLst>
              <a:ext uri="{FF2B5EF4-FFF2-40B4-BE49-F238E27FC236}">
                <a16:creationId xmlns:a16="http://schemas.microsoft.com/office/drawing/2014/main" id="{EBAF0367-6E73-F6B7-3DCD-74292913F37B}"/>
              </a:ext>
            </a:extLst>
          </p:cNvPr>
          <p:cNvSpPr txBox="1"/>
          <p:nvPr/>
        </p:nvSpPr>
        <p:spPr>
          <a:xfrm>
            <a:off x="3962400" y="3848100"/>
            <a:ext cx="698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26%</a:t>
            </a:r>
          </a:p>
        </p:txBody>
      </p:sp>
      <p:sp>
        <p:nvSpPr>
          <p:cNvPr id="38" name="TextBox 37">
            <a:extLst>
              <a:ext uri="{FF2B5EF4-FFF2-40B4-BE49-F238E27FC236}">
                <a16:creationId xmlns:a16="http://schemas.microsoft.com/office/drawing/2014/main" id="{4CED801F-2BDA-F7EB-F914-6E2854703300}"/>
              </a:ext>
            </a:extLst>
          </p:cNvPr>
          <p:cNvSpPr txBox="1"/>
          <p:nvPr/>
        </p:nvSpPr>
        <p:spPr>
          <a:xfrm>
            <a:off x="4826000" y="3848100"/>
            <a:ext cx="12065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17</a:t>
            </a:r>
          </a:p>
        </p:txBody>
      </p:sp>
      <p:sp>
        <p:nvSpPr>
          <p:cNvPr id="39" name="TextBox 38">
            <a:extLst>
              <a:ext uri="{FF2B5EF4-FFF2-40B4-BE49-F238E27FC236}">
                <a16:creationId xmlns:a16="http://schemas.microsoft.com/office/drawing/2014/main" id="{B32234D8-B360-DE55-C9E4-825757869587}"/>
              </a:ext>
            </a:extLst>
          </p:cNvPr>
          <p:cNvSpPr txBox="1"/>
          <p:nvPr/>
        </p:nvSpPr>
        <p:spPr>
          <a:xfrm>
            <a:off x="6197600" y="3848100"/>
            <a:ext cx="1143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$1.50</a:t>
            </a:r>
          </a:p>
        </p:txBody>
      </p:sp>
      <p:sp>
        <p:nvSpPr>
          <p:cNvPr id="40" name="TextBox 39">
            <a:extLst>
              <a:ext uri="{FF2B5EF4-FFF2-40B4-BE49-F238E27FC236}">
                <a16:creationId xmlns:a16="http://schemas.microsoft.com/office/drawing/2014/main" id="{B7F213CD-E72E-D006-B162-DC26DBFAF8BD}"/>
              </a:ext>
            </a:extLst>
          </p:cNvPr>
          <p:cNvSpPr txBox="1"/>
          <p:nvPr/>
        </p:nvSpPr>
        <p:spPr>
          <a:xfrm>
            <a:off x="7543800" y="3848100"/>
            <a:ext cx="1333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677</a:t>
            </a:r>
          </a:p>
        </p:txBody>
      </p:sp>
      <p:sp>
        <p:nvSpPr>
          <p:cNvPr id="41" name="TextBox 40">
            <a:extLst>
              <a:ext uri="{FF2B5EF4-FFF2-40B4-BE49-F238E27FC236}">
                <a16:creationId xmlns:a16="http://schemas.microsoft.com/office/drawing/2014/main" id="{81D65EBA-DD78-9AD1-18E3-FBF2EB670732}"/>
              </a:ext>
            </a:extLst>
          </p:cNvPr>
          <p:cNvSpPr txBox="1"/>
          <p:nvPr/>
        </p:nvSpPr>
        <p:spPr>
          <a:xfrm>
            <a:off x="9080500" y="3848100"/>
            <a:ext cx="17272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176</a:t>
            </a:r>
          </a:p>
        </p:txBody>
      </p:sp>
      <p:sp>
        <p:nvSpPr>
          <p:cNvPr id="42" name="TextBox 41">
            <a:extLst>
              <a:ext uri="{FF2B5EF4-FFF2-40B4-BE49-F238E27FC236}">
                <a16:creationId xmlns:a16="http://schemas.microsoft.com/office/drawing/2014/main" id="{6E13CD84-6478-EDD9-A6C7-B74F121AE5F6}"/>
              </a:ext>
            </a:extLst>
          </p:cNvPr>
          <p:cNvSpPr txBox="1"/>
          <p:nvPr/>
        </p:nvSpPr>
        <p:spPr>
          <a:xfrm>
            <a:off x="685800" y="4343400"/>
            <a:ext cx="1968500" cy="161583"/>
          </a:xfrm>
          <a:prstGeom prst="rect">
            <a:avLst/>
          </a:prstGeom>
          <a:noFill/>
        </p:spPr>
        <p:txBody>
          <a:bodyPr vert="horz" wrap="square" lIns="0" tIns="0" rIns="0" bIns="0" rtlCol="0">
            <a:spAutoFit/>
          </a:bodyPr>
          <a:lstStyle/>
          <a:p>
            <a:r>
              <a:rPr lang="en-US" sz="1050" b="1">
                <a:solidFill>
                  <a:srgbClr val="181F1B"/>
                </a:solidFill>
                <a:latin typeface="Aptos" panose="020B0004020202020204" pitchFamily="34" charset="0"/>
              </a:rPr>
              <a:t>Carmel Mountain</a:t>
            </a:r>
          </a:p>
        </p:txBody>
      </p:sp>
      <p:sp>
        <p:nvSpPr>
          <p:cNvPr id="43" name="TextBox 42">
            <a:extLst>
              <a:ext uri="{FF2B5EF4-FFF2-40B4-BE49-F238E27FC236}">
                <a16:creationId xmlns:a16="http://schemas.microsoft.com/office/drawing/2014/main" id="{69E4C3B6-8BDE-7D29-C465-A6F26BA62E67}"/>
              </a:ext>
            </a:extLst>
          </p:cNvPr>
          <p:cNvSpPr txBox="1"/>
          <p:nvPr/>
        </p:nvSpPr>
        <p:spPr>
          <a:xfrm>
            <a:off x="2794000" y="4343400"/>
            <a:ext cx="10160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42</a:t>
            </a:r>
          </a:p>
        </p:txBody>
      </p:sp>
      <p:sp>
        <p:nvSpPr>
          <p:cNvPr id="44" name="TextBox 43">
            <a:extLst>
              <a:ext uri="{FF2B5EF4-FFF2-40B4-BE49-F238E27FC236}">
                <a16:creationId xmlns:a16="http://schemas.microsoft.com/office/drawing/2014/main" id="{C0283070-49E8-7E23-6D93-9D4078260FE1}"/>
              </a:ext>
            </a:extLst>
          </p:cNvPr>
          <p:cNvSpPr txBox="1"/>
          <p:nvPr/>
        </p:nvSpPr>
        <p:spPr>
          <a:xfrm>
            <a:off x="3962400" y="4343400"/>
            <a:ext cx="698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22%</a:t>
            </a:r>
          </a:p>
        </p:txBody>
      </p:sp>
      <p:sp>
        <p:nvSpPr>
          <p:cNvPr id="45" name="TextBox 44">
            <a:extLst>
              <a:ext uri="{FF2B5EF4-FFF2-40B4-BE49-F238E27FC236}">
                <a16:creationId xmlns:a16="http://schemas.microsoft.com/office/drawing/2014/main" id="{1CB1B31B-32DB-80DF-E6AA-22B28BEC5EAA}"/>
              </a:ext>
            </a:extLst>
          </p:cNvPr>
          <p:cNvSpPr txBox="1"/>
          <p:nvPr/>
        </p:nvSpPr>
        <p:spPr>
          <a:xfrm>
            <a:off x="4826000" y="4343400"/>
            <a:ext cx="12065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9</a:t>
            </a:r>
          </a:p>
        </p:txBody>
      </p:sp>
      <p:sp>
        <p:nvSpPr>
          <p:cNvPr id="46" name="TextBox 45">
            <a:extLst>
              <a:ext uri="{FF2B5EF4-FFF2-40B4-BE49-F238E27FC236}">
                <a16:creationId xmlns:a16="http://schemas.microsoft.com/office/drawing/2014/main" id="{FBD245BB-8EAC-C4A3-6AB9-3C227ED6E342}"/>
              </a:ext>
            </a:extLst>
          </p:cNvPr>
          <p:cNvSpPr txBox="1"/>
          <p:nvPr/>
        </p:nvSpPr>
        <p:spPr>
          <a:xfrm>
            <a:off x="6197600" y="4343400"/>
            <a:ext cx="1143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$2.34</a:t>
            </a:r>
          </a:p>
        </p:txBody>
      </p:sp>
      <p:sp>
        <p:nvSpPr>
          <p:cNvPr id="47" name="TextBox 46">
            <a:extLst>
              <a:ext uri="{FF2B5EF4-FFF2-40B4-BE49-F238E27FC236}">
                <a16:creationId xmlns:a16="http://schemas.microsoft.com/office/drawing/2014/main" id="{CC42CB45-CE21-A3D6-BE32-BF4E7D01EF3F}"/>
              </a:ext>
            </a:extLst>
          </p:cNvPr>
          <p:cNvSpPr txBox="1"/>
          <p:nvPr/>
        </p:nvSpPr>
        <p:spPr>
          <a:xfrm>
            <a:off x="7543800" y="4343400"/>
            <a:ext cx="1333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558</a:t>
            </a:r>
          </a:p>
        </p:txBody>
      </p:sp>
      <p:sp>
        <p:nvSpPr>
          <p:cNvPr id="48" name="TextBox 47">
            <a:extLst>
              <a:ext uri="{FF2B5EF4-FFF2-40B4-BE49-F238E27FC236}">
                <a16:creationId xmlns:a16="http://schemas.microsoft.com/office/drawing/2014/main" id="{0618F972-2A59-AD03-628F-D4EF3B3D0A5D}"/>
              </a:ext>
            </a:extLst>
          </p:cNvPr>
          <p:cNvSpPr txBox="1"/>
          <p:nvPr/>
        </p:nvSpPr>
        <p:spPr>
          <a:xfrm>
            <a:off x="9080500" y="4343400"/>
            <a:ext cx="17272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123</a:t>
            </a:r>
          </a:p>
        </p:txBody>
      </p:sp>
      <p:sp>
        <p:nvSpPr>
          <p:cNvPr id="49" name="Rectangle 48">
            <a:extLst>
              <a:ext uri="{FF2B5EF4-FFF2-40B4-BE49-F238E27FC236}">
                <a16:creationId xmlns:a16="http://schemas.microsoft.com/office/drawing/2014/main" id="{4516AC9A-F970-BE6E-7821-D24666C1F1B0}"/>
              </a:ext>
            </a:extLst>
          </p:cNvPr>
          <p:cNvSpPr/>
          <p:nvPr/>
        </p:nvSpPr>
        <p:spPr>
          <a:xfrm>
            <a:off x="685800" y="47879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173E956F-0BC9-C7BD-0626-60ACE8F01807}"/>
              </a:ext>
            </a:extLst>
          </p:cNvPr>
          <p:cNvSpPr txBox="1"/>
          <p:nvPr/>
        </p:nvSpPr>
        <p:spPr>
          <a:xfrm>
            <a:off x="685800" y="4838700"/>
            <a:ext cx="1968500" cy="161583"/>
          </a:xfrm>
          <a:prstGeom prst="rect">
            <a:avLst/>
          </a:prstGeom>
          <a:noFill/>
        </p:spPr>
        <p:txBody>
          <a:bodyPr vert="horz" wrap="square" lIns="0" tIns="0" rIns="0" bIns="0" rtlCol="0">
            <a:spAutoFit/>
          </a:bodyPr>
          <a:lstStyle/>
          <a:p>
            <a:r>
              <a:rPr lang="en-US" sz="1050" b="1">
                <a:solidFill>
                  <a:srgbClr val="181F1B"/>
                </a:solidFill>
                <a:latin typeface="Aptos" panose="020B0004020202020204" pitchFamily="34" charset="0"/>
              </a:rPr>
              <a:t>Solana Beach</a:t>
            </a:r>
          </a:p>
        </p:txBody>
      </p:sp>
      <p:sp>
        <p:nvSpPr>
          <p:cNvPr id="51" name="TextBox 50">
            <a:extLst>
              <a:ext uri="{FF2B5EF4-FFF2-40B4-BE49-F238E27FC236}">
                <a16:creationId xmlns:a16="http://schemas.microsoft.com/office/drawing/2014/main" id="{0D762E5E-8777-288F-A182-9CB533804F36}"/>
              </a:ext>
            </a:extLst>
          </p:cNvPr>
          <p:cNvSpPr txBox="1"/>
          <p:nvPr/>
        </p:nvSpPr>
        <p:spPr>
          <a:xfrm>
            <a:off x="2794000" y="4838700"/>
            <a:ext cx="10160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28</a:t>
            </a:r>
          </a:p>
        </p:txBody>
      </p:sp>
      <p:sp>
        <p:nvSpPr>
          <p:cNvPr id="52" name="TextBox 51">
            <a:extLst>
              <a:ext uri="{FF2B5EF4-FFF2-40B4-BE49-F238E27FC236}">
                <a16:creationId xmlns:a16="http://schemas.microsoft.com/office/drawing/2014/main" id="{F429DA3D-2146-9EED-28CF-0BE319DF1C36}"/>
              </a:ext>
            </a:extLst>
          </p:cNvPr>
          <p:cNvSpPr txBox="1"/>
          <p:nvPr/>
        </p:nvSpPr>
        <p:spPr>
          <a:xfrm>
            <a:off x="3962400" y="4838700"/>
            <a:ext cx="698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28%</a:t>
            </a:r>
          </a:p>
        </p:txBody>
      </p:sp>
      <p:sp>
        <p:nvSpPr>
          <p:cNvPr id="53" name="TextBox 52">
            <a:extLst>
              <a:ext uri="{FF2B5EF4-FFF2-40B4-BE49-F238E27FC236}">
                <a16:creationId xmlns:a16="http://schemas.microsoft.com/office/drawing/2014/main" id="{397F1433-FE81-2EBC-1F79-D0698F16A9EC}"/>
              </a:ext>
            </a:extLst>
          </p:cNvPr>
          <p:cNvSpPr txBox="1"/>
          <p:nvPr/>
        </p:nvSpPr>
        <p:spPr>
          <a:xfrm>
            <a:off x="4826000" y="4838700"/>
            <a:ext cx="12065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8</a:t>
            </a:r>
          </a:p>
        </p:txBody>
      </p:sp>
      <p:sp>
        <p:nvSpPr>
          <p:cNvPr id="54" name="TextBox 53">
            <a:extLst>
              <a:ext uri="{FF2B5EF4-FFF2-40B4-BE49-F238E27FC236}">
                <a16:creationId xmlns:a16="http://schemas.microsoft.com/office/drawing/2014/main" id="{BC0FEDEC-1848-484B-C5E5-252167D96FFA}"/>
              </a:ext>
            </a:extLst>
          </p:cNvPr>
          <p:cNvSpPr txBox="1"/>
          <p:nvPr/>
        </p:nvSpPr>
        <p:spPr>
          <a:xfrm>
            <a:off x="6197600" y="4838700"/>
            <a:ext cx="1143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$1.63</a:t>
            </a:r>
          </a:p>
        </p:txBody>
      </p:sp>
      <p:sp>
        <p:nvSpPr>
          <p:cNvPr id="55" name="TextBox 54">
            <a:extLst>
              <a:ext uri="{FF2B5EF4-FFF2-40B4-BE49-F238E27FC236}">
                <a16:creationId xmlns:a16="http://schemas.microsoft.com/office/drawing/2014/main" id="{23A0261C-B2DD-8EB4-F48C-48F610E1F95A}"/>
              </a:ext>
            </a:extLst>
          </p:cNvPr>
          <p:cNvSpPr txBox="1"/>
          <p:nvPr/>
        </p:nvSpPr>
        <p:spPr>
          <a:xfrm>
            <a:off x="7543800" y="4838700"/>
            <a:ext cx="1333500" cy="161583"/>
          </a:xfrm>
          <a:prstGeom prst="rect">
            <a:avLst/>
          </a:prstGeom>
          <a:noFill/>
        </p:spPr>
        <p:txBody>
          <a:bodyPr vert="horz" wrap="square" lIns="0" tIns="0" rIns="0" bIns="0" rtlCol="0">
            <a:spAutoFit/>
          </a:bodyPr>
          <a:lstStyle/>
          <a:p>
            <a:pPr algn="r"/>
            <a:r>
              <a:rPr lang="en-US" sz="1050">
                <a:solidFill>
                  <a:srgbClr val="181F1B"/>
                </a:solidFill>
                <a:latin typeface="Aptos" panose="020B0004020202020204" pitchFamily="34" charset="0"/>
              </a:rPr>
              <a:t>140</a:t>
            </a:r>
          </a:p>
        </p:txBody>
      </p:sp>
      <p:sp>
        <p:nvSpPr>
          <p:cNvPr id="56" name="TextBox 55">
            <a:extLst>
              <a:ext uri="{FF2B5EF4-FFF2-40B4-BE49-F238E27FC236}">
                <a16:creationId xmlns:a16="http://schemas.microsoft.com/office/drawing/2014/main" id="{2858FB4A-7617-C7E2-D15A-4F4891AD5759}"/>
              </a:ext>
            </a:extLst>
          </p:cNvPr>
          <p:cNvSpPr txBox="1"/>
          <p:nvPr/>
        </p:nvSpPr>
        <p:spPr>
          <a:xfrm>
            <a:off x="9080500" y="4838700"/>
            <a:ext cx="17272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39</a:t>
            </a:r>
          </a:p>
        </p:txBody>
      </p:sp>
      <p:sp>
        <p:nvSpPr>
          <p:cNvPr id="57" name="Rectangle 56">
            <a:extLst>
              <a:ext uri="{FF2B5EF4-FFF2-40B4-BE49-F238E27FC236}">
                <a16:creationId xmlns:a16="http://schemas.microsoft.com/office/drawing/2014/main" id="{52AF0D05-6D3E-3DE0-7BA9-486792D691E6}"/>
              </a:ext>
            </a:extLst>
          </p:cNvPr>
          <p:cNvSpPr/>
          <p:nvPr/>
        </p:nvSpPr>
        <p:spPr>
          <a:xfrm>
            <a:off x="685800" y="5346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91DF622-25C4-3080-C26E-C3F4AA5B4277}"/>
              </a:ext>
            </a:extLst>
          </p:cNvPr>
          <p:cNvSpPr txBox="1"/>
          <p:nvPr/>
        </p:nvSpPr>
        <p:spPr>
          <a:xfrm>
            <a:off x="685800" y="5511800"/>
            <a:ext cx="1968500" cy="161583"/>
          </a:xfrm>
          <a:prstGeom prst="rect">
            <a:avLst/>
          </a:prstGeom>
          <a:noFill/>
        </p:spPr>
        <p:txBody>
          <a:bodyPr vert="horz" wrap="square" lIns="0" tIns="0" rIns="0" bIns="0" rtlCol="0">
            <a:spAutoFit/>
          </a:bodyPr>
          <a:lstStyle/>
          <a:p>
            <a:r>
              <a:rPr lang="en-US" sz="1050" b="1">
                <a:solidFill>
                  <a:srgbClr val="181F1B"/>
                </a:solidFill>
                <a:latin typeface="Aptos" panose="020B0004020202020204" pitchFamily="34" charset="0"/>
              </a:rPr>
              <a:t>FOUR LOCATION TOTAL</a:t>
            </a:r>
          </a:p>
        </p:txBody>
      </p:sp>
      <p:sp>
        <p:nvSpPr>
          <p:cNvPr id="59" name="TextBox 58">
            <a:extLst>
              <a:ext uri="{FF2B5EF4-FFF2-40B4-BE49-F238E27FC236}">
                <a16:creationId xmlns:a16="http://schemas.microsoft.com/office/drawing/2014/main" id="{B255BF34-ECD6-CB93-5BD5-FE5C7AB3CAA4}"/>
              </a:ext>
            </a:extLst>
          </p:cNvPr>
          <p:cNvSpPr txBox="1"/>
          <p:nvPr/>
        </p:nvSpPr>
        <p:spPr>
          <a:xfrm>
            <a:off x="2794000" y="5511800"/>
            <a:ext cx="1016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244</a:t>
            </a:r>
          </a:p>
        </p:txBody>
      </p:sp>
      <p:sp>
        <p:nvSpPr>
          <p:cNvPr id="60" name="TextBox 59">
            <a:extLst>
              <a:ext uri="{FF2B5EF4-FFF2-40B4-BE49-F238E27FC236}">
                <a16:creationId xmlns:a16="http://schemas.microsoft.com/office/drawing/2014/main" id="{3D5643F0-FC69-4E0A-2793-F5C06781DE37}"/>
              </a:ext>
            </a:extLst>
          </p:cNvPr>
          <p:cNvSpPr txBox="1"/>
          <p:nvPr/>
        </p:nvSpPr>
        <p:spPr>
          <a:xfrm>
            <a:off x="3962400" y="5511800"/>
            <a:ext cx="698500" cy="161583"/>
          </a:xfrm>
          <a:prstGeom prst="rect">
            <a:avLst/>
          </a:prstGeom>
          <a:noFill/>
        </p:spPr>
        <p:txBody>
          <a:bodyPr vert="horz" wrap="square" lIns="0" tIns="0" rIns="0" bIns="0" rtlCol="0">
            <a:spAutoFit/>
          </a:bodyPr>
          <a:lstStyle/>
          <a:p>
            <a:pPr algn="r"/>
            <a:r>
              <a:rPr lang="en-US" sz="1050">
                <a:solidFill>
                  <a:srgbClr val="5B6760"/>
                </a:solidFill>
                <a:latin typeface="Aptos" panose="020B0004020202020204" pitchFamily="34" charset="0"/>
              </a:rPr>
              <a:t>-</a:t>
            </a:r>
          </a:p>
        </p:txBody>
      </p:sp>
      <p:sp>
        <p:nvSpPr>
          <p:cNvPr id="61" name="TextBox 60">
            <a:extLst>
              <a:ext uri="{FF2B5EF4-FFF2-40B4-BE49-F238E27FC236}">
                <a16:creationId xmlns:a16="http://schemas.microsoft.com/office/drawing/2014/main" id="{6BE8E16E-EB9F-352B-46FD-13456E98293A}"/>
              </a:ext>
            </a:extLst>
          </p:cNvPr>
          <p:cNvSpPr txBox="1"/>
          <p:nvPr/>
        </p:nvSpPr>
        <p:spPr>
          <a:xfrm>
            <a:off x="4826000" y="5511800"/>
            <a:ext cx="12065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69</a:t>
            </a:r>
          </a:p>
        </p:txBody>
      </p:sp>
      <p:sp>
        <p:nvSpPr>
          <p:cNvPr id="62" name="TextBox 61">
            <a:extLst>
              <a:ext uri="{FF2B5EF4-FFF2-40B4-BE49-F238E27FC236}">
                <a16:creationId xmlns:a16="http://schemas.microsoft.com/office/drawing/2014/main" id="{662A095E-4213-0AB9-B7FC-3A26607A006B}"/>
              </a:ext>
            </a:extLst>
          </p:cNvPr>
          <p:cNvSpPr txBox="1"/>
          <p:nvPr/>
        </p:nvSpPr>
        <p:spPr>
          <a:xfrm>
            <a:off x="6197600" y="5511800"/>
            <a:ext cx="11430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$1.35</a:t>
            </a:r>
          </a:p>
        </p:txBody>
      </p:sp>
      <p:sp>
        <p:nvSpPr>
          <p:cNvPr id="63" name="TextBox 62">
            <a:extLst>
              <a:ext uri="{FF2B5EF4-FFF2-40B4-BE49-F238E27FC236}">
                <a16:creationId xmlns:a16="http://schemas.microsoft.com/office/drawing/2014/main" id="{5E3CEEEC-A19E-E360-D8A4-7020E1FDD5A7}"/>
              </a:ext>
            </a:extLst>
          </p:cNvPr>
          <p:cNvSpPr txBox="1"/>
          <p:nvPr/>
        </p:nvSpPr>
        <p:spPr>
          <a:xfrm>
            <a:off x="7543800" y="5511800"/>
            <a:ext cx="1333500" cy="161583"/>
          </a:xfrm>
          <a:prstGeom prst="rect">
            <a:avLst/>
          </a:prstGeom>
          <a:noFill/>
        </p:spPr>
        <p:txBody>
          <a:bodyPr vert="horz" wrap="square" lIns="0" tIns="0" rIns="0" bIns="0" rtlCol="0">
            <a:spAutoFit/>
          </a:bodyPr>
          <a:lstStyle/>
          <a:p>
            <a:pPr algn="r"/>
            <a:r>
              <a:rPr lang="en-US" sz="1050" b="1">
                <a:solidFill>
                  <a:srgbClr val="181F1B"/>
                </a:solidFill>
                <a:latin typeface="Aptos" panose="020B0004020202020204" pitchFamily="34" charset="0"/>
              </a:rPr>
              <a:t>1,989</a:t>
            </a:r>
          </a:p>
        </p:txBody>
      </p:sp>
      <p:sp>
        <p:nvSpPr>
          <p:cNvPr id="64" name="TextBox 63">
            <a:extLst>
              <a:ext uri="{FF2B5EF4-FFF2-40B4-BE49-F238E27FC236}">
                <a16:creationId xmlns:a16="http://schemas.microsoft.com/office/drawing/2014/main" id="{4F9CCD8E-1D3F-872E-EF01-058C2461E6CC}"/>
              </a:ext>
            </a:extLst>
          </p:cNvPr>
          <p:cNvSpPr txBox="1"/>
          <p:nvPr/>
        </p:nvSpPr>
        <p:spPr>
          <a:xfrm>
            <a:off x="9080500" y="5511800"/>
            <a:ext cx="1727200" cy="161583"/>
          </a:xfrm>
          <a:prstGeom prst="rect">
            <a:avLst/>
          </a:prstGeom>
          <a:noFill/>
        </p:spPr>
        <p:txBody>
          <a:bodyPr vert="horz" wrap="square" lIns="0" tIns="0" rIns="0" bIns="0" rtlCol="0">
            <a:spAutoFit/>
          </a:bodyPr>
          <a:lstStyle/>
          <a:p>
            <a:pPr algn="r"/>
            <a:r>
              <a:rPr lang="en-US" sz="1050" b="1">
                <a:solidFill>
                  <a:srgbClr val="007243"/>
                </a:solidFill>
                <a:latin typeface="Aptos" panose="020B0004020202020204" pitchFamily="34" charset="0"/>
              </a:rPr>
              <a:t>541</a:t>
            </a:r>
          </a:p>
        </p:txBody>
      </p:sp>
      <p:sp>
        <p:nvSpPr>
          <p:cNvPr id="65" name="TextBox 64">
            <a:extLst>
              <a:ext uri="{FF2B5EF4-FFF2-40B4-BE49-F238E27FC236}">
                <a16:creationId xmlns:a16="http://schemas.microsoft.com/office/drawing/2014/main" id="{82E5D23A-A85E-BE2E-828A-45AB2D4C15A1}"/>
              </a:ext>
            </a:extLst>
          </p:cNvPr>
          <p:cNvSpPr txBox="1"/>
          <p:nvPr/>
        </p:nvSpPr>
        <p:spPr>
          <a:xfrm>
            <a:off x="685800" y="5981700"/>
            <a:ext cx="10820400" cy="138499"/>
          </a:xfrm>
          <a:prstGeom prst="rect">
            <a:avLst/>
          </a:prstGeom>
          <a:noFill/>
        </p:spPr>
        <p:txBody>
          <a:bodyPr vert="horz" wrap="square" lIns="0" tIns="0" rIns="0" bIns="0" rtlCol="0">
            <a:spAutoFit/>
          </a:bodyPr>
          <a:lstStyle/>
          <a:p>
            <a:r>
              <a:rPr lang="en-US" sz="900">
                <a:solidFill>
                  <a:srgbClr val="5B6760"/>
                </a:solidFill>
                <a:latin typeface="Aptos" panose="020B0004020202020204" pitchFamily="34" charset="0"/>
              </a:rPr>
              <a:t>Whole-number direction counts are rounded from the city rates. Campaign-to-date covers the July 7 launch through July 26.</a:t>
            </a:r>
          </a:p>
        </p:txBody>
      </p:sp>
    </p:spTree>
    <p:extLst>
      <p:ext uri="{BB962C8B-B14F-4D97-AF65-F5344CB8AC3E}">
        <p14:creationId xmlns:p14="http://schemas.microsoft.com/office/powerpoint/2010/main" val="84208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D96754-60C8-B1A3-A625-A5884AE66685}"/>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DACF0E-E10F-6E4F-78BA-BB59ECE7710E}"/>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43A17B03-083B-65C2-0FCD-3F407AA5D50F}"/>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What we are doing next</a:t>
            </a:r>
          </a:p>
        </p:txBody>
      </p:sp>
      <p:sp>
        <p:nvSpPr>
          <p:cNvPr id="5" name="TextBox 4">
            <a:extLst>
              <a:ext uri="{FF2B5EF4-FFF2-40B4-BE49-F238E27FC236}">
                <a16:creationId xmlns:a16="http://schemas.microsoft.com/office/drawing/2014/main" id="{C3B52AF8-A7EA-DC59-D8CE-D86CBB800604}"/>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73FF8846-BA1C-051B-5994-635BC8DFDA80}"/>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2A4690-2E86-33E8-30A2-B13C335DE930}"/>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98F02AC2-6FC4-BB00-97E5-B9EF8F22EA82}"/>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7</a:t>
            </a:r>
          </a:p>
        </p:txBody>
      </p:sp>
      <p:sp>
        <p:nvSpPr>
          <p:cNvPr id="9" name="TextBox 8">
            <a:extLst>
              <a:ext uri="{FF2B5EF4-FFF2-40B4-BE49-F238E27FC236}">
                <a16:creationId xmlns:a16="http://schemas.microsoft.com/office/drawing/2014/main" id="{070AEE54-584D-28FB-19D6-F257654B8103}"/>
              </a:ext>
            </a:extLst>
          </p:cNvPr>
          <p:cNvSpPr txBox="1"/>
          <p:nvPr/>
        </p:nvSpPr>
        <p:spPr>
          <a:xfrm>
            <a:off x="685800" y="1206500"/>
            <a:ext cx="9982200" cy="430887"/>
          </a:xfrm>
          <a:prstGeom prst="rect">
            <a:avLst/>
          </a:prstGeom>
          <a:noFill/>
        </p:spPr>
        <p:txBody>
          <a:bodyPr vert="horz" wrap="square" lIns="0" tIns="0" rIns="0" bIns="0" rtlCol="0">
            <a:spAutoFit/>
          </a:bodyPr>
          <a:lstStyle/>
          <a:p>
            <a:r>
              <a:rPr lang="en-US" sz="1400">
                <a:solidFill>
                  <a:srgbClr val="5B6760"/>
                </a:solidFill>
                <a:latin typeface="Aptos" panose="020B0004020202020204" pitchFamily="34" charset="0"/>
              </a:rPr>
              <a:t>All four San Diego locations are buying traffic efficiently. The next week should build on the strongest local engagement signals and keep the reporting focused on these markets.</a:t>
            </a:r>
          </a:p>
        </p:txBody>
      </p:sp>
      <p:sp>
        <p:nvSpPr>
          <p:cNvPr id="10" name="TextBox 9">
            <a:extLst>
              <a:ext uri="{FF2B5EF4-FFF2-40B4-BE49-F238E27FC236}">
                <a16:creationId xmlns:a16="http://schemas.microsoft.com/office/drawing/2014/main" id="{CD732714-9D2B-EBC2-9967-5C0FA32A32AC}"/>
              </a:ext>
            </a:extLst>
          </p:cNvPr>
          <p:cNvSpPr txBox="1"/>
          <p:nvPr/>
        </p:nvSpPr>
        <p:spPr>
          <a:xfrm>
            <a:off x="685800" y="21336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01</a:t>
            </a:r>
          </a:p>
        </p:txBody>
      </p:sp>
      <p:sp>
        <p:nvSpPr>
          <p:cNvPr id="11" name="TextBox 10">
            <a:extLst>
              <a:ext uri="{FF2B5EF4-FFF2-40B4-BE49-F238E27FC236}">
                <a16:creationId xmlns:a16="http://schemas.microsoft.com/office/drawing/2014/main" id="{E3159CEA-AF5D-AA44-85A6-EC07B95600FA}"/>
              </a:ext>
            </a:extLst>
          </p:cNvPr>
          <p:cNvSpPr txBox="1"/>
          <p:nvPr/>
        </p:nvSpPr>
        <p:spPr>
          <a:xfrm>
            <a:off x="1625600" y="21336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Build on Torrey Del Mar volume</a:t>
            </a:r>
          </a:p>
        </p:txBody>
      </p:sp>
      <p:sp>
        <p:nvSpPr>
          <p:cNvPr id="12" name="TextBox 11">
            <a:extLst>
              <a:ext uri="{FF2B5EF4-FFF2-40B4-BE49-F238E27FC236}">
                <a16:creationId xmlns:a16="http://schemas.microsoft.com/office/drawing/2014/main" id="{C4D5885C-B6F2-7EBC-5DFB-670548A3DAFA}"/>
              </a:ext>
            </a:extLst>
          </p:cNvPr>
          <p:cNvSpPr txBox="1"/>
          <p:nvPr/>
        </p:nvSpPr>
        <p:spPr>
          <a:xfrm>
            <a:off x="1625600" y="25273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Torrey Del Mar produced 107 clicks at a thirty two cent cost per click while maintaining an 8.80% click through rate.</a:t>
            </a:r>
          </a:p>
        </p:txBody>
      </p:sp>
      <p:sp>
        <p:nvSpPr>
          <p:cNvPr id="13" name="TextBox 12">
            <a:extLst>
              <a:ext uri="{FF2B5EF4-FFF2-40B4-BE49-F238E27FC236}">
                <a16:creationId xmlns:a16="http://schemas.microsoft.com/office/drawing/2014/main" id="{C8570A34-A90C-7CB1-A1F9-D156AF4DFAD5}"/>
              </a:ext>
            </a:extLst>
          </p:cNvPr>
          <p:cNvSpPr txBox="1"/>
          <p:nvPr/>
        </p:nvSpPr>
        <p:spPr>
          <a:xfrm>
            <a:off x="685800" y="33147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02</a:t>
            </a:r>
          </a:p>
        </p:txBody>
      </p:sp>
      <p:sp>
        <p:nvSpPr>
          <p:cNvPr id="14" name="TextBox 13">
            <a:extLst>
              <a:ext uri="{FF2B5EF4-FFF2-40B4-BE49-F238E27FC236}">
                <a16:creationId xmlns:a16="http://schemas.microsoft.com/office/drawing/2014/main" id="{E5F1362A-E9E5-2A57-4871-4A6B00E38B5B}"/>
              </a:ext>
            </a:extLst>
          </p:cNvPr>
          <p:cNvSpPr txBox="1"/>
          <p:nvPr/>
        </p:nvSpPr>
        <p:spPr>
          <a:xfrm>
            <a:off x="1625600" y="33147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Use Carmel Mountain engagement</a:t>
            </a:r>
          </a:p>
        </p:txBody>
      </p:sp>
      <p:sp>
        <p:nvSpPr>
          <p:cNvPr id="15" name="TextBox 14">
            <a:extLst>
              <a:ext uri="{FF2B5EF4-FFF2-40B4-BE49-F238E27FC236}">
                <a16:creationId xmlns:a16="http://schemas.microsoft.com/office/drawing/2014/main" id="{3A8255BC-D40B-A8D7-58F4-22CEF2A1B56A}"/>
              </a:ext>
            </a:extLst>
          </p:cNvPr>
          <p:cNvSpPr txBox="1"/>
          <p:nvPr/>
        </p:nvSpPr>
        <p:spPr>
          <a:xfrm>
            <a:off x="1625600" y="37084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Carmel Mountain delivered the strongest click through rate at 10.05%, with 42 clicks from 418 impressions.</a:t>
            </a:r>
          </a:p>
        </p:txBody>
      </p:sp>
      <p:sp>
        <p:nvSpPr>
          <p:cNvPr id="16" name="TextBox 15">
            <a:extLst>
              <a:ext uri="{FF2B5EF4-FFF2-40B4-BE49-F238E27FC236}">
                <a16:creationId xmlns:a16="http://schemas.microsoft.com/office/drawing/2014/main" id="{BFAFDEC7-084E-24F9-B7F4-BD41AD9152FF}"/>
              </a:ext>
            </a:extLst>
          </p:cNvPr>
          <p:cNvSpPr txBox="1"/>
          <p:nvPr/>
        </p:nvSpPr>
        <p:spPr>
          <a:xfrm>
            <a:off x="685800" y="44958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03</a:t>
            </a:r>
          </a:p>
        </p:txBody>
      </p:sp>
      <p:sp>
        <p:nvSpPr>
          <p:cNvPr id="17" name="TextBox 16">
            <a:extLst>
              <a:ext uri="{FF2B5EF4-FFF2-40B4-BE49-F238E27FC236}">
                <a16:creationId xmlns:a16="http://schemas.microsoft.com/office/drawing/2014/main" id="{0CADDC6D-D9E5-7C28-3A30-4EF93F5C816D}"/>
              </a:ext>
            </a:extLst>
          </p:cNvPr>
          <p:cNvSpPr txBox="1"/>
          <p:nvPr/>
        </p:nvSpPr>
        <p:spPr>
          <a:xfrm>
            <a:off x="1625600" y="44958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Keep all four locations visible</a:t>
            </a:r>
          </a:p>
        </p:txBody>
      </p:sp>
      <p:sp>
        <p:nvSpPr>
          <p:cNvPr id="18" name="TextBox 17">
            <a:extLst>
              <a:ext uri="{FF2B5EF4-FFF2-40B4-BE49-F238E27FC236}">
                <a16:creationId xmlns:a16="http://schemas.microsoft.com/office/drawing/2014/main" id="{60198C3D-4AA5-DFE6-DE51-88E3B4925219}"/>
              </a:ext>
            </a:extLst>
          </p:cNvPr>
          <p:cNvSpPr txBox="1"/>
          <p:nvPr/>
        </p:nvSpPr>
        <p:spPr>
          <a:xfrm>
            <a:off x="1625600" y="48895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Continue comparing Miramar and Solana Beach with the two leaders while connecting platform traffic with store level outcomes.</a:t>
            </a:r>
          </a:p>
        </p:txBody>
      </p:sp>
      <p:sp>
        <p:nvSpPr>
          <p:cNvPr id="19" name="Rectangle: Rounded Corners 18">
            <a:extLst>
              <a:ext uri="{FF2B5EF4-FFF2-40B4-BE49-F238E27FC236}">
                <a16:creationId xmlns:a16="http://schemas.microsoft.com/office/drawing/2014/main" id="{82E2BF92-F60E-124A-6226-312CB7582A99}"/>
              </a:ext>
            </a:extLst>
          </p:cNvPr>
          <p:cNvSpPr/>
          <p:nvPr/>
        </p:nvSpPr>
        <p:spPr>
          <a:xfrm>
            <a:off x="7924800" y="2082800"/>
            <a:ext cx="3581400" cy="3009900"/>
          </a:xfrm>
          <a:prstGeom prst="roundRect">
            <a:avLst/>
          </a:prstGeom>
          <a:solidFill>
            <a:srgbClr val="E2F0E8"/>
          </a:solidFill>
          <a:ln w="12700" cap="flat" cmpd="sng" algn="ctr">
            <a:noFill/>
            <a:prstDash val="solid"/>
            <a:miter lim="800000"/>
          </a:ln>
          <a:effectLst/>
          <a:extLst>
            <a:ext uri="{91240B29-F687-4F45-9708-019B960494DF}">
              <a14:hiddenLine xmlns:a14="http://schemas.microsoft.com/office/drawing/2010/main" w="12700" cap="flat" cmpd="sng" algn="ctr">
                <a:solidFill>
                  <a:srgbClr val="E2F0E8"/>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470B342-0E99-1F94-09CE-EBCB02B44742}"/>
              </a:ext>
            </a:extLst>
          </p:cNvPr>
          <p:cNvSpPr txBox="1"/>
          <p:nvPr/>
        </p:nvSpPr>
        <p:spPr>
          <a:xfrm>
            <a:off x="8280400" y="2425700"/>
            <a:ext cx="2870200" cy="200055"/>
          </a:xfrm>
          <a:prstGeom prst="rect">
            <a:avLst/>
          </a:prstGeom>
          <a:noFill/>
        </p:spPr>
        <p:txBody>
          <a:bodyPr vert="horz" wrap="square" lIns="0" tIns="0" rIns="0" bIns="0" rtlCol="0">
            <a:spAutoFit/>
          </a:bodyPr>
          <a:lstStyle/>
          <a:p>
            <a:r>
              <a:rPr lang="en-US" sz="1300" b="1">
                <a:solidFill>
                  <a:srgbClr val="004E30"/>
                </a:solidFill>
                <a:latin typeface="Aptos" panose="020B0004020202020204" pitchFamily="34" charset="0"/>
              </a:rPr>
              <a:t>Reporting note</a:t>
            </a:r>
          </a:p>
        </p:txBody>
      </p:sp>
      <p:sp>
        <p:nvSpPr>
          <p:cNvPr id="21" name="TextBox 20">
            <a:extLst>
              <a:ext uri="{FF2B5EF4-FFF2-40B4-BE49-F238E27FC236}">
                <a16:creationId xmlns:a16="http://schemas.microsoft.com/office/drawing/2014/main" id="{4B102009-E524-E388-FCE6-400DE18215D1}"/>
              </a:ext>
            </a:extLst>
          </p:cNvPr>
          <p:cNvSpPr txBox="1"/>
          <p:nvPr/>
        </p:nvSpPr>
        <p:spPr>
          <a:xfrm>
            <a:off x="8280400" y="2908300"/>
            <a:ext cx="2844800" cy="1692771"/>
          </a:xfrm>
          <a:prstGeom prst="rect">
            <a:avLst/>
          </a:prstGeom>
          <a:noFill/>
        </p:spPr>
        <p:txBody>
          <a:bodyPr vert="horz" wrap="square" lIns="0" tIns="0" rIns="0" bIns="0" rtlCol="0">
            <a:spAutoFit/>
          </a:bodyPr>
          <a:lstStyle/>
          <a:p>
            <a:r>
              <a:rPr lang="en-US" sz="1100">
                <a:solidFill>
                  <a:srgbClr val="181F1B"/>
                </a:solidFill>
                <a:latin typeface="Aptos" panose="020B0004020202020204" pitchFamily="34" charset="0"/>
              </a:rPr>
              <a:t>Platform delivery and traffic metrics are verified for the four San Diego locations from July 20 through July 26. The industry comparison uses the 2026 WordStream Shopping, Collectibles, and Gifts search benchmark of $4.14 per click.</a:t>
            </a:r>
          </a:p>
          <a:p>
            <a:endParaRPr lang="en-US" sz="1100">
              <a:solidFill>
                <a:srgbClr val="181F1B"/>
              </a:solidFill>
              <a:latin typeface="Aptos" panose="020B0004020202020204" pitchFamily="34" charset="0"/>
            </a:endParaRPr>
          </a:p>
          <a:p>
            <a:r>
              <a:rPr lang="en-US" sz="1100">
                <a:solidFill>
                  <a:srgbClr val="181F1B"/>
                </a:solidFill>
                <a:latin typeface="Aptos" panose="020B0004020202020204" pitchFamily="34" charset="0"/>
              </a:rPr>
              <a:t>Because the campaigns use Performance Max inventory, the benchmark is directional. Store level outcomes can add context as they become available.</a:t>
            </a:r>
          </a:p>
        </p:txBody>
      </p:sp>
      <p:sp>
        <p:nvSpPr>
          <p:cNvPr id="22" name="TextBox 21">
            <a:hlinkClick r:id="rId2"/>
            <a:extLst>
              <a:ext uri="{FF2B5EF4-FFF2-40B4-BE49-F238E27FC236}">
                <a16:creationId xmlns:a16="http://schemas.microsoft.com/office/drawing/2014/main" id="{B8A00588-E6D0-D414-5E61-405EEDFA92DF}"/>
              </a:ext>
            </a:extLst>
          </p:cNvPr>
          <p:cNvSpPr txBox="1"/>
          <p:nvPr/>
        </p:nvSpPr>
        <p:spPr>
          <a:xfrm>
            <a:off x="8280400" y="4749800"/>
            <a:ext cx="28448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Open the live dashboard</a:t>
            </a:r>
          </a:p>
        </p:txBody>
      </p:sp>
    </p:spTree>
    <p:extLst>
      <p:ext uri="{BB962C8B-B14F-4D97-AF65-F5344CB8AC3E}">
        <p14:creationId xmlns:p14="http://schemas.microsoft.com/office/powerpoint/2010/main" val="863268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Words>
  <Application>Microsoft Office PowerPoint</Application>
  <PresentationFormat>Custom</PresentationFormat>
  <Paragraphs>183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Dillon Mohr</dc:creator>
  <cp:lastModifiedBy>Dillon Mohr</cp:lastModifiedBy>
  <cp:revision>1</cp:revision>
  <dcterms:created xsi:type="dcterms:W3CDTF">2026-07-27T21:53:10Z</dcterms:created>
  <dcterms:modified xsi:type="dcterms:W3CDTF">2026-07-27T21:53:10Z</dcterms:modified>
</cp:coreProperties>
</file>